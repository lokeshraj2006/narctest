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792E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792E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792E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792E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564623"/>
            <a:ext cx="18280760" cy="71532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532619"/>
            <a:ext cx="18288000" cy="754380"/>
          </a:xfrm>
          <a:custGeom>
            <a:avLst/>
            <a:gdLst/>
            <a:ahLst/>
            <a:cxnLst/>
            <a:rect l="l" t="t" r="r" b="b"/>
            <a:pathLst>
              <a:path w="18288000" h="754379">
                <a:moveTo>
                  <a:pt x="18287819" y="754379"/>
                </a:moveTo>
                <a:lnTo>
                  <a:pt x="0" y="754379"/>
                </a:lnTo>
                <a:lnTo>
                  <a:pt x="0" y="0"/>
                </a:lnTo>
                <a:lnTo>
                  <a:pt x="18287819" y="0"/>
                </a:lnTo>
                <a:lnTo>
                  <a:pt x="18287819" y="754379"/>
                </a:lnTo>
                <a:close/>
              </a:path>
            </a:pathLst>
          </a:custGeom>
          <a:solidFill>
            <a:srgbClr val="006EB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712123" y="30937"/>
            <a:ext cx="3304793" cy="153590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00950" y="324521"/>
            <a:ext cx="2590800" cy="1209040"/>
          </a:xfrm>
          <a:custGeom>
            <a:avLst/>
            <a:gdLst/>
            <a:ahLst/>
            <a:cxnLst/>
            <a:rect l="l" t="t" r="r" b="b"/>
            <a:pathLst>
              <a:path w="2590800" h="1209040">
                <a:moveTo>
                  <a:pt x="0" y="604486"/>
                </a:moveTo>
                <a:lnTo>
                  <a:pt x="13995" y="515182"/>
                </a:lnTo>
                <a:lnTo>
                  <a:pt x="54840" y="429873"/>
                </a:lnTo>
                <a:lnTo>
                  <a:pt x="120343" y="349605"/>
                </a:lnTo>
                <a:lnTo>
                  <a:pt x="208602" y="275328"/>
                </a:lnTo>
                <a:lnTo>
                  <a:pt x="260681" y="240710"/>
                </a:lnTo>
                <a:lnTo>
                  <a:pt x="317615" y="207899"/>
                </a:lnTo>
                <a:lnTo>
                  <a:pt x="379311" y="177085"/>
                </a:lnTo>
                <a:lnTo>
                  <a:pt x="445385" y="148268"/>
                </a:lnTo>
                <a:lnTo>
                  <a:pt x="515649" y="121639"/>
                </a:lnTo>
                <a:lnTo>
                  <a:pt x="589912" y="97387"/>
                </a:lnTo>
                <a:lnTo>
                  <a:pt x="667793" y="75513"/>
                </a:lnTo>
                <a:lnTo>
                  <a:pt x="749101" y="56206"/>
                </a:lnTo>
                <a:lnTo>
                  <a:pt x="833646" y="39563"/>
                </a:lnTo>
                <a:lnTo>
                  <a:pt x="921047" y="25678"/>
                </a:lnTo>
                <a:lnTo>
                  <a:pt x="1011210" y="14646"/>
                </a:lnTo>
                <a:lnTo>
                  <a:pt x="1103753" y="6657"/>
                </a:lnTo>
                <a:lnTo>
                  <a:pt x="1198485" y="1807"/>
                </a:lnTo>
                <a:lnTo>
                  <a:pt x="1295217" y="0"/>
                </a:lnTo>
                <a:lnTo>
                  <a:pt x="1391854" y="1616"/>
                </a:lnTo>
                <a:lnTo>
                  <a:pt x="1486586" y="6467"/>
                </a:lnTo>
                <a:lnTo>
                  <a:pt x="1579129" y="14455"/>
                </a:lnTo>
                <a:lnTo>
                  <a:pt x="1669292" y="25488"/>
                </a:lnTo>
                <a:lnTo>
                  <a:pt x="1756693" y="39373"/>
                </a:lnTo>
                <a:lnTo>
                  <a:pt x="1841238" y="56016"/>
                </a:lnTo>
                <a:lnTo>
                  <a:pt x="1922546" y="75323"/>
                </a:lnTo>
                <a:lnTo>
                  <a:pt x="2000427" y="97197"/>
                </a:lnTo>
                <a:lnTo>
                  <a:pt x="2074594" y="121448"/>
                </a:lnTo>
                <a:lnTo>
                  <a:pt x="2144858" y="148078"/>
                </a:lnTo>
                <a:lnTo>
                  <a:pt x="2210933" y="176894"/>
                </a:lnTo>
                <a:lnTo>
                  <a:pt x="2272628" y="207708"/>
                </a:lnTo>
                <a:lnTo>
                  <a:pt x="2329563" y="240520"/>
                </a:lnTo>
                <a:lnTo>
                  <a:pt x="2381642" y="275138"/>
                </a:lnTo>
                <a:lnTo>
                  <a:pt x="2428485" y="311468"/>
                </a:lnTo>
                <a:lnTo>
                  <a:pt x="2505604" y="388883"/>
                </a:lnTo>
                <a:lnTo>
                  <a:pt x="2559016" y="471719"/>
                </a:lnTo>
                <a:lnTo>
                  <a:pt x="2586721" y="559121"/>
                </a:lnTo>
                <a:lnTo>
                  <a:pt x="2590244" y="604200"/>
                </a:lnTo>
                <a:lnTo>
                  <a:pt x="2586721" y="649375"/>
                </a:lnTo>
                <a:lnTo>
                  <a:pt x="2559016" y="736776"/>
                </a:lnTo>
                <a:lnTo>
                  <a:pt x="2505604" y="819708"/>
                </a:lnTo>
                <a:lnTo>
                  <a:pt x="2428485" y="897123"/>
                </a:lnTo>
                <a:lnTo>
                  <a:pt x="2381642" y="933453"/>
                </a:lnTo>
                <a:lnTo>
                  <a:pt x="2329563" y="968071"/>
                </a:lnTo>
                <a:lnTo>
                  <a:pt x="2272628" y="1000882"/>
                </a:lnTo>
                <a:lnTo>
                  <a:pt x="2210933" y="1031696"/>
                </a:lnTo>
                <a:lnTo>
                  <a:pt x="2144858" y="1060513"/>
                </a:lnTo>
                <a:lnTo>
                  <a:pt x="2074594" y="1087142"/>
                </a:lnTo>
                <a:lnTo>
                  <a:pt x="2000427" y="1111394"/>
                </a:lnTo>
                <a:lnTo>
                  <a:pt x="1922546" y="1133268"/>
                </a:lnTo>
                <a:lnTo>
                  <a:pt x="1841238" y="1152575"/>
                </a:lnTo>
                <a:lnTo>
                  <a:pt x="1756693" y="1169218"/>
                </a:lnTo>
                <a:lnTo>
                  <a:pt x="1669292" y="1183103"/>
                </a:lnTo>
                <a:lnTo>
                  <a:pt x="1579129" y="1194135"/>
                </a:lnTo>
                <a:lnTo>
                  <a:pt x="1486586" y="1202124"/>
                </a:lnTo>
                <a:lnTo>
                  <a:pt x="1391854" y="1206975"/>
                </a:lnTo>
                <a:lnTo>
                  <a:pt x="1295217" y="1208591"/>
                </a:lnTo>
                <a:lnTo>
                  <a:pt x="1198580" y="1206975"/>
                </a:lnTo>
                <a:lnTo>
                  <a:pt x="1103848" y="1202124"/>
                </a:lnTo>
                <a:lnTo>
                  <a:pt x="1011305" y="1194135"/>
                </a:lnTo>
                <a:lnTo>
                  <a:pt x="921142" y="1183103"/>
                </a:lnTo>
                <a:lnTo>
                  <a:pt x="833741" y="1169218"/>
                </a:lnTo>
                <a:lnTo>
                  <a:pt x="749196" y="1152575"/>
                </a:lnTo>
                <a:lnTo>
                  <a:pt x="667888" y="1133268"/>
                </a:lnTo>
                <a:lnTo>
                  <a:pt x="590007" y="1111394"/>
                </a:lnTo>
                <a:lnTo>
                  <a:pt x="515744" y="1087142"/>
                </a:lnTo>
                <a:lnTo>
                  <a:pt x="445480" y="1060513"/>
                </a:lnTo>
                <a:lnTo>
                  <a:pt x="379406" y="1031696"/>
                </a:lnTo>
                <a:lnTo>
                  <a:pt x="317711" y="1000882"/>
                </a:lnTo>
                <a:lnTo>
                  <a:pt x="260776" y="968071"/>
                </a:lnTo>
                <a:lnTo>
                  <a:pt x="208697" y="933453"/>
                </a:lnTo>
                <a:lnTo>
                  <a:pt x="161854" y="897123"/>
                </a:lnTo>
                <a:lnTo>
                  <a:pt x="84735" y="819708"/>
                </a:lnTo>
                <a:lnTo>
                  <a:pt x="31228" y="737062"/>
                </a:lnTo>
                <a:lnTo>
                  <a:pt x="3522" y="649660"/>
                </a:lnTo>
                <a:lnTo>
                  <a:pt x="0" y="604486"/>
                </a:lnTo>
                <a:close/>
              </a:path>
            </a:pathLst>
          </a:custGeom>
          <a:ln w="9512">
            <a:solidFill>
              <a:srgbClr val="806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6755" y="335200"/>
            <a:ext cx="984313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792E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24956" y="2733929"/>
            <a:ext cx="8405495" cy="4759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651495" y="9672386"/>
            <a:ext cx="302260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000156" y="9653767"/>
            <a:ext cx="3048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ubmed.ncbi.nlm.nih.gov/28269432/" TargetMode="External"/><Relationship Id="rId3" Type="http://schemas.openxmlformats.org/officeDocument/2006/relationships/hyperlink" Target="https://www.researchgate.net/publication/386361522_Digital_Evidence_Chain_of_Custody_Navigating_New_Realities_of_Digital_Forensics" TargetMode="External"/><Relationship Id="rId4" Type="http://schemas.openxmlformats.org/officeDocument/2006/relationships/hyperlink" Target="https://www.researchgate.net/publication/259845901_Real_time_quantitative_colorimetric_test_for_methamphetamine_detection_using_digital_and_mobile_phone_technology" TargetMode="External"/><Relationship Id="rId5" Type="http://schemas.openxmlformats.org/officeDocument/2006/relationships/hyperlink" Target="https://nij.ojp.gov/library/publications/objective-method-presumptive-field-testing-illicit-drug-possession-using-0?utm_source=chatgpt.com" TargetMode="External"/><Relationship Id="rId6" Type="http://schemas.openxmlformats.org/officeDocument/2006/relationships/hyperlink" Target="https://pubs.rsc.org/dd/article/2/4/1143/804876/Teaching-old-presumptive-tests-new-digital-tricks" TargetMode="External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Relationship Id="rId10" Type="http://schemas.openxmlformats.org/officeDocument/2006/relationships/image" Target="../media/image25.png"/><Relationship Id="rId11" Type="http://schemas.openxmlformats.org/officeDocument/2006/relationships/image" Target="../media/image26.jpg"/><Relationship Id="rId12" Type="http://schemas.openxmlformats.org/officeDocument/2006/relationships/image" Target="../media/image27.png"/><Relationship Id="rId13" Type="http://schemas.openxmlformats.org/officeDocument/2006/relationships/hyperlink" Target="https://youtu.be/F1cuxlgMW2g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5655" y="5966668"/>
            <a:ext cx="1420495" cy="1672589"/>
          </a:xfrm>
          <a:custGeom>
            <a:avLst/>
            <a:gdLst/>
            <a:ahLst/>
            <a:cxnLst/>
            <a:rect l="l" t="t" r="r" b="b"/>
            <a:pathLst>
              <a:path w="1420495" h="1672590">
                <a:moveTo>
                  <a:pt x="1011148" y="1672255"/>
                </a:moveTo>
                <a:lnTo>
                  <a:pt x="408843" y="1672255"/>
                </a:lnTo>
                <a:lnTo>
                  <a:pt x="354712" y="1652817"/>
                </a:lnTo>
                <a:lnTo>
                  <a:pt x="315257" y="1599647"/>
                </a:lnTo>
                <a:lnTo>
                  <a:pt x="3621" y="872621"/>
                </a:lnTo>
                <a:lnTo>
                  <a:pt x="0" y="836032"/>
                </a:lnTo>
                <a:lnTo>
                  <a:pt x="14676" y="765330"/>
                </a:lnTo>
                <a:lnTo>
                  <a:pt x="332602" y="42306"/>
                </a:lnTo>
                <a:lnTo>
                  <a:pt x="380443" y="4954"/>
                </a:lnTo>
                <a:lnTo>
                  <a:pt x="408843" y="0"/>
                </a:lnTo>
                <a:lnTo>
                  <a:pt x="1011148" y="0"/>
                </a:lnTo>
                <a:lnTo>
                  <a:pt x="1064708" y="19438"/>
                </a:lnTo>
                <a:lnTo>
                  <a:pt x="1103591" y="72607"/>
                </a:lnTo>
                <a:lnTo>
                  <a:pt x="1416370" y="799633"/>
                </a:lnTo>
                <a:lnTo>
                  <a:pt x="1419992" y="836032"/>
                </a:lnTo>
                <a:lnTo>
                  <a:pt x="1405315" y="906924"/>
                </a:lnTo>
                <a:lnTo>
                  <a:pt x="1086818" y="1629948"/>
                </a:lnTo>
                <a:lnTo>
                  <a:pt x="1011148" y="1672255"/>
                </a:lnTo>
                <a:close/>
              </a:path>
            </a:pathLst>
          </a:custGeom>
          <a:solidFill>
            <a:srgbClr val="7D7D7D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9550363" y="2286"/>
            <a:ext cx="8492490" cy="9010015"/>
            <a:chOff x="9550363" y="2286"/>
            <a:chExt cx="8492490" cy="9010015"/>
          </a:xfrm>
        </p:grpSpPr>
        <p:sp>
          <p:nvSpPr>
            <p:cNvPr id="4" name="object 4"/>
            <p:cNvSpPr/>
            <p:nvPr/>
          </p:nvSpPr>
          <p:spPr>
            <a:xfrm>
              <a:off x="9550362" y="1277886"/>
              <a:ext cx="5897880" cy="7734300"/>
            </a:xfrm>
            <a:custGeom>
              <a:avLst/>
              <a:gdLst/>
              <a:ahLst/>
              <a:cxnLst/>
              <a:rect l="l" t="t" r="r" b="b"/>
              <a:pathLst>
                <a:path w="5897880" h="7734300">
                  <a:moveTo>
                    <a:pt x="2309723" y="1430413"/>
                  </a:moveTo>
                  <a:lnTo>
                    <a:pt x="2304008" y="1374381"/>
                  </a:lnTo>
                  <a:lnTo>
                    <a:pt x="2287232" y="1321981"/>
                  </a:lnTo>
                  <a:lnTo>
                    <a:pt x="2083854" y="855268"/>
                  </a:lnTo>
                  <a:lnTo>
                    <a:pt x="1738109" y="855268"/>
                  </a:lnTo>
                  <a:lnTo>
                    <a:pt x="1670443" y="862139"/>
                  </a:lnTo>
                  <a:lnTo>
                    <a:pt x="1605445" y="882142"/>
                  </a:lnTo>
                  <a:lnTo>
                    <a:pt x="1544256" y="914539"/>
                  </a:lnTo>
                  <a:lnTo>
                    <a:pt x="1487462" y="958557"/>
                  </a:lnTo>
                  <a:lnTo>
                    <a:pt x="1436192" y="1013637"/>
                  </a:lnTo>
                  <a:lnTo>
                    <a:pt x="1390827" y="1079004"/>
                  </a:lnTo>
                  <a:lnTo>
                    <a:pt x="1352702" y="1153706"/>
                  </a:lnTo>
                  <a:lnTo>
                    <a:pt x="687692" y="2686659"/>
                  </a:lnTo>
                  <a:lnTo>
                    <a:pt x="717994" y="2703423"/>
                  </a:lnTo>
                  <a:lnTo>
                    <a:pt x="728103" y="2706662"/>
                  </a:lnTo>
                  <a:lnTo>
                    <a:pt x="738962" y="2709138"/>
                  </a:lnTo>
                  <a:lnTo>
                    <a:pt x="749833" y="2710472"/>
                  </a:lnTo>
                  <a:lnTo>
                    <a:pt x="760882" y="2711043"/>
                  </a:lnTo>
                  <a:lnTo>
                    <a:pt x="1683588" y="2711043"/>
                  </a:lnTo>
                  <a:lnTo>
                    <a:pt x="1765363" y="2681135"/>
                  </a:lnTo>
                  <a:lnTo>
                    <a:pt x="1825015" y="2599753"/>
                  </a:lnTo>
                  <a:lnTo>
                    <a:pt x="2287232" y="1538846"/>
                  </a:lnTo>
                  <a:lnTo>
                    <a:pt x="2309723" y="1430413"/>
                  </a:lnTo>
                  <a:close/>
                </a:path>
                <a:path w="5897880" h="7734300">
                  <a:moveTo>
                    <a:pt x="5897638" y="4294683"/>
                  </a:moveTo>
                  <a:lnTo>
                    <a:pt x="5893816" y="4218838"/>
                  </a:lnTo>
                  <a:lnTo>
                    <a:pt x="5882576" y="4144327"/>
                  </a:lnTo>
                  <a:lnTo>
                    <a:pt x="5863704" y="4072102"/>
                  </a:lnTo>
                  <a:lnTo>
                    <a:pt x="5837402" y="4003306"/>
                  </a:lnTo>
                  <a:lnTo>
                    <a:pt x="4595812" y="1153706"/>
                  </a:lnTo>
                  <a:lnTo>
                    <a:pt x="4559414" y="1079004"/>
                  </a:lnTo>
                  <a:lnTo>
                    <a:pt x="4514812" y="1013637"/>
                  </a:lnTo>
                  <a:lnTo>
                    <a:pt x="4463720" y="958557"/>
                  </a:lnTo>
                  <a:lnTo>
                    <a:pt x="4406925" y="914539"/>
                  </a:lnTo>
                  <a:lnTo>
                    <a:pt x="4345927" y="882142"/>
                  </a:lnTo>
                  <a:lnTo>
                    <a:pt x="4281894" y="862139"/>
                  </a:lnTo>
                  <a:lnTo>
                    <a:pt x="4215943" y="855268"/>
                  </a:lnTo>
                  <a:lnTo>
                    <a:pt x="2226233" y="855268"/>
                  </a:lnTo>
                  <a:lnTo>
                    <a:pt x="2423515" y="1308074"/>
                  </a:lnTo>
                  <a:lnTo>
                    <a:pt x="2442578" y="1367332"/>
                  </a:lnTo>
                  <a:lnTo>
                    <a:pt x="2448864" y="1430413"/>
                  </a:lnTo>
                  <a:lnTo>
                    <a:pt x="2442578" y="1493685"/>
                  </a:lnTo>
                  <a:lnTo>
                    <a:pt x="2423515" y="1552956"/>
                  </a:lnTo>
                  <a:lnTo>
                    <a:pt x="1902028" y="2749537"/>
                  </a:lnTo>
                  <a:lnTo>
                    <a:pt x="1873046" y="2801950"/>
                  </a:lnTo>
                  <a:lnTo>
                    <a:pt x="1790522" y="2866174"/>
                  </a:lnTo>
                  <a:lnTo>
                    <a:pt x="1742490" y="2874937"/>
                  </a:lnTo>
                  <a:lnTo>
                    <a:pt x="701979" y="2874937"/>
                  </a:lnTo>
                  <a:lnTo>
                    <a:pt x="624027" y="2849969"/>
                  </a:lnTo>
                  <a:lnTo>
                    <a:pt x="689406" y="2699042"/>
                  </a:lnTo>
                  <a:lnTo>
                    <a:pt x="682358" y="2695232"/>
                  </a:lnTo>
                  <a:lnTo>
                    <a:pt x="634136" y="2638247"/>
                  </a:lnTo>
                  <a:lnTo>
                    <a:pt x="161632" y="1552956"/>
                  </a:lnTo>
                  <a:lnTo>
                    <a:pt x="139141" y="1444332"/>
                  </a:lnTo>
                  <a:lnTo>
                    <a:pt x="144856" y="1388491"/>
                  </a:lnTo>
                  <a:lnTo>
                    <a:pt x="621931" y="274993"/>
                  </a:lnTo>
                  <a:lnTo>
                    <a:pt x="682548" y="193611"/>
                  </a:lnTo>
                  <a:lnTo>
                    <a:pt x="765454" y="163880"/>
                  </a:lnTo>
                  <a:lnTo>
                    <a:pt x="1687969" y="163880"/>
                  </a:lnTo>
                  <a:lnTo>
                    <a:pt x="1769935" y="193611"/>
                  </a:lnTo>
                  <a:lnTo>
                    <a:pt x="1829396" y="274993"/>
                  </a:lnTo>
                  <a:lnTo>
                    <a:pt x="2075472" y="839838"/>
                  </a:lnTo>
                  <a:lnTo>
                    <a:pt x="2217851" y="839838"/>
                  </a:lnTo>
                  <a:lnTo>
                    <a:pt x="1923364" y="163880"/>
                  </a:lnTo>
                  <a:lnTo>
                    <a:pt x="1877631" y="72986"/>
                  </a:lnTo>
                  <a:lnTo>
                    <a:pt x="1794903" y="8763"/>
                  </a:lnTo>
                  <a:lnTo>
                    <a:pt x="1746872" y="0"/>
                  </a:lnTo>
                  <a:lnTo>
                    <a:pt x="706374" y="0"/>
                  </a:lnTo>
                  <a:lnTo>
                    <a:pt x="574662" y="72986"/>
                  </a:lnTo>
                  <a:lnTo>
                    <a:pt x="544550" y="125387"/>
                  </a:lnTo>
                  <a:lnTo>
                    <a:pt x="25349" y="1321981"/>
                  </a:lnTo>
                  <a:lnTo>
                    <a:pt x="6286" y="1381252"/>
                  </a:lnTo>
                  <a:lnTo>
                    <a:pt x="0" y="1444332"/>
                  </a:lnTo>
                  <a:lnTo>
                    <a:pt x="6286" y="1507591"/>
                  </a:lnTo>
                  <a:lnTo>
                    <a:pt x="25349" y="1566862"/>
                  </a:lnTo>
                  <a:lnTo>
                    <a:pt x="544550" y="2763456"/>
                  </a:lnTo>
                  <a:lnTo>
                    <a:pt x="574471" y="2815856"/>
                  </a:lnTo>
                  <a:lnTo>
                    <a:pt x="614121" y="2856077"/>
                  </a:lnTo>
                  <a:lnTo>
                    <a:pt x="116459" y="4003306"/>
                  </a:lnTo>
                  <a:lnTo>
                    <a:pt x="90144" y="4072102"/>
                  </a:lnTo>
                  <a:lnTo>
                    <a:pt x="71285" y="4144327"/>
                  </a:lnTo>
                  <a:lnTo>
                    <a:pt x="60032" y="4218838"/>
                  </a:lnTo>
                  <a:lnTo>
                    <a:pt x="56222" y="4294683"/>
                  </a:lnTo>
                  <a:lnTo>
                    <a:pt x="60032" y="4370540"/>
                  </a:lnTo>
                  <a:lnTo>
                    <a:pt x="71285" y="4445051"/>
                  </a:lnTo>
                  <a:lnTo>
                    <a:pt x="90144" y="4517275"/>
                  </a:lnTo>
                  <a:lnTo>
                    <a:pt x="116459" y="4586071"/>
                  </a:lnTo>
                  <a:lnTo>
                    <a:pt x="1352702" y="7435672"/>
                  </a:lnTo>
                  <a:lnTo>
                    <a:pt x="1390827" y="7510373"/>
                  </a:lnTo>
                  <a:lnTo>
                    <a:pt x="1436192" y="7575639"/>
                  </a:lnTo>
                  <a:lnTo>
                    <a:pt x="1487462" y="7630719"/>
                  </a:lnTo>
                  <a:lnTo>
                    <a:pt x="1544256" y="7674838"/>
                  </a:lnTo>
                  <a:lnTo>
                    <a:pt x="1605445" y="7707236"/>
                  </a:lnTo>
                  <a:lnTo>
                    <a:pt x="1670443" y="7727239"/>
                  </a:lnTo>
                  <a:lnTo>
                    <a:pt x="1738109" y="7734097"/>
                  </a:lnTo>
                  <a:lnTo>
                    <a:pt x="4215943" y="7734097"/>
                  </a:lnTo>
                  <a:lnTo>
                    <a:pt x="4281894" y="7727239"/>
                  </a:lnTo>
                  <a:lnTo>
                    <a:pt x="4345927" y="7707236"/>
                  </a:lnTo>
                  <a:lnTo>
                    <a:pt x="4406925" y="7674838"/>
                  </a:lnTo>
                  <a:lnTo>
                    <a:pt x="4463732" y="7630719"/>
                  </a:lnTo>
                  <a:lnTo>
                    <a:pt x="4514812" y="7575639"/>
                  </a:lnTo>
                  <a:lnTo>
                    <a:pt x="4559414" y="7510373"/>
                  </a:lnTo>
                  <a:lnTo>
                    <a:pt x="4595812" y="7435672"/>
                  </a:lnTo>
                  <a:lnTo>
                    <a:pt x="5837402" y="4586071"/>
                  </a:lnTo>
                  <a:lnTo>
                    <a:pt x="5863704" y="4517275"/>
                  </a:lnTo>
                  <a:lnTo>
                    <a:pt x="5882576" y="4445051"/>
                  </a:lnTo>
                  <a:lnTo>
                    <a:pt x="5893816" y="4370540"/>
                  </a:lnTo>
                  <a:lnTo>
                    <a:pt x="5897638" y="4294683"/>
                  </a:lnTo>
                  <a:close/>
                </a:path>
              </a:pathLst>
            </a:custGeom>
            <a:solidFill>
              <a:srgbClr val="7D7D7D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28196" y="2119121"/>
              <a:ext cx="4802914" cy="51382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69261" y="2286"/>
              <a:ext cx="3373403" cy="1593341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192146" y="146243"/>
            <a:ext cx="1214945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1F467B"/>
                </a:solidFill>
              </a:rPr>
              <a:t>SMART</a:t>
            </a:r>
            <a:r>
              <a:rPr dirty="0" sz="6000" spc="-270">
                <a:solidFill>
                  <a:srgbClr val="1F467B"/>
                </a:solidFill>
              </a:rPr>
              <a:t> </a:t>
            </a:r>
            <a:r>
              <a:rPr dirty="0" sz="6000">
                <a:solidFill>
                  <a:srgbClr val="1F467B"/>
                </a:solidFill>
              </a:rPr>
              <a:t>INDIA</a:t>
            </a:r>
            <a:r>
              <a:rPr dirty="0" sz="6000" spc="-265">
                <a:solidFill>
                  <a:srgbClr val="1F467B"/>
                </a:solidFill>
              </a:rPr>
              <a:t> </a:t>
            </a:r>
            <a:r>
              <a:rPr dirty="0" sz="6000">
                <a:solidFill>
                  <a:srgbClr val="1F467B"/>
                </a:solidFill>
              </a:rPr>
              <a:t>HACKATHON</a:t>
            </a:r>
            <a:r>
              <a:rPr dirty="0" sz="6000" spc="-270">
                <a:solidFill>
                  <a:srgbClr val="1F467B"/>
                </a:solidFill>
              </a:rPr>
              <a:t> </a:t>
            </a:r>
            <a:r>
              <a:rPr dirty="0" sz="6000" spc="-20">
                <a:solidFill>
                  <a:srgbClr val="1F467B"/>
                </a:solidFill>
              </a:rPr>
              <a:t>2026</a:t>
            </a:r>
            <a:endParaRPr sz="600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dirty="0" spc="45"/>
              <a:t> </a:t>
            </a:r>
            <a:r>
              <a:rPr dirty="0"/>
              <a:t>Statement</a:t>
            </a:r>
            <a:r>
              <a:rPr dirty="0" spc="50"/>
              <a:t> </a:t>
            </a:r>
            <a:r>
              <a:rPr dirty="0"/>
              <a:t>ID</a:t>
            </a:r>
            <a:r>
              <a:rPr dirty="0" spc="50"/>
              <a:t> </a:t>
            </a:r>
            <a:r>
              <a:rPr dirty="0"/>
              <a:t>-</a:t>
            </a:r>
            <a:r>
              <a:rPr dirty="0" spc="50"/>
              <a:t> </a:t>
            </a:r>
            <a:r>
              <a:rPr dirty="0" spc="-10" b="0">
                <a:latin typeface="Times New Roman"/>
                <a:cs typeface="Times New Roman"/>
              </a:rPr>
              <a:t>26231</a:t>
            </a:r>
          </a:p>
          <a:p>
            <a:pPr marL="12700" marR="5080">
              <a:lnSpc>
                <a:spcPct val="161600"/>
              </a:lnSpc>
            </a:pPr>
            <a:r>
              <a:rPr dirty="0"/>
              <a:t>Problem</a:t>
            </a:r>
            <a:r>
              <a:rPr dirty="0" spc="80"/>
              <a:t> </a:t>
            </a:r>
            <a:r>
              <a:rPr dirty="0"/>
              <a:t>Statement</a:t>
            </a:r>
            <a:r>
              <a:rPr dirty="0" spc="85"/>
              <a:t> </a:t>
            </a:r>
            <a:r>
              <a:rPr dirty="0"/>
              <a:t>Title</a:t>
            </a:r>
            <a:r>
              <a:rPr dirty="0" spc="85"/>
              <a:t> </a:t>
            </a:r>
            <a:r>
              <a:rPr dirty="0"/>
              <a:t>-</a:t>
            </a:r>
            <a:r>
              <a:rPr dirty="0" b="0">
                <a:latin typeface="Times New Roman"/>
                <a:cs typeface="Times New Roman"/>
              </a:rPr>
              <a:t>Digital</a:t>
            </a:r>
            <a:r>
              <a:rPr dirty="0" spc="8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Companion</a:t>
            </a:r>
            <a:r>
              <a:rPr dirty="0" spc="8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for</a:t>
            </a:r>
            <a:r>
              <a:rPr dirty="0" spc="8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Field </a:t>
            </a:r>
            <a:r>
              <a:rPr dirty="0" b="0">
                <a:latin typeface="Times New Roman"/>
                <a:cs typeface="Times New Roman"/>
              </a:rPr>
              <a:t>Drug</a:t>
            </a:r>
            <a:r>
              <a:rPr dirty="0" spc="4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Testing</a:t>
            </a: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/>
              <a:t>Theme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 b="0">
                <a:latin typeface="Times New Roman"/>
                <a:cs typeface="Times New Roman"/>
              </a:rPr>
              <a:t>MedTech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/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BioTech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/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HealthTech</a:t>
            </a: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/>
              <a:t>PS</a:t>
            </a:r>
            <a:r>
              <a:rPr dirty="0" spc="-25"/>
              <a:t> </a:t>
            </a:r>
            <a:r>
              <a:rPr dirty="0"/>
              <a:t>Category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 b="0">
                <a:latin typeface="Times New Roman"/>
                <a:cs typeface="Times New Roman"/>
              </a:rPr>
              <a:t>Software</a:t>
            </a: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/>
              <a:t>Team</a:t>
            </a:r>
            <a:r>
              <a:rPr dirty="0" spc="-110"/>
              <a:t> </a:t>
            </a:r>
            <a:r>
              <a:rPr dirty="0"/>
              <a:t>ID</a:t>
            </a:r>
            <a:r>
              <a:rPr dirty="0" spc="-110"/>
              <a:t> </a:t>
            </a:r>
            <a:r>
              <a:rPr dirty="0"/>
              <a:t>-</a:t>
            </a:r>
            <a:r>
              <a:rPr dirty="0" spc="-110"/>
              <a:t> </a:t>
            </a:r>
            <a:r>
              <a:rPr dirty="0" spc="-10" b="0">
                <a:latin typeface="Times New Roman"/>
                <a:cs typeface="Times New Roman"/>
              </a:rPr>
              <a:t>K26234</a:t>
            </a: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/>
              <a:t>Team</a:t>
            </a:r>
            <a:r>
              <a:rPr dirty="0" spc="-130"/>
              <a:t> </a:t>
            </a:r>
            <a:r>
              <a:rPr dirty="0"/>
              <a:t>Name</a:t>
            </a:r>
            <a:r>
              <a:rPr dirty="0" spc="-125"/>
              <a:t> </a:t>
            </a:r>
            <a:r>
              <a:rPr dirty="0"/>
              <a:t>-</a:t>
            </a:r>
            <a:r>
              <a:rPr dirty="0" spc="-125"/>
              <a:t> </a:t>
            </a:r>
            <a:r>
              <a:rPr dirty="0" spc="-10" b="0">
                <a:latin typeface="Times New Roman"/>
                <a:cs typeface="Times New Roman"/>
              </a:rPr>
              <a:t>HexTech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00950" y="324521"/>
            <a:ext cx="2590800" cy="1209040"/>
          </a:xfrm>
          <a:custGeom>
            <a:avLst/>
            <a:gdLst/>
            <a:ahLst/>
            <a:cxnLst/>
            <a:rect l="l" t="t" r="r" b="b"/>
            <a:pathLst>
              <a:path w="2590800" h="1209040">
                <a:moveTo>
                  <a:pt x="0" y="604486"/>
                </a:moveTo>
                <a:lnTo>
                  <a:pt x="13995" y="515182"/>
                </a:lnTo>
                <a:lnTo>
                  <a:pt x="54840" y="429873"/>
                </a:lnTo>
                <a:lnTo>
                  <a:pt x="120343" y="349605"/>
                </a:lnTo>
                <a:lnTo>
                  <a:pt x="208602" y="275328"/>
                </a:lnTo>
                <a:lnTo>
                  <a:pt x="260681" y="240710"/>
                </a:lnTo>
                <a:lnTo>
                  <a:pt x="317615" y="207899"/>
                </a:lnTo>
                <a:lnTo>
                  <a:pt x="379311" y="177085"/>
                </a:lnTo>
                <a:lnTo>
                  <a:pt x="445385" y="148268"/>
                </a:lnTo>
                <a:lnTo>
                  <a:pt x="515649" y="121639"/>
                </a:lnTo>
                <a:lnTo>
                  <a:pt x="589912" y="97387"/>
                </a:lnTo>
                <a:lnTo>
                  <a:pt x="667793" y="75513"/>
                </a:lnTo>
                <a:lnTo>
                  <a:pt x="749101" y="56206"/>
                </a:lnTo>
                <a:lnTo>
                  <a:pt x="833646" y="39563"/>
                </a:lnTo>
                <a:lnTo>
                  <a:pt x="921047" y="25678"/>
                </a:lnTo>
                <a:lnTo>
                  <a:pt x="1011210" y="14646"/>
                </a:lnTo>
                <a:lnTo>
                  <a:pt x="1103753" y="6657"/>
                </a:lnTo>
                <a:lnTo>
                  <a:pt x="1198485" y="1807"/>
                </a:lnTo>
                <a:lnTo>
                  <a:pt x="1295217" y="0"/>
                </a:lnTo>
                <a:lnTo>
                  <a:pt x="1391854" y="1616"/>
                </a:lnTo>
                <a:lnTo>
                  <a:pt x="1486586" y="6467"/>
                </a:lnTo>
                <a:lnTo>
                  <a:pt x="1579129" y="14455"/>
                </a:lnTo>
                <a:lnTo>
                  <a:pt x="1669292" y="25488"/>
                </a:lnTo>
                <a:lnTo>
                  <a:pt x="1756693" y="39373"/>
                </a:lnTo>
                <a:lnTo>
                  <a:pt x="1841238" y="56016"/>
                </a:lnTo>
                <a:lnTo>
                  <a:pt x="1922546" y="75323"/>
                </a:lnTo>
                <a:lnTo>
                  <a:pt x="2000427" y="97197"/>
                </a:lnTo>
                <a:lnTo>
                  <a:pt x="2074594" y="121448"/>
                </a:lnTo>
                <a:lnTo>
                  <a:pt x="2144858" y="148078"/>
                </a:lnTo>
                <a:lnTo>
                  <a:pt x="2210933" y="176894"/>
                </a:lnTo>
                <a:lnTo>
                  <a:pt x="2272628" y="207708"/>
                </a:lnTo>
                <a:lnTo>
                  <a:pt x="2329563" y="240520"/>
                </a:lnTo>
                <a:lnTo>
                  <a:pt x="2381642" y="275138"/>
                </a:lnTo>
                <a:lnTo>
                  <a:pt x="2428485" y="311468"/>
                </a:lnTo>
                <a:lnTo>
                  <a:pt x="2505604" y="388883"/>
                </a:lnTo>
                <a:lnTo>
                  <a:pt x="2559016" y="471719"/>
                </a:lnTo>
                <a:lnTo>
                  <a:pt x="2586721" y="559121"/>
                </a:lnTo>
                <a:lnTo>
                  <a:pt x="2590244" y="604200"/>
                </a:lnTo>
                <a:lnTo>
                  <a:pt x="2586721" y="649375"/>
                </a:lnTo>
                <a:lnTo>
                  <a:pt x="2559016" y="736776"/>
                </a:lnTo>
                <a:lnTo>
                  <a:pt x="2505604" y="819708"/>
                </a:lnTo>
                <a:lnTo>
                  <a:pt x="2428485" y="897123"/>
                </a:lnTo>
                <a:lnTo>
                  <a:pt x="2381642" y="933453"/>
                </a:lnTo>
                <a:lnTo>
                  <a:pt x="2329563" y="968071"/>
                </a:lnTo>
                <a:lnTo>
                  <a:pt x="2272628" y="1000882"/>
                </a:lnTo>
                <a:lnTo>
                  <a:pt x="2210933" y="1031696"/>
                </a:lnTo>
                <a:lnTo>
                  <a:pt x="2144858" y="1060513"/>
                </a:lnTo>
                <a:lnTo>
                  <a:pt x="2074594" y="1087142"/>
                </a:lnTo>
                <a:lnTo>
                  <a:pt x="2000427" y="1111394"/>
                </a:lnTo>
                <a:lnTo>
                  <a:pt x="1922546" y="1133268"/>
                </a:lnTo>
                <a:lnTo>
                  <a:pt x="1841238" y="1152575"/>
                </a:lnTo>
                <a:lnTo>
                  <a:pt x="1756693" y="1169218"/>
                </a:lnTo>
                <a:lnTo>
                  <a:pt x="1669292" y="1183103"/>
                </a:lnTo>
                <a:lnTo>
                  <a:pt x="1579129" y="1194135"/>
                </a:lnTo>
                <a:lnTo>
                  <a:pt x="1486586" y="1202124"/>
                </a:lnTo>
                <a:lnTo>
                  <a:pt x="1391854" y="1206975"/>
                </a:lnTo>
                <a:lnTo>
                  <a:pt x="1295217" y="1208591"/>
                </a:lnTo>
                <a:lnTo>
                  <a:pt x="1198580" y="1206975"/>
                </a:lnTo>
                <a:lnTo>
                  <a:pt x="1103848" y="1202124"/>
                </a:lnTo>
                <a:lnTo>
                  <a:pt x="1011305" y="1194135"/>
                </a:lnTo>
                <a:lnTo>
                  <a:pt x="921142" y="1183103"/>
                </a:lnTo>
                <a:lnTo>
                  <a:pt x="833741" y="1169218"/>
                </a:lnTo>
                <a:lnTo>
                  <a:pt x="749196" y="1152575"/>
                </a:lnTo>
                <a:lnTo>
                  <a:pt x="667888" y="1133268"/>
                </a:lnTo>
                <a:lnTo>
                  <a:pt x="590007" y="1111394"/>
                </a:lnTo>
                <a:lnTo>
                  <a:pt x="515744" y="1087142"/>
                </a:lnTo>
                <a:lnTo>
                  <a:pt x="445480" y="1060513"/>
                </a:lnTo>
                <a:lnTo>
                  <a:pt x="379406" y="1031696"/>
                </a:lnTo>
                <a:lnTo>
                  <a:pt x="317711" y="1000882"/>
                </a:lnTo>
                <a:lnTo>
                  <a:pt x="260776" y="968071"/>
                </a:lnTo>
                <a:lnTo>
                  <a:pt x="208697" y="933453"/>
                </a:lnTo>
                <a:lnTo>
                  <a:pt x="161854" y="897123"/>
                </a:lnTo>
                <a:lnTo>
                  <a:pt x="84735" y="819708"/>
                </a:lnTo>
                <a:lnTo>
                  <a:pt x="31228" y="737062"/>
                </a:lnTo>
                <a:lnTo>
                  <a:pt x="3522" y="649660"/>
                </a:lnTo>
                <a:lnTo>
                  <a:pt x="0" y="604486"/>
                </a:lnTo>
                <a:close/>
              </a:path>
            </a:pathLst>
          </a:custGeom>
          <a:ln w="9512">
            <a:solidFill>
              <a:srgbClr val="806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61671" y="665212"/>
            <a:ext cx="12192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792E00"/>
                </a:solidFill>
                <a:latin typeface="Calibri"/>
                <a:cs typeface="Calibri"/>
              </a:rPr>
              <a:t>HexTech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391517" y="409924"/>
            <a:ext cx="597344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Proposed</a:t>
            </a:r>
            <a:r>
              <a:rPr dirty="0" sz="6000" spc="-135"/>
              <a:t> </a:t>
            </a:r>
            <a:r>
              <a:rPr dirty="0" sz="6000" spc="-10"/>
              <a:t>Solution</a:t>
            </a:r>
            <a:endParaRPr sz="60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0115" y="33423"/>
            <a:ext cx="3287363" cy="153123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207506" y="1771057"/>
            <a:ext cx="0" cy="7384415"/>
          </a:xfrm>
          <a:custGeom>
            <a:avLst/>
            <a:gdLst/>
            <a:ahLst/>
            <a:cxnLst/>
            <a:rect l="l" t="t" r="r" b="b"/>
            <a:pathLst>
              <a:path w="0" h="7384415">
                <a:moveTo>
                  <a:pt x="0" y="0"/>
                </a:moveTo>
                <a:lnTo>
                  <a:pt x="0" y="7384230"/>
                </a:lnTo>
              </a:path>
            </a:pathLst>
          </a:custGeom>
          <a:ln w="38099">
            <a:solidFill>
              <a:srgbClr val="B193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736085" y="1623750"/>
            <a:ext cx="18294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974825"/>
                </a:solidFill>
                <a:latin typeface="Calibri"/>
                <a:cs typeface="Calibri"/>
              </a:rPr>
              <a:t>Our</a:t>
            </a:r>
            <a:r>
              <a:rPr dirty="0" sz="2500" spc="-120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500" spc="-25" b="1">
                <a:solidFill>
                  <a:srgbClr val="974825"/>
                </a:solidFill>
                <a:latin typeface="Calibri"/>
                <a:cs typeface="Calibri"/>
              </a:rPr>
              <a:t>Approach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1724" y="2638766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8223" y="2380408"/>
            <a:ext cx="9229724" cy="8286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1724" y="3400766"/>
            <a:ext cx="66675" cy="666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1724" y="4162766"/>
            <a:ext cx="66675" cy="666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66522" y="1817393"/>
            <a:ext cx="6724015" cy="288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974825"/>
                </a:solidFill>
                <a:latin typeface="Calibri"/>
                <a:cs typeface="Calibri"/>
              </a:rPr>
              <a:t>Problem</a:t>
            </a:r>
            <a:endParaRPr sz="2700">
              <a:latin typeface="Calibri"/>
              <a:cs typeface="Calibri"/>
            </a:endParaRPr>
          </a:p>
          <a:p>
            <a:pPr marL="258445" marR="254000">
              <a:lnSpc>
                <a:spcPct val="125000"/>
              </a:lnSpc>
              <a:spcBef>
                <a:spcPts val="1275"/>
              </a:spcBef>
            </a:pPr>
            <a:r>
              <a:rPr dirty="0" sz="2000" spc="-20">
                <a:latin typeface="Calibri"/>
                <a:cs typeface="Calibri"/>
              </a:rPr>
              <a:t>Officers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check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colour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change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drug-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kits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eye. Different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officers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lighting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different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results. There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fixed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reference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compare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colour against.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Every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officer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decides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their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own.</a:t>
            </a:r>
            <a:endParaRPr sz="2000">
              <a:latin typeface="Calibri"/>
              <a:cs typeface="Calibri"/>
            </a:endParaRPr>
          </a:p>
          <a:p>
            <a:pPr marL="258445" marR="5080">
              <a:lnSpc>
                <a:spcPct val="125000"/>
              </a:lnSpc>
            </a:pPr>
            <a:r>
              <a:rPr dirty="0" sz="2000" spc="-10">
                <a:latin typeface="Calibri"/>
                <a:cs typeface="Calibri"/>
              </a:rPr>
              <a:t>There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proper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digital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where,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whom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done,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making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result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difficult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verify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later.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6824" y="6313200"/>
            <a:ext cx="66675" cy="666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6824" y="7075199"/>
            <a:ext cx="66675" cy="666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6824" y="7837199"/>
            <a:ext cx="66675" cy="6667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77535" y="5491827"/>
            <a:ext cx="6514465" cy="288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974825"/>
                </a:solidFill>
                <a:latin typeface="Calibri"/>
                <a:cs typeface="Calibri"/>
              </a:rPr>
              <a:t>Solution</a:t>
            </a:r>
            <a:endParaRPr sz="2700">
              <a:latin typeface="Calibri"/>
              <a:cs typeface="Calibri"/>
            </a:endParaRPr>
          </a:p>
          <a:p>
            <a:pPr marL="282575" marR="207010">
              <a:lnSpc>
                <a:spcPct val="125000"/>
              </a:lnSpc>
              <a:spcBef>
                <a:spcPts val="1275"/>
              </a:spcBef>
            </a:pPr>
            <a:r>
              <a:rPr dirty="0" sz="2000" spc="-10">
                <a:latin typeface="Calibri"/>
                <a:cs typeface="Calibri"/>
              </a:rPr>
              <a:t>Mobile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captures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colour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change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checks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test </a:t>
            </a:r>
            <a:r>
              <a:rPr dirty="0" sz="2000" spc="-10">
                <a:latin typeface="Calibri"/>
                <a:cs typeface="Calibri"/>
              </a:rPr>
              <a:t>result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automatically.</a:t>
            </a:r>
            <a:endParaRPr sz="2000">
              <a:latin typeface="Calibri"/>
              <a:cs typeface="Calibri"/>
            </a:endParaRPr>
          </a:p>
          <a:p>
            <a:pPr marL="282575" marR="5080">
              <a:lnSpc>
                <a:spcPct val="125000"/>
              </a:lnSpc>
            </a:pPr>
            <a:r>
              <a:rPr dirty="0" sz="2000" spc="-10">
                <a:latin typeface="Calibri"/>
                <a:cs typeface="Calibri"/>
              </a:rPr>
              <a:t>Records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result,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time,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location,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Inspector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future verification.</a:t>
            </a:r>
            <a:endParaRPr sz="2000">
              <a:latin typeface="Calibri"/>
              <a:cs typeface="Calibri"/>
            </a:endParaRPr>
          </a:p>
          <a:p>
            <a:pPr marL="282575" marR="518159">
              <a:lnSpc>
                <a:spcPct val="125000"/>
              </a:lnSpc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admin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dashboard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manages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Inspectors,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records, </a:t>
            </a:r>
            <a:r>
              <a:rPr dirty="0" sz="2000" spc="-20">
                <a:latin typeface="Calibri"/>
                <a:cs typeface="Calibri"/>
              </a:rPr>
              <a:t>evidence,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reports.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645576" y="3806810"/>
            <a:ext cx="7219950" cy="5448300"/>
          </a:xfrm>
          <a:custGeom>
            <a:avLst/>
            <a:gdLst/>
            <a:ahLst/>
            <a:cxnLst/>
            <a:rect l="l" t="t" r="r" b="b"/>
            <a:pathLst>
              <a:path w="7219950" h="5448300">
                <a:moveTo>
                  <a:pt x="7219920" y="5376380"/>
                </a:moveTo>
                <a:lnTo>
                  <a:pt x="7216537" y="5393306"/>
                </a:lnTo>
                <a:lnTo>
                  <a:pt x="7196101" y="5423602"/>
                </a:lnTo>
                <a:lnTo>
                  <a:pt x="7165825" y="5444014"/>
                </a:lnTo>
                <a:lnTo>
                  <a:pt x="7144493" y="5448249"/>
                </a:lnTo>
              </a:path>
              <a:path w="7219950" h="5448300">
                <a:moveTo>
                  <a:pt x="79517" y="5448281"/>
                </a:moveTo>
                <a:lnTo>
                  <a:pt x="58156" y="5443991"/>
                </a:lnTo>
                <a:lnTo>
                  <a:pt x="27877" y="5423559"/>
                </a:lnTo>
                <a:lnTo>
                  <a:pt x="7475" y="5393266"/>
                </a:lnTo>
                <a:lnTo>
                  <a:pt x="0" y="5356187"/>
                </a:lnTo>
                <a:lnTo>
                  <a:pt x="0" y="95258"/>
                </a:lnTo>
                <a:lnTo>
                  <a:pt x="27905" y="27904"/>
                </a:lnTo>
                <a:lnTo>
                  <a:pt x="95259" y="9"/>
                </a:lnTo>
                <a:lnTo>
                  <a:pt x="7128709" y="0"/>
                </a:lnTo>
                <a:lnTo>
                  <a:pt x="7165801" y="7469"/>
                </a:lnTo>
                <a:lnTo>
                  <a:pt x="7196099" y="27881"/>
                </a:lnTo>
                <a:lnTo>
                  <a:pt x="7216529" y="58173"/>
                </a:lnTo>
                <a:lnTo>
                  <a:pt x="7219923" y="75119"/>
                </a:lnTo>
              </a:path>
            </a:pathLst>
          </a:custGeom>
          <a:ln w="57149">
            <a:solidFill>
              <a:srgbClr val="792E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57277" y="4773659"/>
            <a:ext cx="66675" cy="6667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57277" y="5859509"/>
            <a:ext cx="66675" cy="666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57277" y="6945359"/>
            <a:ext cx="66675" cy="6667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57277" y="8031209"/>
            <a:ext cx="66675" cy="6667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0060202" y="3867187"/>
            <a:ext cx="6137275" cy="5046980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700" spc="-10" b="1">
                <a:solidFill>
                  <a:srgbClr val="974825"/>
                </a:solidFill>
                <a:latin typeface="Calibri"/>
                <a:cs typeface="Calibri"/>
              </a:rPr>
              <a:t>Novelty</a:t>
            </a:r>
            <a:endParaRPr sz="2700">
              <a:latin typeface="Calibri"/>
              <a:cs typeface="Calibri"/>
            </a:endParaRPr>
          </a:p>
          <a:p>
            <a:pPr marL="490220" marR="259079">
              <a:lnSpc>
                <a:spcPct val="118800"/>
              </a:lnSpc>
              <a:spcBef>
                <a:spcPts val="635"/>
              </a:spcBef>
            </a:pP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reads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colour,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eye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45">
                <a:latin typeface="Calibri"/>
                <a:cs typeface="Calibri"/>
              </a:rPr>
              <a:t>low-</a:t>
            </a:r>
            <a:r>
              <a:rPr dirty="0" sz="2000" spc="-25">
                <a:latin typeface="Calibri"/>
                <a:cs typeface="Calibri"/>
              </a:rPr>
              <a:t>cost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colour </a:t>
            </a:r>
            <a:r>
              <a:rPr dirty="0" sz="2000" spc="-25">
                <a:latin typeface="Calibri"/>
                <a:cs typeface="Calibri"/>
              </a:rPr>
              <a:t>card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helps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handle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lighting,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gives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colour-</a:t>
            </a:r>
            <a:r>
              <a:rPr dirty="0" sz="2000" spc="-20">
                <a:latin typeface="Calibri"/>
                <a:cs typeface="Calibri"/>
              </a:rPr>
              <a:t>based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result.</a:t>
            </a:r>
            <a:endParaRPr sz="2000">
              <a:latin typeface="Calibri"/>
              <a:cs typeface="Calibri"/>
            </a:endParaRPr>
          </a:p>
          <a:p>
            <a:pPr algn="just" marL="490220" marR="561975">
              <a:lnSpc>
                <a:spcPts val="2850"/>
              </a:lnSpc>
              <a:spcBef>
                <a:spcPts val="170"/>
              </a:spcBef>
            </a:pPr>
            <a:r>
              <a:rPr dirty="0" sz="2000" spc="-30">
                <a:latin typeface="Calibri"/>
                <a:cs typeface="Calibri"/>
              </a:rPr>
              <a:t>Honestly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says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“Not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Sure”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40">
                <a:latin typeface="Calibri"/>
                <a:cs typeface="Calibri"/>
              </a:rPr>
              <a:t>Blurry,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shiny,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unclear </a:t>
            </a:r>
            <a:r>
              <a:rPr dirty="0" sz="2000" spc="-30">
                <a:latin typeface="Calibri"/>
                <a:cs typeface="Calibri"/>
              </a:rPr>
              <a:t>images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give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INCONCLUSIVE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result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with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reason </a:t>
            </a:r>
            <a:r>
              <a:rPr dirty="0" sz="2000" spc="-30">
                <a:latin typeface="Calibri"/>
                <a:cs typeface="Calibri"/>
              </a:rPr>
              <a:t>instead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guessing.</a:t>
            </a:r>
            <a:endParaRPr sz="2000">
              <a:latin typeface="Calibri"/>
              <a:cs typeface="Calibri"/>
            </a:endParaRPr>
          </a:p>
          <a:p>
            <a:pPr marL="490220" marR="340360">
              <a:lnSpc>
                <a:spcPts val="2850"/>
              </a:lnSpc>
            </a:pPr>
            <a:r>
              <a:rPr dirty="0" sz="2000" spc="-30">
                <a:latin typeface="Calibri"/>
                <a:cs typeface="Calibri"/>
              </a:rPr>
              <a:t>Secure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proof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test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Photo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hash,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GPS,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internet </a:t>
            </a:r>
            <a:r>
              <a:rPr dirty="0" sz="2000" spc="-25">
                <a:latin typeface="Calibri"/>
                <a:cs typeface="Calibri"/>
              </a:rPr>
              <a:t>time,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Inspector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are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digitally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signed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 </a:t>
            </a:r>
            <a:r>
              <a:rPr dirty="0" sz="2000" spc="-30">
                <a:latin typeface="Calibri"/>
                <a:cs typeface="Calibri"/>
              </a:rPr>
              <a:t>verified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using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code.</a:t>
            </a:r>
            <a:endParaRPr sz="2000">
              <a:latin typeface="Calibri"/>
              <a:cs typeface="Calibri"/>
            </a:endParaRPr>
          </a:p>
          <a:p>
            <a:pPr marL="490220" marR="5080">
              <a:lnSpc>
                <a:spcPts val="2850"/>
              </a:lnSpc>
            </a:pPr>
            <a:r>
              <a:rPr dirty="0" sz="2000" spc="-50">
                <a:latin typeface="Calibri"/>
                <a:cs typeface="Calibri"/>
              </a:rPr>
              <a:t>Works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with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40">
                <a:latin typeface="Calibri"/>
                <a:cs typeface="Calibri"/>
              </a:rPr>
              <a:t>different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test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kits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New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kit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colour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profiles can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added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from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Admin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website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without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updating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app.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38225" y="5143500"/>
            <a:ext cx="7160259" cy="0"/>
          </a:xfrm>
          <a:custGeom>
            <a:avLst/>
            <a:gdLst/>
            <a:ahLst/>
            <a:cxnLst/>
            <a:rect l="l" t="t" r="r" b="b"/>
            <a:pathLst>
              <a:path w="7160259" h="0">
                <a:moveTo>
                  <a:pt x="0" y="0"/>
                </a:moveTo>
                <a:lnTo>
                  <a:pt x="7159818" y="0"/>
                </a:lnTo>
              </a:path>
            </a:pathLst>
          </a:custGeom>
          <a:ln w="38099">
            <a:solidFill>
              <a:srgbClr val="B1935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0" y="9532143"/>
            <a:ext cx="18287365" cy="755650"/>
            <a:chOff x="0" y="9532143"/>
            <a:chExt cx="18287365" cy="755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64624"/>
              <a:ext cx="18284569" cy="7184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532143"/>
              <a:ext cx="18287365" cy="755650"/>
            </a:xfrm>
            <a:custGeom>
              <a:avLst/>
              <a:gdLst/>
              <a:ahLst/>
              <a:cxnLst/>
              <a:rect l="l" t="t" r="r" b="b"/>
              <a:pathLst>
                <a:path w="18287365" h="755650">
                  <a:moveTo>
                    <a:pt x="18287308" y="755332"/>
                  </a:moveTo>
                  <a:lnTo>
                    <a:pt x="0" y="755332"/>
                  </a:lnTo>
                  <a:lnTo>
                    <a:pt x="0" y="0"/>
                  </a:lnTo>
                  <a:lnTo>
                    <a:pt x="18287308" y="0"/>
                  </a:lnTo>
                  <a:lnTo>
                    <a:pt x="18287308" y="755332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61671" y="665212"/>
            <a:ext cx="12192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792E00"/>
                </a:solidFill>
                <a:latin typeface="Calibri"/>
                <a:cs typeface="Calibri"/>
              </a:rPr>
              <a:t>HexTech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61357" y="268265"/>
            <a:ext cx="820420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dirty="0" spc="-310"/>
              <a:t> </a:t>
            </a:r>
            <a:r>
              <a:rPr dirty="0" spc="-1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03" y="1930462"/>
            <a:ext cx="8407816" cy="73247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66690" y="1554805"/>
            <a:ext cx="260540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792E00"/>
                </a:solidFill>
                <a:latin typeface="Calibri"/>
                <a:cs typeface="Calibri"/>
              </a:rPr>
              <a:t>System</a:t>
            </a:r>
            <a:r>
              <a:rPr dirty="0" sz="2500" spc="-9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500" spc="-30" b="1">
                <a:solidFill>
                  <a:srgbClr val="792E00"/>
                </a:solidFill>
                <a:latin typeface="Calibri"/>
                <a:cs typeface="Calibri"/>
              </a:rPr>
              <a:t>Architecture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77364" y="1818284"/>
            <a:ext cx="0" cy="7425055"/>
          </a:xfrm>
          <a:custGeom>
            <a:avLst/>
            <a:gdLst/>
            <a:ahLst/>
            <a:cxnLst/>
            <a:rect l="l" t="t" r="r" b="b"/>
            <a:pathLst>
              <a:path w="0" h="7425055">
                <a:moveTo>
                  <a:pt x="0" y="7424763"/>
                </a:moveTo>
                <a:lnTo>
                  <a:pt x="0" y="0"/>
                </a:lnTo>
              </a:path>
            </a:pathLst>
          </a:custGeom>
          <a:ln w="38099">
            <a:solidFill>
              <a:srgbClr val="B193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954575" y="1745305"/>
            <a:ext cx="274955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2640" marR="5080" indent="-790575">
              <a:lnSpc>
                <a:spcPct val="100000"/>
              </a:lnSpc>
              <a:spcBef>
                <a:spcPts val="100"/>
              </a:spcBef>
            </a:pPr>
            <a:r>
              <a:rPr dirty="0" sz="2500" spc="-30" b="1">
                <a:solidFill>
                  <a:srgbClr val="792E00"/>
                </a:solidFill>
                <a:latin typeface="Calibri"/>
                <a:cs typeface="Calibri"/>
              </a:rPr>
              <a:t>Data</a:t>
            </a:r>
            <a:r>
              <a:rPr dirty="0" sz="2500" spc="-9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500" spc="-30" b="1">
                <a:solidFill>
                  <a:srgbClr val="792E00"/>
                </a:solidFill>
                <a:latin typeface="Calibri"/>
                <a:cs typeface="Calibri"/>
              </a:rPr>
              <a:t>Security</a:t>
            </a:r>
            <a:r>
              <a:rPr dirty="0" sz="2500" spc="-8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792E00"/>
                </a:solidFill>
                <a:latin typeface="Calibri"/>
                <a:cs typeface="Calibri"/>
              </a:rPr>
              <a:t>&amp;</a:t>
            </a:r>
            <a:r>
              <a:rPr dirty="0" sz="2500" spc="-8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500" spc="-25" b="1">
                <a:solidFill>
                  <a:srgbClr val="792E00"/>
                </a:solidFill>
                <a:latin typeface="Calibri"/>
                <a:cs typeface="Calibri"/>
              </a:rPr>
              <a:t>Legal </a:t>
            </a:r>
            <a:r>
              <a:rPr dirty="0" sz="2500" spc="-10" b="1">
                <a:solidFill>
                  <a:srgbClr val="792E00"/>
                </a:solidFill>
                <a:latin typeface="Calibri"/>
                <a:cs typeface="Calibri"/>
              </a:rPr>
              <a:t>Evidence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62196" y="1818284"/>
            <a:ext cx="0" cy="7425055"/>
          </a:xfrm>
          <a:custGeom>
            <a:avLst/>
            <a:gdLst/>
            <a:ahLst/>
            <a:cxnLst/>
            <a:rect l="l" t="t" r="r" b="b"/>
            <a:pathLst>
              <a:path w="0" h="7425055">
                <a:moveTo>
                  <a:pt x="0" y="7424763"/>
                </a:moveTo>
                <a:lnTo>
                  <a:pt x="0" y="0"/>
                </a:lnTo>
              </a:path>
            </a:pathLst>
          </a:custGeom>
          <a:ln w="38099">
            <a:solidFill>
              <a:srgbClr val="B193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696982" y="1745305"/>
            <a:ext cx="22269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5" b="1">
                <a:solidFill>
                  <a:srgbClr val="792E00"/>
                </a:solidFill>
                <a:latin typeface="Calibri"/>
                <a:cs typeface="Calibri"/>
              </a:rPr>
              <a:t>Technology</a:t>
            </a:r>
            <a:r>
              <a:rPr dirty="0" sz="2500" spc="-7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500" spc="-20" b="1">
                <a:solidFill>
                  <a:srgbClr val="792E00"/>
                </a:solidFill>
                <a:latin typeface="Calibri"/>
                <a:cs typeface="Calibri"/>
              </a:rPr>
              <a:t>Stack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895571" y="2944241"/>
            <a:ext cx="2948940" cy="5939790"/>
            <a:chOff x="9895571" y="2944241"/>
            <a:chExt cx="2948940" cy="5939790"/>
          </a:xfrm>
        </p:grpSpPr>
        <p:sp>
          <p:nvSpPr>
            <p:cNvPr id="12" name="object 12"/>
            <p:cNvSpPr/>
            <p:nvPr/>
          </p:nvSpPr>
          <p:spPr>
            <a:xfrm>
              <a:off x="9914621" y="2963291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2" y="638167"/>
                  </a:moveTo>
                  <a:lnTo>
                    <a:pt x="58166" y="632189"/>
                  </a:lnTo>
                  <a:lnTo>
                    <a:pt x="27887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90"/>
                  </a:lnTo>
                  <a:lnTo>
                    <a:pt x="2852146" y="632195"/>
                  </a:lnTo>
                  <a:lnTo>
                    <a:pt x="2822521" y="638159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14621" y="3837565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2" y="638167"/>
                  </a:moveTo>
                  <a:lnTo>
                    <a:pt x="58166" y="632189"/>
                  </a:lnTo>
                  <a:lnTo>
                    <a:pt x="27887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90"/>
                  </a:lnTo>
                  <a:lnTo>
                    <a:pt x="2852146" y="632195"/>
                  </a:lnTo>
                  <a:lnTo>
                    <a:pt x="2822521" y="638159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914621" y="4715362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2" y="638167"/>
                  </a:moveTo>
                  <a:lnTo>
                    <a:pt x="58166" y="632189"/>
                  </a:lnTo>
                  <a:lnTo>
                    <a:pt x="27887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90"/>
                  </a:lnTo>
                  <a:lnTo>
                    <a:pt x="2852146" y="632195"/>
                  </a:lnTo>
                  <a:lnTo>
                    <a:pt x="2822520" y="638159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914621" y="5593161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1" y="638167"/>
                  </a:moveTo>
                  <a:lnTo>
                    <a:pt x="58166" y="632189"/>
                  </a:lnTo>
                  <a:lnTo>
                    <a:pt x="27887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90"/>
                  </a:lnTo>
                  <a:lnTo>
                    <a:pt x="2852146" y="632195"/>
                  </a:lnTo>
                  <a:lnTo>
                    <a:pt x="2822521" y="638159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914621" y="6470959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3" y="638167"/>
                  </a:moveTo>
                  <a:lnTo>
                    <a:pt x="58166" y="632189"/>
                  </a:lnTo>
                  <a:lnTo>
                    <a:pt x="27887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89"/>
                  </a:lnTo>
                  <a:lnTo>
                    <a:pt x="2852146" y="632195"/>
                  </a:lnTo>
                  <a:lnTo>
                    <a:pt x="2822520" y="638159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914621" y="7348757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4" y="638167"/>
                  </a:moveTo>
                  <a:lnTo>
                    <a:pt x="58166" y="632189"/>
                  </a:lnTo>
                  <a:lnTo>
                    <a:pt x="27888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89"/>
                  </a:lnTo>
                  <a:lnTo>
                    <a:pt x="2852146" y="632195"/>
                  </a:lnTo>
                  <a:lnTo>
                    <a:pt x="2822518" y="63816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914621" y="8226556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4" y="638167"/>
                  </a:moveTo>
                  <a:lnTo>
                    <a:pt x="58166" y="632189"/>
                  </a:lnTo>
                  <a:lnTo>
                    <a:pt x="27888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89"/>
                  </a:lnTo>
                  <a:lnTo>
                    <a:pt x="2852146" y="632195"/>
                  </a:lnTo>
                  <a:lnTo>
                    <a:pt x="2822518" y="63816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0184423" y="3098979"/>
            <a:ext cx="2348865" cy="569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latin typeface="Calibri"/>
                <a:cs typeface="Calibri"/>
              </a:rPr>
              <a:t>Test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Data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Photo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800">
              <a:latin typeface="Calibri"/>
              <a:cs typeface="Calibri"/>
            </a:endParaRPr>
          </a:p>
          <a:p>
            <a:pPr algn="ctr" marR="5080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alibri"/>
                <a:cs typeface="Calibri"/>
              </a:rPr>
              <a:t>Encrypted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1800">
              <a:latin typeface="Calibri"/>
              <a:cs typeface="Calibri"/>
            </a:endParaRPr>
          </a:p>
          <a:p>
            <a:pPr marL="779145" marR="182245" indent="-567690">
              <a:lnSpc>
                <a:spcPts val="2030"/>
              </a:lnSpc>
            </a:pPr>
            <a:r>
              <a:rPr dirty="0" sz="1700" spc="-40">
                <a:latin typeface="Calibri"/>
                <a:cs typeface="Calibri"/>
              </a:rPr>
              <a:t>SHA-</a:t>
            </a:r>
            <a:r>
              <a:rPr dirty="0" sz="1700" spc="-10">
                <a:latin typeface="Calibri"/>
                <a:cs typeface="Calibri"/>
              </a:rPr>
              <a:t>256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Hash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+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Digital </a:t>
            </a:r>
            <a:r>
              <a:rPr dirty="0" sz="1700" spc="-10">
                <a:latin typeface="Calibri"/>
                <a:cs typeface="Calibri"/>
              </a:rPr>
              <a:t>Signature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1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GPS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+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Time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+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Inspector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ID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800">
              <a:latin typeface="Calibri"/>
              <a:cs typeface="Calibri"/>
            </a:endParaRPr>
          </a:p>
          <a:p>
            <a:pPr marL="828040" marR="175895" indent="-703580">
              <a:lnSpc>
                <a:spcPts val="2100"/>
              </a:lnSpc>
            </a:pPr>
            <a:r>
              <a:rPr dirty="0" sz="1800" spc="-60">
                <a:latin typeface="Calibri"/>
                <a:cs typeface="Calibri"/>
              </a:rPr>
              <a:t>Tamper-</a:t>
            </a:r>
            <a:r>
              <a:rPr dirty="0" sz="1800" spc="-30">
                <a:latin typeface="Calibri"/>
                <a:cs typeface="Calibri"/>
              </a:rPr>
              <a:t>Evident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Digital </a:t>
            </a:r>
            <a:r>
              <a:rPr dirty="0" sz="1800" spc="-10">
                <a:latin typeface="Calibri"/>
                <a:cs typeface="Calibri"/>
              </a:rPr>
              <a:t>Record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800">
              <a:latin typeface="Calibri"/>
              <a:cs typeface="Calibri"/>
            </a:endParaRPr>
          </a:p>
          <a:p>
            <a:pPr algn="ctr" marR="508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alibri"/>
                <a:cs typeface="Calibri"/>
              </a:rPr>
              <a:t>QR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Verification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  <a:endParaRPr sz="1800">
              <a:latin typeface="Calibri"/>
              <a:cs typeface="Calibri"/>
            </a:endParaRPr>
          </a:p>
          <a:p>
            <a:pPr algn="ctr" marL="155575" marR="127000">
              <a:lnSpc>
                <a:spcPts val="2030"/>
              </a:lnSpc>
            </a:pPr>
            <a:r>
              <a:rPr dirty="0" sz="1700" spc="-20">
                <a:latin typeface="Calibri"/>
                <a:cs typeface="Calibri"/>
              </a:rPr>
              <a:t>Supports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Legal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Evidence </a:t>
            </a:r>
            <a:r>
              <a:rPr dirty="0" sz="1700" spc="-10">
                <a:latin typeface="Calibri"/>
                <a:cs typeface="Calibri"/>
              </a:rPr>
              <a:t>Requirements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161323" y="3602989"/>
            <a:ext cx="171450" cy="4624070"/>
            <a:chOff x="11161323" y="3602989"/>
            <a:chExt cx="171450" cy="4624070"/>
          </a:xfrm>
        </p:grpSpPr>
        <p:sp>
          <p:nvSpPr>
            <p:cNvPr id="21" name="object 21"/>
            <p:cNvSpPr/>
            <p:nvPr/>
          </p:nvSpPr>
          <p:spPr>
            <a:xfrm>
              <a:off x="11237523" y="3602989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180373" y="374234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237523" y="4480787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180373" y="4620138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237523" y="5359804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180373" y="5499154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237523" y="6265952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1180373" y="6405303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256573" y="7110658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199423" y="7250009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256573" y="7991980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199423" y="8131331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13803" y="2337060"/>
            <a:ext cx="4152899" cy="6924674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400950" y="324521"/>
            <a:ext cx="2590800" cy="1209040"/>
          </a:xfrm>
          <a:custGeom>
            <a:avLst/>
            <a:gdLst/>
            <a:ahLst/>
            <a:cxnLst/>
            <a:rect l="l" t="t" r="r" b="b"/>
            <a:pathLst>
              <a:path w="2590800" h="1209040">
                <a:moveTo>
                  <a:pt x="0" y="604486"/>
                </a:moveTo>
                <a:lnTo>
                  <a:pt x="13995" y="515182"/>
                </a:lnTo>
                <a:lnTo>
                  <a:pt x="54840" y="429873"/>
                </a:lnTo>
                <a:lnTo>
                  <a:pt x="120343" y="349605"/>
                </a:lnTo>
                <a:lnTo>
                  <a:pt x="208602" y="275328"/>
                </a:lnTo>
                <a:lnTo>
                  <a:pt x="260681" y="240710"/>
                </a:lnTo>
                <a:lnTo>
                  <a:pt x="317615" y="207899"/>
                </a:lnTo>
                <a:lnTo>
                  <a:pt x="379311" y="177085"/>
                </a:lnTo>
                <a:lnTo>
                  <a:pt x="445385" y="148268"/>
                </a:lnTo>
                <a:lnTo>
                  <a:pt x="515649" y="121639"/>
                </a:lnTo>
                <a:lnTo>
                  <a:pt x="589912" y="97387"/>
                </a:lnTo>
                <a:lnTo>
                  <a:pt x="667793" y="75513"/>
                </a:lnTo>
                <a:lnTo>
                  <a:pt x="749101" y="56206"/>
                </a:lnTo>
                <a:lnTo>
                  <a:pt x="833646" y="39563"/>
                </a:lnTo>
                <a:lnTo>
                  <a:pt x="921047" y="25678"/>
                </a:lnTo>
                <a:lnTo>
                  <a:pt x="1011210" y="14646"/>
                </a:lnTo>
                <a:lnTo>
                  <a:pt x="1103753" y="6657"/>
                </a:lnTo>
                <a:lnTo>
                  <a:pt x="1198485" y="1807"/>
                </a:lnTo>
                <a:lnTo>
                  <a:pt x="1295217" y="0"/>
                </a:lnTo>
                <a:lnTo>
                  <a:pt x="1391854" y="1616"/>
                </a:lnTo>
                <a:lnTo>
                  <a:pt x="1486586" y="6467"/>
                </a:lnTo>
                <a:lnTo>
                  <a:pt x="1579129" y="14455"/>
                </a:lnTo>
                <a:lnTo>
                  <a:pt x="1669292" y="25488"/>
                </a:lnTo>
                <a:lnTo>
                  <a:pt x="1756693" y="39373"/>
                </a:lnTo>
                <a:lnTo>
                  <a:pt x="1841238" y="56016"/>
                </a:lnTo>
                <a:lnTo>
                  <a:pt x="1922546" y="75323"/>
                </a:lnTo>
                <a:lnTo>
                  <a:pt x="2000427" y="97197"/>
                </a:lnTo>
                <a:lnTo>
                  <a:pt x="2074594" y="121448"/>
                </a:lnTo>
                <a:lnTo>
                  <a:pt x="2144858" y="148078"/>
                </a:lnTo>
                <a:lnTo>
                  <a:pt x="2210933" y="176894"/>
                </a:lnTo>
                <a:lnTo>
                  <a:pt x="2272628" y="207708"/>
                </a:lnTo>
                <a:lnTo>
                  <a:pt x="2329563" y="240520"/>
                </a:lnTo>
                <a:lnTo>
                  <a:pt x="2381642" y="275138"/>
                </a:lnTo>
                <a:lnTo>
                  <a:pt x="2428485" y="311468"/>
                </a:lnTo>
                <a:lnTo>
                  <a:pt x="2505604" y="388883"/>
                </a:lnTo>
                <a:lnTo>
                  <a:pt x="2559016" y="471719"/>
                </a:lnTo>
                <a:lnTo>
                  <a:pt x="2586721" y="559121"/>
                </a:lnTo>
                <a:lnTo>
                  <a:pt x="2590244" y="604200"/>
                </a:lnTo>
                <a:lnTo>
                  <a:pt x="2586721" y="649375"/>
                </a:lnTo>
                <a:lnTo>
                  <a:pt x="2559016" y="736776"/>
                </a:lnTo>
                <a:lnTo>
                  <a:pt x="2505604" y="819708"/>
                </a:lnTo>
                <a:lnTo>
                  <a:pt x="2428485" y="897123"/>
                </a:lnTo>
                <a:lnTo>
                  <a:pt x="2381642" y="933453"/>
                </a:lnTo>
                <a:lnTo>
                  <a:pt x="2329563" y="968071"/>
                </a:lnTo>
                <a:lnTo>
                  <a:pt x="2272628" y="1000882"/>
                </a:lnTo>
                <a:lnTo>
                  <a:pt x="2210933" y="1031696"/>
                </a:lnTo>
                <a:lnTo>
                  <a:pt x="2144858" y="1060513"/>
                </a:lnTo>
                <a:lnTo>
                  <a:pt x="2074594" y="1087142"/>
                </a:lnTo>
                <a:lnTo>
                  <a:pt x="2000427" y="1111394"/>
                </a:lnTo>
                <a:lnTo>
                  <a:pt x="1922546" y="1133268"/>
                </a:lnTo>
                <a:lnTo>
                  <a:pt x="1841238" y="1152575"/>
                </a:lnTo>
                <a:lnTo>
                  <a:pt x="1756693" y="1169218"/>
                </a:lnTo>
                <a:lnTo>
                  <a:pt x="1669292" y="1183103"/>
                </a:lnTo>
                <a:lnTo>
                  <a:pt x="1579129" y="1194135"/>
                </a:lnTo>
                <a:lnTo>
                  <a:pt x="1486586" y="1202124"/>
                </a:lnTo>
                <a:lnTo>
                  <a:pt x="1391854" y="1206975"/>
                </a:lnTo>
                <a:lnTo>
                  <a:pt x="1295217" y="1208591"/>
                </a:lnTo>
                <a:lnTo>
                  <a:pt x="1198580" y="1206975"/>
                </a:lnTo>
                <a:lnTo>
                  <a:pt x="1103848" y="1202124"/>
                </a:lnTo>
                <a:lnTo>
                  <a:pt x="1011305" y="1194135"/>
                </a:lnTo>
                <a:lnTo>
                  <a:pt x="921142" y="1183103"/>
                </a:lnTo>
                <a:lnTo>
                  <a:pt x="833741" y="1169218"/>
                </a:lnTo>
                <a:lnTo>
                  <a:pt x="749196" y="1152575"/>
                </a:lnTo>
                <a:lnTo>
                  <a:pt x="667888" y="1133268"/>
                </a:lnTo>
                <a:lnTo>
                  <a:pt x="590007" y="1111394"/>
                </a:lnTo>
                <a:lnTo>
                  <a:pt x="515744" y="1087142"/>
                </a:lnTo>
                <a:lnTo>
                  <a:pt x="445480" y="1060513"/>
                </a:lnTo>
                <a:lnTo>
                  <a:pt x="379406" y="1031696"/>
                </a:lnTo>
                <a:lnTo>
                  <a:pt x="317711" y="1000882"/>
                </a:lnTo>
                <a:lnTo>
                  <a:pt x="260776" y="968071"/>
                </a:lnTo>
                <a:lnTo>
                  <a:pt x="208697" y="933453"/>
                </a:lnTo>
                <a:lnTo>
                  <a:pt x="161854" y="897123"/>
                </a:lnTo>
                <a:lnTo>
                  <a:pt x="84735" y="819708"/>
                </a:lnTo>
                <a:lnTo>
                  <a:pt x="31228" y="737062"/>
                </a:lnTo>
                <a:lnTo>
                  <a:pt x="3522" y="649660"/>
                </a:lnTo>
                <a:lnTo>
                  <a:pt x="0" y="604486"/>
                </a:lnTo>
                <a:close/>
              </a:path>
            </a:pathLst>
          </a:custGeom>
          <a:ln w="9512">
            <a:solidFill>
              <a:srgbClr val="806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61671" y="665212"/>
            <a:ext cx="12192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792E00"/>
                </a:solidFill>
                <a:latin typeface="Calibri"/>
                <a:cs typeface="Calibri"/>
              </a:rPr>
              <a:t>HexTech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FEASIBILITY</a:t>
            </a:r>
            <a:r>
              <a:rPr dirty="0" spc="-270"/>
              <a:t> </a:t>
            </a:r>
            <a:r>
              <a:rPr dirty="0"/>
              <a:t>AND</a:t>
            </a:r>
            <a:r>
              <a:rPr dirty="0" spc="-254"/>
              <a:t> </a:t>
            </a:r>
            <a:r>
              <a:rPr dirty="0" spc="-10"/>
              <a:t>VIABILITY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82596" y="21869"/>
            <a:ext cx="3302698" cy="1538096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53144" y="5092268"/>
          <a:ext cx="7772400" cy="4154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2829"/>
                <a:gridCol w="4093845"/>
              </a:tblGrid>
              <a:tr h="770890">
                <a:tc>
                  <a:txBody>
                    <a:bodyPr/>
                    <a:lstStyle/>
                    <a:p>
                      <a:pPr marL="80073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dirty="0" sz="1900" spc="-20" b="1">
                          <a:latin typeface="Calibri"/>
                          <a:cs typeface="Calibri"/>
                        </a:rPr>
                        <a:t>Real-</a:t>
                      </a:r>
                      <a:r>
                        <a:rPr dirty="0" sz="1900" b="1">
                          <a:latin typeface="Calibri"/>
                          <a:cs typeface="Calibri"/>
                        </a:rPr>
                        <a:t>world</a:t>
                      </a:r>
                      <a:r>
                        <a:rPr dirty="0" sz="19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 b="1">
                          <a:latin typeface="Calibri"/>
                          <a:cs typeface="Calibri"/>
                        </a:rPr>
                        <a:t>problem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201295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  <a:solidFill>
                      <a:srgbClr val="B1935B"/>
                    </a:solidFill>
                  </a:tcPr>
                </a:tc>
                <a:tc>
                  <a:txBody>
                    <a:bodyPr/>
                    <a:lstStyle/>
                    <a:p>
                      <a:pPr marL="109029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dirty="0" sz="1900" b="1">
                          <a:latin typeface="Calibri"/>
                          <a:cs typeface="Calibri"/>
                        </a:rPr>
                        <a:t>What</a:t>
                      </a:r>
                      <a:r>
                        <a:rPr dirty="0" sz="19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b="1"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19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b="1">
                          <a:latin typeface="Calibri"/>
                          <a:cs typeface="Calibri"/>
                        </a:rPr>
                        <a:t>app</a:t>
                      </a:r>
                      <a:r>
                        <a:rPr dirty="0" sz="19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 b="1">
                          <a:latin typeface="Calibri"/>
                          <a:cs typeface="Calibri"/>
                        </a:rPr>
                        <a:t>does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201295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  <a:solidFill>
                      <a:srgbClr val="B1935B"/>
                    </a:solidFill>
                  </a:tcPr>
                </a:tc>
              </a:tr>
              <a:tr h="67564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Bad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light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(street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lamp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torch)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Colour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card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fixes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colours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68072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Shiny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blurry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photo,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card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missing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Says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SURE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asks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retake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67564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Colour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between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two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results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dot"/>
                    </a:lnL>
                    <a:lnR w="9525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Says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SURE;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senior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officer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checks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dot"/>
                    </a:lnL>
                    <a:lnR w="9525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67564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Fake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photo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edited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record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n-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app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camera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photo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fingerprint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67564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Different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kits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phones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Kit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settings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colours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fixed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every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photo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834094" y="2049285"/>
            <a:ext cx="15164435" cy="7025640"/>
            <a:chOff x="834094" y="2049285"/>
            <a:chExt cx="15164435" cy="7025640"/>
          </a:xfrm>
        </p:grpSpPr>
        <p:sp>
          <p:nvSpPr>
            <p:cNvPr id="8" name="object 8"/>
            <p:cNvSpPr/>
            <p:nvPr/>
          </p:nvSpPr>
          <p:spPr>
            <a:xfrm>
              <a:off x="9121318" y="2068335"/>
              <a:ext cx="0" cy="6987540"/>
            </a:xfrm>
            <a:custGeom>
              <a:avLst/>
              <a:gdLst/>
              <a:ahLst/>
              <a:cxnLst/>
              <a:rect l="l" t="t" r="r" b="b"/>
              <a:pathLst>
                <a:path w="0" h="6987540">
                  <a:moveTo>
                    <a:pt x="0" y="0"/>
                  </a:moveTo>
                  <a:lnTo>
                    <a:pt x="0" y="6987504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53144" y="4330269"/>
              <a:ext cx="8268334" cy="0"/>
            </a:xfrm>
            <a:custGeom>
              <a:avLst/>
              <a:gdLst/>
              <a:ahLst/>
              <a:cxnLst/>
              <a:rect l="l" t="t" r="r" b="b"/>
              <a:pathLst>
                <a:path w="8268334" h="0">
                  <a:moveTo>
                    <a:pt x="0" y="0"/>
                  </a:moveTo>
                  <a:lnTo>
                    <a:pt x="8268185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3999" y="5771879"/>
              <a:ext cx="5539105" cy="0"/>
            </a:xfrm>
            <a:custGeom>
              <a:avLst/>
              <a:gdLst/>
              <a:ahLst/>
              <a:cxnLst/>
              <a:rect l="l" t="t" r="r" b="b"/>
              <a:pathLst>
                <a:path w="5539105" h="0">
                  <a:moveTo>
                    <a:pt x="0" y="0"/>
                  </a:moveTo>
                  <a:lnTo>
                    <a:pt x="5538596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49722" y="2235010"/>
              <a:ext cx="5848349" cy="32575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949459" y="6614083"/>
              <a:ext cx="57150" cy="2057400"/>
            </a:xfrm>
            <a:custGeom>
              <a:avLst/>
              <a:gdLst/>
              <a:ahLst/>
              <a:cxnLst/>
              <a:rect l="l" t="t" r="r" b="b"/>
              <a:pathLst>
                <a:path w="57150" h="2057400">
                  <a:moveTo>
                    <a:pt x="57150" y="2025040"/>
                  </a:moveTo>
                  <a:lnTo>
                    <a:pt x="32359" y="2000250"/>
                  </a:lnTo>
                  <a:lnTo>
                    <a:pt x="24777" y="2000250"/>
                  </a:lnTo>
                  <a:lnTo>
                    <a:pt x="0" y="2025040"/>
                  </a:lnTo>
                  <a:lnTo>
                    <a:pt x="0" y="2032622"/>
                  </a:lnTo>
                  <a:lnTo>
                    <a:pt x="24777" y="2057400"/>
                  </a:lnTo>
                  <a:lnTo>
                    <a:pt x="32359" y="2057400"/>
                  </a:lnTo>
                  <a:lnTo>
                    <a:pt x="57150" y="2032622"/>
                  </a:lnTo>
                  <a:lnTo>
                    <a:pt x="57150" y="2028825"/>
                  </a:lnTo>
                  <a:lnTo>
                    <a:pt x="57150" y="2025040"/>
                  </a:lnTo>
                  <a:close/>
                </a:path>
                <a:path w="57150" h="2057400">
                  <a:moveTo>
                    <a:pt x="57150" y="1624990"/>
                  </a:moveTo>
                  <a:lnTo>
                    <a:pt x="32359" y="1600200"/>
                  </a:lnTo>
                  <a:lnTo>
                    <a:pt x="24777" y="1600200"/>
                  </a:lnTo>
                  <a:lnTo>
                    <a:pt x="0" y="1624990"/>
                  </a:lnTo>
                  <a:lnTo>
                    <a:pt x="0" y="1632572"/>
                  </a:lnTo>
                  <a:lnTo>
                    <a:pt x="24777" y="1657350"/>
                  </a:lnTo>
                  <a:lnTo>
                    <a:pt x="32359" y="1657350"/>
                  </a:lnTo>
                  <a:lnTo>
                    <a:pt x="57150" y="1632572"/>
                  </a:lnTo>
                  <a:lnTo>
                    <a:pt x="57150" y="1628775"/>
                  </a:lnTo>
                  <a:lnTo>
                    <a:pt x="57150" y="1624990"/>
                  </a:lnTo>
                  <a:close/>
                </a:path>
                <a:path w="57150" h="2057400">
                  <a:moveTo>
                    <a:pt x="57150" y="1224940"/>
                  </a:moveTo>
                  <a:lnTo>
                    <a:pt x="32359" y="1200150"/>
                  </a:lnTo>
                  <a:lnTo>
                    <a:pt x="24777" y="1200150"/>
                  </a:lnTo>
                  <a:lnTo>
                    <a:pt x="0" y="1224940"/>
                  </a:lnTo>
                  <a:lnTo>
                    <a:pt x="0" y="1232522"/>
                  </a:lnTo>
                  <a:lnTo>
                    <a:pt x="24777" y="1257300"/>
                  </a:lnTo>
                  <a:lnTo>
                    <a:pt x="32359" y="1257300"/>
                  </a:lnTo>
                  <a:lnTo>
                    <a:pt x="57150" y="1232522"/>
                  </a:lnTo>
                  <a:lnTo>
                    <a:pt x="57150" y="1228725"/>
                  </a:lnTo>
                  <a:lnTo>
                    <a:pt x="57150" y="1224940"/>
                  </a:lnTo>
                  <a:close/>
                </a:path>
                <a:path w="57150" h="2057400">
                  <a:moveTo>
                    <a:pt x="57150" y="824890"/>
                  </a:moveTo>
                  <a:lnTo>
                    <a:pt x="32359" y="800100"/>
                  </a:lnTo>
                  <a:lnTo>
                    <a:pt x="24777" y="800100"/>
                  </a:lnTo>
                  <a:lnTo>
                    <a:pt x="0" y="824890"/>
                  </a:lnTo>
                  <a:lnTo>
                    <a:pt x="0" y="832472"/>
                  </a:lnTo>
                  <a:lnTo>
                    <a:pt x="24777" y="857250"/>
                  </a:lnTo>
                  <a:lnTo>
                    <a:pt x="32359" y="857250"/>
                  </a:lnTo>
                  <a:lnTo>
                    <a:pt x="57150" y="832472"/>
                  </a:lnTo>
                  <a:lnTo>
                    <a:pt x="57150" y="828675"/>
                  </a:lnTo>
                  <a:lnTo>
                    <a:pt x="57150" y="824890"/>
                  </a:lnTo>
                  <a:close/>
                </a:path>
                <a:path w="57150" h="2057400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72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72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548161" y="1704816"/>
            <a:ext cx="430784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Phased</a:t>
            </a:r>
            <a:r>
              <a:rPr dirty="0" sz="2200" spc="-5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Implementation</a:t>
            </a:r>
            <a:r>
              <a:rPr dirty="0" sz="2200" spc="-5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&amp;</a:t>
            </a:r>
            <a:r>
              <a:rPr dirty="0" sz="2200" spc="-5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792E00"/>
                </a:solidFill>
                <a:latin typeface="Calibri"/>
                <a:cs typeface="Calibri"/>
              </a:rPr>
              <a:t>Scalability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44765" y="2397467"/>
            <a:ext cx="57150" cy="1257300"/>
          </a:xfrm>
          <a:custGeom>
            <a:avLst/>
            <a:gdLst/>
            <a:ahLst/>
            <a:cxnLst/>
            <a:rect l="l" t="t" r="r" b="b"/>
            <a:pathLst>
              <a:path w="57150" h="1257300">
                <a:moveTo>
                  <a:pt x="57150" y="1224927"/>
                </a:moveTo>
                <a:lnTo>
                  <a:pt x="32359" y="1200150"/>
                </a:lnTo>
                <a:lnTo>
                  <a:pt x="24790" y="1200150"/>
                </a:lnTo>
                <a:lnTo>
                  <a:pt x="0" y="1224927"/>
                </a:lnTo>
                <a:lnTo>
                  <a:pt x="0" y="1232509"/>
                </a:lnTo>
                <a:lnTo>
                  <a:pt x="24790" y="1257300"/>
                </a:lnTo>
                <a:lnTo>
                  <a:pt x="32359" y="1257300"/>
                </a:lnTo>
                <a:lnTo>
                  <a:pt x="57150" y="1232509"/>
                </a:lnTo>
                <a:lnTo>
                  <a:pt x="57150" y="1228725"/>
                </a:lnTo>
                <a:lnTo>
                  <a:pt x="57150" y="1224927"/>
                </a:lnTo>
                <a:close/>
              </a:path>
              <a:path w="57150" h="1257300">
                <a:moveTo>
                  <a:pt x="57150" y="824877"/>
                </a:moveTo>
                <a:lnTo>
                  <a:pt x="32359" y="800100"/>
                </a:lnTo>
                <a:lnTo>
                  <a:pt x="24790" y="800100"/>
                </a:lnTo>
                <a:lnTo>
                  <a:pt x="0" y="824877"/>
                </a:lnTo>
                <a:lnTo>
                  <a:pt x="0" y="832459"/>
                </a:lnTo>
                <a:lnTo>
                  <a:pt x="24790" y="857250"/>
                </a:lnTo>
                <a:lnTo>
                  <a:pt x="32359" y="857250"/>
                </a:lnTo>
                <a:lnTo>
                  <a:pt x="57150" y="832459"/>
                </a:lnTo>
                <a:lnTo>
                  <a:pt x="57150" y="828675"/>
                </a:lnTo>
                <a:lnTo>
                  <a:pt x="57150" y="824877"/>
                </a:lnTo>
                <a:close/>
              </a:path>
              <a:path w="57150" h="1257300">
                <a:moveTo>
                  <a:pt x="57150" y="424827"/>
                </a:moveTo>
                <a:lnTo>
                  <a:pt x="32359" y="400050"/>
                </a:lnTo>
                <a:lnTo>
                  <a:pt x="24790" y="400050"/>
                </a:lnTo>
                <a:lnTo>
                  <a:pt x="0" y="424827"/>
                </a:lnTo>
                <a:lnTo>
                  <a:pt x="0" y="432409"/>
                </a:lnTo>
                <a:lnTo>
                  <a:pt x="24790" y="457200"/>
                </a:lnTo>
                <a:lnTo>
                  <a:pt x="32359" y="457200"/>
                </a:lnTo>
                <a:lnTo>
                  <a:pt x="57150" y="432409"/>
                </a:lnTo>
                <a:lnTo>
                  <a:pt x="57150" y="428625"/>
                </a:lnTo>
                <a:lnTo>
                  <a:pt x="57150" y="424827"/>
                </a:lnTo>
                <a:close/>
              </a:path>
              <a:path w="57150" h="1257300">
                <a:moveTo>
                  <a:pt x="57150" y="24777"/>
                </a:moveTo>
                <a:lnTo>
                  <a:pt x="32359" y="0"/>
                </a:lnTo>
                <a:lnTo>
                  <a:pt x="24790" y="0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40444" y="1773550"/>
            <a:ext cx="7444740" cy="307784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2200" spc="-10" b="1">
                <a:solidFill>
                  <a:srgbClr val="792E00"/>
                </a:solidFill>
                <a:latin typeface="Calibri"/>
                <a:cs typeface="Calibri"/>
              </a:rPr>
              <a:t>Feasibility</a:t>
            </a:r>
            <a:endParaRPr sz="2200">
              <a:latin typeface="Calibri"/>
              <a:cs typeface="Calibri"/>
            </a:endParaRPr>
          </a:p>
          <a:p>
            <a:pPr marL="685800">
              <a:lnSpc>
                <a:spcPct val="100000"/>
              </a:lnSpc>
              <a:spcBef>
                <a:spcPts val="440"/>
              </a:spcBef>
            </a:pPr>
            <a:r>
              <a:rPr dirty="0" sz="1900" spc="-45">
                <a:latin typeface="Calibri"/>
                <a:cs typeface="Calibri"/>
              </a:rPr>
              <a:t>Technical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-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built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our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old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project's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30">
                <a:latin typeface="Calibri"/>
                <a:cs typeface="Calibri"/>
              </a:rPr>
              <a:t>tested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code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+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OpenCV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for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colours.</a:t>
            </a:r>
            <a:endParaRPr sz="1900">
              <a:latin typeface="Calibri"/>
              <a:cs typeface="Calibri"/>
            </a:endParaRPr>
          </a:p>
          <a:p>
            <a:pPr marL="685800" marR="5080">
              <a:lnSpc>
                <a:spcPct val="138200"/>
              </a:lnSpc>
            </a:pPr>
            <a:r>
              <a:rPr dirty="0" sz="1900" spc="-25">
                <a:latin typeface="Calibri"/>
                <a:cs typeface="Calibri"/>
              </a:rPr>
              <a:t>Easy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-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officer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30">
                <a:latin typeface="Calibri"/>
                <a:cs typeface="Calibri"/>
              </a:rPr>
              <a:t>takes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one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photo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gets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result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seconds. </a:t>
            </a:r>
            <a:r>
              <a:rPr dirty="0" sz="1900">
                <a:latin typeface="Calibri"/>
                <a:cs typeface="Calibri"/>
              </a:rPr>
              <a:t>Low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cost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-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phone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+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₹10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30">
                <a:latin typeface="Calibri"/>
                <a:cs typeface="Calibri"/>
              </a:rPr>
              <a:t>printed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card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+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free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software.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No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new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machine. </a:t>
            </a:r>
            <a:r>
              <a:rPr dirty="0" sz="1900" spc="-25">
                <a:latin typeface="Calibri"/>
                <a:cs typeface="Calibri"/>
              </a:rPr>
              <a:t>Scalable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-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add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any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new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kit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from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30">
                <a:latin typeface="Calibri"/>
                <a:cs typeface="Calibri"/>
              </a:rPr>
              <a:t>website;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works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any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Android phone.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Potential</a:t>
            </a:r>
            <a:r>
              <a:rPr dirty="0" sz="2200" spc="-5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Challenges</a:t>
            </a:r>
            <a:r>
              <a:rPr dirty="0" sz="2200" spc="-5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&amp;</a:t>
            </a:r>
            <a:r>
              <a:rPr dirty="0" sz="2200" spc="-5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792E00"/>
                </a:solidFill>
                <a:latin typeface="Calibri"/>
                <a:cs typeface="Calibri"/>
              </a:rPr>
              <a:t>Strategies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48161" y="5903672"/>
            <a:ext cx="6785609" cy="2857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Our</a:t>
            </a:r>
            <a:r>
              <a:rPr dirty="0" sz="2200" spc="-3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Goals</a:t>
            </a:r>
            <a:r>
              <a:rPr dirty="0" sz="2200" spc="-3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for</a:t>
            </a:r>
            <a:r>
              <a:rPr dirty="0" sz="2200" spc="-3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the</a:t>
            </a:r>
            <a:r>
              <a:rPr dirty="0" sz="2200" spc="-3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792E00"/>
                </a:solidFill>
                <a:latin typeface="Calibri"/>
                <a:cs typeface="Calibri"/>
              </a:rPr>
              <a:t>Prototype</a:t>
            </a:r>
            <a:endParaRPr sz="2200">
              <a:latin typeface="Calibri"/>
              <a:cs typeface="Calibri"/>
            </a:endParaRPr>
          </a:p>
          <a:p>
            <a:pPr marL="582295" marR="62230">
              <a:lnSpc>
                <a:spcPct val="138200"/>
              </a:lnSpc>
              <a:spcBef>
                <a:spcPts val="755"/>
              </a:spcBef>
            </a:pPr>
            <a:r>
              <a:rPr dirty="0" sz="1900" spc="-25">
                <a:latin typeface="Calibri"/>
                <a:cs typeface="Calibri"/>
              </a:rPr>
              <a:t>Accuracy:</a:t>
            </a:r>
            <a:r>
              <a:rPr dirty="0" sz="1900" spc="-60">
                <a:latin typeface="Calibri"/>
                <a:cs typeface="Calibri"/>
              </a:rPr>
              <a:t> Target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≥90%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demo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colour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samples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under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4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lighting conditions</a:t>
            </a:r>
            <a:endParaRPr sz="1900">
              <a:latin typeface="Calibri"/>
              <a:cs typeface="Calibri"/>
            </a:endParaRPr>
          </a:p>
          <a:p>
            <a:pPr marL="582295" marR="1001394">
              <a:lnSpc>
                <a:spcPct val="138200"/>
              </a:lnSpc>
            </a:pPr>
            <a:r>
              <a:rPr dirty="0" sz="1900" spc="-20">
                <a:latin typeface="Calibri"/>
                <a:cs typeface="Calibri"/>
              </a:rPr>
              <a:t>Speed: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60">
                <a:latin typeface="Calibri"/>
                <a:cs typeface="Calibri"/>
              </a:rPr>
              <a:t>Target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≤10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seconds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for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result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+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sealed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record </a:t>
            </a:r>
            <a:r>
              <a:rPr dirty="0" sz="1900" spc="-50">
                <a:latin typeface="Calibri"/>
                <a:cs typeface="Calibri"/>
              </a:rPr>
              <a:t>Tamper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Check: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Modified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30">
                <a:latin typeface="Calibri"/>
                <a:cs typeface="Calibri"/>
              </a:rPr>
              <a:t>record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should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fail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verification</a:t>
            </a:r>
            <a:endParaRPr sz="1900">
              <a:latin typeface="Calibri"/>
              <a:cs typeface="Calibri"/>
            </a:endParaRPr>
          </a:p>
          <a:p>
            <a:pPr marL="582295" marR="5080">
              <a:lnSpc>
                <a:spcPct val="138200"/>
              </a:lnSpc>
            </a:pPr>
            <a:r>
              <a:rPr dirty="0" sz="1900" spc="-20">
                <a:latin typeface="Calibri"/>
                <a:cs typeface="Calibri"/>
              </a:rPr>
              <a:t>Unclear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Cases: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Unclear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images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→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30">
                <a:latin typeface="Calibri"/>
                <a:cs typeface="Calibri"/>
              </a:rPr>
              <a:t>INCONCLUSIVE,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never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guessed </a:t>
            </a:r>
            <a:r>
              <a:rPr dirty="0" sz="1900" spc="-45">
                <a:latin typeface="Calibri"/>
                <a:cs typeface="Calibri"/>
              </a:rPr>
              <a:t>Testing: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Compare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app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results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with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known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35">
                <a:latin typeface="Calibri"/>
                <a:cs typeface="Calibri"/>
              </a:rPr>
              <a:t>reference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results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532619"/>
            <a:ext cx="18288000" cy="754380"/>
            <a:chOff x="0" y="9532619"/>
            <a:chExt cx="18288000" cy="754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64623"/>
              <a:ext cx="18280760" cy="7153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532619"/>
              <a:ext cx="18288000" cy="754380"/>
            </a:xfrm>
            <a:custGeom>
              <a:avLst/>
              <a:gdLst/>
              <a:ahLst/>
              <a:cxnLst/>
              <a:rect l="l" t="t" r="r" b="b"/>
              <a:pathLst>
                <a:path w="18288000" h="754379">
                  <a:moveTo>
                    <a:pt x="18287819" y="754379"/>
                  </a:moveTo>
                  <a:lnTo>
                    <a:pt x="0" y="754379"/>
                  </a:lnTo>
                  <a:lnTo>
                    <a:pt x="0" y="0"/>
                  </a:lnTo>
                  <a:lnTo>
                    <a:pt x="18287819" y="0"/>
                  </a:lnTo>
                  <a:lnTo>
                    <a:pt x="18287819" y="754379"/>
                  </a:lnTo>
                  <a:close/>
                </a:path>
              </a:pathLst>
            </a:custGeom>
            <a:solidFill>
              <a:srgbClr val="006E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400950" y="324521"/>
            <a:ext cx="2590800" cy="1209040"/>
          </a:xfrm>
          <a:custGeom>
            <a:avLst/>
            <a:gdLst/>
            <a:ahLst/>
            <a:cxnLst/>
            <a:rect l="l" t="t" r="r" b="b"/>
            <a:pathLst>
              <a:path w="2590800" h="1209040">
                <a:moveTo>
                  <a:pt x="0" y="604486"/>
                </a:moveTo>
                <a:lnTo>
                  <a:pt x="13995" y="515182"/>
                </a:lnTo>
                <a:lnTo>
                  <a:pt x="54840" y="429873"/>
                </a:lnTo>
                <a:lnTo>
                  <a:pt x="120343" y="349605"/>
                </a:lnTo>
                <a:lnTo>
                  <a:pt x="208602" y="275328"/>
                </a:lnTo>
                <a:lnTo>
                  <a:pt x="260681" y="240710"/>
                </a:lnTo>
                <a:lnTo>
                  <a:pt x="317615" y="207899"/>
                </a:lnTo>
                <a:lnTo>
                  <a:pt x="379311" y="177085"/>
                </a:lnTo>
                <a:lnTo>
                  <a:pt x="445385" y="148268"/>
                </a:lnTo>
                <a:lnTo>
                  <a:pt x="515649" y="121639"/>
                </a:lnTo>
                <a:lnTo>
                  <a:pt x="589912" y="97387"/>
                </a:lnTo>
                <a:lnTo>
                  <a:pt x="667793" y="75513"/>
                </a:lnTo>
                <a:lnTo>
                  <a:pt x="749101" y="56206"/>
                </a:lnTo>
                <a:lnTo>
                  <a:pt x="833646" y="39563"/>
                </a:lnTo>
                <a:lnTo>
                  <a:pt x="921047" y="25678"/>
                </a:lnTo>
                <a:lnTo>
                  <a:pt x="1011210" y="14646"/>
                </a:lnTo>
                <a:lnTo>
                  <a:pt x="1103753" y="6657"/>
                </a:lnTo>
                <a:lnTo>
                  <a:pt x="1198485" y="1807"/>
                </a:lnTo>
                <a:lnTo>
                  <a:pt x="1295217" y="0"/>
                </a:lnTo>
                <a:lnTo>
                  <a:pt x="1391854" y="1616"/>
                </a:lnTo>
                <a:lnTo>
                  <a:pt x="1486586" y="6467"/>
                </a:lnTo>
                <a:lnTo>
                  <a:pt x="1579129" y="14455"/>
                </a:lnTo>
                <a:lnTo>
                  <a:pt x="1669292" y="25488"/>
                </a:lnTo>
                <a:lnTo>
                  <a:pt x="1756693" y="39373"/>
                </a:lnTo>
                <a:lnTo>
                  <a:pt x="1841238" y="56016"/>
                </a:lnTo>
                <a:lnTo>
                  <a:pt x="1922546" y="75323"/>
                </a:lnTo>
                <a:lnTo>
                  <a:pt x="2000427" y="97197"/>
                </a:lnTo>
                <a:lnTo>
                  <a:pt x="2074594" y="121448"/>
                </a:lnTo>
                <a:lnTo>
                  <a:pt x="2144858" y="148078"/>
                </a:lnTo>
                <a:lnTo>
                  <a:pt x="2210933" y="176894"/>
                </a:lnTo>
                <a:lnTo>
                  <a:pt x="2272628" y="207708"/>
                </a:lnTo>
                <a:lnTo>
                  <a:pt x="2329563" y="240520"/>
                </a:lnTo>
                <a:lnTo>
                  <a:pt x="2381642" y="275138"/>
                </a:lnTo>
                <a:lnTo>
                  <a:pt x="2428485" y="311468"/>
                </a:lnTo>
                <a:lnTo>
                  <a:pt x="2505604" y="388883"/>
                </a:lnTo>
                <a:lnTo>
                  <a:pt x="2559016" y="471719"/>
                </a:lnTo>
                <a:lnTo>
                  <a:pt x="2586721" y="559121"/>
                </a:lnTo>
                <a:lnTo>
                  <a:pt x="2590244" y="604200"/>
                </a:lnTo>
                <a:lnTo>
                  <a:pt x="2586721" y="649375"/>
                </a:lnTo>
                <a:lnTo>
                  <a:pt x="2559016" y="736776"/>
                </a:lnTo>
                <a:lnTo>
                  <a:pt x="2505604" y="819708"/>
                </a:lnTo>
                <a:lnTo>
                  <a:pt x="2428485" y="897123"/>
                </a:lnTo>
                <a:lnTo>
                  <a:pt x="2381642" y="933453"/>
                </a:lnTo>
                <a:lnTo>
                  <a:pt x="2329563" y="968071"/>
                </a:lnTo>
                <a:lnTo>
                  <a:pt x="2272628" y="1000882"/>
                </a:lnTo>
                <a:lnTo>
                  <a:pt x="2210933" y="1031696"/>
                </a:lnTo>
                <a:lnTo>
                  <a:pt x="2144858" y="1060513"/>
                </a:lnTo>
                <a:lnTo>
                  <a:pt x="2074594" y="1087142"/>
                </a:lnTo>
                <a:lnTo>
                  <a:pt x="2000427" y="1111394"/>
                </a:lnTo>
                <a:lnTo>
                  <a:pt x="1922546" y="1133268"/>
                </a:lnTo>
                <a:lnTo>
                  <a:pt x="1841238" y="1152575"/>
                </a:lnTo>
                <a:lnTo>
                  <a:pt x="1756693" y="1169218"/>
                </a:lnTo>
                <a:lnTo>
                  <a:pt x="1669292" y="1183103"/>
                </a:lnTo>
                <a:lnTo>
                  <a:pt x="1579129" y="1194135"/>
                </a:lnTo>
                <a:lnTo>
                  <a:pt x="1486586" y="1202124"/>
                </a:lnTo>
                <a:lnTo>
                  <a:pt x="1391854" y="1206975"/>
                </a:lnTo>
                <a:lnTo>
                  <a:pt x="1295217" y="1208591"/>
                </a:lnTo>
                <a:lnTo>
                  <a:pt x="1198580" y="1206975"/>
                </a:lnTo>
                <a:lnTo>
                  <a:pt x="1103848" y="1202124"/>
                </a:lnTo>
                <a:lnTo>
                  <a:pt x="1011305" y="1194135"/>
                </a:lnTo>
                <a:lnTo>
                  <a:pt x="921142" y="1183103"/>
                </a:lnTo>
                <a:lnTo>
                  <a:pt x="833741" y="1169218"/>
                </a:lnTo>
                <a:lnTo>
                  <a:pt x="749196" y="1152575"/>
                </a:lnTo>
                <a:lnTo>
                  <a:pt x="667888" y="1133268"/>
                </a:lnTo>
                <a:lnTo>
                  <a:pt x="590007" y="1111394"/>
                </a:lnTo>
                <a:lnTo>
                  <a:pt x="515744" y="1087142"/>
                </a:lnTo>
                <a:lnTo>
                  <a:pt x="445480" y="1060513"/>
                </a:lnTo>
                <a:lnTo>
                  <a:pt x="379406" y="1031696"/>
                </a:lnTo>
                <a:lnTo>
                  <a:pt x="317711" y="1000882"/>
                </a:lnTo>
                <a:lnTo>
                  <a:pt x="260776" y="968071"/>
                </a:lnTo>
                <a:lnTo>
                  <a:pt x="208697" y="933453"/>
                </a:lnTo>
                <a:lnTo>
                  <a:pt x="161854" y="897123"/>
                </a:lnTo>
                <a:lnTo>
                  <a:pt x="84735" y="819708"/>
                </a:lnTo>
                <a:lnTo>
                  <a:pt x="31228" y="737062"/>
                </a:lnTo>
                <a:lnTo>
                  <a:pt x="3522" y="649660"/>
                </a:lnTo>
                <a:lnTo>
                  <a:pt x="0" y="604486"/>
                </a:lnTo>
                <a:close/>
              </a:path>
            </a:pathLst>
          </a:custGeom>
          <a:ln w="9512">
            <a:solidFill>
              <a:srgbClr val="806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061671" y="665212"/>
            <a:ext cx="12192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792E00"/>
                </a:solidFill>
                <a:latin typeface="Calibri"/>
                <a:cs typeface="Calibri"/>
              </a:rPr>
              <a:t>HexTech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60145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dirty="0" spc="-165"/>
              <a:t> </a:t>
            </a:r>
            <a:r>
              <a:rPr dirty="0"/>
              <a:t>AND</a:t>
            </a:r>
            <a:r>
              <a:rPr dirty="0" spc="-165"/>
              <a:t> </a:t>
            </a:r>
            <a:r>
              <a:rPr dirty="0" spc="-10"/>
              <a:t>BENEFITS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14410" y="28727"/>
            <a:ext cx="3302698" cy="153809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03015" y="1832294"/>
            <a:ext cx="9086850" cy="2418715"/>
          </a:xfrm>
          <a:custGeom>
            <a:avLst/>
            <a:gdLst/>
            <a:ahLst/>
            <a:cxnLst/>
            <a:rect l="l" t="t" r="r" b="b"/>
            <a:pathLst>
              <a:path w="9086850" h="2418715">
                <a:moveTo>
                  <a:pt x="9086618" y="2346312"/>
                </a:moveTo>
                <a:lnTo>
                  <a:pt x="9061916" y="2390560"/>
                </a:lnTo>
                <a:lnTo>
                  <a:pt x="9013235" y="2416610"/>
                </a:lnTo>
                <a:lnTo>
                  <a:pt x="8994567" y="2418492"/>
                </a:lnTo>
                <a:lnTo>
                  <a:pt x="95241" y="2418492"/>
                </a:lnTo>
                <a:lnTo>
                  <a:pt x="42402" y="2402455"/>
                </a:lnTo>
                <a:lnTo>
                  <a:pt x="7250" y="2359661"/>
                </a:lnTo>
                <a:lnTo>
                  <a:pt x="0" y="2323212"/>
                </a:lnTo>
                <a:lnTo>
                  <a:pt x="0" y="95244"/>
                </a:lnTo>
                <a:lnTo>
                  <a:pt x="16002" y="42402"/>
                </a:lnTo>
                <a:lnTo>
                  <a:pt x="58796" y="7250"/>
                </a:lnTo>
                <a:lnTo>
                  <a:pt x="95244" y="0"/>
                </a:lnTo>
                <a:lnTo>
                  <a:pt x="8994567" y="0"/>
                </a:lnTo>
                <a:lnTo>
                  <a:pt x="9047409" y="16002"/>
                </a:lnTo>
                <a:lnTo>
                  <a:pt x="9082563" y="58796"/>
                </a:lnTo>
                <a:lnTo>
                  <a:pt x="9086618" y="72144"/>
                </a:lnTo>
              </a:path>
            </a:pathLst>
          </a:custGeom>
          <a:ln w="76200">
            <a:solidFill>
              <a:srgbClr val="792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31385" y="24560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31385" y="27989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31385" y="31418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31385" y="34847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31385" y="38276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403827" y="1810816"/>
            <a:ext cx="3145790" cy="216408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196215" indent="508634">
              <a:lnSpc>
                <a:spcPct val="120200"/>
              </a:lnSpc>
              <a:spcBef>
                <a:spcPts val="270"/>
              </a:spcBef>
            </a:pPr>
            <a:r>
              <a:rPr dirty="0" sz="2050" spc="-25" b="1">
                <a:solidFill>
                  <a:srgbClr val="974825"/>
                </a:solidFill>
                <a:latin typeface="Calibri"/>
                <a:cs typeface="Calibri"/>
              </a:rPr>
              <a:t>Inspector</a:t>
            </a:r>
            <a:r>
              <a:rPr dirty="0" sz="2050" spc="-60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974825"/>
                </a:solidFill>
                <a:latin typeface="Calibri"/>
                <a:cs typeface="Calibri"/>
              </a:rPr>
              <a:t>Benefits </a:t>
            </a:r>
            <a:r>
              <a:rPr dirty="0" sz="1900" spc="-65">
                <a:latin typeface="Calibri"/>
                <a:cs typeface="Calibri"/>
              </a:rPr>
              <a:t>Faster,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more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consistent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testing </a:t>
            </a:r>
            <a:r>
              <a:rPr dirty="0" sz="1900">
                <a:latin typeface="Calibri"/>
                <a:cs typeface="Calibri"/>
              </a:rPr>
              <a:t>Less</a:t>
            </a:r>
            <a:r>
              <a:rPr dirty="0" sz="1900" spc="-9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manual</a:t>
            </a:r>
            <a:r>
              <a:rPr dirty="0" sz="1900" spc="-9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colour</a:t>
            </a:r>
            <a:r>
              <a:rPr dirty="0" sz="1900" spc="-9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checking </a:t>
            </a:r>
            <a:r>
              <a:rPr dirty="0" sz="1900" spc="-25">
                <a:latin typeface="Calibri"/>
                <a:cs typeface="Calibri"/>
              </a:rPr>
              <a:t>INCONCLUSIVE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when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unclear </a:t>
            </a:r>
            <a:r>
              <a:rPr dirty="0" sz="1900" spc="-20">
                <a:latin typeface="Calibri"/>
                <a:cs typeface="Calibri"/>
              </a:rPr>
              <a:t>Easy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digital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test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records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900" spc="-10">
                <a:latin typeface="Calibri"/>
                <a:cs typeface="Calibri"/>
              </a:rPr>
              <a:t>Quick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access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past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test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records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49686" y="2258060"/>
            <a:ext cx="0" cy="1840230"/>
          </a:xfrm>
          <a:custGeom>
            <a:avLst/>
            <a:gdLst/>
            <a:ahLst/>
            <a:cxnLst/>
            <a:rect l="l" t="t" r="r" b="b"/>
            <a:pathLst>
              <a:path w="0" h="1840229">
                <a:moveTo>
                  <a:pt x="0" y="0"/>
                </a:moveTo>
                <a:lnTo>
                  <a:pt x="0" y="1839759"/>
                </a:lnTo>
              </a:path>
            </a:pathLst>
          </a:custGeom>
          <a:ln w="38099">
            <a:solidFill>
              <a:srgbClr val="B193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172157" y="245603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172157" y="279893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172157" y="314183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172157" y="348473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172157" y="382763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2485" y="4861297"/>
            <a:ext cx="4657282" cy="4474352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5614495" y="5802131"/>
            <a:ext cx="85090" cy="41275"/>
          </a:xfrm>
          <a:custGeom>
            <a:avLst/>
            <a:gdLst/>
            <a:ahLst/>
            <a:cxnLst/>
            <a:rect l="l" t="t" r="r" b="b"/>
            <a:pathLst>
              <a:path w="85089" h="41275">
                <a:moveTo>
                  <a:pt x="81600" y="25579"/>
                </a:moveTo>
                <a:lnTo>
                  <a:pt x="74992" y="29588"/>
                </a:lnTo>
                <a:lnTo>
                  <a:pt x="72985" y="30310"/>
                </a:lnTo>
                <a:lnTo>
                  <a:pt x="70812" y="30579"/>
                </a:lnTo>
                <a:lnTo>
                  <a:pt x="57820" y="32319"/>
                </a:lnTo>
                <a:lnTo>
                  <a:pt x="44895" y="34346"/>
                </a:lnTo>
                <a:lnTo>
                  <a:pt x="32081" y="36654"/>
                </a:lnTo>
                <a:lnTo>
                  <a:pt x="19423" y="39236"/>
                </a:lnTo>
                <a:lnTo>
                  <a:pt x="11365" y="40975"/>
                </a:lnTo>
                <a:lnTo>
                  <a:pt x="3441" y="35875"/>
                </a:lnTo>
                <a:lnTo>
                  <a:pt x="39990" y="4973"/>
                </a:lnTo>
                <a:lnTo>
                  <a:pt x="75425" y="0"/>
                </a:lnTo>
                <a:lnTo>
                  <a:pt x="82850" y="5813"/>
                </a:lnTo>
                <a:lnTo>
                  <a:pt x="84559" y="19982"/>
                </a:lnTo>
                <a:lnTo>
                  <a:pt x="81600" y="255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751640" y="5798377"/>
            <a:ext cx="84455" cy="33020"/>
          </a:xfrm>
          <a:custGeom>
            <a:avLst/>
            <a:gdLst/>
            <a:ahLst/>
            <a:cxnLst/>
            <a:rect l="l" t="t" r="r" b="b"/>
            <a:pathLst>
              <a:path w="84454" h="33020">
                <a:moveTo>
                  <a:pt x="80024" y="27883"/>
                </a:moveTo>
                <a:lnTo>
                  <a:pt x="73477" y="31854"/>
                </a:lnTo>
                <a:lnTo>
                  <a:pt x="70345" y="32656"/>
                </a:lnTo>
                <a:lnTo>
                  <a:pt x="67065" y="32377"/>
                </a:lnTo>
                <a:lnTo>
                  <a:pt x="53929" y="31371"/>
                </a:lnTo>
                <a:lnTo>
                  <a:pt x="40813" y="30615"/>
                </a:lnTo>
                <a:lnTo>
                  <a:pt x="27765" y="30112"/>
                </a:lnTo>
                <a:lnTo>
                  <a:pt x="14831" y="29866"/>
                </a:lnTo>
                <a:lnTo>
                  <a:pt x="6597" y="29780"/>
                </a:lnTo>
                <a:lnTo>
                  <a:pt x="0" y="23055"/>
                </a:lnTo>
                <a:lnTo>
                  <a:pt x="199" y="6606"/>
                </a:lnTo>
                <a:lnTo>
                  <a:pt x="6950" y="0"/>
                </a:lnTo>
                <a:lnTo>
                  <a:pt x="15187" y="71"/>
                </a:lnTo>
                <a:lnTo>
                  <a:pt x="56007" y="1636"/>
                </a:lnTo>
                <a:lnTo>
                  <a:pt x="83971" y="10608"/>
                </a:lnTo>
                <a:lnTo>
                  <a:pt x="82807" y="23732"/>
                </a:lnTo>
                <a:lnTo>
                  <a:pt x="80024" y="27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86197" y="5811435"/>
            <a:ext cx="85090" cy="43815"/>
          </a:xfrm>
          <a:custGeom>
            <a:avLst/>
            <a:gdLst/>
            <a:ahLst/>
            <a:cxnLst/>
            <a:rect l="l" t="t" r="r" b="b"/>
            <a:pathLst>
              <a:path w="85089" h="43814">
                <a:moveTo>
                  <a:pt x="79194" y="39049"/>
                </a:moveTo>
                <a:lnTo>
                  <a:pt x="72666" y="43010"/>
                </a:lnTo>
                <a:lnTo>
                  <a:pt x="68515" y="43729"/>
                </a:lnTo>
                <a:lnTo>
                  <a:pt x="64433" y="42646"/>
                </a:lnTo>
                <a:lnTo>
                  <a:pt x="51643" y="39365"/>
                </a:lnTo>
                <a:lnTo>
                  <a:pt x="38828" y="36293"/>
                </a:lnTo>
                <a:lnTo>
                  <a:pt x="26036" y="33440"/>
                </a:lnTo>
                <a:lnTo>
                  <a:pt x="13312" y="30818"/>
                </a:lnTo>
                <a:lnTo>
                  <a:pt x="5240" y="29223"/>
                </a:lnTo>
                <a:lnTo>
                  <a:pt x="0" y="21384"/>
                </a:lnTo>
                <a:lnTo>
                  <a:pt x="3236" y="5253"/>
                </a:lnTo>
                <a:lnTo>
                  <a:pt x="11099" y="0"/>
                </a:lnTo>
                <a:lnTo>
                  <a:pt x="19171" y="1595"/>
                </a:lnTo>
                <a:lnTo>
                  <a:pt x="58903" y="10445"/>
                </a:lnTo>
                <a:lnTo>
                  <a:pt x="84838" y="24112"/>
                </a:lnTo>
                <a:lnTo>
                  <a:pt x="81667" y="35943"/>
                </a:lnTo>
                <a:lnTo>
                  <a:pt x="79194" y="3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68122" y="5845854"/>
            <a:ext cx="85090" cy="43180"/>
          </a:xfrm>
          <a:custGeom>
            <a:avLst/>
            <a:gdLst/>
            <a:ahLst/>
            <a:cxnLst/>
            <a:rect l="l" t="t" r="r" b="b"/>
            <a:pathLst>
              <a:path w="85089" h="43179">
                <a:moveTo>
                  <a:pt x="81541" y="25505"/>
                </a:moveTo>
                <a:lnTo>
                  <a:pt x="74933" y="29514"/>
                </a:lnTo>
                <a:lnTo>
                  <a:pt x="72839" y="30253"/>
                </a:lnTo>
                <a:lnTo>
                  <a:pt x="70576" y="30492"/>
                </a:lnTo>
                <a:lnTo>
                  <a:pt x="57886" y="32113"/>
                </a:lnTo>
                <a:lnTo>
                  <a:pt x="45328" y="34292"/>
                </a:lnTo>
                <a:lnTo>
                  <a:pt x="32944" y="37018"/>
                </a:lnTo>
                <a:lnTo>
                  <a:pt x="20782" y="40282"/>
                </a:lnTo>
                <a:lnTo>
                  <a:pt x="12876" y="42592"/>
                </a:lnTo>
                <a:lnTo>
                  <a:pt x="4596" y="38081"/>
                </a:lnTo>
                <a:lnTo>
                  <a:pt x="0" y="22285"/>
                </a:lnTo>
                <a:lnTo>
                  <a:pt x="4543" y="14014"/>
                </a:lnTo>
                <a:lnTo>
                  <a:pt x="12452" y="11689"/>
                </a:lnTo>
                <a:lnTo>
                  <a:pt x="25916" y="8077"/>
                </a:lnTo>
                <a:lnTo>
                  <a:pt x="39613" y="5060"/>
                </a:lnTo>
                <a:lnTo>
                  <a:pt x="53495" y="2648"/>
                </a:lnTo>
                <a:lnTo>
                  <a:pt x="67516" y="850"/>
                </a:lnTo>
                <a:lnTo>
                  <a:pt x="75702" y="0"/>
                </a:lnTo>
                <a:lnTo>
                  <a:pt x="83029" y="5933"/>
                </a:lnTo>
                <a:lnTo>
                  <a:pt x="84486" y="20025"/>
                </a:lnTo>
                <a:lnTo>
                  <a:pt x="81541" y="255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04149" y="5847853"/>
            <a:ext cx="85090" cy="45085"/>
          </a:xfrm>
          <a:custGeom>
            <a:avLst/>
            <a:gdLst/>
            <a:ahLst/>
            <a:cxnLst/>
            <a:rect l="l" t="t" r="r" b="b"/>
            <a:pathLst>
              <a:path w="85089" h="45085">
                <a:moveTo>
                  <a:pt x="78436" y="39977"/>
                </a:moveTo>
                <a:lnTo>
                  <a:pt x="71898" y="43943"/>
                </a:lnTo>
                <a:lnTo>
                  <a:pt x="67309" y="44579"/>
                </a:lnTo>
                <a:lnTo>
                  <a:pt x="62952" y="43083"/>
                </a:lnTo>
                <a:lnTo>
                  <a:pt x="50868" y="39219"/>
                </a:lnTo>
                <a:lnTo>
                  <a:pt x="38590" y="35864"/>
                </a:lnTo>
                <a:lnTo>
                  <a:pt x="26161" y="33028"/>
                </a:lnTo>
                <a:lnTo>
                  <a:pt x="13626" y="30721"/>
                </a:lnTo>
                <a:lnTo>
                  <a:pt x="5498" y="29413"/>
                </a:lnTo>
                <a:lnTo>
                  <a:pt x="0" y="21767"/>
                </a:lnTo>
                <a:lnTo>
                  <a:pt x="2678" y="5515"/>
                </a:lnTo>
                <a:lnTo>
                  <a:pt x="10358" y="0"/>
                </a:lnTo>
                <a:lnTo>
                  <a:pt x="18482" y="1322"/>
                </a:lnTo>
                <a:lnTo>
                  <a:pt x="59433" y="10669"/>
                </a:lnTo>
                <a:lnTo>
                  <a:pt x="84625" y="26060"/>
                </a:lnTo>
                <a:lnTo>
                  <a:pt x="80745" y="37260"/>
                </a:lnTo>
                <a:lnTo>
                  <a:pt x="78436" y="39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17012" y="5847937"/>
            <a:ext cx="83820" cy="52705"/>
          </a:xfrm>
          <a:custGeom>
            <a:avLst/>
            <a:gdLst/>
            <a:ahLst/>
            <a:cxnLst/>
            <a:rect l="l" t="t" r="r" b="b"/>
            <a:pathLst>
              <a:path w="83820" h="52704">
                <a:moveTo>
                  <a:pt x="76772" y="47760"/>
                </a:moveTo>
                <a:lnTo>
                  <a:pt x="70216" y="51738"/>
                </a:lnTo>
                <a:lnTo>
                  <a:pt x="65145" y="52256"/>
                </a:lnTo>
                <a:lnTo>
                  <a:pt x="60540" y="50271"/>
                </a:lnTo>
                <a:lnTo>
                  <a:pt x="48376" y="45129"/>
                </a:lnTo>
                <a:lnTo>
                  <a:pt x="36148" y="40157"/>
                </a:lnTo>
                <a:lnTo>
                  <a:pt x="23901" y="35373"/>
                </a:lnTo>
                <a:lnTo>
                  <a:pt x="11679" y="30797"/>
                </a:lnTo>
                <a:lnTo>
                  <a:pt x="3948" y="27968"/>
                </a:lnTo>
                <a:lnTo>
                  <a:pt x="0" y="19406"/>
                </a:lnTo>
                <a:lnTo>
                  <a:pt x="5708" y="3959"/>
                </a:lnTo>
                <a:lnTo>
                  <a:pt x="14284" y="0"/>
                </a:lnTo>
                <a:lnTo>
                  <a:pt x="22014" y="2828"/>
                </a:lnTo>
                <a:lnTo>
                  <a:pt x="59877" y="17616"/>
                </a:lnTo>
                <a:lnTo>
                  <a:pt x="83453" y="34934"/>
                </a:lnTo>
                <a:lnTo>
                  <a:pt x="78881" y="45431"/>
                </a:lnTo>
                <a:lnTo>
                  <a:pt x="76772" y="47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51693" y="5889805"/>
            <a:ext cx="74708" cy="67113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5329068" y="5833568"/>
            <a:ext cx="238760" cy="130810"/>
            <a:chOff x="5329068" y="5833568"/>
            <a:chExt cx="238760" cy="130810"/>
          </a:xfrm>
        </p:grpSpPr>
        <p:sp>
          <p:nvSpPr>
            <p:cNvPr id="33" name="object 33"/>
            <p:cNvSpPr/>
            <p:nvPr/>
          </p:nvSpPr>
          <p:spPr>
            <a:xfrm>
              <a:off x="5484930" y="5833568"/>
              <a:ext cx="82550" cy="55880"/>
            </a:xfrm>
            <a:custGeom>
              <a:avLst/>
              <a:gdLst/>
              <a:ahLst/>
              <a:cxnLst/>
              <a:rect l="l" t="t" r="r" b="b"/>
              <a:pathLst>
                <a:path w="82550" h="55879">
                  <a:moveTo>
                    <a:pt x="79779" y="25905"/>
                  </a:moveTo>
                  <a:lnTo>
                    <a:pt x="72976" y="30032"/>
                  </a:lnTo>
                  <a:lnTo>
                    <a:pt x="72155" y="30434"/>
                  </a:lnTo>
                  <a:lnTo>
                    <a:pt x="59246" y="35525"/>
                  </a:lnTo>
                  <a:lnTo>
                    <a:pt x="47267" y="40609"/>
                  </a:lnTo>
                  <a:lnTo>
                    <a:pt x="35395" y="45998"/>
                  </a:lnTo>
                  <a:lnTo>
                    <a:pt x="23670" y="51678"/>
                  </a:lnTo>
                  <a:lnTo>
                    <a:pt x="16298" y="55366"/>
                  </a:lnTo>
                  <a:lnTo>
                    <a:pt x="7339" y="52390"/>
                  </a:lnTo>
                  <a:lnTo>
                    <a:pt x="0" y="37679"/>
                  </a:lnTo>
                  <a:lnTo>
                    <a:pt x="2999" y="28738"/>
                  </a:lnTo>
                  <a:lnTo>
                    <a:pt x="10366" y="25042"/>
                  </a:lnTo>
                  <a:lnTo>
                    <a:pt x="47991" y="7955"/>
                  </a:lnTo>
                  <a:lnTo>
                    <a:pt x="68432" y="0"/>
                  </a:lnTo>
                  <a:lnTo>
                    <a:pt x="77039" y="3853"/>
                  </a:lnTo>
                  <a:lnTo>
                    <a:pt x="82548" y="18360"/>
                  </a:lnTo>
                  <a:lnTo>
                    <a:pt x="79779" y="259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29068" y="5897311"/>
              <a:ext cx="118340" cy="66845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6141437" y="5903577"/>
            <a:ext cx="80645" cy="59055"/>
          </a:xfrm>
          <a:custGeom>
            <a:avLst/>
            <a:gdLst/>
            <a:ahLst/>
            <a:cxnLst/>
            <a:rect l="l" t="t" r="r" b="b"/>
            <a:pathLst>
              <a:path w="80645" h="59054">
                <a:moveTo>
                  <a:pt x="73264" y="54817"/>
                </a:moveTo>
                <a:lnTo>
                  <a:pt x="66673" y="58816"/>
                </a:lnTo>
                <a:lnTo>
                  <a:pt x="60737" y="59026"/>
                </a:lnTo>
                <a:lnTo>
                  <a:pt x="55827" y="56079"/>
                </a:lnTo>
                <a:lnTo>
                  <a:pt x="44488" y="49374"/>
                </a:lnTo>
                <a:lnTo>
                  <a:pt x="33044" y="42801"/>
                </a:lnTo>
                <a:lnTo>
                  <a:pt x="21533" y="36384"/>
                </a:lnTo>
                <a:lnTo>
                  <a:pt x="9994" y="30146"/>
                </a:lnTo>
                <a:lnTo>
                  <a:pt x="2728" y="26288"/>
                </a:lnTo>
                <a:lnTo>
                  <a:pt x="0" y="17263"/>
                </a:lnTo>
                <a:lnTo>
                  <a:pt x="7774" y="2747"/>
                </a:lnTo>
                <a:lnTo>
                  <a:pt x="16818" y="0"/>
                </a:lnTo>
                <a:lnTo>
                  <a:pt x="24076" y="3863"/>
                </a:lnTo>
                <a:lnTo>
                  <a:pt x="59576" y="23634"/>
                </a:lnTo>
                <a:lnTo>
                  <a:pt x="80555" y="43913"/>
                </a:lnTo>
                <a:lnTo>
                  <a:pt x="75015" y="53115"/>
                </a:lnTo>
                <a:lnTo>
                  <a:pt x="73264" y="54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78856" y="5989852"/>
            <a:ext cx="56515" cy="81280"/>
          </a:xfrm>
          <a:custGeom>
            <a:avLst/>
            <a:gdLst/>
            <a:ahLst/>
            <a:cxnLst/>
            <a:rect l="l" t="t" r="r" b="b"/>
            <a:pathLst>
              <a:path w="56514" h="81279">
                <a:moveTo>
                  <a:pt x="27380" y="76628"/>
                </a:moveTo>
                <a:lnTo>
                  <a:pt x="20842" y="80594"/>
                </a:lnTo>
                <a:lnTo>
                  <a:pt x="16202" y="81225"/>
                </a:lnTo>
                <a:lnTo>
                  <a:pt x="4050" y="76915"/>
                </a:lnTo>
                <a:lnTo>
                  <a:pt x="0" y="68403"/>
                </a:lnTo>
                <a:lnTo>
                  <a:pt x="2775" y="60649"/>
                </a:lnTo>
                <a:lnTo>
                  <a:pt x="19398" y="22052"/>
                </a:lnTo>
                <a:lnTo>
                  <a:pt x="39130" y="0"/>
                </a:lnTo>
                <a:lnTo>
                  <a:pt x="53494" y="8036"/>
                </a:lnTo>
                <a:lnTo>
                  <a:pt x="56031" y="17105"/>
                </a:lnTo>
                <a:lnTo>
                  <a:pt x="51989" y="24287"/>
                </a:lnTo>
                <a:lnTo>
                  <a:pt x="45989" y="35494"/>
                </a:lnTo>
                <a:lnTo>
                  <a:pt x="40458" y="46974"/>
                </a:lnTo>
                <a:lnTo>
                  <a:pt x="35413" y="58689"/>
                </a:lnTo>
                <a:lnTo>
                  <a:pt x="30874" y="70598"/>
                </a:lnTo>
                <a:lnTo>
                  <a:pt x="29670" y="73959"/>
                </a:lnTo>
                <a:lnTo>
                  <a:pt x="27380" y="76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79491" y="5989901"/>
            <a:ext cx="66582" cy="7450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57804" y="5975225"/>
            <a:ext cx="77037" cy="6407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66295" y="6058619"/>
            <a:ext cx="73699" cy="6769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4862664" y="6121208"/>
            <a:ext cx="32384" cy="85090"/>
          </a:xfrm>
          <a:custGeom>
            <a:avLst/>
            <a:gdLst/>
            <a:ahLst/>
            <a:cxnLst/>
            <a:rect l="l" t="t" r="r" b="b"/>
            <a:pathLst>
              <a:path w="32385" h="85089">
                <a:moveTo>
                  <a:pt x="29017" y="78620"/>
                </a:moveTo>
                <a:lnTo>
                  <a:pt x="22400" y="82635"/>
                </a:lnTo>
                <a:lnTo>
                  <a:pt x="20324" y="83363"/>
                </a:lnTo>
                <a:lnTo>
                  <a:pt x="9882" y="84485"/>
                </a:lnTo>
                <a:lnTo>
                  <a:pt x="2543" y="78571"/>
                </a:lnTo>
                <a:lnTo>
                  <a:pt x="1674" y="70397"/>
                </a:lnTo>
                <a:lnTo>
                  <a:pt x="523" y="56500"/>
                </a:lnTo>
                <a:lnTo>
                  <a:pt x="0" y="42498"/>
                </a:lnTo>
                <a:lnTo>
                  <a:pt x="106" y="28439"/>
                </a:lnTo>
                <a:lnTo>
                  <a:pt x="847" y="14372"/>
                </a:lnTo>
                <a:lnTo>
                  <a:pt x="1466" y="6176"/>
                </a:lnTo>
                <a:lnTo>
                  <a:pt x="8624" y="0"/>
                </a:lnTo>
                <a:lnTo>
                  <a:pt x="16838" y="592"/>
                </a:lnTo>
                <a:lnTo>
                  <a:pt x="25057" y="1193"/>
                </a:lnTo>
                <a:lnTo>
                  <a:pt x="31215" y="8330"/>
                </a:lnTo>
                <a:lnTo>
                  <a:pt x="30601" y="16535"/>
                </a:lnTo>
                <a:lnTo>
                  <a:pt x="29932" y="29261"/>
                </a:lnTo>
                <a:lnTo>
                  <a:pt x="29833" y="41976"/>
                </a:lnTo>
                <a:lnTo>
                  <a:pt x="30303" y="54635"/>
                </a:lnTo>
                <a:lnTo>
                  <a:pt x="31343" y="67193"/>
                </a:lnTo>
                <a:lnTo>
                  <a:pt x="31975" y="73121"/>
                </a:lnTo>
                <a:lnTo>
                  <a:pt x="29017" y="78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15166" y="6103047"/>
            <a:ext cx="55880" cy="81915"/>
          </a:xfrm>
          <a:custGeom>
            <a:avLst/>
            <a:gdLst/>
            <a:ahLst/>
            <a:cxnLst/>
            <a:rect l="l" t="t" r="r" b="b"/>
            <a:pathLst>
              <a:path w="55879" h="81914">
                <a:moveTo>
                  <a:pt x="27351" y="76990"/>
                </a:moveTo>
                <a:lnTo>
                  <a:pt x="20813" y="80956"/>
                </a:lnTo>
                <a:lnTo>
                  <a:pt x="16059" y="81559"/>
                </a:lnTo>
                <a:lnTo>
                  <a:pt x="3884" y="77010"/>
                </a:lnTo>
                <a:lnTo>
                  <a:pt x="0" y="68433"/>
                </a:lnTo>
                <a:lnTo>
                  <a:pt x="2899" y="60724"/>
                </a:lnTo>
                <a:lnTo>
                  <a:pt x="20138" y="20374"/>
                </a:lnTo>
                <a:lnTo>
                  <a:pt x="37708" y="0"/>
                </a:lnTo>
                <a:lnTo>
                  <a:pt x="52424" y="7339"/>
                </a:lnTo>
                <a:lnTo>
                  <a:pt x="55396" y="16289"/>
                </a:lnTo>
                <a:lnTo>
                  <a:pt x="50132" y="26783"/>
                </a:lnTo>
                <a:lnTo>
                  <a:pt x="48571" y="29975"/>
                </a:lnTo>
                <a:lnTo>
                  <a:pt x="30819" y="71156"/>
                </a:lnTo>
                <a:lnTo>
                  <a:pt x="29588" y="74413"/>
                </a:lnTo>
                <a:lnTo>
                  <a:pt x="27351" y="76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423370" y="5994958"/>
            <a:ext cx="113664" cy="205740"/>
          </a:xfrm>
          <a:custGeom>
            <a:avLst/>
            <a:gdLst/>
            <a:ahLst/>
            <a:cxnLst/>
            <a:rect l="l" t="t" r="r" b="b"/>
            <a:pathLst>
              <a:path w="113664" h="205739">
                <a:moveTo>
                  <a:pt x="61442" y="62547"/>
                </a:moveTo>
                <a:lnTo>
                  <a:pt x="39814" y="24676"/>
                </a:lnTo>
                <a:lnTo>
                  <a:pt x="15405" y="0"/>
                </a:lnTo>
                <a:lnTo>
                  <a:pt x="8610" y="4610"/>
                </a:lnTo>
                <a:lnTo>
                  <a:pt x="1790" y="9258"/>
                </a:lnTo>
                <a:lnTo>
                  <a:pt x="0" y="18516"/>
                </a:lnTo>
                <a:lnTo>
                  <a:pt x="9067" y="31864"/>
                </a:lnTo>
                <a:lnTo>
                  <a:pt x="13462" y="38709"/>
                </a:lnTo>
                <a:lnTo>
                  <a:pt x="35267" y="76911"/>
                </a:lnTo>
                <a:lnTo>
                  <a:pt x="44310" y="79616"/>
                </a:lnTo>
                <a:lnTo>
                  <a:pt x="52031" y="75463"/>
                </a:lnTo>
                <a:lnTo>
                  <a:pt x="59004" y="71234"/>
                </a:lnTo>
                <a:lnTo>
                  <a:pt x="61442" y="62547"/>
                </a:lnTo>
                <a:close/>
              </a:path>
              <a:path w="113664" h="205739">
                <a:moveTo>
                  <a:pt x="113169" y="190639"/>
                </a:moveTo>
                <a:lnTo>
                  <a:pt x="97586" y="145084"/>
                </a:lnTo>
                <a:lnTo>
                  <a:pt x="81305" y="121335"/>
                </a:lnTo>
                <a:lnTo>
                  <a:pt x="73634" y="124333"/>
                </a:lnTo>
                <a:lnTo>
                  <a:pt x="65938" y="127330"/>
                </a:lnTo>
                <a:lnTo>
                  <a:pt x="62141" y="135966"/>
                </a:lnTo>
                <a:lnTo>
                  <a:pt x="65112" y="143624"/>
                </a:lnTo>
                <a:lnTo>
                  <a:pt x="69621" y="155511"/>
                </a:lnTo>
                <a:lnTo>
                  <a:pt x="74053" y="167754"/>
                </a:lnTo>
                <a:lnTo>
                  <a:pt x="78384" y="180314"/>
                </a:lnTo>
                <a:lnTo>
                  <a:pt x="82613" y="193128"/>
                </a:lnTo>
                <a:lnTo>
                  <a:pt x="85128" y="200952"/>
                </a:lnTo>
                <a:lnTo>
                  <a:pt x="93535" y="205244"/>
                </a:lnTo>
                <a:lnTo>
                  <a:pt x="102514" y="202349"/>
                </a:lnTo>
                <a:lnTo>
                  <a:pt x="103568" y="201853"/>
                </a:lnTo>
                <a:lnTo>
                  <a:pt x="110324" y="197751"/>
                </a:lnTo>
                <a:lnTo>
                  <a:pt x="113169" y="190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467906" y="6150363"/>
            <a:ext cx="71120" cy="70485"/>
          </a:xfrm>
          <a:custGeom>
            <a:avLst/>
            <a:gdLst/>
            <a:ahLst/>
            <a:cxnLst/>
            <a:rect l="l" t="t" r="r" b="b"/>
            <a:pathLst>
              <a:path w="71120" h="70485">
                <a:moveTo>
                  <a:pt x="63262" y="65960"/>
                </a:moveTo>
                <a:lnTo>
                  <a:pt x="56521" y="70049"/>
                </a:lnTo>
                <a:lnTo>
                  <a:pt x="48930" y="69308"/>
                </a:lnTo>
                <a:lnTo>
                  <a:pt x="34389" y="54809"/>
                </a:lnTo>
                <a:lnTo>
                  <a:pt x="24855" y="45405"/>
                </a:lnTo>
                <a:lnTo>
                  <a:pt x="15413" y="36181"/>
                </a:lnTo>
                <a:lnTo>
                  <a:pt x="6096" y="27171"/>
                </a:lnTo>
                <a:lnTo>
                  <a:pt x="167" y="21487"/>
                </a:lnTo>
                <a:lnTo>
                  <a:pt x="0" y="12055"/>
                </a:lnTo>
                <a:lnTo>
                  <a:pt x="11440" y="190"/>
                </a:lnTo>
                <a:lnTo>
                  <a:pt x="20885" y="0"/>
                </a:lnTo>
                <a:lnTo>
                  <a:pt x="26811" y="5697"/>
                </a:lnTo>
                <a:lnTo>
                  <a:pt x="36237" y="14811"/>
                </a:lnTo>
                <a:lnTo>
                  <a:pt x="45786" y="24138"/>
                </a:lnTo>
                <a:lnTo>
                  <a:pt x="55424" y="33646"/>
                </a:lnTo>
                <a:lnTo>
                  <a:pt x="70932" y="49117"/>
                </a:lnTo>
                <a:lnTo>
                  <a:pt x="70910" y="58556"/>
                </a:lnTo>
                <a:lnTo>
                  <a:pt x="64210" y="65228"/>
                </a:lnTo>
                <a:lnTo>
                  <a:pt x="63262" y="65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91602" y="6233296"/>
            <a:ext cx="34925" cy="84455"/>
          </a:xfrm>
          <a:custGeom>
            <a:avLst/>
            <a:gdLst/>
            <a:ahLst/>
            <a:cxnLst/>
            <a:rect l="l" t="t" r="r" b="b"/>
            <a:pathLst>
              <a:path w="34925" h="84454">
                <a:moveTo>
                  <a:pt x="26990" y="79269"/>
                </a:moveTo>
                <a:lnTo>
                  <a:pt x="20417" y="83257"/>
                </a:lnTo>
                <a:lnTo>
                  <a:pt x="17831" y="84041"/>
                </a:lnTo>
                <a:lnTo>
                  <a:pt x="6827" y="84177"/>
                </a:lnTo>
                <a:lnTo>
                  <a:pt x="88" y="77597"/>
                </a:lnTo>
                <a:lnTo>
                  <a:pt x="0" y="69372"/>
                </a:lnTo>
                <a:lnTo>
                  <a:pt x="159" y="55672"/>
                </a:lnTo>
                <a:lnTo>
                  <a:pt x="4130" y="13718"/>
                </a:lnTo>
                <a:lnTo>
                  <a:pt x="13017" y="0"/>
                </a:lnTo>
                <a:lnTo>
                  <a:pt x="21154" y="1242"/>
                </a:lnTo>
                <a:lnTo>
                  <a:pt x="29299" y="2479"/>
                </a:lnTo>
                <a:lnTo>
                  <a:pt x="34868" y="10083"/>
                </a:lnTo>
                <a:lnTo>
                  <a:pt x="33603" y="18212"/>
                </a:lnTo>
                <a:lnTo>
                  <a:pt x="31864" y="31076"/>
                </a:lnTo>
                <a:lnTo>
                  <a:pt x="30652" y="43857"/>
                </a:lnTo>
                <a:lnTo>
                  <a:pt x="29973" y="56511"/>
                </a:lnTo>
                <a:lnTo>
                  <a:pt x="29831" y="68990"/>
                </a:lnTo>
                <a:lnTo>
                  <a:pt x="29892" y="74456"/>
                </a:lnTo>
                <a:lnTo>
                  <a:pt x="26990" y="792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25963" y="6247338"/>
            <a:ext cx="40640" cy="85090"/>
          </a:xfrm>
          <a:custGeom>
            <a:avLst/>
            <a:gdLst/>
            <a:ahLst/>
            <a:cxnLst/>
            <a:rect l="l" t="t" r="r" b="b"/>
            <a:pathLst>
              <a:path w="40639" h="85089">
                <a:moveTo>
                  <a:pt x="37149" y="78871"/>
                </a:moveTo>
                <a:lnTo>
                  <a:pt x="30549" y="82875"/>
                </a:lnTo>
                <a:lnTo>
                  <a:pt x="28404" y="83609"/>
                </a:lnTo>
                <a:lnTo>
                  <a:pt x="17884" y="84621"/>
                </a:lnTo>
                <a:lnTo>
                  <a:pt x="10611" y="78619"/>
                </a:lnTo>
                <a:lnTo>
                  <a:pt x="9853" y="70426"/>
                </a:lnTo>
                <a:lnTo>
                  <a:pt x="8512" y="58293"/>
                </a:lnTo>
                <a:lnTo>
                  <a:pt x="6723" y="45820"/>
                </a:lnTo>
                <a:lnTo>
                  <a:pt x="4472" y="32917"/>
                </a:lnTo>
                <a:lnTo>
                  <a:pt x="1743" y="19495"/>
                </a:lnTo>
                <a:lnTo>
                  <a:pt x="0" y="11453"/>
                </a:lnTo>
                <a:lnTo>
                  <a:pt x="5117" y="3509"/>
                </a:lnTo>
                <a:lnTo>
                  <a:pt x="13164" y="1753"/>
                </a:lnTo>
                <a:lnTo>
                  <a:pt x="21226" y="0"/>
                </a:lnTo>
                <a:lnTo>
                  <a:pt x="29168" y="5090"/>
                </a:lnTo>
                <a:lnTo>
                  <a:pt x="38125" y="54570"/>
                </a:lnTo>
                <a:lnTo>
                  <a:pt x="40104" y="73469"/>
                </a:lnTo>
                <a:lnTo>
                  <a:pt x="37149" y="78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550280" y="2260077"/>
            <a:ext cx="7467599" cy="4048124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5335818" y="1598972"/>
            <a:ext cx="7976870" cy="23761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357495">
              <a:lnSpc>
                <a:spcPts val="2415"/>
              </a:lnSpc>
              <a:spcBef>
                <a:spcPts val="110"/>
              </a:spcBef>
            </a:pPr>
            <a:r>
              <a:rPr dirty="0" baseline="1355" sz="3075" b="1">
                <a:solidFill>
                  <a:srgbClr val="974825"/>
                </a:solidFill>
                <a:latin typeface="Calibri"/>
                <a:cs typeface="Calibri"/>
              </a:rPr>
              <a:t>Map</a:t>
            </a:r>
            <a:r>
              <a:rPr dirty="0" baseline="1355" sz="3075" spc="-89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baseline="1355" sz="3075" b="1">
                <a:solidFill>
                  <a:srgbClr val="974825"/>
                </a:solidFill>
                <a:latin typeface="Calibri"/>
                <a:cs typeface="Calibri"/>
              </a:rPr>
              <a:t>-</a:t>
            </a:r>
            <a:r>
              <a:rPr dirty="0" baseline="1355" sz="3075" spc="30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1700" spc="-35">
                <a:latin typeface="Calibri"/>
                <a:cs typeface="Calibri"/>
              </a:rPr>
              <a:t>Geo-</a:t>
            </a:r>
            <a:r>
              <a:rPr dirty="0" sz="1700" spc="-40">
                <a:latin typeface="Calibri"/>
                <a:cs typeface="Calibri"/>
              </a:rPr>
              <a:t>Tagged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test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result</a:t>
            </a:r>
            <a:endParaRPr sz="1700">
              <a:latin typeface="Calibri"/>
              <a:cs typeface="Calibri"/>
            </a:endParaRPr>
          </a:p>
          <a:p>
            <a:pPr marL="706120">
              <a:lnSpc>
                <a:spcPts val="2415"/>
              </a:lnSpc>
            </a:pPr>
            <a:r>
              <a:rPr dirty="0" sz="2050" spc="-30" b="1">
                <a:solidFill>
                  <a:srgbClr val="974825"/>
                </a:solidFill>
                <a:latin typeface="Calibri"/>
                <a:cs typeface="Calibri"/>
              </a:rPr>
              <a:t>Organisation</a:t>
            </a:r>
            <a:r>
              <a:rPr dirty="0" sz="2050" spc="-25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974825"/>
                </a:solidFill>
                <a:latin typeface="Calibri"/>
                <a:cs typeface="Calibri"/>
              </a:rPr>
              <a:t>Benefits</a:t>
            </a:r>
            <a:endParaRPr sz="2050">
              <a:latin typeface="Calibri"/>
              <a:cs typeface="Calibri"/>
            </a:endParaRPr>
          </a:p>
          <a:p>
            <a:pPr marL="12700" marR="3417570">
              <a:lnSpc>
                <a:spcPct val="118400"/>
              </a:lnSpc>
              <a:spcBef>
                <a:spcPts val="160"/>
              </a:spcBef>
            </a:pPr>
            <a:r>
              <a:rPr dirty="0" sz="1900" spc="-10">
                <a:latin typeface="Calibri"/>
                <a:cs typeface="Calibri"/>
              </a:rPr>
              <a:t>Proof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every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test: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time,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place,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officer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&amp;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photo </a:t>
            </a:r>
            <a:r>
              <a:rPr dirty="0" sz="1900" spc="-20">
                <a:latin typeface="Calibri"/>
                <a:cs typeface="Calibri"/>
              </a:rPr>
              <a:t>Secure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verifiable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records</a:t>
            </a:r>
            <a:endParaRPr sz="1900">
              <a:latin typeface="Calibri"/>
              <a:cs typeface="Calibri"/>
            </a:endParaRPr>
          </a:p>
          <a:p>
            <a:pPr marL="12700" marR="4493260">
              <a:lnSpc>
                <a:spcPct val="118400"/>
              </a:lnSpc>
            </a:pPr>
            <a:r>
              <a:rPr dirty="0" sz="1900">
                <a:latin typeface="Calibri"/>
                <a:cs typeface="Calibri"/>
              </a:rPr>
              <a:t>Less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paperwork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with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PDF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&amp;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QR</a:t>
            </a:r>
            <a:r>
              <a:rPr dirty="0" sz="1900" spc="50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Easy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search,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reports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monitoring </a:t>
            </a:r>
            <a:r>
              <a:rPr dirty="0" sz="1900" spc="-25">
                <a:latin typeface="Calibri"/>
                <a:cs typeface="Calibri"/>
              </a:rPr>
              <a:t>Better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30">
                <a:latin typeface="Calibri"/>
                <a:cs typeface="Calibri"/>
              </a:rPr>
              <a:t>field-</a:t>
            </a:r>
            <a:r>
              <a:rPr dirty="0" sz="1900" spc="-20">
                <a:latin typeface="Calibri"/>
                <a:cs typeface="Calibri"/>
              </a:rPr>
              <a:t>test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documentation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212283" y="4445515"/>
            <a:ext cx="312547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5" b="1">
                <a:solidFill>
                  <a:srgbClr val="974825"/>
                </a:solidFill>
                <a:latin typeface="Calibri"/>
                <a:cs typeface="Calibri"/>
              </a:rPr>
              <a:t>QR-</a:t>
            </a:r>
            <a:r>
              <a:rPr dirty="0" sz="2050" spc="-10" b="1">
                <a:solidFill>
                  <a:srgbClr val="974825"/>
                </a:solidFill>
                <a:latin typeface="Calibri"/>
                <a:cs typeface="Calibri"/>
              </a:rPr>
              <a:t>Based</a:t>
            </a:r>
            <a:r>
              <a:rPr dirty="0" sz="2050" spc="-90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050" spc="-30" b="1">
                <a:solidFill>
                  <a:srgbClr val="974825"/>
                </a:solidFill>
                <a:latin typeface="Calibri"/>
                <a:cs typeface="Calibri"/>
              </a:rPr>
              <a:t>Record</a:t>
            </a:r>
            <a:r>
              <a:rPr dirty="0" sz="2050" spc="-85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050" spc="-20" b="1">
                <a:solidFill>
                  <a:srgbClr val="974825"/>
                </a:solidFill>
                <a:latin typeface="Calibri"/>
                <a:cs typeface="Calibri"/>
              </a:rPr>
              <a:t>Verification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02918" y="6367588"/>
            <a:ext cx="55880" cy="82550"/>
          </a:xfrm>
          <a:custGeom>
            <a:avLst/>
            <a:gdLst/>
            <a:ahLst/>
            <a:cxnLst/>
            <a:rect l="l" t="t" r="r" b="b"/>
            <a:pathLst>
              <a:path w="55879" h="82550">
                <a:moveTo>
                  <a:pt x="52987" y="73928"/>
                </a:moveTo>
                <a:lnTo>
                  <a:pt x="46051" y="78136"/>
                </a:lnTo>
                <a:lnTo>
                  <a:pt x="38672" y="82431"/>
                </a:lnTo>
                <a:lnTo>
                  <a:pt x="29551" y="80024"/>
                </a:lnTo>
                <a:lnTo>
                  <a:pt x="7292" y="34836"/>
                </a:lnTo>
                <a:lnTo>
                  <a:pt x="0" y="13500"/>
                </a:lnTo>
                <a:lnTo>
                  <a:pt x="4305" y="5095"/>
                </a:lnTo>
                <a:lnTo>
                  <a:pt x="19985" y="0"/>
                </a:lnTo>
                <a:lnTo>
                  <a:pt x="28389" y="4277"/>
                </a:lnTo>
                <a:lnTo>
                  <a:pt x="30918" y="12096"/>
                </a:lnTo>
                <a:lnTo>
                  <a:pt x="35152" y="24116"/>
                </a:lnTo>
                <a:lnTo>
                  <a:pt x="39962" y="35786"/>
                </a:lnTo>
                <a:lnTo>
                  <a:pt x="45328" y="47065"/>
                </a:lnTo>
                <a:lnTo>
                  <a:pt x="51235" y="57914"/>
                </a:lnTo>
                <a:lnTo>
                  <a:pt x="55314" y="64937"/>
                </a:lnTo>
                <a:lnTo>
                  <a:pt x="52987" y="739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12025" y="6382864"/>
            <a:ext cx="51435" cy="82550"/>
          </a:xfrm>
          <a:custGeom>
            <a:avLst/>
            <a:gdLst/>
            <a:ahLst/>
            <a:cxnLst/>
            <a:rect l="l" t="t" r="r" b="b"/>
            <a:pathLst>
              <a:path w="51435" h="82550">
                <a:moveTo>
                  <a:pt x="27057" y="77915"/>
                </a:moveTo>
                <a:lnTo>
                  <a:pt x="20493" y="81898"/>
                </a:lnTo>
                <a:lnTo>
                  <a:pt x="15022" y="82296"/>
                </a:lnTo>
                <a:lnTo>
                  <a:pt x="2908" y="76153"/>
                </a:lnTo>
                <a:lnTo>
                  <a:pt x="0" y="67189"/>
                </a:lnTo>
                <a:lnTo>
                  <a:pt x="3741" y="59851"/>
                </a:lnTo>
                <a:lnTo>
                  <a:pt x="8872" y="48887"/>
                </a:lnTo>
                <a:lnTo>
                  <a:pt x="13329" y="37425"/>
                </a:lnTo>
                <a:lnTo>
                  <a:pt x="17099" y="25507"/>
                </a:lnTo>
                <a:lnTo>
                  <a:pt x="20168" y="13174"/>
                </a:lnTo>
                <a:lnTo>
                  <a:pt x="21926" y="5120"/>
                </a:lnTo>
                <a:lnTo>
                  <a:pt x="29869" y="0"/>
                </a:lnTo>
                <a:lnTo>
                  <a:pt x="45968" y="3435"/>
                </a:lnTo>
                <a:lnTo>
                  <a:pt x="51076" y="11355"/>
                </a:lnTo>
                <a:lnTo>
                  <a:pt x="49335" y="19398"/>
                </a:lnTo>
                <a:lnTo>
                  <a:pt x="36274" y="60608"/>
                </a:lnTo>
                <a:lnTo>
                  <a:pt x="29009" y="75886"/>
                </a:lnTo>
                <a:lnTo>
                  <a:pt x="27057" y="779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78670" y="6478404"/>
            <a:ext cx="80645" cy="57785"/>
          </a:xfrm>
          <a:custGeom>
            <a:avLst/>
            <a:gdLst/>
            <a:ahLst/>
            <a:cxnLst/>
            <a:rect l="l" t="t" r="r" b="b"/>
            <a:pathLst>
              <a:path w="80645" h="57784">
                <a:moveTo>
                  <a:pt x="74257" y="53134"/>
                </a:moveTo>
                <a:lnTo>
                  <a:pt x="67720" y="57100"/>
                </a:lnTo>
                <a:lnTo>
                  <a:pt x="63037" y="57720"/>
                </a:lnTo>
                <a:lnTo>
                  <a:pt x="58621" y="56127"/>
                </a:lnTo>
                <a:lnTo>
                  <a:pt x="19709" y="36980"/>
                </a:lnTo>
                <a:lnTo>
                  <a:pt x="0" y="14480"/>
                </a:lnTo>
                <a:lnTo>
                  <a:pt x="9939" y="1318"/>
                </a:lnTo>
                <a:lnTo>
                  <a:pt x="19293" y="0"/>
                </a:lnTo>
                <a:lnTo>
                  <a:pt x="25863" y="4944"/>
                </a:lnTo>
                <a:lnTo>
                  <a:pt x="35866" y="11909"/>
                </a:lnTo>
                <a:lnTo>
                  <a:pt x="46387" y="18098"/>
                </a:lnTo>
                <a:lnTo>
                  <a:pt x="57384" y="23505"/>
                </a:lnTo>
                <a:lnTo>
                  <a:pt x="68819" y="28109"/>
                </a:lnTo>
                <a:lnTo>
                  <a:pt x="76560" y="30895"/>
                </a:lnTo>
                <a:lnTo>
                  <a:pt x="80552" y="39431"/>
                </a:lnTo>
                <a:lnTo>
                  <a:pt x="76523" y="50504"/>
                </a:lnTo>
                <a:lnTo>
                  <a:pt x="74257" y="531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08383" y="6493939"/>
            <a:ext cx="83185" cy="51435"/>
          </a:xfrm>
          <a:custGeom>
            <a:avLst/>
            <a:gdLst/>
            <a:ahLst/>
            <a:cxnLst/>
            <a:rect l="l" t="t" r="r" b="b"/>
            <a:pathLst>
              <a:path w="83185" h="51434">
                <a:moveTo>
                  <a:pt x="73776" y="29614"/>
                </a:moveTo>
                <a:lnTo>
                  <a:pt x="32561" y="46988"/>
                </a:lnTo>
                <a:lnTo>
                  <a:pt x="10120" y="51168"/>
                </a:lnTo>
                <a:lnTo>
                  <a:pt x="2498" y="45607"/>
                </a:lnTo>
                <a:lnTo>
                  <a:pt x="0" y="29359"/>
                </a:lnTo>
                <a:lnTo>
                  <a:pt x="5579" y="21738"/>
                </a:lnTo>
                <a:lnTo>
                  <a:pt x="13726" y="20464"/>
                </a:lnTo>
                <a:lnTo>
                  <a:pt x="25210" y="18134"/>
                </a:lnTo>
                <a:lnTo>
                  <a:pt x="65202" y="0"/>
                </a:lnTo>
                <a:lnTo>
                  <a:pt x="74303" y="2153"/>
                </a:lnTo>
                <a:lnTo>
                  <a:pt x="82943" y="16076"/>
                </a:lnTo>
                <a:lnTo>
                  <a:pt x="80784" y="25266"/>
                </a:lnTo>
                <a:lnTo>
                  <a:pt x="73776" y="29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/>
          <p:cNvGrpSpPr/>
          <p:nvPr/>
        </p:nvGrpSpPr>
        <p:grpSpPr>
          <a:xfrm>
            <a:off x="6474109" y="4948371"/>
            <a:ext cx="3620135" cy="4438650"/>
            <a:chOff x="6474109" y="4948371"/>
            <a:chExt cx="3620135" cy="4438650"/>
          </a:xfrm>
        </p:grpSpPr>
        <p:sp>
          <p:nvSpPr>
            <p:cNvPr id="37" name="object 37"/>
            <p:cNvSpPr/>
            <p:nvPr/>
          </p:nvSpPr>
          <p:spPr>
            <a:xfrm>
              <a:off x="6474109" y="6163314"/>
              <a:ext cx="240665" cy="243840"/>
            </a:xfrm>
            <a:custGeom>
              <a:avLst/>
              <a:gdLst/>
              <a:ahLst/>
              <a:cxnLst/>
              <a:rect l="l" t="t" r="r" b="b"/>
              <a:pathLst>
                <a:path w="240665" h="243839">
                  <a:moveTo>
                    <a:pt x="230462" y="236085"/>
                  </a:moveTo>
                  <a:lnTo>
                    <a:pt x="216155" y="243784"/>
                  </a:lnTo>
                  <a:lnTo>
                    <a:pt x="198959" y="243195"/>
                  </a:lnTo>
                  <a:lnTo>
                    <a:pt x="21847" y="188197"/>
                  </a:lnTo>
                  <a:lnTo>
                    <a:pt x="7366" y="178950"/>
                  </a:lnTo>
                  <a:lnTo>
                    <a:pt x="0" y="164520"/>
                  </a:lnTo>
                  <a:lnTo>
                    <a:pt x="509" y="148312"/>
                  </a:lnTo>
                  <a:lnTo>
                    <a:pt x="9657" y="133731"/>
                  </a:lnTo>
                  <a:lnTo>
                    <a:pt x="146325" y="7916"/>
                  </a:lnTo>
                  <a:lnTo>
                    <a:pt x="161610" y="0"/>
                  </a:lnTo>
                  <a:lnTo>
                    <a:pt x="177824" y="811"/>
                  </a:lnTo>
                  <a:lnTo>
                    <a:pt x="191623" y="9319"/>
                  </a:lnTo>
                  <a:lnTo>
                    <a:pt x="199671" y="24488"/>
                  </a:lnTo>
                  <a:lnTo>
                    <a:pt x="240115" y="205302"/>
                  </a:lnTo>
                  <a:lnTo>
                    <a:pt x="239306" y="222468"/>
                  </a:lnTo>
                  <a:lnTo>
                    <a:pt x="230462" y="236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74520" y="4948371"/>
              <a:ext cx="3419474" cy="4438649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1674354" y="6734844"/>
            <a:ext cx="5581650" cy="2523490"/>
          </a:xfrm>
          <a:custGeom>
            <a:avLst/>
            <a:gdLst/>
            <a:ahLst/>
            <a:cxnLst/>
            <a:rect l="l" t="t" r="r" b="b"/>
            <a:pathLst>
              <a:path w="5581650" h="2523490">
                <a:moveTo>
                  <a:pt x="5581574" y="2451627"/>
                </a:moveTo>
                <a:lnTo>
                  <a:pt x="5557027" y="2495573"/>
                </a:lnTo>
                <a:lnTo>
                  <a:pt x="5508304" y="2521625"/>
                </a:lnTo>
                <a:lnTo>
                  <a:pt x="95301" y="2523460"/>
                </a:lnTo>
                <a:lnTo>
                  <a:pt x="76616" y="2521619"/>
                </a:lnTo>
                <a:lnTo>
                  <a:pt x="27887" y="2495547"/>
                </a:lnTo>
                <a:lnTo>
                  <a:pt x="1838" y="2446814"/>
                </a:lnTo>
                <a:lnTo>
                  <a:pt x="0" y="2428139"/>
                </a:lnTo>
                <a:lnTo>
                  <a:pt x="59" y="95253"/>
                </a:lnTo>
                <a:lnTo>
                  <a:pt x="16026" y="42379"/>
                </a:lnTo>
                <a:lnTo>
                  <a:pt x="58854" y="7239"/>
                </a:lnTo>
                <a:lnTo>
                  <a:pt x="95308" y="0"/>
                </a:lnTo>
                <a:lnTo>
                  <a:pt x="5489609" y="6"/>
                </a:lnTo>
                <a:lnTo>
                  <a:pt x="5542486" y="15966"/>
                </a:lnTo>
                <a:lnTo>
                  <a:pt x="5577686" y="58779"/>
                </a:lnTo>
                <a:lnTo>
                  <a:pt x="5581566" y="71836"/>
                </a:lnTo>
              </a:path>
            </a:pathLst>
          </a:custGeom>
          <a:ln w="76199">
            <a:solidFill>
              <a:srgbClr val="792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929573" y="741759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1929573" y="780811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929573" y="819864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1929573" y="858916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929573" y="897969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1942865" y="6585953"/>
            <a:ext cx="5254625" cy="2527300"/>
          </a:xfrm>
          <a:prstGeom prst="rect">
            <a:avLst/>
          </a:prstGeom>
        </p:spPr>
        <p:txBody>
          <a:bodyPr wrap="square" lIns="0" tIns="2051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 sz="2150" spc="-10" b="1">
                <a:solidFill>
                  <a:srgbClr val="974825"/>
                </a:solidFill>
                <a:latin typeface="Calibri"/>
                <a:cs typeface="Calibri"/>
              </a:rPr>
              <a:t>Future</a:t>
            </a:r>
            <a:r>
              <a:rPr dirty="0" sz="2150" spc="-105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150" spc="-20" b="1">
                <a:solidFill>
                  <a:srgbClr val="974825"/>
                </a:solidFill>
                <a:latin typeface="Calibri"/>
                <a:cs typeface="Calibri"/>
              </a:rPr>
              <a:t>Scope</a:t>
            </a:r>
            <a:endParaRPr sz="2150">
              <a:latin typeface="Calibri"/>
              <a:cs typeface="Calibri"/>
            </a:endParaRPr>
          </a:p>
          <a:p>
            <a:pPr marL="153670" marR="273685">
              <a:lnSpc>
                <a:spcPct val="146400"/>
              </a:lnSpc>
              <a:spcBef>
                <a:spcPts val="225"/>
              </a:spcBef>
            </a:pPr>
            <a:r>
              <a:rPr dirty="0" sz="1750" spc="-10">
                <a:latin typeface="Calibri"/>
                <a:cs typeface="Calibri"/>
              </a:rPr>
              <a:t>Works</a:t>
            </a:r>
            <a:r>
              <a:rPr dirty="0" sz="1750" spc="-55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offline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5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at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highways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/</a:t>
            </a:r>
            <a:r>
              <a:rPr dirty="0" sz="1750" spc="-55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borders,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sends</a:t>
            </a:r>
            <a:r>
              <a:rPr dirty="0" sz="1750" spc="-5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data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later </a:t>
            </a:r>
            <a:r>
              <a:rPr dirty="0" sz="1750">
                <a:latin typeface="Calibri"/>
                <a:cs typeface="Calibri"/>
              </a:rPr>
              <a:t>Phone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security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chip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phone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also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signs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every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 spc="-20">
                <a:latin typeface="Calibri"/>
                <a:cs typeface="Calibri"/>
              </a:rPr>
              <a:t>test</a:t>
            </a:r>
            <a:endParaRPr sz="1750">
              <a:latin typeface="Calibri"/>
              <a:cs typeface="Calibri"/>
            </a:endParaRPr>
          </a:p>
          <a:p>
            <a:pPr marL="153670">
              <a:lnSpc>
                <a:spcPct val="100000"/>
              </a:lnSpc>
              <a:spcBef>
                <a:spcPts val="975"/>
              </a:spcBef>
            </a:pPr>
            <a:r>
              <a:rPr dirty="0" sz="1750">
                <a:latin typeface="Calibri"/>
                <a:cs typeface="Calibri"/>
              </a:rPr>
              <a:t>Link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with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police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systems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 spc="-25">
                <a:latin typeface="Calibri"/>
                <a:cs typeface="Calibri"/>
              </a:rPr>
              <a:t>e-</a:t>
            </a:r>
            <a:r>
              <a:rPr dirty="0" sz="1750" spc="-10">
                <a:latin typeface="Calibri"/>
                <a:cs typeface="Calibri"/>
              </a:rPr>
              <a:t>Sakshya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and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CCTNS</a:t>
            </a:r>
            <a:endParaRPr sz="1750">
              <a:latin typeface="Calibri"/>
              <a:cs typeface="Calibri"/>
            </a:endParaRPr>
          </a:p>
          <a:p>
            <a:pPr marL="153670" marR="5080">
              <a:lnSpc>
                <a:spcPct val="146400"/>
              </a:lnSpc>
              <a:spcBef>
                <a:spcPts val="5"/>
              </a:spcBef>
            </a:pPr>
            <a:r>
              <a:rPr dirty="0" sz="1750">
                <a:latin typeface="Calibri"/>
                <a:cs typeface="Calibri"/>
              </a:rPr>
              <a:t>Match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with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lab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results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find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which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kits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are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most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accurate </a:t>
            </a:r>
            <a:r>
              <a:rPr dirty="0" sz="1750">
                <a:latin typeface="Calibri"/>
                <a:cs typeface="Calibri"/>
              </a:rPr>
              <a:t>Hindi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+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regional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languages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with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voice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 spc="-20">
                <a:latin typeface="Calibri"/>
                <a:cs typeface="Calibri"/>
              </a:rPr>
              <a:t>help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532619"/>
            <a:ext cx="18288000" cy="754380"/>
            <a:chOff x="0" y="9532619"/>
            <a:chExt cx="18288000" cy="754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64623"/>
              <a:ext cx="18280760" cy="7153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532619"/>
              <a:ext cx="18288000" cy="754380"/>
            </a:xfrm>
            <a:custGeom>
              <a:avLst/>
              <a:gdLst/>
              <a:ahLst/>
              <a:cxnLst/>
              <a:rect l="l" t="t" r="r" b="b"/>
              <a:pathLst>
                <a:path w="18288000" h="754379">
                  <a:moveTo>
                    <a:pt x="18287819" y="754379"/>
                  </a:moveTo>
                  <a:lnTo>
                    <a:pt x="0" y="754379"/>
                  </a:lnTo>
                  <a:lnTo>
                    <a:pt x="0" y="0"/>
                  </a:lnTo>
                  <a:lnTo>
                    <a:pt x="18287819" y="0"/>
                  </a:lnTo>
                  <a:lnTo>
                    <a:pt x="18287819" y="754379"/>
                  </a:lnTo>
                  <a:close/>
                </a:path>
              </a:pathLst>
            </a:custGeom>
            <a:solidFill>
              <a:srgbClr val="006E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1061671" y="665212"/>
            <a:ext cx="12192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792E00"/>
                </a:solidFill>
                <a:latin typeface="Calibri"/>
                <a:cs typeface="Calibri"/>
              </a:rPr>
              <a:t>HexTech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3631488" y="458087"/>
            <a:ext cx="1027620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 AND </a:t>
            </a:r>
            <a:r>
              <a:rPr dirty="0" spc="-10"/>
              <a:t>REFERENCES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242020" y="1643475"/>
            <a:ext cx="1809114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Prototype</a:t>
            </a:r>
            <a:r>
              <a:rPr dirty="0" sz="2200" spc="-8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792E00"/>
                </a:solidFill>
                <a:latin typeface="Calibri"/>
                <a:cs typeface="Calibri"/>
              </a:rPr>
              <a:t>Flow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477646" y="3568391"/>
            <a:ext cx="24130" cy="9525"/>
          </a:xfrm>
          <a:custGeom>
            <a:avLst/>
            <a:gdLst/>
            <a:ahLst/>
            <a:cxnLst/>
            <a:rect l="l" t="t" r="r" b="b"/>
            <a:pathLst>
              <a:path w="24129" h="9525">
                <a:moveTo>
                  <a:pt x="23749" y="9524"/>
                </a:moveTo>
                <a:lnTo>
                  <a:pt x="0" y="9524"/>
                </a:lnTo>
                <a:lnTo>
                  <a:pt x="0" y="0"/>
                </a:lnTo>
                <a:lnTo>
                  <a:pt x="23749" y="0"/>
                </a:lnTo>
                <a:lnTo>
                  <a:pt x="23749" y="9524"/>
                </a:lnTo>
                <a:close/>
              </a:path>
            </a:pathLst>
          </a:custGeom>
          <a:solidFill>
            <a:srgbClr val="1F46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52609" y="6276974"/>
            <a:ext cx="24130" cy="9525"/>
          </a:xfrm>
          <a:custGeom>
            <a:avLst/>
            <a:gdLst/>
            <a:ahLst/>
            <a:cxnLst/>
            <a:rect l="l" t="t" r="r" b="b"/>
            <a:pathLst>
              <a:path w="24129" h="9525">
                <a:moveTo>
                  <a:pt x="23658" y="9524"/>
                </a:moveTo>
                <a:lnTo>
                  <a:pt x="0" y="9524"/>
                </a:lnTo>
                <a:lnTo>
                  <a:pt x="0" y="0"/>
                </a:lnTo>
                <a:lnTo>
                  <a:pt x="23658" y="0"/>
                </a:lnTo>
                <a:lnTo>
                  <a:pt x="23658" y="9524"/>
                </a:lnTo>
                <a:close/>
              </a:path>
            </a:pathLst>
          </a:custGeom>
          <a:solidFill>
            <a:srgbClr val="1F467B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6959" y="1930091"/>
          <a:ext cx="9337040" cy="7306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6910"/>
                <a:gridCol w="2597149"/>
                <a:gridCol w="2156459"/>
              </a:tblGrid>
              <a:tr h="770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Research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  <a:solidFill>
                      <a:srgbClr val="B1935B"/>
                    </a:solidFill>
                  </a:tcPr>
                </a:tc>
                <a:tc>
                  <a:txBody>
                    <a:bodyPr/>
                    <a:lstStyle/>
                    <a:p>
                      <a:pPr marL="466090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they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found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  <a:solidFill>
                      <a:srgbClr val="B1935B"/>
                    </a:solidFill>
                  </a:tcPr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1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we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use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it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  <a:solidFill>
                      <a:srgbClr val="B1935B"/>
                    </a:solidFill>
                  </a:tcPr>
                </a:tc>
              </a:tr>
              <a:tr h="1351915">
                <a:tc>
                  <a:txBody>
                    <a:bodyPr/>
                    <a:lstStyle/>
                    <a:p>
                      <a:pPr marL="136906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500" spc="-20">
                          <a:latin typeface="Calibri"/>
                          <a:cs typeface="Calibri"/>
                        </a:rPr>
                        <a:t>IEEE</a:t>
                      </a:r>
                      <a:r>
                        <a:rPr dirty="0" sz="15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EMBC</a:t>
                      </a:r>
                      <a:r>
                        <a:rPr dirty="0" sz="15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2016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99390" marR="664210">
                        <a:lnSpc>
                          <a:spcPct val="115399"/>
                        </a:lnSpc>
                        <a:spcBef>
                          <a:spcPts val="420"/>
                        </a:spcBef>
                      </a:pP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IEEE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EMBC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2016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–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Illumination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and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device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independence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for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colorimetric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detection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of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urinar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  <a:hlinkClick r:id="rId2"/>
                        </a:rPr>
                        <a:t>y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biomarkers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with</a:t>
                      </a:r>
                      <a:r>
                        <a:rPr dirty="0" u="sng" sz="1300" spc="-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smartphone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4160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243840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Phone</a:t>
                      </a:r>
                      <a:r>
                        <a:rPr dirty="0" sz="1200" spc="2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camera</a:t>
                      </a:r>
                      <a:r>
                        <a:rPr dirty="0" sz="1200" spc="2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colours</a:t>
                      </a:r>
                      <a:r>
                        <a:rPr dirty="0" sz="120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change</a:t>
                      </a:r>
                      <a:r>
                        <a:rPr dirty="0" sz="12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9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light</a:t>
                      </a:r>
                      <a:r>
                        <a:rPr dirty="0" sz="12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phone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model;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reference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colours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can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help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handle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0">
                          <a:latin typeface="Arial MT"/>
                          <a:cs typeface="Arial MT"/>
                        </a:rPr>
                        <a:t>this.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6413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400050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 spc="50">
                          <a:latin typeface="Arial MT"/>
                          <a:cs typeface="Arial MT"/>
                        </a:rPr>
                        <a:t>Our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Microsoft Sans Serif"/>
                          <a:cs typeface="Microsoft Sans Serif"/>
                        </a:rPr>
                        <a:t>₹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10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colour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5">
                          <a:latin typeface="Arial MT"/>
                          <a:cs typeface="Arial MT"/>
                        </a:rPr>
                        <a:t>card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fixes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colours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5">
                          <a:latin typeface="Arial MT"/>
                          <a:cs typeface="Arial MT"/>
                        </a:rPr>
                        <a:t>every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test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6891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</a:tr>
              <a:tr h="1127125">
                <a:tc>
                  <a:txBody>
                    <a:bodyPr/>
                    <a:lstStyle/>
                    <a:p>
                      <a:pPr marL="131254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500" spc="-20">
                          <a:latin typeface="Calibri"/>
                          <a:cs typeface="Calibri"/>
                        </a:rPr>
                        <a:t>IEEE</a:t>
                      </a:r>
                      <a:r>
                        <a:rPr dirty="0" sz="15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30">
                          <a:latin typeface="Calibri"/>
                          <a:cs typeface="Calibri"/>
                        </a:rPr>
                        <a:t>TPS-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ISA</a:t>
                      </a:r>
                      <a:r>
                        <a:rPr dirty="0" sz="15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2024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99390" marR="297815">
                        <a:lnSpc>
                          <a:spcPct val="115399"/>
                        </a:lnSpc>
                        <a:spcBef>
                          <a:spcPts val="420"/>
                        </a:spcBef>
                      </a:pP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IEEE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TPS-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ISA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2024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–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Digital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Evidence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Chain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 spc="-2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of</a:t>
                      </a:r>
                      <a:r>
                        <a:rPr dirty="0" sz="1300" spc="-25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Custody</a:t>
                      </a:r>
                      <a:r>
                        <a:rPr dirty="0" u="sng" sz="1300" spc="-1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: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Navigating</a:t>
                      </a:r>
                      <a:r>
                        <a:rPr dirty="0" u="sng" sz="1300" spc="-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New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Realities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of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Digital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Forensics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4160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>
                        <a:lnSpc>
                          <a:spcPct val="100000"/>
                        </a:lnSpc>
                      </a:pPr>
                      <a:r>
                        <a:rPr dirty="0" sz="1200" spc="55">
                          <a:latin typeface="Arial MT"/>
                          <a:cs typeface="Arial MT"/>
                        </a:rPr>
                        <a:t>Digital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evidence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must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99390" marR="350520">
                        <a:lnSpc>
                          <a:spcPct val="114599"/>
                        </a:lnSpc>
                      </a:pPr>
                      <a:r>
                        <a:rPr dirty="0" sz="1200" spc="65">
                          <a:latin typeface="Arial MT"/>
                          <a:cs typeface="Arial MT"/>
                        </a:rPr>
                        <a:t>maintain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integrity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show </a:t>
                      </a:r>
                      <a:r>
                        <a:rPr dirty="0" sz="1200" spc="80"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5">
                          <a:latin typeface="Arial MT"/>
                          <a:cs typeface="Arial MT"/>
                        </a:rPr>
                        <a:t>handled.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8191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262890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 spc="75">
                          <a:latin typeface="Arial MT"/>
                          <a:cs typeface="Arial MT"/>
                        </a:rPr>
                        <a:t>Photo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fingerprint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+ </a:t>
                      </a:r>
                      <a:r>
                        <a:rPr dirty="0" sz="1200" spc="50">
                          <a:latin typeface="Arial MT"/>
                          <a:cs typeface="Arial MT"/>
                        </a:rPr>
                        <a:t>signature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85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chained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25">
                          <a:latin typeface="Arial MT"/>
                          <a:cs typeface="Arial MT"/>
                        </a:rPr>
                        <a:t>log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5938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</a:tr>
              <a:tr h="1351915">
                <a:tc>
                  <a:txBody>
                    <a:bodyPr/>
                    <a:lstStyle/>
                    <a:p>
                      <a:pPr marL="6502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500" spc="-30">
                          <a:latin typeface="Calibri"/>
                          <a:cs typeface="Calibri"/>
                        </a:rPr>
                        <a:t>Forensic</a:t>
                      </a:r>
                      <a:r>
                        <a:rPr dirty="0" sz="1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Science</a:t>
                      </a:r>
                      <a:r>
                        <a:rPr dirty="0" sz="1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30">
                          <a:latin typeface="Calibri"/>
                          <a:cs typeface="Calibri"/>
                        </a:rPr>
                        <a:t>International</a:t>
                      </a:r>
                      <a:r>
                        <a:rPr dirty="0" sz="1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2014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99390" marR="489584">
                        <a:lnSpc>
                          <a:spcPct val="115399"/>
                        </a:lnSpc>
                        <a:spcBef>
                          <a:spcPts val="620"/>
                        </a:spcBef>
                      </a:pP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Forensic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Science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International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2014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–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Real-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time</a:t>
                      </a:r>
                      <a:r>
                        <a:rPr dirty="0" sz="1300" spc="-2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quantitative</a:t>
                      </a:r>
                      <a:r>
                        <a:rPr dirty="0" u="sng" sz="1300" spc="-6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colorimetric</a:t>
                      </a:r>
                      <a:r>
                        <a:rPr dirty="0" u="sng" sz="1300" spc="-6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test</a:t>
                      </a:r>
                      <a:r>
                        <a:rPr dirty="0" u="sng" sz="1300" spc="-5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for</a:t>
                      </a:r>
                      <a:r>
                        <a:rPr dirty="0" u="sng" sz="1300" spc="-6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methamphetamine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detection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using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digital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and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mobile</a:t>
                      </a:r>
                      <a:r>
                        <a:rPr dirty="0" u="sng" sz="1300" spc="-7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phone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technolo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  <a:hlinkClick r:id="rId4"/>
                        </a:rPr>
                        <a:t>gy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1620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354965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mobile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phone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camera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can 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measure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drug-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test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colours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RGB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values.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6891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299720">
                        <a:lnSpc>
                          <a:spcPct val="114599"/>
                        </a:lnSpc>
                      </a:pPr>
                      <a:r>
                        <a:rPr dirty="0" sz="1200" spc="50">
                          <a:latin typeface="Arial MT"/>
                          <a:cs typeface="Arial MT"/>
                        </a:rPr>
                        <a:t>Our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app</a:t>
                      </a:r>
                      <a:r>
                        <a:rPr dirty="0" sz="12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reads</a:t>
                      </a:r>
                      <a:r>
                        <a:rPr dirty="0" sz="12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8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test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colour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number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</a:tr>
              <a:tr h="1581150">
                <a:tc>
                  <a:txBody>
                    <a:bodyPr/>
                    <a:lstStyle/>
                    <a:p>
                      <a:pPr marL="102298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Analytical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Chemistry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2016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99390" marR="518159">
                        <a:lnSpc>
                          <a:spcPct val="115399"/>
                        </a:lnSpc>
                        <a:spcBef>
                          <a:spcPts val="620"/>
                        </a:spcBef>
                      </a:pP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Analytical</a:t>
                      </a:r>
                      <a:r>
                        <a:rPr dirty="0" u="sng" sz="1300" spc="-6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Chemistry</a:t>
                      </a:r>
                      <a:r>
                        <a:rPr dirty="0" u="sng" sz="1300" spc="1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2016</a:t>
                      </a:r>
                      <a:r>
                        <a:rPr dirty="0" u="sng" sz="1300" spc="-6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–</a:t>
                      </a:r>
                      <a:r>
                        <a:rPr dirty="0" u="sng" sz="1300" spc="-6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Ob</a:t>
                      </a:r>
                      <a:r>
                        <a:rPr dirty="0" sz="1300">
                          <a:solidFill>
                            <a:srgbClr val="1F467B"/>
                          </a:solidFill>
                          <a:latin typeface="Arial MT"/>
                          <a:cs typeface="Arial MT"/>
                          <a:hlinkClick r:id="rId5"/>
                        </a:rPr>
                        <a:t>j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ective</a:t>
                      </a:r>
                      <a:r>
                        <a:rPr dirty="0" u="sng" sz="1300" spc="-6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Method</a:t>
                      </a:r>
                      <a:r>
                        <a:rPr dirty="0" u="sng" sz="1300" spc="-6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2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for</a:t>
                      </a:r>
                      <a:r>
                        <a:rPr dirty="0" sz="1300" spc="-25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Presumptive</a:t>
                      </a:r>
                      <a:r>
                        <a:rPr dirty="0" u="sng" sz="1300" spc="-1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Field-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Testing of</a:t>
                      </a:r>
                      <a:r>
                        <a:rPr dirty="0" u="sng" sz="1300" spc="-1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Illicit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Drug</a:t>
                      </a:r>
                      <a:r>
                        <a:rPr dirty="0" u="sng" sz="1300" spc="-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Possession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Using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Centrifugal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Microdevices</a:t>
                      </a:r>
                      <a:r>
                        <a:rPr dirty="0" u="sng" sz="1300" spc="-2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and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Smartphone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Analysis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1620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293370">
                        <a:lnSpc>
                          <a:spcPct val="114599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By-eye</a:t>
                      </a:r>
                      <a:r>
                        <a:rPr dirty="0" sz="120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colour</a:t>
                      </a:r>
                      <a:r>
                        <a:rPr dirty="0" sz="12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interpretation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subjective;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smartphone 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image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provide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objective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analysis.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App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gives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/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99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NEGATIVE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SURE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</a:tr>
              <a:tr h="1123315">
                <a:tc>
                  <a:txBody>
                    <a:bodyPr/>
                    <a:lstStyle/>
                    <a:p>
                      <a:pPr marL="101600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Digital</a:t>
                      </a:r>
                      <a:r>
                        <a:rPr dirty="0" sz="15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Discovery</a:t>
                      </a:r>
                      <a:r>
                        <a:rPr dirty="0" sz="15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2023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99390" marR="563880">
                        <a:lnSpc>
                          <a:spcPct val="115399"/>
                        </a:lnSpc>
                        <a:spcBef>
                          <a:spcPts val="920"/>
                        </a:spcBef>
                      </a:pP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Digital</a:t>
                      </a:r>
                      <a:r>
                        <a:rPr dirty="0" u="sng" sz="1300" spc="-6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Discovery</a:t>
                      </a:r>
                      <a:r>
                        <a:rPr dirty="0" u="sng" sz="1300" spc="1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2023</a:t>
                      </a:r>
                      <a:r>
                        <a:rPr dirty="0" u="sng" sz="1300" spc="-5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–</a:t>
                      </a:r>
                      <a:r>
                        <a:rPr dirty="0" u="sng" sz="1300" spc="-5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Teaching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old</a:t>
                      </a:r>
                      <a:r>
                        <a:rPr dirty="0" u="sng" sz="1300" spc="-8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presumptive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tests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new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digital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tricks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with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computer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vision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215900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 spc="70">
                          <a:latin typeface="Arial MT"/>
                          <a:cs typeface="Arial MT"/>
                        </a:rPr>
                        <a:t>Computer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vision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quantify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compare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colour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changes </a:t>
                      </a:r>
                      <a:r>
                        <a:rPr dirty="0" sz="1200" spc="95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look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0">
                          <a:latin typeface="Arial MT"/>
                          <a:cs typeface="Arial MT"/>
                        </a:rPr>
                        <a:t>similar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9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eye.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 marL="199390" marR="672465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 spc="70">
                          <a:latin typeface="Arial MT"/>
                          <a:cs typeface="Arial MT"/>
                        </a:rPr>
                        <a:t>App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shows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photo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colour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next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114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0">
                          <a:latin typeface="Arial MT"/>
                          <a:cs typeface="Arial MT"/>
                        </a:rPr>
                        <a:t>kit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colours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0254721" y="2259393"/>
            <a:ext cx="3196590" cy="3419475"/>
            <a:chOff x="10254721" y="2259393"/>
            <a:chExt cx="3196590" cy="3419475"/>
          </a:xfrm>
        </p:grpSpPr>
        <p:pic>
          <p:nvPicPr>
            <p:cNvPr id="6" name="object 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54721" y="2259393"/>
              <a:ext cx="2724149" cy="34194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016618" y="3785475"/>
              <a:ext cx="422909" cy="271780"/>
            </a:xfrm>
            <a:custGeom>
              <a:avLst/>
              <a:gdLst/>
              <a:ahLst/>
              <a:cxnLst/>
              <a:rect l="l" t="t" r="r" b="b"/>
              <a:pathLst>
                <a:path w="422909" h="271779">
                  <a:moveTo>
                    <a:pt x="287586" y="0"/>
                  </a:moveTo>
                  <a:lnTo>
                    <a:pt x="422783" y="136162"/>
                  </a:lnTo>
                </a:path>
                <a:path w="422909" h="271779">
                  <a:moveTo>
                    <a:pt x="422783" y="135505"/>
                  </a:moveTo>
                  <a:lnTo>
                    <a:pt x="287586" y="271663"/>
                  </a:lnTo>
                </a:path>
                <a:path w="422909" h="271779">
                  <a:moveTo>
                    <a:pt x="421220" y="135505"/>
                  </a:moveTo>
                  <a:lnTo>
                    <a:pt x="0" y="135505"/>
                  </a:lnTo>
                </a:path>
              </a:pathLst>
            </a:custGeom>
            <a:ln w="23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10659332" y="2462439"/>
            <a:ext cx="7150734" cy="6233160"/>
            <a:chOff x="10659332" y="2462439"/>
            <a:chExt cx="7150734" cy="6233160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9332" y="5980648"/>
              <a:ext cx="6410324" cy="27146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0682" y="2462439"/>
              <a:ext cx="1781174" cy="29908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066789" y="4235912"/>
              <a:ext cx="743070" cy="23495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52022" y="3785475"/>
              <a:ext cx="422909" cy="271780"/>
            </a:xfrm>
            <a:custGeom>
              <a:avLst/>
              <a:gdLst/>
              <a:ahLst/>
              <a:cxnLst/>
              <a:rect l="l" t="t" r="r" b="b"/>
              <a:pathLst>
                <a:path w="422909" h="271779">
                  <a:moveTo>
                    <a:pt x="287586" y="0"/>
                  </a:moveTo>
                  <a:lnTo>
                    <a:pt x="422783" y="136162"/>
                  </a:lnTo>
                </a:path>
                <a:path w="422909" h="271779">
                  <a:moveTo>
                    <a:pt x="422783" y="135505"/>
                  </a:moveTo>
                  <a:lnTo>
                    <a:pt x="287586" y="271663"/>
                  </a:lnTo>
                </a:path>
                <a:path w="422909" h="271779">
                  <a:moveTo>
                    <a:pt x="421220" y="135505"/>
                  </a:moveTo>
                  <a:lnTo>
                    <a:pt x="0" y="135505"/>
                  </a:lnTo>
                </a:path>
              </a:pathLst>
            </a:custGeom>
            <a:ln w="23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556622" y="2462439"/>
            <a:ext cx="1552574" cy="32099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083672" y="8933660"/>
            <a:ext cx="281495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40" b="1">
                <a:solidFill>
                  <a:srgbClr val="792E00"/>
                </a:solidFill>
                <a:latin typeface="Calibri"/>
                <a:cs typeface="Calibri"/>
              </a:rPr>
              <a:t>Prototype</a:t>
            </a:r>
            <a:r>
              <a:rPr dirty="0" sz="2300" spc="-8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300" spc="-25" b="1">
                <a:solidFill>
                  <a:srgbClr val="792E00"/>
                </a:solidFill>
                <a:latin typeface="Calibri"/>
                <a:cs typeface="Calibri"/>
              </a:rPr>
              <a:t>Demo</a:t>
            </a:r>
            <a:r>
              <a:rPr dirty="0" sz="2300" spc="-8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300" spc="-10" b="1">
                <a:solidFill>
                  <a:srgbClr val="792E00"/>
                </a:solidFill>
                <a:latin typeface="Calibri"/>
                <a:cs typeface="Calibri"/>
              </a:rPr>
              <a:t>Video: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920980" y="9238396"/>
            <a:ext cx="19685" cy="19050"/>
          </a:xfrm>
          <a:custGeom>
            <a:avLst/>
            <a:gdLst/>
            <a:ahLst/>
            <a:cxnLst/>
            <a:rect l="l" t="t" r="r" b="b"/>
            <a:pathLst>
              <a:path w="19684" h="19050">
                <a:moveTo>
                  <a:pt x="19655" y="19049"/>
                </a:moveTo>
                <a:lnTo>
                  <a:pt x="0" y="19049"/>
                </a:lnTo>
                <a:lnTo>
                  <a:pt x="0" y="0"/>
                </a:lnTo>
                <a:lnTo>
                  <a:pt x="19655" y="0"/>
                </a:lnTo>
                <a:lnTo>
                  <a:pt x="19655" y="19049"/>
                </a:lnTo>
                <a:close/>
              </a:path>
            </a:pathLst>
          </a:custGeom>
          <a:solidFill>
            <a:srgbClr val="006E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4150897" y="8939946"/>
            <a:ext cx="222821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100" spc="-35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Protot</a:t>
            </a:r>
            <a:r>
              <a:rPr dirty="0" sz="2100" spc="-35">
                <a:solidFill>
                  <a:srgbClr val="006EBF"/>
                </a:solidFill>
                <a:latin typeface="Calibri"/>
                <a:cs typeface="Calibri"/>
                <a:hlinkClick r:id="rId13"/>
              </a:rPr>
              <a:t>y</a:t>
            </a:r>
            <a:r>
              <a:rPr dirty="0" u="sng" sz="2100" spc="-35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pe</a:t>
            </a:r>
            <a:r>
              <a:rPr dirty="0" u="sng" sz="2100" spc="-65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dirty="0" u="sng" sz="2100" spc="-20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Video</a:t>
            </a:r>
            <a:r>
              <a:rPr dirty="0" u="sng" sz="2100" spc="-60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dirty="0" u="sng" sz="2100" spc="-20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Link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741435" y="8791826"/>
            <a:ext cx="644679" cy="64467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JERBIN M URK24CS1265</dc:creator>
  <cp:keywords>DAHVDURAeOo,BAGbmgv4leQ</cp:keywords>
  <dc:title>Problem Statement ID – 26034 Problem Statement Title- Software System to check compliance of packaged commodities under Legal Metrology (Packaged Commodities) Rules,2011 by scanning product images and labels. Theme- Miscellaneous PS Category- Software</dc:title>
  <dcterms:created xsi:type="dcterms:W3CDTF">2026-09-28T10:05:56Z</dcterms:created>
  <dcterms:modified xsi:type="dcterms:W3CDTF">2026-09-28T10:05:56Z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2026-09-28T00:00:00Z</vt:filetime>
  </property>
  <property fmtid="{D5CDD505-2E9C-101B-9397-08002B2CF9AE}" pid="6" name="Producer">
    <vt:lpwstr>Canva</vt:lpwstr>
  </property>
</Properties>
</file>
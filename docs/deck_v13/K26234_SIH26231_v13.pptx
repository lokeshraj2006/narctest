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3" name="Freeform 11"/>
          <p:cNvSpPr/>
          <p:nvPr/>
        </p:nvSpPr>
        <p:spPr>
          <a:xfrm>
            <a:off x="11842913" y="3858768"/>
            <a:ext cx="1063454" cy="1783080"/>
          </a:xfrm>
          <a:custGeom>
            <a:avLst/>
            <a:gdLst/>
            <a:ahLst/>
            <a:cxnLst/>
            <a:rect l="l" t="t" r="r" b="b"/>
            <a:pathLst>
              <a:path w="1782114" h="2988046">
                <a:moveTo>
                  <a:pt x="0" y="0"/>
                </a:moveTo>
                <a:lnTo>
                  <a:pt x="1782114" y="0"/>
                </a:lnTo>
                <a:lnTo>
                  <a:pt x="1782114" y="2988046"/>
                </a:lnTo>
                <a:lnTo>
                  <a:pt x="0" y="2988046"/>
                </a:lnTo>
                <a:lnTo>
                  <a:pt x="0" y="0"/>
                </a:lnTo>
                <a:close/>
              </a:path>
            </a:pathLst>
          </a:custGeom>
          <a:blipFill>
            <a:blip r:embed="rId10"/>
            <a:stretch>
              <a:fillRect t="-5017" b="-27519"/>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Test Log (right side) can search and filter by date, officer, kit and result, and download as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had 1,20,010 NDPS cases in 2023 (NCRB). Each needs a field test.</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7"/>
          <a:stretch>
            <a:fillRect/>
          </a:stretch>
        </p:blipFill>
        <p:spPr>
          <a:xfrm>
            <a:off x="9253728" y="6309360"/>
            <a:ext cx="5989320" cy="25828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4167065"/>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773293">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677824">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2476">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7824">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824">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7824">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around ₹10,000 for 3 months, for cards and server (rough estimate)</a:t>
            </a: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a:t>
            </a:r>
            <a:r>
              <a:rPr sz="1200" b="0" dirty="0">
                <a:solidFill>
                  <a:srgbClr val="555555"/>
                </a:solidFill>
                <a:latin typeface="Calibri"/>
              </a:rPr>
              <a:t>the cost can come from the state police or NCB IT budget.</a:t>
            </a:r>
          </a:p>
          <a:p>
            <a:r>
              <a:rPr sz="1200" b="0" dirty="0">
                <a:solidFill>
                  <a:srgbClr val="555555"/>
                </a:solidFill>
                <a:latin typeface="Calibri"/>
              </a:rPr>
              <a:t>No licence fee as it is open source, so running cost stays low.</a:t>
            </a:r>
            <a:r>
              <a:rPr sz="1200" b="0" dirty="0" err="1">
                <a:solidFill>
                  <a:srgbClr val="555555"/>
                </a:solidFill>
                <a:latin typeface="Calibri"/>
              </a:rPr>
              <a:t/>
            </a:r>
            <a:r>
              <a:rPr sz="1200" b="0" dirty="0">
                <a:solidFill>
                  <a:srgbClr val="555555"/>
                </a:solidFill>
                <a:latin typeface="Calibri"/>
              </a:rPr>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2354471"/>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15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 Test even without internet and sync data later.</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 Use the phone’s security chip to sign each test.</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our CSV export already has time, GPS, officer, result, photo hash and verify link. Linking with e-Sakshya and CCTNS needs NIC or MHA approval.</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 Compare field results with lab results to improve accuracy.</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Support Hindi and regional languages with voice assistance.</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1661190" cy="371475"/>
          </a:xfrm>
          <a:prstGeom prst="rect">
            <a:avLst/>
          </a:prstGeom>
        </p:spPr>
        <p:txBody>
          <a:bodyPr lIns="0" tIns="0" rIns="0" bIns="0" rtlCol="0" anchor="t">
            <a:spAutoFit/>
          </a:bodyPr>
          <a:lstStyle/>
          <a:p>
            <a:pPr algn="ctr">
              <a:lnSpc>
                <a:spcPts val="2608"/>
              </a:lnSpc>
              <a:spcBef>
                <a:spcPct val="0"/>
              </a:spcBef>
            </a:pPr>
            <a:r>
              <a:rPr lang="en-US" sz="2173" b="1" spc="-24">
                <a:solidFill>
                  <a:srgbClr val="974826"/>
                </a:solidFill>
                <a:latin typeface="Calibri"/>
                <a:ea typeface="Calibri"/>
                <a:cs typeface="Calibri"/>
                <a:sym typeface="Calibri"/>
              </a:rPr>
              <a:t>Future Scope</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
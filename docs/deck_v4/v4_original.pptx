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https://youtu.be/F1cuxlgMW2g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0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jpe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4.png" Type="http://schemas.openxmlformats.org/officeDocument/2006/relationships/image"/><Relationship Id="rId2" Target="../media/image10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https://pubmed.ncbi.nlm.nih.gov/28269432/" TargetMode="External" Type="http://schemas.openxmlformats.org/officeDocument/2006/relationships/hyperlink"/><Relationship Id="rId6" Target="https://www.researchgate.net/publication/386361522_Digital_Evidence_Chain_of_Custody_Navigating_New_Realities_of_Digital_Forensics" TargetMode="External" Type="http://schemas.openxmlformats.org/officeDocument/2006/relationships/hyperlink"/><Relationship Id="rId7" Target="https://www.researchgate.net/publication/259845901_Real_time_quantitative_colorimetric_test_for_methamphetamine_detection_using_digital_and_mobile_phone_technology" TargetMode="External" Type="http://schemas.openxmlformats.org/officeDocument/2006/relationships/hyperlink"/><Relationship Id="rId8" Target="https://nij.ojp.gov/library/publications/objective-method-presumptive-field-testing-illicit-drug-possession-using-0?utm_source=chatgpt.com" TargetMode="External" Type="http://schemas.openxmlformats.org/officeDocument/2006/relationships/hyperlink"/><Relationship Id="rId9" Target="https://pubs.rsc.org/dd/article/2/4/1143/804876/Teaching-old-presumptive-tests-new-digital-trick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1856872" y="290741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908" y="2734335"/>
            <a:ext cx="8392108" cy="4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b="true" sz="2933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279420" y="3775092"/>
            <a:ext cx="7084383" cy="3962853"/>
            <a:chOff x="0" y="0"/>
            <a:chExt cx="120906797" cy="6763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06803" cy="67632697"/>
            </a:xfrm>
            <a:custGeom>
              <a:avLst/>
              <a:gdLst/>
              <a:ahLst/>
              <a:cxnLst/>
              <a:rect r="r" b="b" t="t" l="l"/>
              <a:pathLst>
                <a:path h="67632697" w="120906803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378223" y="2565537"/>
            <a:ext cx="9228727" cy="830419"/>
          </a:xfrm>
          <a:custGeom>
            <a:avLst/>
            <a:gdLst/>
            <a:ahLst/>
            <a:cxnLst/>
            <a:rect r="r" b="b" t="t" l="l"/>
            <a:pathLst>
              <a:path h="830419" w="9228727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56" t="-554195" r="-92275" b="-1128926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1066800" y="5215584"/>
            <a:ext cx="7159819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093704" y="360907"/>
            <a:ext cx="75538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5399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028" y="2510484"/>
            <a:ext cx="704252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Office</a:t>
            </a: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rs mainly judge the kit’s colour change by looking at it, so lighting and personal judgement can affect the result.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There is no standard colour value to compare the test result with.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test does not always l</a:t>
            </a: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eave a clear digital record of who performed it, where, and when</a:t>
            </a: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making it harder to verify 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571" y="1963444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 spc="-27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28" y="5699790"/>
            <a:ext cx="6996848" cy="275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Check the Test - The mobile</a:t>
            </a: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app captures the colour change and helps check the result.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Record the Test - Saves the result along with the time, location, and Inspector ID.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Manage the Records - The admin</a:t>
            </a: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dashboard manages Inspe</a:t>
            </a: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ctors, test records, evidence, and reports.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571" y="5596584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 spc="-27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90113" y="3828208"/>
            <a:ext cx="14007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 spc="-27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3665" y="4303103"/>
            <a:ext cx="6335526" cy="3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Uses a low-cost col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card to improve colour detection under different lighting.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Handl</a:t>
            </a: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 Unclear Results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Blurry, shiny, or unclear images are marked INCONCLUSIVE instead of giving a wrong result.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Securely records the photo, GPS, time, and Inspector ID, with QR-based verification.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</a:t>
            </a: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orts Multiple Kits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New kit colour profiles can be added from the Admin website without changing the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447" y="1963444"/>
            <a:ext cx="18519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 spc="-27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Approach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399026" y="7974879"/>
            <a:ext cx="1320330" cy="1320330"/>
          </a:xfrm>
          <a:custGeom>
            <a:avLst/>
            <a:gdLst/>
            <a:ahLst/>
            <a:cxnLst/>
            <a:rect r="r" b="b" t="t" l="l"/>
            <a:pathLst>
              <a:path h="1320330" w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774266" y="8352476"/>
            <a:ext cx="278713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spc="-25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300" spc="-25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rototype Demo Video: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41649" y="8352476"/>
            <a:ext cx="219944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youtu.be/F1cuxlgMW2g"/>
              </a:rPr>
              <a:t>Prototype Video 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9120273" y="2317442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75656" y="2365906"/>
            <a:ext cx="8506261" cy="7198718"/>
          </a:xfrm>
          <a:custGeom>
            <a:avLst/>
            <a:gdLst/>
            <a:ahLst/>
            <a:cxnLst/>
            <a:rect r="r" b="b" t="t" l="l"/>
            <a:pathLst>
              <a:path h="7198718" w="8506261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-10560" r="-41196" b="-1792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33393" y="3206103"/>
            <a:ext cx="2374096" cy="5123386"/>
          </a:xfrm>
          <a:custGeom>
            <a:avLst/>
            <a:gdLst/>
            <a:ahLst/>
            <a:cxnLst/>
            <a:rect r="r" b="b" t="t" l="l"/>
            <a:pathLst>
              <a:path h="5123386" w="237409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659" t="-5244" r="-32335" b="-9439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15376592" y="2280181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242509" y="6878956"/>
            <a:ext cx="4012211" cy="2538128"/>
          </a:xfrm>
          <a:custGeom>
            <a:avLst/>
            <a:gdLst/>
            <a:ahLst/>
            <a:cxnLst/>
            <a:rect r="r" b="b" t="t" l="l"/>
            <a:pathLst>
              <a:path h="2538128" w="4012211">
                <a:moveTo>
                  <a:pt x="0" y="0"/>
                </a:moveTo>
                <a:lnTo>
                  <a:pt x="4012211" y="0"/>
                </a:lnTo>
                <a:lnTo>
                  <a:pt x="4012211" y="2538129"/>
                </a:lnTo>
                <a:lnTo>
                  <a:pt x="0" y="2538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5" t="-2803" r="-1836" b="-2540"/>
            </a:stretch>
          </a:blipFill>
        </p:spPr>
      </p:sp>
      <p:sp>
        <p:nvSpPr>
          <p:cNvPr name="TextBox 14" id="14" descr="$PPTXTitle"/>
          <p:cNvSpPr txBox="true"/>
          <p:nvPr/>
        </p:nvSpPr>
        <p:spPr>
          <a:xfrm rot="0">
            <a:off x="4732364" y="360750"/>
            <a:ext cx="826858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4563" y="2563902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 spc="-27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</a:t>
            </a:r>
            <a:r>
              <a:rPr lang="en-US" b="true" sz="2500" spc="-27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842031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 spc="-27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</a:t>
            </a:r>
            <a:r>
              <a:rPr lang="en-US" b="true" sz="2500" spc="-27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 Archi</a:t>
            </a:r>
            <a:r>
              <a:rPr lang="en-US" b="true" sz="2500" spc="-27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369" y="2251606"/>
            <a:ext cx="5761019" cy="326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Testing: 37 kit photos across 5 lighting conditions, 6 real phone photos.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25/25 controlled tests correct; 5/6 r</a:t>
            </a: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eal photos correct, with 1 marked “NOT SURE”.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Colour Ch</a:t>
            </a: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eck:</a:t>
            </a: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Used ΔE ≤ 14, 4-point colour matching, card-fit and glare thresholds.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Speed: Result secured in 2.5 s typically, 5 s maximum.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Tamper Test: All 4/4 modified records were detected successfully.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369" y="5611125"/>
            <a:ext cx="58850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true" spc="-18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Kit col</a:t>
            </a:r>
            <a:r>
              <a:rPr lang="en-US" sz="1700" i="true" spc="-18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ours are simulated swatches (test photos + card on a screen), real kits need an FSL calibration trial.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316" y="1842031"/>
            <a:ext cx="39006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500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Goals - Measured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31620" y="6497956"/>
            <a:ext cx="191849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24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 Card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248369" y="6354578"/>
            <a:ext cx="588500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363648" y="2318099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</a:t>
                      </a:r>
                      <a:r>
                        <a:rPr lang="en-US" b="true" sz="1899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Colou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Shiny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Fake photo or ed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Diff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Kit 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07858" y="6512926"/>
            <a:ext cx="5354622" cy="2987110"/>
          </a:xfrm>
          <a:custGeom>
            <a:avLst/>
            <a:gdLst/>
            <a:ahLst/>
            <a:cxnLst/>
            <a:rect r="r" b="b" t="t" l="l"/>
            <a:pathLst>
              <a:path h="2987110" w="5354622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99" t="-62172" r="-21685" b="-32345"/>
            </a:stretch>
          </a:blipFill>
        </p:spPr>
      </p:sp>
      <p:sp>
        <p:nvSpPr>
          <p:cNvPr name="TextBox 15" id="15" descr="$PPTXTitle"/>
          <p:cNvSpPr txBox="true"/>
          <p:nvPr/>
        </p:nvSpPr>
        <p:spPr>
          <a:xfrm rot="0">
            <a:off x="3963967" y="360907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9914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200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otential Challenges &amp; Strategies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18" id="18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791" y="6104165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Phased Implementation &amp; 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791" y="1809914"/>
            <a:ext cx="3064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  <a:r>
              <a:rPr lang="en-US" b="true" sz="2200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easibility &amp; Sustainability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55" y="2271877"/>
            <a:ext cx="8399396" cy="360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true" sz="1899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Core app tested with OpenCV-based colour analysis.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true" sz="1899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Capture o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 photo and get a result within seconds.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true" sz="1899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Uses an existing Android phone, a reusable ~₹10 colour card, and open-source tools.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true" sz="1899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</a:t>
            </a:r>
            <a:r>
              <a:rPr lang="en-US" b="true" sz="1899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erationa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 - Simple photo-based workflow with minimal training required.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true" sz="1899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Add new test-kit colour profiles through the Admin website without updating the app.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true" sz="1899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6749314"/>
            <a:ext cx="28301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2200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ost &amp; Deployment 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88924" y="7391299"/>
            <a:ext cx="1606622" cy="1880336"/>
            <a:chOff x="0" y="0"/>
            <a:chExt cx="27419684" cy="320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5719" y="7391299"/>
            <a:ext cx="1606622" cy="1880336"/>
            <a:chOff x="0" y="0"/>
            <a:chExt cx="27419684" cy="320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63316" y="7391299"/>
            <a:ext cx="1606622" cy="1880336"/>
            <a:chOff x="0" y="0"/>
            <a:chExt cx="27419684" cy="320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50913" y="7391299"/>
            <a:ext cx="1606622" cy="1880336"/>
            <a:chOff x="0" y="0"/>
            <a:chExt cx="27419684" cy="320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38511" y="7391299"/>
            <a:ext cx="1606622" cy="1880336"/>
            <a:chOff x="0" y="0"/>
            <a:chExt cx="27419684" cy="320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41073" y="7516404"/>
            <a:ext cx="5023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08175" y="7516404"/>
            <a:ext cx="94171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H</a:t>
            </a: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OSTING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26872" y="7516404"/>
            <a:ext cx="147951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MAINTENAN</a:t>
            </a: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589975" y="7516404"/>
            <a:ext cx="132849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DEPL</a:t>
            </a: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749345" y="7516404"/>
            <a:ext cx="58495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900" spc="-21">
                <a:solidFill>
                  <a:srgbClr val="974826"/>
                </a:solidFill>
                <a:latin typeface="Calibri (MS)"/>
                <a:ea typeface="Calibri (MS)"/>
                <a:cs typeface="Calibri (MS)"/>
                <a:sym typeface="Calibri (MS)"/>
              </a:rPr>
              <a:t>CALE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57881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an existing p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hone, ₹10 reusable colour card, and open-source software.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43196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Runs on g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overnment cloud for the app, database, and admin dashboard.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0598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Regular security upd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ates and easy kit-profile updates as needed.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1987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Start with a pilot, test in the fi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eld, then expand deployment.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29303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New test kits c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be added through the website without updating the app.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2866" y="2000650"/>
            <a:ext cx="9090296" cy="2418586"/>
            <a:chOff x="0" y="0"/>
            <a:chExt cx="180762863" cy="48094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762870" cy="48094196"/>
            </a:xfrm>
            <a:custGeom>
              <a:avLst/>
              <a:gdLst/>
              <a:ahLst/>
              <a:cxnLst/>
              <a:rect r="r" b="b" t="t" l="l"/>
              <a:pathLst>
                <a:path h="48094196" w="180762870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2566" y="4836047"/>
            <a:ext cx="4685447" cy="4615775"/>
          </a:xfrm>
          <a:custGeom>
            <a:avLst/>
            <a:gdLst/>
            <a:ahLst/>
            <a:cxnLst/>
            <a:rect r="r" b="b" t="t" l="l"/>
            <a:pathLst>
              <a:path h="4615775" w="4685447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649712" y="6078745"/>
            <a:ext cx="6735059" cy="3294534"/>
            <a:chOff x="0" y="0"/>
            <a:chExt cx="133928377" cy="65512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8383" cy="65512659"/>
            </a:xfrm>
            <a:custGeom>
              <a:avLst/>
              <a:gdLst/>
              <a:ahLst/>
              <a:cxnLst/>
              <a:rect r="r" b="b" t="t" l="l"/>
              <a:pathLst>
                <a:path h="65512659" w="133928383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1874657">
            <a:off x="4845967" y="5598832"/>
            <a:ext cx="1557904" cy="1324218"/>
          </a:xfrm>
          <a:custGeom>
            <a:avLst/>
            <a:gdLst/>
            <a:ahLst/>
            <a:cxnLst/>
            <a:rect r="r" b="b" t="t" l="l"/>
            <a:pathLst>
              <a:path h="1324218" w="1557904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24601" y="5010285"/>
            <a:ext cx="3418560" cy="4441537"/>
          </a:xfrm>
          <a:custGeom>
            <a:avLst/>
            <a:gdLst/>
            <a:ahLst/>
            <a:cxnLst/>
            <a:rect r="r" b="b" t="t" l="l"/>
            <a:pathLst>
              <a:path h="4441537" w="3418560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994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6" r="0" b="-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649712" y="2422585"/>
            <a:ext cx="6095839" cy="3360331"/>
          </a:xfrm>
          <a:custGeom>
            <a:avLst/>
            <a:gdLst/>
            <a:ahLst/>
            <a:cxnLst/>
            <a:rect r="r" b="b" t="t" l="l"/>
            <a:pathLst>
              <a:path h="3360331" w="6095839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 descr="$PPTXTitle"/>
          <p:cNvSpPr txBox="true"/>
          <p:nvPr/>
        </p:nvSpPr>
        <p:spPr>
          <a:xfrm rot="0">
            <a:off x="4912538" y="346300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5384" y="6512580"/>
            <a:ext cx="6689387" cy="27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ffline Mode - Test even without internet and sync data later.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Pho</a:t>
            </a: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 Security - Use the phone’s security chip to sign each test.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olice System Integration - Connect with e-Sakshya and CCTNS.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 Comparison - Compare field results with lab</a:t>
            </a: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results to improve accuracy.</a:t>
            </a:r>
          </a:p>
          <a:p>
            <a:pPr algn="l" marL="376968" indent="-188484" lvl="1">
              <a:lnSpc>
                <a:spcPts val="3125"/>
              </a:lnSpc>
              <a:buFont typeface="Arial"/>
              <a:buChar char="•"/>
            </a:pPr>
            <a:r>
              <a:rPr lang="en-US" sz="1746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Regional Languages - Support Hindi and regional languages with voice assistance.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2866" y="2433353"/>
            <a:ext cx="3762650" cy="17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Faster, more consist</a:t>
            </a:r>
            <a:r>
              <a:rPr lang="en-US" sz="1916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 testing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Less manual colour checking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INCONCLUSIVE when unclear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Easy digital test records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Quic</a:t>
            </a:r>
            <a:r>
              <a:rPr lang="en-US" sz="1916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 access to past test records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84113" y="2433353"/>
            <a:ext cx="5051078" cy="17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Proof of every t</a:t>
            </a:r>
            <a:r>
              <a:rPr lang="en-US" sz="1920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est: time, place, officer &amp; photo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and verifiable records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Less paperw</a:t>
            </a:r>
            <a:r>
              <a:rPr lang="en-US" sz="1920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ork with PDF &amp; QR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Easy search, reports and monitoring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field-test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4430" y="2079685"/>
            <a:ext cx="1919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true" sz="2059" spc="-22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Inspector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724" y="2085531"/>
            <a:ext cx="2355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true" sz="2059" spc="-22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Organisation 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0810" y="6141560"/>
            <a:ext cx="16611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b="true" sz="2173" spc="-24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49712" y="1962550"/>
            <a:ext cx="6946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true" sz="2059" spc="-22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 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73677" y="4553085"/>
            <a:ext cx="33024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true" sz="2059" spc="-22">
                <a:solidFill>
                  <a:srgbClr val="974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QR-Based Record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72930" y="2004329"/>
            <a:ext cx="2004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Geo-Tagged test result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76959" y="1930091"/>
          <a:ext cx="9260499" cy="7328209"/>
        </p:xfrm>
        <a:graphic>
          <a:graphicData uri="http://schemas.openxmlformats.org/drawingml/2006/table">
            <a:tbl>
              <a:tblPr/>
              <a:tblGrid>
                <a:gridCol w="4496388"/>
                <a:gridCol w="2602842"/>
                <a:gridCol w="2161269"/>
              </a:tblGrid>
              <a:tr h="7735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13560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299" u="sng">
                          <a:solidFill>
                            <a:srgbClr val="1F477B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5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3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299" u="sng">
                          <a:solidFill>
                            <a:srgbClr val="1F477B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6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60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299" u="sng">
                          <a:solidFill>
                            <a:srgbClr val="1F477B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7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52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 gives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299" u="sng">
                          <a:solidFill>
                            <a:srgbClr val="1F477B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8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8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299" u="sng">
                          <a:solidFill>
                            <a:srgbClr val="1F477B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9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10298439" y="2622971"/>
            <a:ext cx="2720876" cy="3416454"/>
          </a:xfrm>
          <a:custGeom>
            <a:avLst/>
            <a:gdLst/>
            <a:ahLst/>
            <a:cxnLst/>
            <a:rect r="r" b="b" t="t" l="l"/>
            <a:pathLst>
              <a:path h="3416454" w="2720876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699" r="0" b="-7027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03049" y="6344225"/>
            <a:ext cx="6414433" cy="2714824"/>
          </a:xfrm>
          <a:custGeom>
            <a:avLst/>
            <a:gdLst/>
            <a:ahLst/>
            <a:cxnLst/>
            <a:rect r="r" b="b" t="t" l="l"/>
            <a:pathLst>
              <a:path h="2714824" w="6414433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643" r="-1398" b="-2927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00340" y="2826016"/>
            <a:ext cx="1553035" cy="3213409"/>
          </a:xfrm>
          <a:custGeom>
            <a:avLst/>
            <a:gdLst/>
            <a:ahLst/>
            <a:cxnLst/>
            <a:rect r="r" b="b" t="t" l="l"/>
            <a:pathLst>
              <a:path h="3213409" w="1553035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4065" r="0" b="-333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34400" y="2826016"/>
            <a:ext cx="1782114" cy="2988046"/>
          </a:xfrm>
          <a:custGeom>
            <a:avLst/>
            <a:gdLst/>
            <a:ahLst/>
            <a:cxnLst/>
            <a:rect r="r" b="b" t="t" l="l"/>
            <a:pathLst>
              <a:path h="2988046" w="1782114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017" r="0" b="-2751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47890" y="4137246"/>
            <a:ext cx="451106" cy="295474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07373" y="4597599"/>
            <a:ext cx="756603" cy="2364385"/>
          </a:xfrm>
          <a:custGeom>
            <a:avLst/>
            <a:gdLst/>
            <a:ahLst/>
            <a:cxnLst/>
            <a:rect r="r" b="b" t="t" l="l"/>
            <a:pathLst>
              <a:path h="2364385" w="756603">
                <a:moveTo>
                  <a:pt x="0" y="0"/>
                </a:moveTo>
                <a:lnTo>
                  <a:pt x="756603" y="0"/>
                </a:lnTo>
                <a:lnTo>
                  <a:pt x="756603" y="2364384"/>
                </a:lnTo>
                <a:lnTo>
                  <a:pt x="0" y="23643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83294" y="4137246"/>
            <a:ext cx="451106" cy="295474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 descr="$PPTXTitle"/>
          <p:cNvSpPr txBox="true"/>
          <p:nvPr/>
        </p:nvSpPr>
        <p:spPr>
          <a:xfrm rot="0">
            <a:off x="3660096" y="346300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27536" y="2843372"/>
            <a:ext cx="128990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EMBC 2016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60097" y="4195922"/>
            <a:ext cx="142477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TPS-ISA 2024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6285" y="5298085"/>
            <a:ext cx="267240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Forensic Science 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International 2014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261" y="6650635"/>
            <a:ext cx="19642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Analytical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Chemistry 2016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96937" y="8193685"/>
            <a:ext cx="167767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Discovery 2023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98439" y="2022896"/>
            <a:ext cx="677691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F</a:t>
            </a:r>
            <a:r>
              <a:rPr lang="en-US" b="true" sz="2200">
                <a:solidFill>
                  <a:srgbClr val="7A2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- </a:t>
            </a:r>
            <a:r>
              <a:rPr lang="en-US" sz="2200">
                <a:solidFill>
                  <a:srgbClr val="202020"/>
                </a:solidFill>
                <a:latin typeface="Calibri (MS)"/>
                <a:ea typeface="Calibri (MS)"/>
                <a:cs typeface="Calibri (MS)"/>
                <a:sym typeface="Calibri (MS)"/>
              </a:rPr>
              <a:t>real screenshots of our working prototype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
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media/image1.svg" ContentType="image/svg+xml"/>
  <Override PartName="/ppt/media/image12.svg" ContentType="image/svg+xml"/>
  <Override PartName="/ppt/media/image19.svg" ContentType="image/svg+xml"/>
  <Override PartName="/ppt/media/image5.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8"/>
  </p:notesMasterIdLst>
  <p:sldIdLst>
    <p:sldId id="256" r:id="rId2"/>
    <p:sldId id="257" r:id="rId3"/>
    <p:sldId id="258" r:id="rId4"/>
    <p:sldId id="259" r:id="rId5"/>
    <p:sldId id="260" r:id="rId6"/>
    <p:sldId id="261" r:id="rId7"/>
  </p:sldIdLst>
  <p:sldSz cx="18288000" cy="10287000"/>
  <p:notesSz cx="6858000" cy="9144000"/>
  <p:embeddedFontLst>
    <p:embeddedFont>
      <p:font typeface="Arimo" panose="020B0604020202020204" charset="0"/>
      <p:regular r:id="rId9"/>
    </p:embeddedFont>
    <p:embeddedFont>
      <p:font typeface="Times New Roman Bold" panose="02020803070505020304" pitchFamily="18" charset="0"/>
      <p:regular r:id="rId10"/>
      <p:bold r:id="rId11"/>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56" d="100"/>
          <a:sy n="56" d="100"/>
        </p:scale>
        <p:origin x="610" y="62"/>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notesMaster" Target="notesMasters/notesMaster1.xml"/><Relationship Id="rId9" Type="http://schemas.openxmlformats.org/officeDocument/2006/relationships/font" Target="fonts/font1.fntdata"/><Relationship Id="rId10" Type="http://schemas.openxmlformats.org/officeDocument/2006/relationships/font" Target="fonts/font2.fntdata"/><Relationship Id="rId11" Type="http://schemas.openxmlformats.org/officeDocument/2006/relationships/font" Target="fonts/font3.fntdata"/><Relationship Id="rId12" Type="http://schemas.openxmlformats.org/officeDocument/2006/relationships/presProps" Target="presProps.xml"/><Relationship Id="rId13" Type="http://schemas.openxmlformats.org/officeDocument/2006/relationships/viewProps" Target="viewProps.xml"/><Relationship Id="rId14" Type="http://schemas.openxmlformats.org/officeDocument/2006/relationships/theme" Target="theme/theme1.xml"/><Relationship Id="rId15"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3281464-4D67-430D-AE87-8B562290D65B}" type="datetimeFigureOut">
              <a:rPr lang="en-IN" smtClean="0"/>
              <a:t>29-09-2026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9430427-9B06-49C5-890C-530BB4EB820D}" type="slidenum">
              <a:rPr lang="en-IN" smtClean="0"/>
              <a:t>‹#›</a:t>
            </a:fld>
            <a:endParaRPr lang="en-IN"/>
          </a:p>
        </p:txBody>
      </p:sp>
    </p:spTree>
    <p:extLst>
      <p:ext uri="{BB962C8B-B14F-4D97-AF65-F5344CB8AC3E}">
        <p14:creationId xmlns:p14="http://schemas.microsoft.com/office/powerpoint/2010/main" val="198212699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dirty="0"/>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9/29/2026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9/29/2026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9/29/2026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9/29/2026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9/29/2026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9/29/2026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9/29/2026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9/29/2026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9/29/2026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9/29/2026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9/29/2026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9/29/2026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svg"/><Relationship Id="rId3" Type="http://schemas.openxmlformats.org/officeDocument/2006/relationships/image" Target="../media/image2.png"/><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image" Target="../media/image5.svg"/><Relationship Id="rId4" Type="http://schemas.openxmlformats.org/officeDocument/2006/relationships/image" Target="../media/image3.png"/><Relationship Id="rId5" Type="http://schemas.openxmlformats.org/officeDocument/2006/relationships/image" Target="../media/image6.png"/><Relationship Id="rId6" Type="http://schemas.openxmlformats.org/officeDocument/2006/relationships/image" Target="../media/image7.png"/><Relationship Id="rId7" Type="http://schemas.openxmlformats.org/officeDocument/2006/relationships/hyperlink" Target="https://youtu.be/F1cuxlgMW2g" TargetMode="External"/><Relationship Id="rId8" Type="http://schemas.openxmlformats.org/officeDocument/2006/relationships/image" Target="../media/image8.png"/><Relationship Id="rId9" Type="http://schemas.openxmlformats.org/officeDocument/2006/relationships/image" Target="../media/image9.png"/><Relationship Id="rId10" Type="http://schemas.openxmlformats.org/officeDocument/2006/relationships/image" Target="../media/image10.png"/><Relationship Id="rId11" Type="http://schemas.openxmlformats.org/officeDocument/2006/relationships/image" Target="../media/image11.png"/><Relationship Id="rId12" Type="http://schemas.openxmlformats.org/officeDocument/2006/relationships/image" Target="../media/image12.svg"/><Relationship Id="rId13" Type="http://schemas.openxmlformats.org/officeDocument/2006/relationships/image" Target="../media/image23.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 Id="rId3" Type="http://schemas.openxmlformats.org/officeDocument/2006/relationships/image" Target="../media/image5.svg"/><Relationship Id="rId4" Type="http://schemas.openxmlformats.org/officeDocument/2006/relationships/image" Target="../media/image14.png"/><Relationship Id="rId5" Type="http://schemas.openxmlformats.org/officeDocument/2006/relationships/image" Target="../media/image3.png"/><Relationship Id="rId6" Type="http://schemas.openxmlformats.org/officeDocument/2006/relationships/image" Target="../media/image15.png"/><Relationship Id="rId7" Type="http://schemas.openxmlformats.org/officeDocument/2006/relationships/image" Target="../media/image16.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 Id="rId3" Type="http://schemas.openxmlformats.org/officeDocument/2006/relationships/image" Target="../media/image5.svg"/><Relationship Id="rId4" Type="http://schemas.openxmlformats.org/officeDocument/2006/relationships/image" Target="../media/image17.png"/><Relationship Id="rId5" Type="http://schemas.openxmlformats.org/officeDocument/2006/relationships/image" Target="../media/image3.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 Id="rId3" Type="http://schemas.openxmlformats.org/officeDocument/2006/relationships/image" Target="../media/image13.png"/><Relationship Id="rId4" Type="http://schemas.openxmlformats.org/officeDocument/2006/relationships/image" Target="../media/image5.svg"/><Relationship Id="rId5" Type="http://schemas.openxmlformats.org/officeDocument/2006/relationships/image" Target="../media/image18.png"/><Relationship Id="rId6" Type="http://schemas.openxmlformats.org/officeDocument/2006/relationships/image" Target="../media/image19.svg"/><Relationship Id="rId7" Type="http://schemas.openxmlformats.org/officeDocument/2006/relationships/image" Target="../media/image20.jpeg"/><Relationship Id="rId8" Type="http://schemas.openxmlformats.org/officeDocument/2006/relationships/image" Target="../media/image3.png"/><Relationship Id="rId9" Type="http://schemas.openxmlformats.org/officeDocument/2006/relationships/image" Target="../media/image21.png"/><Relationship Id="rId10" Type="http://schemas.openxmlformats.org/officeDocument/2006/relationships/image" Target="../media/image2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 Id="rId3" Type="http://schemas.openxmlformats.org/officeDocument/2006/relationships/image" Target="../media/image5.svg"/><Relationship Id="rId4" Type="http://schemas.openxmlformats.org/officeDocument/2006/relationships/hyperlink" Target="https://doi.org/10.1109/TPS-ISA62245.2024.00012" TargetMode="External"/><Relationship Id="rId5" Type="http://schemas.openxmlformats.org/officeDocument/2006/relationships/hyperlink" Target="https://doi.org/10.1016/j.forsciint.2013.11.018" TargetMode="External"/><Relationship Id="rId6" Type="http://schemas.openxmlformats.org/officeDocument/2006/relationships/hyperlink" Target="https://doi.org/10.1021/acs.analchem.6b01982" TargetMode="External"/><Relationship Id="rId7" Type="http://schemas.openxmlformats.org/officeDocument/2006/relationships/hyperlink" Target="https://doi.org/10.1039/D3DD00066D" TargetMode="External"/><Relationship Id="rId9" Type="http://schemas.openxmlformats.org/officeDocument/2006/relationships/image" Target="../media/image3.png"/><Relationship Id="rId10" Type="http://schemas.openxmlformats.org/officeDocument/2006/relationships/hyperlink" Target="https://doi.org/10.1109/EMBC.2016.7591895"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8485632" y="1277874"/>
            <a:ext cx="6958965" cy="7731443"/>
          </a:xfrm>
          <a:custGeom>
            <a:avLst/>
            <a:gdLst/>
            <a:ahLst/>
            <a:cxnLst/>
            <a:rect l="l" t="t" r="r" b="b"/>
            <a:pathLst>
              <a:path w="6958965" h="7731443">
                <a:moveTo>
                  <a:pt x="0" y="0"/>
                </a:moveTo>
                <a:lnTo>
                  <a:pt x="6958965" y="0"/>
                </a:lnTo>
                <a:lnTo>
                  <a:pt x="6958965" y="7731443"/>
                </a:lnTo>
                <a:lnTo>
                  <a:pt x="0" y="7731443"/>
                </a:lnTo>
                <a:lnTo>
                  <a:pt x="0" y="0"/>
                </a:lnTo>
                <a:close/>
              </a:path>
            </a:pathLst>
          </a:custGeom>
          <a:blipFill>
            <a:blip>
              <a:extLst>
                <a:ext uri="{96DAC541-7B7A-43D3-8B79-37D633B846F1}">
                  <asvg:svgBlip xmlns:asvg="http://schemas.microsoft.com/office/drawing/2016/SVG/main" r:embed="rId2"/>
                </a:ext>
              </a:extLst>
            </a:blip>
            <a:stretch>
              <a:fillRect/>
            </a:stretch>
          </a:blipFill>
        </p:spPr>
      </p:sp>
      <p:grpSp>
        <p:nvGrpSpPr>
          <p:cNvPr id="3" name="Group 3"/>
          <p:cNvGrpSpPr/>
          <p:nvPr/>
        </p:nvGrpSpPr>
        <p:grpSpPr>
          <a:xfrm>
            <a:off x="10728198" y="2119122"/>
            <a:ext cx="4805172" cy="5138928"/>
            <a:chOff x="0" y="0"/>
            <a:chExt cx="6406896" cy="6851904"/>
          </a:xfrm>
        </p:grpSpPr>
        <p:sp>
          <p:nvSpPr>
            <p:cNvPr id="4" name="Freeform 4"/>
            <p:cNvSpPr/>
            <p:nvPr/>
          </p:nvSpPr>
          <p:spPr>
            <a:xfrm>
              <a:off x="0" y="0"/>
              <a:ext cx="6406896" cy="6851904"/>
            </a:xfrm>
            <a:custGeom>
              <a:avLst/>
              <a:gdLst/>
              <a:ahLst/>
              <a:cxnLst/>
              <a:rect l="l" t="t" r="r" b="b"/>
              <a:pathLst>
                <a:path w="6406896" h="6851904">
                  <a:moveTo>
                    <a:pt x="0" y="0"/>
                  </a:moveTo>
                  <a:lnTo>
                    <a:pt x="6406896" y="0"/>
                  </a:lnTo>
                  <a:lnTo>
                    <a:pt x="6406896" y="6851904"/>
                  </a:lnTo>
                  <a:lnTo>
                    <a:pt x="0" y="6851904"/>
                  </a:lnTo>
                  <a:lnTo>
                    <a:pt x="0" y="0"/>
                  </a:lnTo>
                  <a:close/>
                </a:path>
              </a:pathLst>
            </a:custGeom>
            <a:blipFill>
              <a:blip r:embed="rId3"/>
              <a:stretch>
                <a:fillRect l="-46" r="-47"/>
              </a:stretch>
            </a:blipFill>
          </p:spPr>
        </p:sp>
      </p:grpSp>
      <p:sp>
        <p:nvSpPr>
          <p:cNvPr id="5" name="TextBox 5" descr="$PPTXTitle"/>
          <p:cNvSpPr txBox="1"/>
          <p:nvPr/>
        </p:nvSpPr>
        <p:spPr>
          <a:xfrm>
            <a:off x="1856872" y="290741"/>
            <a:ext cx="12130088" cy="978532"/>
          </a:xfrm>
          <a:prstGeom prst="rect">
            <a:avLst/>
          </a:prstGeom>
        </p:spPr>
        <p:txBody>
          <a:bodyPr lIns="0" tIns="0" rIns="0" bIns="0" rtlCol="0" anchor="t">
            <a:spAutoFit/>
          </a:bodyPr>
          <a:lstStyle/>
          <a:p>
            <a:pPr algn="l">
              <a:lnSpc>
                <a:spcPts val="7200"/>
              </a:lnSpc>
            </a:pPr>
            <a:r>
              <a:rPr lang="en-US" sz="6000" b="1" spc="-15">
                <a:solidFill>
                  <a:srgbClr val="1F477B"/>
                </a:solidFill>
                <a:latin typeface="Times New Roman Bold"/>
                <a:ea typeface="Times New Roman Bold"/>
                <a:cs typeface="Times New Roman Bold"/>
                <a:sym typeface="Times New Roman Bold"/>
              </a:rPr>
              <a:t>SMART INDIA HACKATHON 2026</a:t>
            </a:r>
          </a:p>
        </p:txBody>
      </p:sp>
      <p:sp>
        <p:nvSpPr>
          <p:cNvPr id="6" name="TextBox 6"/>
          <p:cNvSpPr txBox="1"/>
          <p:nvPr/>
        </p:nvSpPr>
        <p:spPr>
          <a:xfrm>
            <a:off x="1615908" y="2734335"/>
            <a:ext cx="8392108" cy="4947420"/>
          </a:xfrm>
          <a:prstGeom prst="rect">
            <a:avLst/>
          </a:prstGeom>
        </p:spPr>
        <p:txBody>
          <a:bodyPr lIns="0" tIns="0" rIns="0" bIns="0" rtlCol="0" anchor="t">
            <a:spAutoFit/>
          </a:bodyPr>
          <a:lstStyle/>
          <a:p>
            <a:pPr algn="just">
              <a:lnSpc>
                <a:spcPts val="5668"/>
              </a:lnSpc>
            </a:pPr>
            <a:r>
              <a:rPr lang="en-US" sz="2936" b="1">
                <a:solidFill>
                  <a:srgbClr val="0D0D0D"/>
                </a:solidFill>
                <a:latin typeface="Times New Roman Bold"/>
                <a:ea typeface="Times New Roman Bold"/>
                <a:cs typeface="Times New Roman Bold"/>
                <a:sym typeface="Times New Roman Bold"/>
              </a:rPr>
              <a:t>Problem Statement ID - </a:t>
            </a:r>
            <a:r>
              <a:rPr lang="en-US" sz="2936">
                <a:solidFill>
                  <a:srgbClr val="0D0D0D"/>
                </a:solidFill>
                <a:latin typeface="Times New Roman"/>
                <a:ea typeface="Times New Roman"/>
                <a:cs typeface="Times New Roman"/>
                <a:sym typeface="Times New Roman"/>
              </a:rPr>
              <a:t>26231</a:t>
            </a:r>
          </a:p>
          <a:p>
            <a:pPr algn="just">
              <a:lnSpc>
                <a:spcPts val="5661"/>
              </a:lnSpc>
            </a:pPr>
            <a:r>
              <a:rPr lang="en-US" sz="2933" b="1">
                <a:solidFill>
                  <a:srgbClr val="0D0D0D"/>
                </a:solidFill>
                <a:latin typeface="Times New Roman Bold"/>
                <a:ea typeface="Times New Roman Bold"/>
                <a:cs typeface="Times New Roman Bold"/>
                <a:sym typeface="Times New Roman Bold"/>
              </a:rPr>
              <a:t>Problem Statement Title -</a:t>
            </a:r>
            <a:r>
              <a:rPr lang="en-US" sz="2933">
                <a:solidFill>
                  <a:srgbClr val="0D0D0D"/>
                </a:solidFill>
                <a:latin typeface="Times New Roman"/>
                <a:ea typeface="Times New Roman"/>
                <a:cs typeface="Times New Roman"/>
                <a:sym typeface="Times New Roman"/>
              </a:rPr>
              <a:t>Digital Companion for Field Drug Testing</a:t>
            </a:r>
          </a:p>
          <a:p>
            <a:pPr algn="just">
              <a:lnSpc>
                <a:spcPts val="5668"/>
              </a:lnSpc>
            </a:pPr>
            <a:r>
              <a:rPr lang="en-US" sz="2936" b="1" spc="-14">
                <a:solidFill>
                  <a:srgbClr val="0D0D0D"/>
                </a:solidFill>
                <a:latin typeface="Times New Roman Bold"/>
                <a:ea typeface="Times New Roman Bold"/>
                <a:cs typeface="Times New Roman Bold"/>
                <a:sym typeface="Times New Roman Bold"/>
              </a:rPr>
              <a:t>Theme - </a:t>
            </a:r>
            <a:r>
              <a:rPr lang="en-US" sz="2936" spc="-14">
                <a:solidFill>
                  <a:srgbClr val="0D0D0D"/>
                </a:solidFill>
                <a:latin typeface="Times New Roman"/>
                <a:ea typeface="Times New Roman"/>
                <a:cs typeface="Times New Roman"/>
                <a:sym typeface="Times New Roman"/>
              </a:rPr>
              <a:t>MedTech / BioTech / HealthTech</a:t>
            </a:r>
          </a:p>
          <a:p>
            <a:pPr algn="just">
              <a:lnSpc>
                <a:spcPts val="5668"/>
              </a:lnSpc>
            </a:pPr>
            <a:r>
              <a:rPr lang="en-US" sz="2936" b="1" spc="-14">
                <a:solidFill>
                  <a:srgbClr val="0D0D0D"/>
                </a:solidFill>
                <a:latin typeface="Times New Roman Bold"/>
                <a:ea typeface="Times New Roman Bold"/>
                <a:cs typeface="Times New Roman Bold"/>
                <a:sym typeface="Times New Roman Bold"/>
              </a:rPr>
              <a:t>PS Category - </a:t>
            </a:r>
            <a:r>
              <a:rPr lang="en-US" sz="2936" spc="-14">
                <a:solidFill>
                  <a:srgbClr val="0D0D0D"/>
                </a:solidFill>
                <a:latin typeface="Times New Roman"/>
                <a:ea typeface="Times New Roman"/>
                <a:cs typeface="Times New Roman"/>
                <a:sym typeface="Times New Roman"/>
              </a:rPr>
              <a:t>Software</a:t>
            </a:r>
          </a:p>
          <a:p>
            <a:pPr algn="just">
              <a:lnSpc>
                <a:spcPts val="5668"/>
              </a:lnSpc>
            </a:pPr>
            <a:r>
              <a:rPr lang="en-US" sz="2936" b="1" spc="-44">
                <a:solidFill>
                  <a:srgbClr val="0D0D0D"/>
                </a:solidFill>
                <a:latin typeface="Times New Roman Bold"/>
                <a:ea typeface="Times New Roman Bold"/>
                <a:cs typeface="Times New Roman Bold"/>
                <a:sym typeface="Times New Roman Bold"/>
              </a:rPr>
              <a:t>Team ID - </a:t>
            </a:r>
            <a:r>
              <a:rPr lang="en-US" sz="2936" spc="-44">
                <a:solidFill>
                  <a:srgbClr val="0D0D0D"/>
                </a:solidFill>
                <a:latin typeface="Times New Roman"/>
                <a:ea typeface="Times New Roman"/>
                <a:cs typeface="Times New Roman"/>
                <a:sym typeface="Times New Roman"/>
              </a:rPr>
              <a:t>K26234</a:t>
            </a:r>
          </a:p>
          <a:p>
            <a:pPr algn="just">
              <a:lnSpc>
                <a:spcPts val="5668"/>
              </a:lnSpc>
            </a:pPr>
            <a:r>
              <a:rPr lang="en-US" sz="2936" b="1" spc="-44">
                <a:solidFill>
                  <a:srgbClr val="0D0D0D"/>
                </a:solidFill>
                <a:latin typeface="Times New Roman Bold"/>
                <a:ea typeface="Times New Roman Bold"/>
                <a:cs typeface="Times New Roman Bold"/>
                <a:sym typeface="Times New Roman Bold"/>
              </a:rPr>
              <a:t>Team Name - </a:t>
            </a:r>
            <a:r>
              <a:rPr lang="en-US" sz="2936" spc="-44">
                <a:solidFill>
                  <a:srgbClr val="0D0D0D"/>
                </a:solidFill>
                <a:latin typeface="Times New Roman"/>
                <a:ea typeface="Times New Roman"/>
                <a:cs typeface="Times New Roman"/>
                <a:sym typeface="Times New Roman"/>
              </a:rPr>
              <a:t>HexTech</a:t>
            </a:r>
          </a:p>
        </p:txBody>
      </p:sp>
      <p:grpSp>
        <p:nvGrpSpPr>
          <p:cNvPr id="7" name="Group 7"/>
          <p:cNvGrpSpPr/>
          <p:nvPr/>
        </p:nvGrpSpPr>
        <p:grpSpPr>
          <a:xfrm>
            <a:off x="14720116" y="33423"/>
            <a:ext cx="3287373" cy="1531268"/>
            <a:chOff x="0" y="0"/>
            <a:chExt cx="4383164" cy="2041690"/>
          </a:xfrm>
        </p:grpSpPr>
        <p:sp>
          <p:nvSpPr>
            <p:cNvPr id="8" name="Freeform 8"/>
            <p:cNvSpPr/>
            <p:nvPr/>
          </p:nvSpPr>
          <p:spPr>
            <a:xfrm>
              <a:off x="0" y="0"/>
              <a:ext cx="4383151" cy="2041652"/>
            </a:xfrm>
            <a:custGeom>
              <a:avLst/>
              <a:gdLst/>
              <a:ahLst/>
              <a:cxnLst/>
              <a:rect l="l" t="t" r="r" b="b"/>
              <a:pathLst>
                <a:path w="4383151" h="2041652">
                  <a:moveTo>
                    <a:pt x="0" y="0"/>
                  </a:moveTo>
                  <a:lnTo>
                    <a:pt x="4383151" y="0"/>
                  </a:lnTo>
                  <a:lnTo>
                    <a:pt x="4383151" y="2041652"/>
                  </a:lnTo>
                  <a:lnTo>
                    <a:pt x="0" y="2041652"/>
                  </a:lnTo>
                  <a:lnTo>
                    <a:pt x="0" y="0"/>
                  </a:lnTo>
                  <a:close/>
                </a:path>
              </a:pathLst>
            </a:custGeom>
            <a:blipFill>
              <a:blip r:embed="rId4"/>
              <a:stretch>
                <a:fillRect t="-106" b="-108"/>
              </a:stretch>
            </a:blipFill>
          </p:spPr>
        </p:sp>
      </p:gr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9564624"/>
            <a:ext cx="18284571" cy="718937"/>
            <a:chOff x="0" y="0"/>
            <a:chExt cx="24379428" cy="958583"/>
          </a:xfrm>
        </p:grpSpPr>
        <p:sp>
          <p:nvSpPr>
            <p:cNvPr id="3" name="Freeform 3"/>
            <p:cNvSpPr/>
            <p:nvPr/>
          </p:nvSpPr>
          <p:spPr>
            <a:xfrm>
              <a:off x="0" y="0"/>
              <a:ext cx="24379428" cy="958596"/>
            </a:xfrm>
            <a:custGeom>
              <a:avLst/>
              <a:gdLst/>
              <a:ahLst/>
              <a:cxnLst/>
              <a:rect l="l" t="t" r="r" b="b"/>
              <a:pathLst>
                <a:path w="24379428" h="958596">
                  <a:moveTo>
                    <a:pt x="0" y="0"/>
                  </a:moveTo>
                  <a:lnTo>
                    <a:pt x="24379428" y="0"/>
                  </a:lnTo>
                  <a:lnTo>
                    <a:pt x="24379428" y="958596"/>
                  </a:lnTo>
                  <a:lnTo>
                    <a:pt x="0" y="958596"/>
                  </a:lnTo>
                  <a:lnTo>
                    <a:pt x="0" y="0"/>
                  </a:lnTo>
                  <a:close/>
                </a:path>
              </a:pathLst>
            </a:custGeom>
            <a:blipFill>
              <a:blip r:embed="rId2"/>
              <a:stretch>
                <a:fillRect t="-64" b="-62"/>
              </a:stretch>
            </a:blipFill>
          </p:spPr>
        </p:sp>
      </p:grpSp>
      <p:grpSp>
        <p:nvGrpSpPr>
          <p:cNvPr id="4" name="Group 4"/>
          <p:cNvGrpSpPr/>
          <p:nvPr/>
        </p:nvGrpSpPr>
        <p:grpSpPr>
          <a:xfrm>
            <a:off x="0" y="9532144"/>
            <a:ext cx="18288000" cy="755332"/>
            <a:chOff x="0" y="0"/>
            <a:chExt cx="24384000" cy="1007110"/>
          </a:xfrm>
        </p:grpSpPr>
        <p:sp>
          <p:nvSpPr>
            <p:cNvPr id="5" name="Freeform 5"/>
            <p:cNvSpPr/>
            <p:nvPr/>
          </p:nvSpPr>
          <p:spPr>
            <a:xfrm>
              <a:off x="0" y="0"/>
              <a:ext cx="24384000" cy="1006475"/>
            </a:xfrm>
            <a:custGeom>
              <a:avLst/>
              <a:gdLst/>
              <a:ahLst/>
              <a:cxnLst/>
              <a:rect l="l" t="t" r="r" b="b"/>
              <a:pathLst>
                <a:path w="24384000" h="1006475">
                  <a:moveTo>
                    <a:pt x="24384000" y="0"/>
                  </a:moveTo>
                  <a:lnTo>
                    <a:pt x="0" y="0"/>
                  </a:lnTo>
                  <a:lnTo>
                    <a:pt x="0" y="1006475"/>
                  </a:lnTo>
                  <a:lnTo>
                    <a:pt x="24384000" y="1006475"/>
                  </a:lnTo>
                  <a:lnTo>
                    <a:pt x="24384000" y="0"/>
                  </a:lnTo>
                  <a:close/>
                </a:path>
              </a:pathLst>
            </a:custGeom>
            <a:solidFill>
              <a:srgbClr val="006FC0"/>
            </a:solidFill>
          </p:spPr>
        </p:sp>
      </p:grpSp>
      <p:sp>
        <p:nvSpPr>
          <p:cNvPr id="6" name="Freeform 6"/>
          <p:cNvSpPr/>
          <p:nvPr/>
        </p:nvSpPr>
        <p:spPr>
          <a:xfrm>
            <a:off x="391335" y="315011"/>
            <a:ext cx="2629852" cy="1249680"/>
          </a:xfrm>
          <a:custGeom>
            <a:avLst/>
            <a:gdLst/>
            <a:ahLst/>
            <a:cxnLst/>
            <a:rect l="l" t="t" r="r" b="b"/>
            <a:pathLst>
              <a:path w="2629852" h="1249680">
                <a:moveTo>
                  <a:pt x="0" y="0"/>
                </a:moveTo>
                <a:lnTo>
                  <a:pt x="2629852" y="0"/>
                </a:lnTo>
                <a:lnTo>
                  <a:pt x="2629852" y="1249680"/>
                </a:lnTo>
                <a:lnTo>
                  <a:pt x="0" y="1249680"/>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a:p>
        </p:txBody>
      </p:sp>
      <p:grpSp>
        <p:nvGrpSpPr>
          <p:cNvPr id="7" name="Group 7"/>
          <p:cNvGrpSpPr/>
          <p:nvPr/>
        </p:nvGrpSpPr>
        <p:grpSpPr>
          <a:xfrm>
            <a:off x="14720116" y="33423"/>
            <a:ext cx="3287373" cy="1531268"/>
            <a:chOff x="0" y="0"/>
            <a:chExt cx="4383164" cy="2041690"/>
          </a:xfrm>
        </p:grpSpPr>
        <p:sp>
          <p:nvSpPr>
            <p:cNvPr id="8" name="Freeform 8"/>
            <p:cNvSpPr/>
            <p:nvPr/>
          </p:nvSpPr>
          <p:spPr>
            <a:xfrm>
              <a:off x="0" y="0"/>
              <a:ext cx="4383151" cy="2041652"/>
            </a:xfrm>
            <a:custGeom>
              <a:avLst/>
              <a:gdLst/>
              <a:ahLst/>
              <a:cxnLst/>
              <a:rect l="l" t="t" r="r" b="b"/>
              <a:pathLst>
                <a:path w="4383151" h="2041652">
                  <a:moveTo>
                    <a:pt x="0" y="0"/>
                  </a:moveTo>
                  <a:lnTo>
                    <a:pt x="4383151" y="0"/>
                  </a:lnTo>
                  <a:lnTo>
                    <a:pt x="4383151" y="2041652"/>
                  </a:lnTo>
                  <a:lnTo>
                    <a:pt x="0" y="2041652"/>
                  </a:lnTo>
                  <a:lnTo>
                    <a:pt x="0" y="0"/>
                  </a:lnTo>
                  <a:close/>
                </a:path>
              </a:pathLst>
            </a:custGeom>
            <a:blipFill>
              <a:blip r:embed="rId4"/>
              <a:stretch>
                <a:fillRect t="-106" b="-108"/>
              </a:stretch>
            </a:blipFill>
          </p:spPr>
        </p:sp>
      </p:grpSp>
      <p:sp>
        <p:nvSpPr>
          <p:cNvPr id="9" name="AutoShape 9"/>
          <p:cNvSpPr/>
          <p:nvPr/>
        </p:nvSpPr>
        <p:spPr>
          <a:xfrm>
            <a:off x="8226619" y="1770996"/>
            <a:ext cx="0" cy="7384231"/>
          </a:xfrm>
          <a:prstGeom prst="line">
            <a:avLst/>
          </a:prstGeom>
          <a:ln w="19050" cap="flat">
            <a:solidFill>
              <a:srgbClr val="B2935B"/>
            </a:solidFill>
            <a:prstDash val="solid"/>
            <a:headEnd type="none" w="sm" len="sm"/>
            <a:tailEnd type="none" w="sm" len="sm"/>
          </a:ln>
        </p:spPr>
        <p:txBody>
          <a:bodyPr/>
          <a:lstStyle/>
          <a:p>
            <a:endParaRPr/>
          </a:p>
        </p:txBody>
      </p:sp>
      <p:grpSp>
        <p:nvGrpSpPr>
          <p:cNvPr id="10" name="Group 10"/>
          <p:cNvGrpSpPr/>
          <p:nvPr/>
        </p:nvGrpSpPr>
        <p:grpSpPr>
          <a:xfrm>
            <a:off x="8595360" y="5870448"/>
            <a:ext cx="9006840" cy="3474720"/>
            <a:chOff x="0" y="0"/>
            <a:chExt cx="120906797" cy="67632696"/>
          </a:xfrm>
        </p:grpSpPr>
        <p:sp>
          <p:nvSpPr>
            <p:cNvPr id="11" name="Freeform 11"/>
            <p:cNvSpPr/>
            <p:nvPr/>
          </p:nvSpPr>
          <p:spPr>
            <a:xfrm>
              <a:off x="0" y="0"/>
              <a:ext cx="120906803" cy="67632697"/>
            </a:xfrm>
            <a:custGeom>
              <a:avLst/>
              <a:gdLst/>
              <a:ahLst/>
              <a:cxnLst/>
              <a:rect l="l" t="t" r="r" b="b"/>
              <a:pathLst>
                <a:path w="120906803" h="67632697">
                  <a:moveTo>
                    <a:pt x="10928" y="0"/>
                  </a:moveTo>
                  <a:lnTo>
                    <a:pt x="120895876" y="0"/>
                  </a:lnTo>
                  <a:cubicBezTo>
                    <a:pt x="120898779" y="0"/>
                    <a:pt x="120901557" y="1151"/>
                    <a:pt x="120903603" y="3201"/>
                  </a:cubicBezTo>
                  <a:cubicBezTo>
                    <a:pt x="120905650" y="5250"/>
                    <a:pt x="120906803" y="8030"/>
                    <a:pt x="120906803" y="10928"/>
                  </a:cubicBezTo>
                  <a:lnTo>
                    <a:pt x="120906803" y="67621770"/>
                  </a:lnTo>
                  <a:cubicBezTo>
                    <a:pt x="120906803" y="67627804"/>
                    <a:pt x="120901916" y="67632697"/>
                    <a:pt x="120895876" y="67632697"/>
                  </a:cubicBezTo>
                  <a:lnTo>
                    <a:pt x="10928" y="67632697"/>
                  </a:lnTo>
                  <a:cubicBezTo>
                    <a:pt x="4893" y="67632697"/>
                    <a:pt x="0" y="67627804"/>
                    <a:pt x="0" y="67621770"/>
                  </a:cubicBezTo>
                  <a:lnTo>
                    <a:pt x="0" y="10928"/>
                  </a:lnTo>
                  <a:cubicBezTo>
                    <a:pt x="0" y="4893"/>
                    <a:pt x="4893" y="0"/>
                    <a:pt x="10928" y="0"/>
                  </a:cubicBezTo>
                  <a:close/>
                </a:path>
              </a:pathLst>
            </a:custGeom>
            <a:solidFill>
              <a:srgbClr val="FFFFFF"/>
            </a:solidFill>
            <a:ln w="28575" cap="sq">
              <a:solidFill>
                <a:srgbClr val="7A2F00"/>
              </a:solidFill>
              <a:prstDash val="solid"/>
              <a:miter/>
            </a:ln>
          </p:spPr>
        </p:sp>
        <p:sp>
          <p:nvSpPr>
            <p:cNvPr id="12" name="TextBox 12"/>
            <p:cNvSpPr txBox="1"/>
            <p:nvPr/>
          </p:nvSpPr>
          <p:spPr>
            <a:xfrm>
              <a:off x="0" y="-85725"/>
              <a:ext cx="120906797" cy="67718421"/>
            </a:xfrm>
            <a:prstGeom prst="rect">
              <a:avLst/>
            </a:prstGeom>
          </p:spPr>
          <p:txBody>
            <a:bodyPr lIns="50800" tIns="50800" rIns="50800" bIns="50800" rtlCol="0" anchor="ctr"/>
            <a:lstStyle/>
            <a:p>
              <a:pPr algn="ctr">
                <a:lnSpc>
                  <a:spcPts val="6859"/>
                </a:lnSpc>
                <a:spcBef>
                  <a:spcPct val="0"/>
                </a:spcBef>
              </a:pPr>
              <a:endParaRPr/>
            </a:p>
          </p:txBody>
        </p:sp>
      </p:grpSp>
      <p:sp>
        <p:nvSpPr>
          <p:cNvPr id="13" name="Freeform 13"/>
          <p:cNvSpPr/>
          <p:nvPr/>
        </p:nvSpPr>
        <p:spPr>
          <a:xfrm>
            <a:off x="8378223" y="2377440"/>
            <a:ext cx="9228727" cy="830419"/>
          </a:xfrm>
          <a:custGeom>
            <a:avLst/>
            <a:gdLst/>
            <a:ahLst/>
            <a:cxnLst/>
            <a:rect l="l" t="t" r="r" b="b"/>
            <a:pathLst>
              <a:path w="9228727" h="830419">
                <a:moveTo>
                  <a:pt x="0" y="0"/>
                </a:moveTo>
                <a:lnTo>
                  <a:pt x="9228727" y="0"/>
                </a:lnTo>
                <a:lnTo>
                  <a:pt x="9228727" y="830419"/>
                </a:lnTo>
                <a:lnTo>
                  <a:pt x="0" y="830419"/>
                </a:lnTo>
                <a:lnTo>
                  <a:pt x="0" y="0"/>
                </a:lnTo>
                <a:close/>
              </a:path>
            </a:pathLst>
          </a:custGeom>
          <a:blipFill>
            <a:blip r:embed="rId5"/>
            <a:stretch>
              <a:fillRect l="-21656" t="-554195" r="-92275" b="-1128926"/>
            </a:stretch>
          </a:blipFill>
        </p:spPr>
        <p:txBody>
          <a:bodyPr/>
          <a:lstStyle/>
          <a:p>
            <a:endParaRPr/>
          </a:p>
        </p:txBody>
      </p:sp>
      <p:sp>
        <p:nvSpPr>
          <p:cNvPr id="14" name="AutoShape 14"/>
          <p:cNvSpPr/>
          <p:nvPr/>
        </p:nvSpPr>
        <p:spPr>
          <a:xfrm flipV="1">
            <a:off x="1066800" y="3858768"/>
            <a:ext cx="7159819" cy="0"/>
          </a:xfrm>
          <a:prstGeom prst="line">
            <a:avLst/>
          </a:prstGeom>
          <a:ln w="19050" cap="flat">
            <a:solidFill>
              <a:srgbClr val="B2935B"/>
            </a:solidFill>
            <a:prstDash val="solid"/>
            <a:headEnd type="none" w="sm" len="sm"/>
            <a:tailEnd type="none" w="sm" len="sm"/>
          </a:ln>
        </p:spPr>
        <p:txBody>
          <a:bodyPr/>
          <a:lstStyle/>
          <a:p>
            <a:endParaRPr/>
          </a:p>
        </p:txBody>
      </p:sp>
      <p:sp>
        <p:nvSpPr>
          <p:cNvPr id="15" name="TextBox 15"/>
          <p:cNvSpPr txBox="1"/>
          <p:nvPr/>
        </p:nvSpPr>
        <p:spPr>
          <a:xfrm>
            <a:off x="5093704" y="360907"/>
            <a:ext cx="7553895" cy="847725"/>
          </a:xfrm>
          <a:prstGeom prst="rect">
            <a:avLst/>
          </a:prstGeom>
        </p:spPr>
        <p:txBody>
          <a:bodyPr lIns="0" tIns="0" rIns="0" bIns="0" rtlCol="0" anchor="t">
            <a:spAutoFit/>
          </a:bodyPr>
          <a:lstStyle/>
          <a:p>
            <a:pPr algn="ctr">
              <a:lnSpc>
                <a:spcPts val="6479"/>
              </a:lnSpc>
            </a:pPr>
            <a:r>
              <a:rPr lang="en-US" sz="5399" b="1">
                <a:solidFill>
                  <a:srgbClr val="7A2F00"/>
                </a:solidFill>
                <a:latin typeface="Times New Roman Bold"/>
                <a:ea typeface="Times New Roman Bold"/>
                <a:cs typeface="Times New Roman Bold"/>
                <a:sym typeface="Times New Roman Bold"/>
              </a:rPr>
              <a:t>PROPOSED SOLUTION</a:t>
            </a:r>
          </a:p>
        </p:txBody>
      </p:sp>
      <p:sp>
        <p:nvSpPr>
          <p:cNvPr id="16" name="TextBox 16" descr="$PPTXTitle"/>
          <p:cNvSpPr txBox="1"/>
          <p:nvPr/>
        </p:nvSpPr>
        <p:spPr>
          <a:xfrm>
            <a:off x="1074372" y="677913"/>
            <a:ext cx="1461403" cy="466725"/>
          </a:xfrm>
          <a:prstGeom prst="rect">
            <a:avLst/>
          </a:prstGeom>
        </p:spPr>
        <p:txBody>
          <a:bodyPr lIns="0" tIns="0" rIns="0" bIns="0" rtlCol="0" anchor="t">
            <a:spAutoFit/>
          </a:bodyPr>
          <a:lstStyle/>
          <a:p>
            <a:pPr algn="l">
              <a:lnSpc>
                <a:spcPts val="3240"/>
              </a:lnSpc>
            </a:pPr>
            <a:r>
              <a:rPr lang="en-US" sz="2700" b="1" spc="-29">
                <a:solidFill>
                  <a:srgbClr val="7A2F00"/>
                </a:solidFill>
                <a:latin typeface="Calibri"/>
                <a:ea typeface="Calibri"/>
                <a:cs typeface="Calibri"/>
                <a:sym typeface="Calibri"/>
              </a:rPr>
              <a:t>HexTech</a:t>
            </a:r>
          </a:p>
        </p:txBody>
      </p:sp>
      <p:sp>
        <p:nvSpPr>
          <p:cNvPr id="17" name="TextBox 17"/>
          <p:cNvSpPr txBox="1"/>
          <p:nvPr/>
        </p:nvSpPr>
        <p:spPr>
          <a:xfrm>
            <a:off x="983028" y="2240280"/>
            <a:ext cx="7042520" cy="2305050"/>
          </a:xfrm>
          <a:prstGeom prst="rect">
            <a:avLst/>
          </a:prstGeom>
        </p:spPr>
        <p:txBody>
          <a:bodyPr lIns="0" tIns="0" rIns="0" bIns="0" rtlCol="0" anchor="t">
            <a:spAutoFit/>
          </a:bodyPr>
          <a:lstStyle/>
          <a:p>
            <a:pPr marL="431801" lvl="1" indent="-215900" algn="l">
              <a:lnSpc>
                <a:spcPct val="112000"/>
              </a:lnSpc>
              <a:buFont typeface="Arial"/>
              <a:buChar char="•"/>
            </a:pPr>
            <a:r>
              <a:rPr lang="en-US" sz="1700" spc="-10">
                <a:solidFill>
                  <a:srgbClr val="000000"/>
                </a:solidFill>
                <a:latin typeface="Calibri"/>
                <a:ea typeface="Calibri"/>
                <a:cs typeface="Calibri"/>
                <a:sym typeface="Calibri"/>
              </a:rPr>
              <a:t>Officers mainly judge the kit’s colour change by looking at it, so lighting and personal judgement can affect the result.</a:t>
            </a:r>
          </a:p>
          <a:p>
            <a:pPr marL="431801" lvl="1" indent="-215900" algn="l">
              <a:lnSpc>
                <a:spcPct val="112000"/>
              </a:lnSpc>
              <a:buFont typeface="Arial"/>
              <a:buChar char="•"/>
            </a:pPr>
            <a:r>
              <a:rPr lang="en-US" sz="1700" spc="-10">
                <a:solidFill>
                  <a:srgbClr val="000000"/>
                </a:solidFill>
                <a:latin typeface="Calibri"/>
                <a:ea typeface="Calibri"/>
                <a:cs typeface="Calibri"/>
                <a:sym typeface="Calibri"/>
              </a:rPr>
              <a:t>There is no standard colour value to compare the test result with.</a:t>
            </a:r>
          </a:p>
          <a:p>
            <a:pPr marL="431801" lvl="1" indent="-215900" algn="l">
              <a:lnSpc>
                <a:spcPct val="112000"/>
              </a:lnSpc>
              <a:buFont typeface="Arial"/>
              <a:buChar char="•"/>
            </a:pPr>
            <a:r>
              <a:rPr lang="en-US" sz="1700" spc="-10">
                <a:solidFill>
                  <a:srgbClr val="000000"/>
                </a:solidFill>
                <a:latin typeface="Calibri"/>
                <a:ea typeface="Calibri"/>
                <a:cs typeface="Calibri"/>
                <a:sym typeface="Calibri"/>
              </a:rPr>
              <a:t>The test does not always leave a clear digital record of who performed it, where, and when, making it harder to verify later.</a:t>
            </a:r>
          </a:p>
        </p:txBody>
      </p:sp>
      <p:sp>
        <p:nvSpPr>
          <p:cNvPr id="18" name="TextBox 18"/>
          <p:cNvSpPr txBox="1"/>
          <p:nvPr/>
        </p:nvSpPr>
        <p:spPr>
          <a:xfrm>
            <a:off x="17063656" y="9649673"/>
            <a:ext cx="104775" cy="288608"/>
          </a:xfrm>
          <a:prstGeom prst="rect">
            <a:avLst/>
          </a:prstGeom>
        </p:spPr>
        <p:txBody>
          <a:bodyPr lIns="0" tIns="0" rIns="0" bIns="0" rtlCol="0" anchor="t">
            <a:spAutoFit/>
          </a:bodyPr>
          <a:lstStyle/>
          <a:p>
            <a:pPr algn="l">
              <a:lnSpc>
                <a:spcPts val="2137"/>
              </a:lnSpc>
            </a:pPr>
            <a:r>
              <a:rPr lang="en-US" sz="1800" b="1" spc="-75">
                <a:solidFill>
                  <a:srgbClr val="FFFFFF"/>
                </a:solidFill>
                <a:latin typeface="Times New Roman Bold"/>
                <a:ea typeface="Times New Roman Bold"/>
                <a:cs typeface="Times New Roman Bold"/>
                <a:sym typeface="Times New Roman Bold"/>
              </a:rPr>
              <a:t>2</a:t>
            </a:r>
          </a:p>
        </p:txBody>
      </p:sp>
      <p:sp>
        <p:nvSpPr>
          <p:cNvPr id="19" name="TextBox 19"/>
          <p:cNvSpPr txBox="1"/>
          <p:nvPr/>
        </p:nvSpPr>
        <p:spPr>
          <a:xfrm>
            <a:off x="1156571" y="1810512"/>
            <a:ext cx="1226804" cy="438150"/>
          </a:xfrm>
          <a:prstGeom prst="rect">
            <a:avLst/>
          </a:prstGeom>
        </p:spPr>
        <p:txBody>
          <a:bodyPr lIns="0" tIns="0" rIns="0" bIns="0" rtlCol="0" anchor="t">
            <a:spAutoFit/>
          </a:bodyPr>
          <a:lstStyle/>
          <a:p>
            <a:pPr algn="ctr">
              <a:lnSpc>
                <a:spcPts val="3000"/>
              </a:lnSpc>
              <a:spcBef>
                <a:spcPct val="0"/>
              </a:spcBef>
            </a:pPr>
            <a:r>
              <a:rPr lang="en-US" sz="2500" b="1" spc="-27">
                <a:solidFill>
                  <a:srgbClr val="974826"/>
                </a:solidFill>
                <a:latin typeface="Calibri"/>
                <a:ea typeface="Calibri"/>
                <a:cs typeface="Calibri"/>
                <a:sym typeface="Calibri"/>
              </a:rPr>
              <a:t>Problem</a:t>
            </a:r>
          </a:p>
        </p:txBody>
      </p:sp>
      <p:sp>
        <p:nvSpPr>
          <p:cNvPr id="20" name="TextBox 20"/>
          <p:cNvSpPr txBox="1"/>
          <p:nvPr/>
        </p:nvSpPr>
        <p:spPr>
          <a:xfrm>
            <a:off x="983028" y="4005072"/>
            <a:ext cx="6996848" cy="2756535"/>
          </a:xfrm>
          <a:prstGeom prst="rect">
            <a:avLst/>
          </a:prstGeom>
        </p:spPr>
        <p:txBody>
          <a:bodyPr lIns="0" tIns="0" rIns="0" bIns="0" rtlCol="0" anchor="t">
            <a:spAutoFit/>
          </a:bodyPr>
          <a:lstStyle/>
          <a:p>
            <a:pPr algn="l">
              <a:lnSpc>
                <a:spcPct val="112000"/>
              </a:lnSpc>
            </a:pPr>
            <a:endParaRPr dirty="0"/>
          </a:p>
          <a:p>
            <a:pPr marL="431801" lvl="1" indent="-215900" algn="l">
              <a:lnSpc>
                <a:spcPct val="112000"/>
              </a:lnSpc>
              <a:buFont typeface="Arial"/>
              <a:buChar char="•"/>
            </a:pPr>
            <a:r>
              <a:rPr lang="en-US" sz="1700" spc="-10" dirty="0">
                <a:solidFill>
                  <a:srgbClr val="000000"/>
                </a:solidFill>
                <a:latin typeface="Calibri"/>
                <a:ea typeface="Calibri"/>
                <a:cs typeface="Calibri"/>
                <a:sym typeface="Calibri"/>
              </a:rPr>
              <a:t>Check the Test - The mobile app captures the </a:t>
            </a:r>
            <a:r>
              <a:rPr lang="en-US" sz="1700" spc="-10" dirty="0" err="1">
                <a:solidFill>
                  <a:srgbClr val="000000"/>
                </a:solidFill>
                <a:latin typeface="Calibri"/>
                <a:ea typeface="Calibri"/>
                <a:cs typeface="Calibri"/>
                <a:sym typeface="Calibri"/>
              </a:rPr>
              <a:t>colour</a:t>
            </a:r>
            <a:r>
              <a:rPr lang="en-US" sz="1700" spc="-10" dirty="0">
                <a:solidFill>
                  <a:srgbClr val="000000"/>
                </a:solidFill>
                <a:latin typeface="Calibri"/>
                <a:ea typeface="Calibri"/>
                <a:cs typeface="Calibri"/>
                <a:sym typeface="Calibri"/>
              </a:rPr>
              <a:t> change and helps check the result.</a:t>
            </a:r>
          </a:p>
          <a:p>
            <a:pPr marL="431801" lvl="1" indent="-215900" algn="l">
              <a:lnSpc>
                <a:spcPct val="112000"/>
              </a:lnSpc>
              <a:buFont typeface="Arial"/>
              <a:buChar char="•"/>
            </a:pPr>
            <a:r>
              <a:rPr lang="en-US" sz="1700" spc="-10" dirty="0">
                <a:solidFill>
                  <a:srgbClr val="000000"/>
                </a:solidFill>
                <a:latin typeface="Calibri"/>
                <a:ea typeface="Calibri"/>
                <a:cs typeface="Calibri"/>
                <a:sym typeface="Calibri"/>
              </a:rPr>
              <a:t>Record the Test - Saves the result along with the time, location, and Inspector ID.</a:t>
            </a:r>
          </a:p>
          <a:p>
            <a:pPr marL="431801" lvl="1" indent="-215900" algn="l">
              <a:lnSpc>
                <a:spcPct val="112000"/>
              </a:lnSpc>
              <a:buFont typeface="Arial"/>
              <a:buChar char="•"/>
            </a:pPr>
            <a:r>
              <a:rPr lang="en-US" sz="1700" spc="-10" dirty="0">
                <a:solidFill>
                  <a:srgbClr val="000000"/>
                </a:solidFill>
                <a:latin typeface="Calibri"/>
                <a:ea typeface="Calibri"/>
                <a:cs typeface="Calibri"/>
                <a:sym typeface="Calibri"/>
              </a:rPr>
              <a:t>Manage the Records - The admin dashboard manages Inspectors, test records, evidence, and reports.</a:t>
            </a:r>
          </a:p>
        </p:txBody>
      </p:sp>
      <p:sp>
        <p:nvSpPr>
          <p:cNvPr id="21" name="TextBox 21"/>
          <p:cNvSpPr txBox="1"/>
          <p:nvPr/>
        </p:nvSpPr>
        <p:spPr>
          <a:xfrm>
            <a:off x="1156571" y="3950208"/>
            <a:ext cx="1226804" cy="438150"/>
          </a:xfrm>
          <a:prstGeom prst="rect">
            <a:avLst/>
          </a:prstGeom>
        </p:spPr>
        <p:txBody>
          <a:bodyPr lIns="0" tIns="0" rIns="0" bIns="0" rtlCol="0" anchor="t">
            <a:spAutoFit/>
          </a:bodyPr>
          <a:lstStyle/>
          <a:p>
            <a:pPr algn="ctr">
              <a:lnSpc>
                <a:spcPts val="3000"/>
              </a:lnSpc>
              <a:spcBef>
                <a:spcPct val="0"/>
              </a:spcBef>
            </a:pPr>
            <a:r>
              <a:rPr lang="en-US" sz="2500" b="1" spc="-27">
                <a:solidFill>
                  <a:srgbClr val="974826"/>
                </a:solidFill>
                <a:latin typeface="Calibri"/>
                <a:ea typeface="Calibri"/>
                <a:cs typeface="Calibri"/>
                <a:sym typeface="Calibri"/>
              </a:rPr>
              <a:t>Solution</a:t>
            </a:r>
          </a:p>
        </p:txBody>
      </p:sp>
      <p:sp>
        <p:nvSpPr>
          <p:cNvPr id="22" name="TextBox 22"/>
          <p:cNvSpPr txBox="1"/>
          <p:nvPr/>
        </p:nvSpPr>
        <p:spPr>
          <a:xfrm>
            <a:off x="8823960" y="5943600"/>
            <a:ext cx="1400792" cy="438150"/>
          </a:xfrm>
          <a:prstGeom prst="rect">
            <a:avLst/>
          </a:prstGeom>
        </p:spPr>
        <p:txBody>
          <a:bodyPr lIns="0" tIns="0" rIns="0" bIns="0" rtlCol="0" anchor="t">
            <a:spAutoFit/>
          </a:bodyPr>
          <a:lstStyle/>
          <a:p>
            <a:pPr algn="ctr">
              <a:lnSpc>
                <a:spcPts val="3000"/>
              </a:lnSpc>
              <a:spcBef>
                <a:spcPct val="0"/>
              </a:spcBef>
            </a:pPr>
            <a:r>
              <a:rPr lang="en-US" sz="2500" b="1" spc="-27">
                <a:solidFill>
                  <a:srgbClr val="974826"/>
                </a:solidFill>
                <a:latin typeface="Calibri"/>
                <a:ea typeface="Calibri"/>
                <a:cs typeface="Calibri"/>
                <a:sym typeface="Calibri"/>
              </a:rPr>
              <a:t>Novelty</a:t>
            </a:r>
          </a:p>
        </p:txBody>
      </p:sp>
      <p:sp>
        <p:nvSpPr>
          <p:cNvPr id="23" name="TextBox 23"/>
          <p:cNvSpPr txBox="1"/>
          <p:nvPr/>
        </p:nvSpPr>
        <p:spPr>
          <a:xfrm>
            <a:off x="8915400" y="6400800"/>
            <a:ext cx="8503920" cy="3275330"/>
          </a:xfrm>
          <a:prstGeom prst="rect">
            <a:avLst/>
          </a:prstGeom>
        </p:spPr>
        <p:txBody>
          <a:bodyPr lIns="0" tIns="0" rIns="0" bIns="0" rtlCol="0" anchor="t">
            <a:spAutoFit/>
          </a:bodyPr>
          <a:lstStyle/>
          <a:p>
            <a:pPr marL="431801" lvl="1" indent="-215900" algn="l">
              <a:lnSpc>
                <a:spcPct val="130000"/>
              </a:lnSpc>
              <a:buFont typeface="Arial"/>
              <a:buChar char="•"/>
            </a:pPr>
            <a:r>
              <a:rPr lang="en-US" sz="1700" b="1" spc="-22">
                <a:solidFill>
                  <a:srgbClr val="000000"/>
                </a:solidFill>
                <a:latin typeface="Calibri"/>
                <a:ea typeface="Calibri"/>
                <a:cs typeface="Calibri"/>
                <a:sym typeface="Calibri"/>
              </a:rPr>
              <a:t>Handles Lighting Variations</a:t>
            </a:r>
            <a:r>
              <a:rPr lang="en-US" sz="1700" spc="-22">
                <a:solidFill>
                  <a:srgbClr val="000000"/>
                </a:solidFill>
                <a:latin typeface="Calibri"/>
                <a:ea typeface="Calibri"/>
                <a:cs typeface="Calibri"/>
                <a:sym typeface="Calibri"/>
              </a:rPr>
              <a:t> - Uses a low-cost colour card to improve colour detection under different lighting.</a:t>
            </a:r>
          </a:p>
          <a:p>
            <a:pPr marL="431801" lvl="1" indent="-215900" algn="l">
              <a:lnSpc>
                <a:spcPct val="130000"/>
              </a:lnSpc>
              <a:buFont typeface="Arial"/>
              <a:buChar char="•"/>
            </a:pPr>
            <a:r>
              <a:rPr lang="en-US" sz="1700" b="1" spc="-22">
                <a:solidFill>
                  <a:srgbClr val="000000"/>
                </a:solidFill>
                <a:latin typeface="Calibri"/>
                <a:ea typeface="Calibri"/>
                <a:cs typeface="Calibri"/>
                <a:sym typeface="Calibri"/>
              </a:rPr>
              <a:t>Handles Unclear Results</a:t>
            </a:r>
            <a:r>
              <a:rPr lang="en-US" sz="1700" spc="-22">
                <a:solidFill>
                  <a:srgbClr val="000000"/>
                </a:solidFill>
                <a:latin typeface="Calibri"/>
                <a:ea typeface="Calibri"/>
                <a:cs typeface="Calibri"/>
                <a:sym typeface="Calibri"/>
              </a:rPr>
              <a:t> - Blurry, shiny, or unclear images are marked INCONCLUSIVE instead of giving a wrong result.</a:t>
            </a:r>
          </a:p>
          <a:p>
            <a:pPr marL="431801" lvl="1" indent="-215900" algn="l">
              <a:lnSpc>
                <a:spcPct val="130000"/>
              </a:lnSpc>
              <a:buFont typeface="Arial"/>
              <a:buChar char="•"/>
            </a:pPr>
            <a:r>
              <a:rPr lang="en-US" sz="1700" b="1" spc="-22">
                <a:solidFill>
                  <a:srgbClr val="000000"/>
                </a:solidFill>
                <a:latin typeface="Calibri"/>
                <a:ea typeface="Calibri"/>
                <a:cs typeface="Calibri"/>
                <a:sym typeface="Calibri"/>
              </a:rPr>
              <a:t>Creates Verifiable Evidence</a:t>
            </a:r>
            <a:r>
              <a:rPr lang="en-US" sz="1700" spc="-22">
                <a:solidFill>
                  <a:srgbClr val="000000"/>
                </a:solidFill>
                <a:latin typeface="Calibri"/>
                <a:ea typeface="Calibri"/>
                <a:cs typeface="Calibri"/>
                <a:sym typeface="Calibri"/>
              </a:rPr>
              <a:t> - Securely records the photo, GPS, time, and Inspector ID, with QR-based verification.</a:t>
            </a:r>
          </a:p>
          <a:p>
            <a:pPr marL="431801" lvl="1" indent="-215900" algn="l">
              <a:lnSpc>
                <a:spcPct val="130000"/>
              </a:lnSpc>
              <a:buFont typeface="Arial"/>
              <a:buChar char="•"/>
            </a:pPr>
            <a:r>
              <a:rPr lang="en-US" sz="1700" b="1" spc="-22">
                <a:solidFill>
                  <a:srgbClr val="000000"/>
                </a:solidFill>
                <a:latin typeface="Calibri"/>
                <a:ea typeface="Calibri"/>
                <a:cs typeface="Calibri"/>
                <a:sym typeface="Calibri"/>
              </a:rPr>
              <a:t>Supports Multiple Kits</a:t>
            </a:r>
            <a:r>
              <a:rPr lang="en-US" sz="1700" spc="-22">
                <a:solidFill>
                  <a:srgbClr val="000000"/>
                </a:solidFill>
                <a:latin typeface="Calibri"/>
                <a:ea typeface="Calibri"/>
                <a:cs typeface="Calibri"/>
                <a:sym typeface="Calibri"/>
              </a:rPr>
              <a:t> - New kit colour profiles can be added from the Admin website without changing the app.</a:t>
            </a:r>
          </a:p>
        </p:txBody>
      </p:sp>
      <p:sp>
        <p:nvSpPr>
          <p:cNvPr id="24" name="TextBox 24"/>
          <p:cNvSpPr txBox="1"/>
          <p:nvPr/>
        </p:nvSpPr>
        <p:spPr>
          <a:xfrm>
            <a:off x="11965447" y="1874519"/>
            <a:ext cx="1851963" cy="438150"/>
          </a:xfrm>
          <a:prstGeom prst="rect">
            <a:avLst/>
          </a:prstGeom>
        </p:spPr>
        <p:txBody>
          <a:bodyPr lIns="0" tIns="0" rIns="0" bIns="0" rtlCol="0" anchor="t">
            <a:spAutoFit/>
          </a:bodyPr>
          <a:lstStyle/>
          <a:p>
            <a:pPr algn="ctr">
              <a:lnSpc>
                <a:spcPts val="3000"/>
              </a:lnSpc>
              <a:spcBef>
                <a:spcPct val="0"/>
              </a:spcBef>
            </a:pPr>
            <a:r>
              <a:rPr lang="en-US" sz="2500" b="1" spc="-27">
                <a:solidFill>
                  <a:srgbClr val="974826"/>
                </a:solidFill>
                <a:latin typeface="Calibri"/>
                <a:ea typeface="Calibri"/>
                <a:cs typeface="Calibri"/>
                <a:sym typeface="Calibri"/>
              </a:rPr>
              <a:t>Our Approach</a:t>
            </a:r>
          </a:p>
        </p:txBody>
      </p:sp>
      <p:sp>
        <p:nvSpPr>
          <p:cNvPr id="25" name="Freeform 25"/>
          <p:cNvSpPr/>
          <p:nvPr/>
        </p:nvSpPr>
        <p:spPr>
          <a:xfrm>
            <a:off x="6720840" y="7991856"/>
            <a:ext cx="1320330" cy="1320330"/>
          </a:xfrm>
          <a:custGeom>
            <a:avLst/>
            <a:gdLst/>
            <a:ahLst/>
            <a:cxnLst/>
            <a:rect l="l" t="t" r="r" b="b"/>
            <a:pathLst>
              <a:path w="1320330" h="1320330">
                <a:moveTo>
                  <a:pt x="0" y="0"/>
                </a:moveTo>
                <a:lnTo>
                  <a:pt x="1320330" y="0"/>
                </a:lnTo>
                <a:lnTo>
                  <a:pt x="1320330" y="1320330"/>
                </a:lnTo>
                <a:lnTo>
                  <a:pt x="0" y="1320330"/>
                </a:lnTo>
                <a:lnTo>
                  <a:pt x="0" y="0"/>
                </a:lnTo>
                <a:close/>
              </a:path>
            </a:pathLst>
          </a:custGeom>
          <a:blipFill>
            <a:blip r:embed="rId6"/>
            <a:stretch>
              <a:fillRect/>
            </a:stretch>
          </a:blipFill>
        </p:spPr>
        <p:txBody>
          <a:bodyPr/>
          <a:lstStyle/>
          <a:p>
            <a:endParaRPr/>
          </a:p>
        </p:txBody>
      </p:sp>
      <p:sp>
        <p:nvSpPr>
          <p:cNvPr id="26" name="TextBox 26"/>
          <p:cNvSpPr txBox="1"/>
          <p:nvPr/>
        </p:nvSpPr>
        <p:spPr>
          <a:xfrm>
            <a:off x="1152144" y="8421624"/>
            <a:ext cx="3063240" cy="390525"/>
          </a:xfrm>
          <a:prstGeom prst="rect">
            <a:avLst/>
          </a:prstGeom>
        </p:spPr>
        <p:txBody>
          <a:bodyPr wrap="none" lIns="0" tIns="0" rIns="0" bIns="0" rtlCol="0" anchor="t">
            <a:noAutofit/>
          </a:bodyPr>
          <a:lstStyle/>
          <a:p>
            <a:pPr algn="ctr">
              <a:lnSpc>
                <a:spcPts val="2760"/>
              </a:lnSpc>
              <a:spcBef>
                <a:spcPct val="0"/>
              </a:spcBef>
            </a:pPr>
            <a:r>
              <a:rPr lang="en-US" sz="2300" b="1" spc="-25">
                <a:solidFill>
                  <a:srgbClr val="7A2F00"/>
                </a:solidFill>
                <a:latin typeface="Calibri"/>
                <a:ea typeface="Calibri"/>
                <a:cs typeface="Calibri"/>
                <a:sym typeface="Calibri"/>
              </a:rPr>
              <a:t>Prototype Demo Video:</a:t>
            </a:r>
          </a:p>
        </p:txBody>
      </p:sp>
      <p:sp>
        <p:nvSpPr>
          <p:cNvPr id="27" name="TextBox 27"/>
          <p:cNvSpPr txBox="1"/>
          <p:nvPr/>
        </p:nvSpPr>
        <p:spPr>
          <a:xfrm>
            <a:off x="4297680" y="8439912"/>
            <a:ext cx="2103120" cy="361950"/>
          </a:xfrm>
          <a:prstGeom prst="rect">
            <a:avLst/>
          </a:prstGeom>
        </p:spPr>
        <p:txBody>
          <a:bodyPr wrap="none" lIns="0" tIns="0" rIns="0" bIns="0" rtlCol="0" anchor="t">
            <a:noAutofit/>
          </a:bodyPr>
          <a:lstStyle/>
          <a:p>
            <a:pPr algn="ctr">
              <a:lnSpc>
                <a:spcPts val="2520"/>
              </a:lnSpc>
            </a:pPr>
            <a:r>
              <a:rPr lang="en-US" sz="2100" u="sng" spc="-23">
                <a:solidFill>
                  <a:srgbClr val="006EC0"/>
                </a:solidFill>
                <a:latin typeface="Calibri"/>
                <a:ea typeface="Calibri"/>
                <a:cs typeface="Calibri"/>
                <a:sym typeface="Calibri"/>
                <a:hlinkClick r:id="rId7" tooltip="https://youtu.be/F1cuxlgMW2g"/>
              </a:rPr>
              <a:t>Prototype Video Link</a:t>
            </a:r>
          </a:p>
        </p:txBody>
      </p:sp>
      <p:sp>
        <p:nvSpPr>
          <p:cNvPr id="28" name="Video link click area">
            <a:hlinkClick r:id="rId7"/>
          </p:cNvPr>
          <p:cNvSpPr/>
          <p:nvPr/>
        </p:nvSpPr>
        <p:spPr>
          <a:xfrm>
            <a:off x="4297680" y="8394192"/>
            <a:ext cx="2103120" cy="457200"/>
          </a:xfrm>
          <a:prstGeom prst="rect">
            <a:avLst/>
          </a:prstGeom>
          <a:solidFill>
            <a:srgbClr val="FFFFFF">
              <a:alpha val="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Video QR click area">
            <a:hlinkClick r:id="rId7"/>
          </p:cNvPr>
          <p:cNvSpPr/>
          <p:nvPr/>
        </p:nvSpPr>
        <p:spPr>
          <a:xfrm>
            <a:off x="6720840" y="7991856"/>
            <a:ext cx="1320330" cy="1320330"/>
          </a:xfrm>
          <a:prstGeom prst="rect">
            <a:avLst/>
          </a:prstGeom>
          <a:solidFill>
            <a:srgbClr val="FFFFFF">
              <a:alpha val="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3"/>
          <p:cNvSpPr txBox="1"/>
          <p:nvPr/>
        </p:nvSpPr>
        <p:spPr>
          <a:xfrm>
            <a:off x="8595360" y="3383280"/>
            <a:ext cx="9006840" cy="381000"/>
          </a:xfrm>
          <a:prstGeom prst="rect">
            <a:avLst/>
          </a:prstGeom>
        </p:spPr>
        <p:txBody>
          <a:bodyPr wrap="none" lIns="0" tIns="0" rIns="0" bIns="0" rtlCol="0" anchor="t">
            <a:noAutofit/>
          </a:bodyPr>
          <a:lstStyle/>
          <a:p>
            <a:pPr algn="l">
              <a:lnSpc>
                <a:spcPts val="2640"/>
              </a:lnSpc>
            </a:pPr>
            <a:r>
              <a:rPr lang="en-US" sz="2200" b="1">
                <a:solidFill>
                  <a:srgbClr val="7A2F00"/>
                </a:solidFill>
                <a:latin typeface="Calibri"/>
                <a:ea typeface="Calibri"/>
                <a:cs typeface="Calibri"/>
                <a:sym typeface="Calibri"/>
              </a:rPr>
              <a:t>Prototype Flow - </a:t>
            </a:r>
            <a:r>
              <a:rPr lang="en-US" sz="2200">
                <a:solidFill>
                  <a:srgbClr val="202020"/>
                </a:solidFill>
                <a:latin typeface="Calibri"/>
                <a:ea typeface="Calibri"/>
                <a:cs typeface="Calibri"/>
                <a:sym typeface="Calibri"/>
              </a:rPr>
              <a:t>real screenshots of our working prototype</a:t>
            </a:r>
          </a:p>
        </p:txBody>
      </p:sp>
      <p:sp>
        <p:nvSpPr>
          <p:cNvPr id="31" name="Freeform 8"/>
          <p:cNvSpPr/>
          <p:nvPr/>
        </p:nvSpPr>
        <p:spPr>
          <a:xfrm>
            <a:off x="8595360" y="3858768"/>
            <a:ext cx="1420051" cy="1783080"/>
          </a:xfrm>
          <a:custGeom>
            <a:avLst/>
            <a:gdLst/>
            <a:ahLst/>
            <a:cxnLst/>
            <a:rect l="l" t="t" r="r" b="b"/>
            <a:pathLst>
              <a:path w="2720876" h="3416454">
                <a:moveTo>
                  <a:pt x="0" y="0"/>
                </a:moveTo>
                <a:lnTo>
                  <a:pt x="2720876" y="0"/>
                </a:lnTo>
                <a:lnTo>
                  <a:pt x="2720876" y="3416454"/>
                </a:lnTo>
                <a:lnTo>
                  <a:pt x="0" y="3416454"/>
                </a:lnTo>
                <a:lnTo>
                  <a:pt x="0" y="0"/>
                </a:lnTo>
                <a:close/>
              </a:path>
            </a:pathLst>
          </a:custGeom>
          <a:blipFill>
            <a:blip r:embed="rId8"/>
            <a:stretch>
              <a:fillRect t="-6699" b="-70279"/>
            </a:stretch>
          </a:blipFill>
        </p:spPr>
        <p:txBody>
          <a:bodyPr/>
          <a:lstStyle/>
          <a:p>
            <a:endParaRPr/>
          </a:p>
        </p:txBody>
      </p:sp>
      <p:sp>
        <p:nvSpPr>
          <p:cNvPr id="32" name="Freeform 10"/>
          <p:cNvSpPr/>
          <p:nvPr/>
        </p:nvSpPr>
        <p:spPr>
          <a:xfrm>
            <a:off x="10498282" y="3858768"/>
            <a:ext cx="861759" cy="1783080"/>
          </a:xfrm>
          <a:custGeom>
            <a:avLst/>
            <a:gdLst/>
            <a:ahLst/>
            <a:cxnLst/>
            <a:rect l="l" t="t" r="r" b="b"/>
            <a:pathLst>
              <a:path w="1553035" h="3213409">
                <a:moveTo>
                  <a:pt x="0" y="0"/>
                </a:moveTo>
                <a:lnTo>
                  <a:pt x="1553035" y="0"/>
                </a:lnTo>
                <a:lnTo>
                  <a:pt x="1553035" y="3213409"/>
                </a:lnTo>
                <a:lnTo>
                  <a:pt x="0" y="3213409"/>
                </a:lnTo>
                <a:lnTo>
                  <a:pt x="0" y="0"/>
                </a:lnTo>
                <a:close/>
              </a:path>
            </a:pathLst>
          </a:custGeom>
          <a:blipFill>
            <a:blip r:embed="rId9"/>
            <a:stretch>
              <a:fillRect t="-4065" b="-3334"/>
            </a:stretch>
          </a:blipFill>
        </p:spPr>
        <p:txBody>
          <a:bodyPr/>
          <a:lstStyle/>
          <a:p>
            <a:endParaRPr/>
          </a:p>
        </p:txBody>
      </p:sp>
      <p:sp>
        <p:nvSpPr>
          <p:cNvPr id="34" name="Freeform 9"/>
          <p:cNvSpPr/>
          <p:nvPr/>
        </p:nvSpPr>
        <p:spPr>
          <a:xfrm>
            <a:off x="13389239" y="3858768"/>
            <a:ext cx="4212960" cy="1783080"/>
          </a:xfrm>
          <a:custGeom>
            <a:avLst/>
            <a:gdLst/>
            <a:ahLst/>
            <a:cxnLst/>
            <a:rect l="l" t="t" r="r" b="b"/>
            <a:pathLst>
              <a:path w="6414433" h="2714824">
                <a:moveTo>
                  <a:pt x="0" y="0"/>
                </a:moveTo>
                <a:lnTo>
                  <a:pt x="6414433" y="0"/>
                </a:lnTo>
                <a:lnTo>
                  <a:pt x="6414433" y="2714824"/>
                </a:lnTo>
                <a:lnTo>
                  <a:pt x="0" y="2714824"/>
                </a:lnTo>
                <a:lnTo>
                  <a:pt x="0" y="0"/>
                </a:lnTo>
                <a:close/>
              </a:path>
            </a:pathLst>
          </a:custGeom>
          <a:blipFill>
            <a:blip r:embed="rId11"/>
            <a:stretch>
              <a:fillRect t="-2643" r="-1398" b="-29274"/>
            </a:stretch>
          </a:blipFill>
        </p:spPr>
        <p:txBody>
          <a:bodyPr/>
          <a:lstStyle/>
          <a:p>
            <a:endParaRPr/>
          </a:p>
        </p:txBody>
      </p:sp>
      <p:sp>
        <p:nvSpPr>
          <p:cNvPr id="35" name="Freeform 12"/>
          <p:cNvSpPr/>
          <p:nvPr/>
        </p:nvSpPr>
        <p:spPr>
          <a:xfrm>
            <a:off x="10096826" y="4645151"/>
            <a:ext cx="320040" cy="210312"/>
          </a:xfrm>
          <a:custGeom>
            <a:avLst/>
            <a:gdLst/>
            <a:ahLst/>
            <a:cxnLst/>
            <a:rect l="l" t="t" r="r" b="b"/>
            <a:pathLst>
              <a:path w="451106" h="295474">
                <a:moveTo>
                  <a:pt x="0" y="0"/>
                </a:moveTo>
                <a:lnTo>
                  <a:pt x="451106" y="0"/>
                </a:lnTo>
                <a:lnTo>
                  <a:pt x="451106" y="295475"/>
                </a:lnTo>
                <a:lnTo>
                  <a:pt x="0" y="295475"/>
                </a:lnTo>
                <a:lnTo>
                  <a:pt x="0" y="0"/>
                </a:lnTo>
                <a:close/>
              </a:path>
            </a:pathLst>
          </a:custGeom>
          <a:blipFill>
            <a:blip>
              <a:extLst>
                <a:ext uri="{96DAC541-7B7A-43D3-8B79-37D633B846F1}">
                  <asvg:svgBlip xmlns:asvg="http://schemas.microsoft.com/office/drawing/2016/SVG/main" r:embed="rId12"/>
                </a:ext>
              </a:extLst>
            </a:blip>
            <a:stretch>
              <a:fillRect/>
            </a:stretch>
          </a:blipFill>
        </p:spPr>
        <p:txBody>
          <a:bodyPr/>
          <a:lstStyle/>
          <a:p>
            <a:endParaRPr/>
          </a:p>
        </p:txBody>
      </p:sp>
      <p:sp>
        <p:nvSpPr>
          <p:cNvPr id="36" name="Freeform 14"/>
          <p:cNvSpPr/>
          <p:nvPr/>
        </p:nvSpPr>
        <p:spPr>
          <a:xfrm>
            <a:off x="11441457" y="4645151"/>
            <a:ext cx="320040" cy="210312"/>
          </a:xfrm>
          <a:custGeom>
            <a:avLst/>
            <a:gdLst/>
            <a:ahLst/>
            <a:cxnLst/>
            <a:rect l="l" t="t" r="r" b="b"/>
            <a:pathLst>
              <a:path w="451106" h="295474">
                <a:moveTo>
                  <a:pt x="0" y="0"/>
                </a:moveTo>
                <a:lnTo>
                  <a:pt x="451106" y="0"/>
                </a:lnTo>
                <a:lnTo>
                  <a:pt x="451106" y="295475"/>
                </a:lnTo>
                <a:lnTo>
                  <a:pt x="0" y="295475"/>
                </a:lnTo>
                <a:lnTo>
                  <a:pt x="0" y="0"/>
                </a:lnTo>
                <a:close/>
              </a:path>
            </a:pathLst>
          </a:custGeom>
          <a:blipFill>
            <a:blip>
              <a:extLst>
                <a:ext uri="{96DAC541-7B7A-43D3-8B79-37D633B846F1}">
                  <asvg:svgBlip xmlns:asvg="http://schemas.microsoft.com/office/drawing/2016/SVG/main" r:embed="rId12"/>
                </a:ext>
              </a:extLst>
            </a:blip>
            <a:stretch>
              <a:fillRect/>
            </a:stretch>
          </a:blipFill>
        </p:spPr>
        <p:txBody>
          <a:bodyPr/>
          <a:lstStyle/>
          <a:p>
            <a:endParaRPr/>
          </a:p>
        </p:txBody>
      </p:sp>
      <p:sp>
        <p:nvSpPr>
          <p:cNvPr id="37" name="Freeform 12"/>
          <p:cNvSpPr/>
          <p:nvPr/>
        </p:nvSpPr>
        <p:spPr>
          <a:xfrm>
            <a:off x="12987783" y="4645151"/>
            <a:ext cx="320040" cy="210312"/>
          </a:xfrm>
          <a:custGeom>
            <a:avLst/>
            <a:gdLst/>
            <a:ahLst/>
            <a:cxnLst/>
            <a:rect l="l" t="t" r="r" b="b"/>
            <a:pathLst>
              <a:path w="451106" h="295474">
                <a:moveTo>
                  <a:pt x="0" y="0"/>
                </a:moveTo>
                <a:lnTo>
                  <a:pt x="451106" y="0"/>
                </a:lnTo>
                <a:lnTo>
                  <a:pt x="451106" y="295475"/>
                </a:lnTo>
                <a:lnTo>
                  <a:pt x="0" y="295475"/>
                </a:lnTo>
                <a:lnTo>
                  <a:pt x="0" y="0"/>
                </a:lnTo>
                <a:close/>
              </a:path>
            </a:pathLst>
          </a:custGeom>
          <a:blipFill>
            <a:blip>
              <a:extLst>
                <a:ext uri="{96DAC541-7B7A-43D3-8B79-37D633B846F1}">
                  <asvg:svgBlip xmlns:asvg="http://schemas.microsoft.com/office/drawing/2016/SVG/main" r:embed="rId12"/>
                </a:ext>
              </a:extLst>
            </a:blip>
            <a:stretch>
              <a:fillRect/>
            </a:stretch>
          </a:blipFill>
        </p:spPr>
        <p:txBody>
          <a:bodyPr/>
          <a:lstStyle/>
          <a:p>
            <a:endParaRPr/>
          </a:p>
        </p:txBody>
      </p:sp>
      <p:sp>
        <p:nvSpPr>
          <p:cNvPr id="38" name="TextBox 21"/>
          <p:cNvSpPr txBox="1"/>
          <p:nvPr/>
        </p:nvSpPr>
        <p:spPr>
          <a:xfrm>
            <a:off x="1152144" y="6199632"/>
            <a:ext cx="4572000" cy="438912"/>
          </a:xfrm>
          <a:prstGeom prst="rect">
            <a:avLst/>
          </a:prstGeom>
        </p:spPr>
        <p:txBody>
          <a:bodyPr wrap="none" lIns="0" tIns="0" rIns="0" bIns="0" rtlCol="0" anchor="t">
            <a:noAutofit/>
          </a:bodyPr>
          <a:lstStyle/>
          <a:p>
            <a:pPr algn="l">
              <a:lnSpc>
                <a:spcPts val="3000"/>
              </a:lnSpc>
              <a:spcBef>
                <a:spcPct val="0"/>
              </a:spcBef>
            </a:pPr>
            <a:r>
              <a:rPr lang="en-US" sz="2500" b="1" spc="-27">
                <a:solidFill>
                  <a:srgbClr val="974826"/>
                </a:solidFill>
                <a:latin typeface="Calibri"/>
                <a:ea typeface="Calibri"/>
                <a:cs typeface="Calibri"/>
                <a:sym typeface="Calibri"/>
              </a:rPr>
              <a:t>User Experience</a:t>
            </a:r>
          </a:p>
        </p:txBody>
      </p:sp>
      <p:sp>
        <p:nvSpPr>
          <p:cNvPr id="39" name="TextBox 23"/>
          <p:cNvSpPr txBox="1"/>
          <p:nvPr/>
        </p:nvSpPr>
        <p:spPr>
          <a:xfrm>
            <a:off x="987552" y="6638544"/>
            <a:ext cx="7132320" cy="1280160"/>
          </a:xfrm>
          <a:prstGeom prst="rect">
            <a:avLst/>
          </a:prstGeom>
        </p:spPr>
        <p:txBody>
          <a:bodyPr wrap="square" lIns="0" tIns="0" rIns="0" bIns="0" rtlCol="0" anchor="t">
            <a:noAutofit/>
          </a:bodyPr>
          <a:lstStyle/>
          <a:p>
            <a:pPr marL="431801" lvl="1" indent="-215900" algn="l">
              <a:lnSpc>
                <a:spcPct val="110000"/>
              </a:lnSpc>
              <a:buFont typeface="Arial"/>
              <a:buChar char="•"/>
            </a:pPr>
            <a:r>
              <a:rPr lang="en-US" sz="1700" b="1" spc="-22" dirty="0">
                <a:solidFill>
                  <a:srgbClr val="000000"/>
                </a:solidFill>
                <a:latin typeface="Calibri"/>
                <a:ea typeface="Calibri"/>
                <a:cs typeface="Calibri"/>
                <a:sym typeface="Calibri"/>
              </a:rPr>
              <a:t>4 steps</a:t>
            </a:r>
            <a:r>
              <a:rPr lang="en-US" sz="1700" spc="-22" dirty="0">
                <a:solidFill>
                  <a:srgbClr val="000000"/>
                </a:solidFill>
                <a:latin typeface="Calibri"/>
                <a:ea typeface="Calibri"/>
                <a:cs typeface="Calibri"/>
                <a:sym typeface="Calibri"/>
              </a:rPr>
              <a:t> - choose kit, take photo inside the box, see result, it gets saved. One test takes around 16 seconds (we checked in 19 scans).</a:t>
            </a:r>
          </a:p>
          <a:p>
            <a:pPr marL="431801" lvl="1" indent="-215900" algn="l">
              <a:lnSpc>
                <a:spcPct val="110000"/>
              </a:lnSpc>
              <a:buFont typeface="Arial"/>
              <a:buChar char="•"/>
            </a:pPr>
            <a:r>
              <a:rPr lang="en-US" sz="1700" b="1" spc="-22" dirty="0">
                <a:solidFill>
                  <a:srgbClr val="000000"/>
                </a:solidFill>
                <a:latin typeface="Calibri"/>
                <a:ea typeface="Calibri"/>
                <a:cs typeface="Calibri"/>
                <a:sym typeface="Calibri"/>
              </a:rPr>
              <a:t>Bad photo?</a:t>
            </a:r>
            <a:r>
              <a:rPr lang="en-US" sz="1700" spc="-22" dirty="0">
                <a:solidFill>
                  <a:srgbClr val="000000"/>
                </a:solidFill>
                <a:latin typeface="Calibri"/>
                <a:ea typeface="Calibri"/>
                <a:cs typeface="Calibri"/>
                <a:sym typeface="Calibri"/>
              </a:rPr>
              <a:t> - app says NOT SURE, tells the reason (blurry, shiny or card not seen) and asks to take the photo again.</a:t>
            </a:r>
          </a:p>
          <a:p>
            <a:pPr marL="431801" lvl="1" indent="-215900" algn="l">
              <a:lnSpc>
                <a:spcPct val="110000"/>
              </a:lnSpc>
              <a:buFont typeface="Arial"/>
              <a:buChar char="•"/>
            </a:pPr>
            <a:r>
              <a:rPr lang="en-US" sz="1700" b="1" spc="-22" dirty="0">
                <a:solidFill>
                  <a:srgbClr val="000000"/>
                </a:solidFill>
                <a:latin typeface="Calibri"/>
                <a:ea typeface="Calibri"/>
                <a:cs typeface="Calibri"/>
                <a:sym typeface="Calibri"/>
              </a:rPr>
              <a:t>Easy to read</a:t>
            </a:r>
            <a:r>
              <a:rPr lang="en-US" sz="1700" spc="-22" dirty="0">
                <a:solidFill>
                  <a:srgbClr val="000000"/>
                </a:solidFill>
                <a:latin typeface="Calibri"/>
                <a:ea typeface="Calibri"/>
                <a:cs typeface="Calibri"/>
                <a:sym typeface="Calibri"/>
              </a:rPr>
              <a:t> - Result is shown in big </a:t>
            </a:r>
            <a:r>
              <a:rPr lang="en-US" sz="1700" spc="-22" dirty="0" err="1">
                <a:solidFill>
                  <a:srgbClr val="000000"/>
                </a:solidFill>
                <a:latin typeface="Calibri"/>
                <a:ea typeface="Calibri"/>
                <a:cs typeface="Calibri"/>
                <a:sym typeface="Calibri"/>
              </a:rPr>
              <a:t>coloured</a:t>
            </a:r>
            <a:r>
              <a:rPr lang="en-US" sz="1700" spc="-22" dirty="0">
                <a:solidFill>
                  <a:srgbClr val="000000"/>
                </a:solidFill>
                <a:latin typeface="Calibri"/>
                <a:ea typeface="Calibri"/>
                <a:cs typeface="Calibri"/>
                <a:sym typeface="Calibri"/>
              </a:rPr>
              <a:t> letters, so anyone can read it easily. Works in Tamil too.</a:t>
            </a:r>
          </a:p>
        </p:txBody>
      </p:sp>
      <p:sp>
        <p:nvSpPr>
          <p:cNvPr id="40" name="TextBox 39"/>
          <p:cNvSpPr txBox="1"/>
          <p:nvPr/>
        </p:nvSpPr>
        <p:spPr>
          <a:xfrm>
            <a:off x="8595360" y="5641848"/>
            <a:ext cx="9006840" cy="219456"/>
          </a:xfrm>
          <a:prstGeom prst="rect">
            <a:avLst/>
          </a:prstGeom>
          <a:noFill/>
        </p:spPr>
        <p:txBody>
          <a:bodyPr wrap="square" lIns="36576" tIns="18288" rIns="36576" bIns="18288">
            <a:noAutofit/>
          </a:bodyPr>
          <a:lstStyle/>
          <a:p>
            <a:r>
              <a:rPr sz="1200" b="0" i="1">
                <a:solidFill>
                  <a:srgbClr val="6B6B6B"/>
                </a:solidFill>
                <a:latin typeface="Calibri"/>
              </a:rPr>
              <a:t>Result screen shown in Tamil. Test Log (right) can search and filter by date, officer, kit and result, and download CSV or PDF with QR.</a:t>
            </a:r>
          </a:p>
        </p:txBody>
      </p:sp>
      <p:sp>
        <p:nvSpPr>
          <p:cNvPr id="41" name="TextBox 40"/>
          <p:cNvSpPr txBox="1"/>
          <p:nvPr/>
        </p:nvSpPr>
        <p:spPr>
          <a:xfrm>
            <a:off x="2528171" y="1901952"/>
            <a:ext cx="5564269" cy="292608"/>
          </a:xfrm>
          <a:prstGeom prst="rect">
            <a:avLst/>
          </a:prstGeom>
          <a:noFill/>
        </p:spPr>
        <p:txBody>
          <a:bodyPr wrap="square" lIns="27432" tIns="9144" rIns="27432" bIns="9144">
            <a:noAutofit/>
          </a:bodyPr>
          <a:lstStyle/>
          <a:p>
            <a:r>
              <a:rPr sz="1200" b="0">
                <a:solidFill>
                  <a:srgbClr val="555555"/>
                </a:solidFill>
                <a:latin typeface="Calibri"/>
              </a:rPr>
              <a:t>India: 1,20,010 NDPS cases in 2023 (source: NCRB, Crime in India 2023)</a:t>
            </a:r>
          </a:p>
        </p:txBody>
      </p:sp>
      <p:sp>
        <p:nvSpPr>
          <p:cNvPr id="42" name="TextBox 41"/>
          <p:cNvSpPr txBox="1"/>
          <p:nvPr/>
        </p:nvSpPr>
        <p:spPr>
          <a:xfrm>
            <a:off x="10149840" y="6044184"/>
            <a:ext cx="7315200" cy="292608"/>
          </a:xfrm>
          <a:prstGeom prst="rect">
            <a:avLst/>
          </a:prstGeom>
          <a:noFill/>
        </p:spPr>
        <p:txBody>
          <a:bodyPr wrap="square" lIns="27432" tIns="9144" rIns="27432" bIns="9144">
            <a:noAutofit/>
          </a:bodyPr>
          <a:lstStyle/>
          <a:p>
            <a:r>
              <a:rPr sz="1200" b="0">
                <a:solidFill>
                  <a:srgbClr val="555555"/>
                </a:solidFill>
                <a:latin typeface="Calibri"/>
              </a:rPr>
              <a:t>Eye check is guesswork, lab is slow, </a:t>
            </a:r>
            <a:r>
              <a:rPr sz="1200" b="1">
                <a:solidFill>
                  <a:srgbClr val="555555"/>
                </a:solidFill>
                <a:latin typeface="Calibri"/>
              </a:rPr>
              <a:t>FieldProof gives result on the spot for ₹10 with proof</a:t>
            </a:r>
          </a:p>
        </p:txBody>
      </p:sp>
      <p:pic>
        <p:nvPicPr>
          <p:cNvPr id="43" name="Tamil result screen" descr="tamil_result_crop.png"/>
          <p:cNvPicPr>
            <a:picLocks noChangeAspect="1"/>
          </p:cNvPicPr>
          <p:nvPr/>
        </p:nvPicPr>
        <p:blipFill>
          <a:blip r:embed="rId13"/>
          <a:stretch>
            <a:fillRect/>
          </a:stretch>
        </p:blipFill>
        <p:spPr>
          <a:xfrm>
            <a:off x="11842913" y="3858768"/>
            <a:ext cx="1063454" cy="178308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9564624"/>
            <a:ext cx="18280761" cy="715289"/>
            <a:chOff x="0" y="0"/>
            <a:chExt cx="24374348" cy="953719"/>
          </a:xfrm>
        </p:grpSpPr>
        <p:sp>
          <p:nvSpPr>
            <p:cNvPr id="3" name="Freeform 3"/>
            <p:cNvSpPr/>
            <p:nvPr/>
          </p:nvSpPr>
          <p:spPr>
            <a:xfrm>
              <a:off x="0" y="0"/>
              <a:ext cx="24374348" cy="953770"/>
            </a:xfrm>
            <a:custGeom>
              <a:avLst/>
              <a:gdLst/>
              <a:ahLst/>
              <a:cxnLst/>
              <a:rect l="l" t="t" r="r" b="b"/>
              <a:pathLst>
                <a:path w="24374348" h="953770">
                  <a:moveTo>
                    <a:pt x="0" y="0"/>
                  </a:moveTo>
                  <a:lnTo>
                    <a:pt x="24374348" y="0"/>
                  </a:lnTo>
                  <a:lnTo>
                    <a:pt x="24374348" y="953770"/>
                  </a:lnTo>
                  <a:lnTo>
                    <a:pt x="0" y="953770"/>
                  </a:lnTo>
                  <a:lnTo>
                    <a:pt x="0" y="0"/>
                  </a:lnTo>
                  <a:close/>
                </a:path>
              </a:pathLst>
            </a:custGeom>
            <a:blipFill>
              <a:blip r:embed="rId2"/>
              <a:stretch>
                <a:fillRect t="-914" b="-909"/>
              </a:stretch>
            </a:blipFill>
          </p:spPr>
        </p:sp>
      </p:grpSp>
      <p:grpSp>
        <p:nvGrpSpPr>
          <p:cNvPr id="4" name="Group 4"/>
          <p:cNvGrpSpPr/>
          <p:nvPr/>
        </p:nvGrpSpPr>
        <p:grpSpPr>
          <a:xfrm>
            <a:off x="0" y="9532620"/>
            <a:ext cx="18288000" cy="754380"/>
            <a:chOff x="0" y="0"/>
            <a:chExt cx="24384000" cy="1005840"/>
          </a:xfrm>
        </p:grpSpPr>
        <p:sp>
          <p:nvSpPr>
            <p:cNvPr id="5" name="Freeform 5"/>
            <p:cNvSpPr/>
            <p:nvPr/>
          </p:nvSpPr>
          <p:spPr>
            <a:xfrm>
              <a:off x="0" y="0"/>
              <a:ext cx="24384000" cy="1005840"/>
            </a:xfrm>
            <a:custGeom>
              <a:avLst/>
              <a:gdLst/>
              <a:ahLst/>
              <a:cxnLst/>
              <a:rect l="l" t="t" r="r" b="b"/>
              <a:pathLst>
                <a:path w="24384000" h="1005840">
                  <a:moveTo>
                    <a:pt x="24384000" y="0"/>
                  </a:moveTo>
                  <a:lnTo>
                    <a:pt x="0" y="0"/>
                  </a:lnTo>
                  <a:lnTo>
                    <a:pt x="0" y="1005840"/>
                  </a:lnTo>
                  <a:lnTo>
                    <a:pt x="24384000" y="1005840"/>
                  </a:lnTo>
                  <a:lnTo>
                    <a:pt x="24384000" y="0"/>
                  </a:lnTo>
                  <a:close/>
                </a:path>
              </a:pathLst>
            </a:custGeom>
            <a:solidFill>
              <a:srgbClr val="006EC0"/>
            </a:solidFill>
          </p:spPr>
        </p:sp>
      </p:grpSp>
      <p:sp>
        <p:nvSpPr>
          <p:cNvPr id="6" name="Freeform 6"/>
          <p:cNvSpPr/>
          <p:nvPr/>
        </p:nvSpPr>
        <p:spPr>
          <a:xfrm>
            <a:off x="391335" y="315011"/>
            <a:ext cx="2629852" cy="1249680"/>
          </a:xfrm>
          <a:custGeom>
            <a:avLst/>
            <a:gdLst/>
            <a:ahLst/>
            <a:cxnLst/>
            <a:rect l="l" t="t" r="r" b="b"/>
            <a:pathLst>
              <a:path w="2629852" h="1249680">
                <a:moveTo>
                  <a:pt x="0" y="0"/>
                </a:moveTo>
                <a:lnTo>
                  <a:pt x="2629852" y="0"/>
                </a:lnTo>
                <a:lnTo>
                  <a:pt x="2629852" y="1249680"/>
                </a:lnTo>
                <a:lnTo>
                  <a:pt x="0" y="1249680"/>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a:p>
        </p:txBody>
      </p:sp>
      <p:sp>
        <p:nvSpPr>
          <p:cNvPr id="7" name="AutoShape 7"/>
          <p:cNvSpPr/>
          <p:nvPr/>
        </p:nvSpPr>
        <p:spPr>
          <a:xfrm flipV="1">
            <a:off x="9120273" y="2317442"/>
            <a:ext cx="0" cy="6940858"/>
          </a:xfrm>
          <a:prstGeom prst="line">
            <a:avLst/>
          </a:prstGeom>
          <a:ln w="19050" cap="flat">
            <a:solidFill>
              <a:srgbClr val="B2935B"/>
            </a:solidFill>
            <a:prstDash val="solid"/>
            <a:headEnd type="none" w="sm" len="sm"/>
            <a:tailEnd type="none" w="sm" len="sm"/>
          </a:ln>
        </p:spPr>
        <p:txBody>
          <a:bodyPr/>
          <a:lstStyle/>
          <a:p>
            <a:endParaRPr/>
          </a:p>
        </p:txBody>
      </p:sp>
      <p:sp>
        <p:nvSpPr>
          <p:cNvPr id="8" name="Freeform 8"/>
          <p:cNvSpPr/>
          <p:nvPr/>
        </p:nvSpPr>
        <p:spPr>
          <a:xfrm>
            <a:off x="575656" y="2365906"/>
            <a:ext cx="8506261" cy="7198718"/>
          </a:xfrm>
          <a:custGeom>
            <a:avLst/>
            <a:gdLst/>
            <a:ahLst/>
            <a:cxnLst/>
            <a:rect l="l" t="t" r="r" b="b"/>
            <a:pathLst>
              <a:path w="8506261" h="7198718">
                <a:moveTo>
                  <a:pt x="0" y="0"/>
                </a:moveTo>
                <a:lnTo>
                  <a:pt x="8506261" y="0"/>
                </a:lnTo>
                <a:lnTo>
                  <a:pt x="8506261" y="7198718"/>
                </a:lnTo>
                <a:lnTo>
                  <a:pt x="0" y="7198718"/>
                </a:lnTo>
                <a:lnTo>
                  <a:pt x="0" y="0"/>
                </a:lnTo>
                <a:close/>
              </a:path>
            </a:pathLst>
          </a:custGeom>
          <a:blipFill>
            <a:blip r:embed="rId4"/>
            <a:stretch>
              <a:fillRect l="-3785" t="-10560" r="-41196" b="-17925"/>
            </a:stretch>
          </a:blipFill>
        </p:spPr>
        <p:txBody>
          <a:bodyPr/>
          <a:lstStyle/>
          <a:p>
            <a:endParaRPr/>
          </a:p>
        </p:txBody>
      </p:sp>
      <p:grpSp>
        <p:nvGrpSpPr>
          <p:cNvPr id="9" name="Group 9"/>
          <p:cNvGrpSpPr/>
          <p:nvPr/>
        </p:nvGrpSpPr>
        <p:grpSpPr>
          <a:xfrm>
            <a:off x="14720116" y="33423"/>
            <a:ext cx="3287373" cy="1531268"/>
            <a:chOff x="0" y="0"/>
            <a:chExt cx="4383164" cy="2041690"/>
          </a:xfrm>
        </p:grpSpPr>
        <p:sp>
          <p:nvSpPr>
            <p:cNvPr id="10" name="Freeform 10"/>
            <p:cNvSpPr/>
            <p:nvPr/>
          </p:nvSpPr>
          <p:spPr>
            <a:xfrm>
              <a:off x="0" y="0"/>
              <a:ext cx="4383151" cy="2041652"/>
            </a:xfrm>
            <a:custGeom>
              <a:avLst/>
              <a:gdLst/>
              <a:ahLst/>
              <a:cxnLst/>
              <a:rect l="l" t="t" r="r" b="b"/>
              <a:pathLst>
                <a:path w="4383151" h="2041652">
                  <a:moveTo>
                    <a:pt x="0" y="0"/>
                  </a:moveTo>
                  <a:lnTo>
                    <a:pt x="4383151" y="0"/>
                  </a:lnTo>
                  <a:lnTo>
                    <a:pt x="4383151" y="2041652"/>
                  </a:lnTo>
                  <a:lnTo>
                    <a:pt x="0" y="2041652"/>
                  </a:lnTo>
                  <a:lnTo>
                    <a:pt x="0" y="0"/>
                  </a:lnTo>
                  <a:close/>
                </a:path>
              </a:pathLst>
            </a:custGeom>
            <a:blipFill>
              <a:blip r:embed="rId5"/>
              <a:stretch>
                <a:fillRect t="-106" b="-108"/>
              </a:stretch>
            </a:blipFill>
          </p:spPr>
        </p:sp>
      </p:grpSp>
      <p:sp>
        <p:nvSpPr>
          <p:cNvPr id="11" name="Freeform 11"/>
          <p:cNvSpPr/>
          <p:nvPr/>
        </p:nvSpPr>
        <p:spPr>
          <a:xfrm>
            <a:off x="15633393" y="3206103"/>
            <a:ext cx="2374096" cy="5123386"/>
          </a:xfrm>
          <a:custGeom>
            <a:avLst/>
            <a:gdLst/>
            <a:ahLst/>
            <a:cxnLst/>
            <a:rect l="l" t="t" r="r" b="b"/>
            <a:pathLst>
              <a:path w="2374096" h="5123386">
                <a:moveTo>
                  <a:pt x="0" y="0"/>
                </a:moveTo>
                <a:lnTo>
                  <a:pt x="2374096" y="0"/>
                </a:lnTo>
                <a:lnTo>
                  <a:pt x="2374096" y="5123386"/>
                </a:lnTo>
                <a:lnTo>
                  <a:pt x="0" y="5123386"/>
                </a:lnTo>
                <a:lnTo>
                  <a:pt x="0" y="0"/>
                </a:lnTo>
                <a:close/>
              </a:path>
            </a:pathLst>
          </a:custGeom>
          <a:blipFill>
            <a:blip r:embed="rId6"/>
            <a:stretch>
              <a:fillRect l="-32659" t="-5244" r="-32335" b="-9439"/>
            </a:stretch>
          </a:blipFill>
        </p:spPr>
        <p:txBody>
          <a:bodyPr/>
          <a:lstStyle/>
          <a:p>
            <a:endParaRPr/>
          </a:p>
        </p:txBody>
      </p:sp>
      <p:sp>
        <p:nvSpPr>
          <p:cNvPr id="12" name="AutoShape 12"/>
          <p:cNvSpPr/>
          <p:nvPr/>
        </p:nvSpPr>
        <p:spPr>
          <a:xfrm flipV="1">
            <a:off x="15376592" y="2280181"/>
            <a:ext cx="0" cy="6940858"/>
          </a:xfrm>
          <a:prstGeom prst="line">
            <a:avLst/>
          </a:prstGeom>
          <a:ln w="19050" cap="flat">
            <a:solidFill>
              <a:srgbClr val="B2935B"/>
            </a:solidFill>
            <a:prstDash val="solid"/>
            <a:headEnd type="none" w="sm" len="sm"/>
            <a:tailEnd type="none" w="sm" len="sm"/>
          </a:ln>
        </p:spPr>
        <p:txBody>
          <a:bodyPr/>
          <a:lstStyle/>
          <a:p>
            <a:endParaRPr/>
          </a:p>
        </p:txBody>
      </p:sp>
      <p:sp>
        <p:nvSpPr>
          <p:cNvPr id="14" name="TextBox 14" descr="$PPTXTitle"/>
          <p:cNvSpPr txBox="1"/>
          <p:nvPr/>
        </p:nvSpPr>
        <p:spPr>
          <a:xfrm>
            <a:off x="4732364" y="360750"/>
            <a:ext cx="8268583" cy="847725"/>
          </a:xfrm>
          <a:prstGeom prst="rect">
            <a:avLst/>
          </a:prstGeom>
        </p:spPr>
        <p:txBody>
          <a:bodyPr lIns="0" tIns="0" rIns="0" bIns="0" rtlCol="0" anchor="t">
            <a:spAutoFit/>
          </a:bodyPr>
          <a:lstStyle/>
          <a:p>
            <a:pPr algn="l">
              <a:lnSpc>
                <a:spcPts val="6480"/>
              </a:lnSpc>
            </a:pPr>
            <a:r>
              <a:rPr lang="en-US" sz="5400" b="1" spc="-15">
                <a:solidFill>
                  <a:srgbClr val="7A2F00"/>
                </a:solidFill>
                <a:latin typeface="Times New Roman Bold"/>
                <a:ea typeface="Times New Roman Bold"/>
                <a:cs typeface="Times New Roman Bold"/>
                <a:sym typeface="Times New Roman Bold"/>
              </a:rPr>
              <a:t>TECHNICAL APPROACH</a:t>
            </a:r>
          </a:p>
        </p:txBody>
      </p:sp>
      <p:sp>
        <p:nvSpPr>
          <p:cNvPr id="15" name="TextBox 15"/>
          <p:cNvSpPr txBox="1"/>
          <p:nvPr/>
        </p:nvSpPr>
        <p:spPr>
          <a:xfrm>
            <a:off x="17063656" y="9649673"/>
            <a:ext cx="104775" cy="288608"/>
          </a:xfrm>
          <a:prstGeom prst="rect">
            <a:avLst/>
          </a:prstGeom>
        </p:spPr>
        <p:txBody>
          <a:bodyPr lIns="0" tIns="0" rIns="0" bIns="0" rtlCol="0" anchor="t">
            <a:spAutoFit/>
          </a:bodyPr>
          <a:lstStyle/>
          <a:p>
            <a:pPr algn="l">
              <a:lnSpc>
                <a:spcPts val="2137"/>
              </a:lnSpc>
            </a:pPr>
            <a:r>
              <a:rPr lang="en-US" sz="1800" b="1" spc="-75">
                <a:solidFill>
                  <a:srgbClr val="FFFFFF"/>
                </a:solidFill>
                <a:latin typeface="Times New Roman Bold"/>
                <a:ea typeface="Times New Roman Bold"/>
                <a:cs typeface="Times New Roman Bold"/>
                <a:sym typeface="Times New Roman Bold"/>
              </a:rPr>
              <a:t>3</a:t>
            </a:r>
          </a:p>
        </p:txBody>
      </p:sp>
      <p:sp>
        <p:nvSpPr>
          <p:cNvPr id="16" name="TextBox 16" descr="$PPTXTitle"/>
          <p:cNvSpPr txBox="1"/>
          <p:nvPr/>
        </p:nvSpPr>
        <p:spPr>
          <a:xfrm>
            <a:off x="1074372" y="677913"/>
            <a:ext cx="1461403" cy="466725"/>
          </a:xfrm>
          <a:prstGeom prst="rect">
            <a:avLst/>
          </a:prstGeom>
        </p:spPr>
        <p:txBody>
          <a:bodyPr lIns="0" tIns="0" rIns="0" bIns="0" rtlCol="0" anchor="t">
            <a:spAutoFit/>
          </a:bodyPr>
          <a:lstStyle/>
          <a:p>
            <a:pPr algn="l">
              <a:lnSpc>
                <a:spcPts val="3240"/>
              </a:lnSpc>
            </a:pPr>
            <a:r>
              <a:rPr lang="en-US" sz="2700" b="1" spc="-29">
                <a:solidFill>
                  <a:srgbClr val="7A2F00"/>
                </a:solidFill>
                <a:latin typeface="Calibri"/>
                <a:ea typeface="Calibri"/>
                <a:cs typeface="Calibri"/>
                <a:sym typeface="Calibri"/>
              </a:rPr>
              <a:t>HexTech</a:t>
            </a:r>
          </a:p>
        </p:txBody>
      </p:sp>
      <p:sp>
        <p:nvSpPr>
          <p:cNvPr id="17" name="TextBox 17"/>
          <p:cNvSpPr txBox="1"/>
          <p:nvPr/>
        </p:nvSpPr>
        <p:spPr>
          <a:xfrm>
            <a:off x="15414563" y="2563902"/>
            <a:ext cx="2592926" cy="438150"/>
          </a:xfrm>
          <a:prstGeom prst="rect">
            <a:avLst/>
          </a:prstGeom>
        </p:spPr>
        <p:txBody>
          <a:bodyPr lIns="0" tIns="0" rIns="0" bIns="0" rtlCol="0" anchor="t">
            <a:spAutoFit/>
          </a:bodyPr>
          <a:lstStyle/>
          <a:p>
            <a:pPr algn="ctr">
              <a:lnSpc>
                <a:spcPts val="3000"/>
              </a:lnSpc>
              <a:spcBef>
                <a:spcPct val="0"/>
              </a:spcBef>
            </a:pPr>
            <a:r>
              <a:rPr lang="en-US" sz="2500" b="1" spc="-27">
                <a:solidFill>
                  <a:srgbClr val="7A2F00"/>
                </a:solidFill>
                <a:latin typeface="Calibri"/>
                <a:ea typeface="Calibri"/>
                <a:cs typeface="Calibri"/>
                <a:sym typeface="Calibri"/>
              </a:rPr>
              <a:t>Technology Stack</a:t>
            </a:r>
          </a:p>
        </p:txBody>
      </p:sp>
      <p:sp>
        <p:nvSpPr>
          <p:cNvPr id="18" name="TextBox 18"/>
          <p:cNvSpPr txBox="1"/>
          <p:nvPr/>
        </p:nvSpPr>
        <p:spPr>
          <a:xfrm>
            <a:off x="714375" y="1842031"/>
            <a:ext cx="2592926" cy="438150"/>
          </a:xfrm>
          <a:prstGeom prst="rect">
            <a:avLst/>
          </a:prstGeom>
        </p:spPr>
        <p:txBody>
          <a:bodyPr lIns="0" tIns="0" rIns="0" bIns="0" rtlCol="0" anchor="t">
            <a:spAutoFit/>
          </a:bodyPr>
          <a:lstStyle/>
          <a:p>
            <a:pPr algn="ctr">
              <a:lnSpc>
                <a:spcPts val="3000"/>
              </a:lnSpc>
              <a:spcBef>
                <a:spcPct val="0"/>
              </a:spcBef>
            </a:pPr>
            <a:r>
              <a:rPr lang="en-US" sz="2500" b="1" spc="-27">
                <a:solidFill>
                  <a:srgbClr val="7A2F00"/>
                </a:solidFill>
                <a:latin typeface="Calibri"/>
                <a:ea typeface="Calibri"/>
                <a:cs typeface="Calibri"/>
                <a:sym typeface="Calibri"/>
              </a:rPr>
              <a:t>System Architecture</a:t>
            </a:r>
          </a:p>
        </p:txBody>
      </p:sp>
      <p:sp>
        <p:nvSpPr>
          <p:cNvPr id="19" name="TextBox 19"/>
          <p:cNvSpPr txBox="1"/>
          <p:nvPr/>
        </p:nvSpPr>
        <p:spPr>
          <a:xfrm>
            <a:off x="9248369" y="2251606"/>
            <a:ext cx="5761019" cy="3268218"/>
          </a:xfrm>
          <a:prstGeom prst="rect">
            <a:avLst/>
          </a:prstGeom>
        </p:spPr>
        <p:txBody>
          <a:bodyPr lIns="0" tIns="0" rIns="0" bIns="0" rtlCol="0" anchor="t">
            <a:spAutoFit/>
          </a:bodyPr>
          <a:lstStyle/>
          <a:p>
            <a:pPr marL="367031" lvl="1" indent="-183515" algn="l">
              <a:lnSpc>
                <a:spcPct val="110000"/>
              </a:lnSpc>
              <a:buFont typeface="Arial"/>
              <a:buChar char="•"/>
            </a:pPr>
            <a:r>
              <a:rPr lang="en-US" sz="1700" spc="-13">
                <a:solidFill>
                  <a:srgbClr val="000000"/>
                </a:solidFill>
                <a:latin typeface="Calibri"/>
                <a:ea typeface="Calibri"/>
                <a:cs typeface="Calibri"/>
                <a:sym typeface="Calibri"/>
              </a:rPr>
              <a:t>Testing: 37 computer made photos and 25 real phone scans.</a:t>
            </a:r>
          </a:p>
          <a:p>
            <a:pPr marL="367031" lvl="1" indent="-183515" algn="l">
              <a:lnSpc>
                <a:spcPct val="110000"/>
              </a:lnSpc>
              <a:buFont typeface="Arial"/>
              <a:buChar char="•"/>
            </a:pPr>
            <a:r>
              <a:rPr lang="en-US" sz="1700" spc="-13">
                <a:solidFill>
                  <a:srgbClr val="000000"/>
                </a:solidFill>
                <a:latin typeface="Calibri"/>
                <a:ea typeface="Calibri"/>
                <a:cs typeface="Calibri"/>
                <a:sym typeface="Calibri"/>
              </a:rPr>
              <a:t>Accuracy: all 25 computer made photos correct. Real scans had 0 wrong answers (14 correct, others said NOT SURE).</a:t>
            </a:r>
          </a:p>
          <a:p>
            <a:pPr marL="367031" lvl="1" indent="-183515" algn="l">
              <a:lnSpc>
                <a:spcPct val="110000"/>
              </a:lnSpc>
              <a:buFont typeface="Arial"/>
              <a:buChar char="•"/>
            </a:pPr>
            <a:r>
              <a:rPr lang="en-US" sz="1700" spc="-13">
                <a:solidFill>
                  <a:srgbClr val="000000"/>
                </a:solidFill>
                <a:latin typeface="Calibri"/>
                <a:ea typeface="Calibri"/>
                <a:cs typeface="Calibri"/>
                <a:sym typeface="Calibri"/>
              </a:rPr>
              <a:t>Colour Check: Used ΔE ≤ 14, 4-point colour matching, card-fit and glare thresholds.</a:t>
            </a:r>
          </a:p>
          <a:p>
            <a:pPr marL="367031" lvl="1" indent="-183515" algn="l">
              <a:lnSpc>
                <a:spcPct val="110000"/>
              </a:lnSpc>
              <a:buFont typeface="Arial"/>
              <a:buChar char="•"/>
            </a:pPr>
            <a:r>
              <a:rPr lang="en-US" sz="1700" spc="-13">
                <a:solidFill>
                  <a:srgbClr val="000000"/>
                </a:solidFill>
                <a:latin typeface="Calibri"/>
                <a:ea typeface="Calibri"/>
                <a:cs typeface="Calibri"/>
                <a:sym typeface="Calibri"/>
              </a:rPr>
              <a:t>Speed: Result secured in 2.5 s typically, 5 s maximum.</a:t>
            </a:r>
          </a:p>
          <a:p>
            <a:pPr marL="367031" lvl="1" indent="-183515" algn="l">
              <a:lnSpc>
                <a:spcPct val="110000"/>
              </a:lnSpc>
              <a:buFont typeface="Arial"/>
              <a:buChar char="•"/>
            </a:pPr>
            <a:r>
              <a:rPr lang="en-US" sz="1700" spc="-13">
                <a:solidFill>
                  <a:srgbClr val="000000"/>
                </a:solidFill>
                <a:latin typeface="Calibri"/>
                <a:ea typeface="Calibri"/>
                <a:cs typeface="Calibri"/>
                <a:sym typeface="Calibri"/>
              </a:rPr>
              <a:t>Tamper Test: All 4/4 modified records were detected successfully.</a:t>
            </a:r>
          </a:p>
        </p:txBody>
      </p:sp>
      <p:sp>
        <p:nvSpPr>
          <p:cNvPr id="20" name="TextBox 20"/>
          <p:cNvSpPr txBox="1"/>
          <p:nvPr/>
        </p:nvSpPr>
        <p:spPr>
          <a:xfrm>
            <a:off x="9248369" y="4590288"/>
            <a:ext cx="5885001" cy="552450"/>
          </a:xfrm>
          <a:prstGeom prst="rect">
            <a:avLst/>
          </a:prstGeom>
        </p:spPr>
        <p:txBody>
          <a:bodyPr lIns="0" tIns="0" rIns="0" bIns="0" rtlCol="0" anchor="t">
            <a:spAutoFit/>
          </a:bodyPr>
          <a:lstStyle/>
          <a:p>
            <a:pPr algn="ctr">
              <a:lnSpc>
                <a:spcPts val="2040"/>
              </a:lnSpc>
              <a:spcBef>
                <a:spcPct val="0"/>
              </a:spcBef>
            </a:pPr>
            <a:r>
              <a:rPr lang="en-US" sz="1700" i="1" spc="-18">
                <a:solidFill>
                  <a:srgbClr val="000000"/>
                </a:solidFill>
                <a:latin typeface="Calibri"/>
                <a:ea typeface="Calibri"/>
                <a:cs typeface="Calibri"/>
                <a:sym typeface="Calibri"/>
              </a:rPr>
              <a:t>Kit colours are simulated swatches (test photos + card on a screen), real kits need an FSL calibration trial.</a:t>
            </a:r>
          </a:p>
          <a:p>
            <a:pPr algn="ctr">
              <a:lnSpc>
                <a:spcPts val="2040"/>
              </a:lnSpc>
              <a:spcBef>
                <a:spcPct val="0"/>
              </a:spcBef>
            </a:pPr>
            <a:r>
              <a:rPr lang="en-US" sz="1700" i="1" spc="-18">
                <a:solidFill>
                  <a:srgbClr val="000000"/>
                </a:solidFill>
                <a:latin typeface="Calibri"/>
                <a:ea typeface="Calibri"/>
                <a:cs typeface="Calibri"/>
                <a:sym typeface="Calibri"/>
              </a:rPr>
              <a:t>Right now it is a lab prototype (TRL 4) tested on 1 phone. Next we test real kits with FSL on more phones.</a:t>
            </a:r>
          </a:p>
        </p:txBody>
      </p:sp>
      <p:sp>
        <p:nvSpPr>
          <p:cNvPr id="21" name="TextBox 21"/>
          <p:cNvSpPr txBox="1"/>
          <p:nvPr/>
        </p:nvSpPr>
        <p:spPr>
          <a:xfrm>
            <a:off x="9281316" y="1842031"/>
            <a:ext cx="3900607" cy="438150"/>
          </a:xfrm>
          <a:prstGeom prst="rect">
            <a:avLst/>
          </a:prstGeom>
        </p:spPr>
        <p:txBody>
          <a:bodyPr lIns="0" tIns="0" rIns="0" bIns="0" rtlCol="0" anchor="t">
            <a:spAutoFit/>
          </a:bodyPr>
          <a:lstStyle/>
          <a:p>
            <a:pPr algn="l">
              <a:lnSpc>
                <a:spcPts val="3000"/>
              </a:lnSpc>
            </a:pPr>
            <a:r>
              <a:rPr lang="en-US" sz="2500" b="1">
                <a:solidFill>
                  <a:srgbClr val="7A2F00"/>
                </a:solidFill>
                <a:latin typeface="Calibri"/>
                <a:ea typeface="Calibri"/>
                <a:cs typeface="Calibri"/>
                <a:sym typeface="Calibri"/>
              </a:rPr>
              <a:t>Our Goals - Measured Results</a:t>
            </a:r>
          </a:p>
        </p:txBody>
      </p:sp>
      <p:sp>
        <p:nvSpPr>
          <p:cNvPr id="22" name="TextBox 22"/>
          <p:cNvSpPr txBox="1"/>
          <p:nvPr/>
        </p:nvSpPr>
        <p:spPr>
          <a:xfrm>
            <a:off x="9253728" y="5888736"/>
            <a:ext cx="5989320" cy="381000"/>
          </a:xfrm>
          <a:prstGeom prst="rect">
            <a:avLst/>
          </a:prstGeom>
        </p:spPr>
        <p:txBody>
          <a:bodyPr wrap="none" lIns="0" tIns="0" rIns="0" bIns="0" rtlCol="0" anchor="t">
            <a:noAutofit/>
          </a:bodyPr>
          <a:lstStyle/>
          <a:p>
            <a:pPr algn="ctr">
              <a:lnSpc>
                <a:spcPts val="2640"/>
              </a:lnSpc>
              <a:spcBef>
                <a:spcPct val="0"/>
              </a:spcBef>
            </a:pPr>
            <a:r>
              <a:rPr lang="en-US" sz="2200" b="1" spc="-24">
                <a:solidFill>
                  <a:srgbClr val="7A2F00"/>
                </a:solidFill>
                <a:latin typeface="Calibri"/>
                <a:ea typeface="Calibri"/>
                <a:cs typeface="Calibri"/>
                <a:sym typeface="Calibri"/>
              </a:rPr>
              <a:t>Proof from Real Phone Scans (29 Sep 2026)</a:t>
            </a:r>
          </a:p>
        </p:txBody>
      </p:sp>
      <p:sp>
        <p:nvSpPr>
          <p:cNvPr id="23" name="AutoShape 23"/>
          <p:cNvSpPr/>
          <p:nvPr/>
        </p:nvSpPr>
        <p:spPr>
          <a:xfrm>
            <a:off x="9248369" y="5833872"/>
            <a:ext cx="5885001" cy="0"/>
          </a:xfrm>
          <a:prstGeom prst="line">
            <a:avLst/>
          </a:prstGeom>
          <a:ln w="19050" cap="flat">
            <a:solidFill>
              <a:srgbClr val="B2935B"/>
            </a:solidFill>
            <a:prstDash val="solid"/>
            <a:headEnd type="none" w="sm" len="sm"/>
            <a:tailEnd type="none" w="sm" len="sm"/>
          </a:ln>
        </p:spPr>
        <p:txBody>
          <a:bodyPr/>
          <a:lstStyle/>
          <a:p>
            <a:endParaRPr/>
          </a:p>
        </p:txBody>
      </p:sp>
      <p:pic>
        <p:nvPicPr>
          <p:cNvPr id="24" name="Real scans" descr="real_scans.png"/>
          <p:cNvPicPr>
            <a:picLocks noChangeAspect="1"/>
          </p:cNvPicPr>
          <p:nvPr/>
        </p:nvPicPr>
        <p:blipFill>
          <a:blip r:embed="rId7"/>
          <a:stretch>
            <a:fillRect/>
          </a:stretch>
        </p:blipFill>
        <p:spPr>
          <a:xfrm>
            <a:off x="9253728" y="6309360"/>
            <a:ext cx="5989320" cy="2582894"/>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9564624"/>
            <a:ext cx="18280761" cy="715289"/>
            <a:chOff x="0" y="0"/>
            <a:chExt cx="24374348" cy="953719"/>
          </a:xfrm>
        </p:grpSpPr>
        <p:sp>
          <p:nvSpPr>
            <p:cNvPr id="3" name="Freeform 3"/>
            <p:cNvSpPr/>
            <p:nvPr/>
          </p:nvSpPr>
          <p:spPr>
            <a:xfrm>
              <a:off x="0" y="0"/>
              <a:ext cx="24374348" cy="953770"/>
            </a:xfrm>
            <a:custGeom>
              <a:avLst/>
              <a:gdLst/>
              <a:ahLst/>
              <a:cxnLst/>
              <a:rect l="l" t="t" r="r" b="b"/>
              <a:pathLst>
                <a:path w="24374348" h="953770">
                  <a:moveTo>
                    <a:pt x="0" y="0"/>
                  </a:moveTo>
                  <a:lnTo>
                    <a:pt x="24374348" y="0"/>
                  </a:lnTo>
                  <a:lnTo>
                    <a:pt x="24374348" y="953770"/>
                  </a:lnTo>
                  <a:lnTo>
                    <a:pt x="0" y="953770"/>
                  </a:lnTo>
                  <a:lnTo>
                    <a:pt x="0" y="0"/>
                  </a:lnTo>
                  <a:close/>
                </a:path>
              </a:pathLst>
            </a:custGeom>
            <a:blipFill>
              <a:blip r:embed="rId2"/>
              <a:stretch>
                <a:fillRect t="-914" b="-909"/>
              </a:stretch>
            </a:blipFill>
          </p:spPr>
        </p:sp>
      </p:grpSp>
      <p:grpSp>
        <p:nvGrpSpPr>
          <p:cNvPr id="4" name="Group 4"/>
          <p:cNvGrpSpPr/>
          <p:nvPr/>
        </p:nvGrpSpPr>
        <p:grpSpPr>
          <a:xfrm>
            <a:off x="0" y="9532620"/>
            <a:ext cx="18288000" cy="754380"/>
            <a:chOff x="0" y="0"/>
            <a:chExt cx="24384000" cy="1005840"/>
          </a:xfrm>
        </p:grpSpPr>
        <p:sp>
          <p:nvSpPr>
            <p:cNvPr id="5" name="Freeform 5"/>
            <p:cNvSpPr/>
            <p:nvPr/>
          </p:nvSpPr>
          <p:spPr>
            <a:xfrm>
              <a:off x="0" y="0"/>
              <a:ext cx="24384000" cy="1005840"/>
            </a:xfrm>
            <a:custGeom>
              <a:avLst/>
              <a:gdLst/>
              <a:ahLst/>
              <a:cxnLst/>
              <a:rect l="l" t="t" r="r" b="b"/>
              <a:pathLst>
                <a:path w="24384000" h="1005840">
                  <a:moveTo>
                    <a:pt x="24384000" y="0"/>
                  </a:moveTo>
                  <a:lnTo>
                    <a:pt x="0" y="0"/>
                  </a:lnTo>
                  <a:lnTo>
                    <a:pt x="0" y="1005840"/>
                  </a:lnTo>
                  <a:lnTo>
                    <a:pt x="24384000" y="1005840"/>
                  </a:lnTo>
                  <a:lnTo>
                    <a:pt x="24384000" y="0"/>
                  </a:lnTo>
                  <a:close/>
                </a:path>
              </a:pathLst>
            </a:custGeom>
            <a:solidFill>
              <a:srgbClr val="006EC0"/>
            </a:solidFill>
          </p:spPr>
        </p:sp>
      </p:grpSp>
      <p:grpSp>
        <p:nvGrpSpPr>
          <p:cNvPr id="6" name="Group 6"/>
          <p:cNvGrpSpPr/>
          <p:nvPr/>
        </p:nvGrpSpPr>
        <p:grpSpPr>
          <a:xfrm>
            <a:off x="0" y="9564624"/>
            <a:ext cx="18280761" cy="715289"/>
            <a:chOff x="0" y="0"/>
            <a:chExt cx="24374348" cy="953719"/>
          </a:xfrm>
        </p:grpSpPr>
        <p:sp>
          <p:nvSpPr>
            <p:cNvPr id="7" name="Freeform 7"/>
            <p:cNvSpPr/>
            <p:nvPr/>
          </p:nvSpPr>
          <p:spPr>
            <a:xfrm>
              <a:off x="0" y="0"/>
              <a:ext cx="24374348" cy="953770"/>
            </a:xfrm>
            <a:custGeom>
              <a:avLst/>
              <a:gdLst/>
              <a:ahLst/>
              <a:cxnLst/>
              <a:rect l="l" t="t" r="r" b="b"/>
              <a:pathLst>
                <a:path w="24374348" h="953770">
                  <a:moveTo>
                    <a:pt x="0" y="0"/>
                  </a:moveTo>
                  <a:lnTo>
                    <a:pt x="24374348" y="0"/>
                  </a:lnTo>
                  <a:lnTo>
                    <a:pt x="24374348" y="953770"/>
                  </a:lnTo>
                  <a:lnTo>
                    <a:pt x="0" y="953770"/>
                  </a:lnTo>
                  <a:lnTo>
                    <a:pt x="0" y="0"/>
                  </a:lnTo>
                  <a:close/>
                </a:path>
              </a:pathLst>
            </a:custGeom>
            <a:blipFill>
              <a:blip r:embed="rId2"/>
              <a:stretch>
                <a:fillRect t="-914" b="-909"/>
              </a:stretch>
            </a:blipFill>
          </p:spPr>
        </p:sp>
      </p:grpSp>
      <p:grpSp>
        <p:nvGrpSpPr>
          <p:cNvPr id="8" name="Group 8"/>
          <p:cNvGrpSpPr/>
          <p:nvPr/>
        </p:nvGrpSpPr>
        <p:grpSpPr>
          <a:xfrm>
            <a:off x="0" y="9532620"/>
            <a:ext cx="18288000" cy="754380"/>
            <a:chOff x="0" y="0"/>
            <a:chExt cx="24384000" cy="1005840"/>
          </a:xfrm>
        </p:grpSpPr>
        <p:sp>
          <p:nvSpPr>
            <p:cNvPr id="9" name="Freeform 9"/>
            <p:cNvSpPr/>
            <p:nvPr/>
          </p:nvSpPr>
          <p:spPr>
            <a:xfrm>
              <a:off x="0" y="0"/>
              <a:ext cx="24384000" cy="1005840"/>
            </a:xfrm>
            <a:custGeom>
              <a:avLst/>
              <a:gdLst/>
              <a:ahLst/>
              <a:cxnLst/>
              <a:rect l="l" t="t" r="r" b="b"/>
              <a:pathLst>
                <a:path w="24384000" h="1005840">
                  <a:moveTo>
                    <a:pt x="24384000" y="0"/>
                  </a:moveTo>
                  <a:lnTo>
                    <a:pt x="0" y="0"/>
                  </a:lnTo>
                  <a:lnTo>
                    <a:pt x="0" y="1005840"/>
                  </a:lnTo>
                  <a:lnTo>
                    <a:pt x="24384000" y="1005840"/>
                  </a:lnTo>
                  <a:lnTo>
                    <a:pt x="24384000" y="0"/>
                  </a:lnTo>
                  <a:close/>
                </a:path>
              </a:pathLst>
            </a:custGeom>
            <a:solidFill>
              <a:srgbClr val="006EC0"/>
            </a:solidFill>
          </p:spPr>
        </p:sp>
      </p:grpSp>
      <p:graphicFrame>
        <p:nvGraphicFramePr>
          <p:cNvPr id="10" name="Table 10"/>
          <p:cNvGraphicFramePr>
            <a:graphicFrameLocks noGrp="1"/>
          </p:cNvGraphicFramePr>
          <p:nvPr/>
        </p:nvGraphicFramePr>
        <p:xfrm>
          <a:off x="9363648" y="2318099"/>
          <a:ext cx="7695951" cy="4167065"/>
        </p:xfrm>
        <a:graphic>
          <a:graphicData uri="http://schemas.openxmlformats.org/drawingml/2006/table">
            <a:tbl>
              <a:tblPr/>
              <a:tblGrid>
                <a:gridCol w="3597282">
                  <a:extLst>
                    <a:ext uri="{9D8B030D-6E8A-4147-A177-3AD203B41FA5}">
                      <a16:colId xmlns:a16="http://schemas.microsoft.com/office/drawing/2014/main" val="20000"/>
                    </a:ext>
                  </a:extLst>
                </a:gridCol>
                <a:gridCol w="4098669">
                  <a:extLst>
                    <a:ext uri="{9D8B030D-6E8A-4147-A177-3AD203B41FA5}">
                      <a16:colId xmlns:a16="http://schemas.microsoft.com/office/drawing/2014/main" val="20001"/>
                    </a:ext>
                  </a:extLst>
                </a:gridCol>
              </a:tblGrid>
              <a:tr h="773293">
                <a:tc>
                  <a:txBody>
                    <a:bodyPr/>
                    <a:lstStyle/>
                    <a:p>
                      <a:pPr algn="ctr">
                        <a:lnSpc>
                          <a:spcPts val="2659"/>
                        </a:lnSpc>
                        <a:defRPr/>
                      </a:pPr>
                      <a:r>
                        <a:rPr lang="en-US" sz="1899" b="1">
                          <a:solidFill>
                            <a:srgbClr val="000000"/>
                          </a:solidFill>
                          <a:latin typeface="Calibri"/>
                          <a:ea typeface="Calibri"/>
                          <a:cs typeface="Calibri"/>
                          <a:sym typeface="Calibri"/>
                        </a:rPr>
                        <a:t>Real-world problem</a:t>
                      </a:r>
                      <a:endParaRPr lang="en-US" sz="1100"/>
                    </a:p>
                  </a:txBody>
                  <a:tcPr marL="190500" marR="190500" marT="190500" marB="1905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B2935B"/>
                    </a:solidFill>
                  </a:tcPr>
                </a:tc>
                <a:tc>
                  <a:txBody>
                    <a:bodyPr/>
                    <a:lstStyle/>
                    <a:p>
                      <a:pPr algn="ctr">
                        <a:lnSpc>
                          <a:spcPts val="2659"/>
                        </a:lnSpc>
                        <a:defRPr/>
                      </a:pPr>
                      <a:r>
                        <a:rPr lang="en-US" sz="1899" b="1">
                          <a:solidFill>
                            <a:srgbClr val="000000"/>
                          </a:solidFill>
                          <a:latin typeface="Calibri"/>
                          <a:ea typeface="Calibri"/>
                          <a:cs typeface="Calibri"/>
                          <a:sym typeface="Calibri"/>
                        </a:rPr>
                        <a:t>What our app does</a:t>
                      </a:r>
                      <a:endParaRPr lang="en-US" sz="1100"/>
                    </a:p>
                  </a:txBody>
                  <a:tcPr marL="190500" marR="190500" marT="190500" marB="1905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B2935B"/>
                    </a:solidFill>
                  </a:tcPr>
                </a:tc>
                <a:extLst>
                  <a:ext uri="{0D108BD9-81ED-4DB2-BD59-A6C34878D82A}">
                    <a16:rowId xmlns:a16="http://schemas.microsoft.com/office/drawing/2014/main" val="10000"/>
                  </a:ext>
                </a:extLst>
              </a:tr>
              <a:tr h="677824">
                <a:tc>
                  <a:txBody>
                    <a:bodyPr/>
                    <a:lstStyle/>
                    <a:p>
                      <a:pPr algn="l">
                        <a:lnSpc>
                          <a:spcPts val="1959"/>
                        </a:lnSpc>
                        <a:defRPr/>
                      </a:pPr>
                      <a:r>
                        <a:rPr lang="en-US" sz="1399">
                          <a:solidFill>
                            <a:srgbClr val="000000"/>
                          </a:solidFill>
                          <a:latin typeface="Calibri"/>
                          <a:ea typeface="Calibri"/>
                          <a:cs typeface="Calibri"/>
                          <a:sym typeface="Calibri"/>
                        </a:rPr>
                        <a:t>Bad light (street lamp / torch)</a:t>
                      </a:r>
                      <a:endParaRPr lang="en-US" sz="1100"/>
                    </a:p>
                  </a:txBody>
                  <a:tcPr marL="190500" marR="190500" marT="190500" marB="1905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l">
                        <a:lnSpc>
                          <a:spcPts val="1959"/>
                        </a:lnSpc>
                        <a:defRPr/>
                      </a:pPr>
                      <a:r>
                        <a:rPr lang="en-US" sz="1399">
                          <a:solidFill>
                            <a:srgbClr val="000000"/>
                          </a:solidFill>
                          <a:latin typeface="Calibri"/>
                          <a:ea typeface="Calibri"/>
                          <a:cs typeface="Calibri"/>
                          <a:sym typeface="Calibri"/>
                        </a:rPr>
                        <a:t>Colour card fixes the colours</a:t>
                      </a:r>
                      <a:endParaRPr lang="en-US" sz="1100"/>
                    </a:p>
                  </a:txBody>
                  <a:tcPr marL="190500" marR="190500" marT="190500" marB="1905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682476">
                <a:tc>
                  <a:txBody>
                    <a:bodyPr/>
                    <a:lstStyle/>
                    <a:p>
                      <a:pPr algn="l">
                        <a:lnSpc>
                          <a:spcPts val="1959"/>
                        </a:lnSpc>
                        <a:defRPr/>
                      </a:pPr>
                      <a:r>
                        <a:rPr lang="en-US" sz="1399">
                          <a:solidFill>
                            <a:srgbClr val="000000"/>
                          </a:solidFill>
                          <a:latin typeface="Calibri"/>
                          <a:ea typeface="Calibri"/>
                          <a:cs typeface="Calibri"/>
                          <a:sym typeface="Calibri"/>
                        </a:rPr>
                        <a:t>Shiny or blurry photo, card missing</a:t>
                      </a:r>
                      <a:endParaRPr lang="en-US" sz="1100"/>
                    </a:p>
                  </a:txBody>
                  <a:tcPr marL="190500" marR="190500" marT="190500" marB="1905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l">
                        <a:lnSpc>
                          <a:spcPts val="1959"/>
                        </a:lnSpc>
                        <a:defRPr/>
                      </a:pPr>
                      <a:r>
                        <a:rPr lang="en-US" sz="1399">
                          <a:solidFill>
                            <a:srgbClr val="000000"/>
                          </a:solidFill>
                          <a:latin typeface="Calibri"/>
                          <a:ea typeface="Calibri"/>
                          <a:cs typeface="Calibri"/>
                          <a:sym typeface="Calibri"/>
                        </a:rPr>
                        <a:t>Says NOT SURE and asks to retake</a:t>
                      </a:r>
                      <a:endParaRPr lang="en-US" sz="1100"/>
                    </a:p>
                  </a:txBody>
                  <a:tcPr marL="190500" marR="190500" marT="190500" marB="1905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r h="677824">
                <a:tc>
                  <a:txBody>
                    <a:bodyPr/>
                    <a:lstStyle/>
                    <a:p>
                      <a:pPr algn="l">
                        <a:lnSpc>
                          <a:spcPts val="1959"/>
                        </a:lnSpc>
                        <a:defRPr/>
                      </a:pPr>
                      <a:r>
                        <a:rPr lang="en-US" sz="1399">
                          <a:solidFill>
                            <a:srgbClr val="000000"/>
                          </a:solidFill>
                          <a:latin typeface="Calibri"/>
                          <a:ea typeface="Calibri"/>
                          <a:cs typeface="Calibri"/>
                          <a:sym typeface="Calibri"/>
                        </a:rPr>
                        <a:t>Colour is in between two results</a:t>
                      </a:r>
                      <a:endParaRPr lang="en-US" sz="1100"/>
                    </a:p>
                  </a:txBody>
                  <a:tcPr marL="190500" marR="190500" marT="190500" marB="1905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l">
                        <a:lnSpc>
                          <a:spcPts val="1959"/>
                        </a:lnSpc>
                        <a:defRPr/>
                      </a:pPr>
                      <a:r>
                        <a:rPr lang="en-US" sz="1399">
                          <a:solidFill>
                            <a:srgbClr val="000000"/>
                          </a:solidFill>
                          <a:latin typeface="Calibri"/>
                          <a:ea typeface="Calibri"/>
                          <a:cs typeface="Calibri"/>
                          <a:sym typeface="Calibri"/>
                        </a:rPr>
                        <a:t>Says NOT SURE; senior officer checks</a:t>
                      </a:r>
                      <a:endParaRPr lang="en-US" sz="1100"/>
                    </a:p>
                  </a:txBody>
                  <a:tcPr marL="190500" marR="190500" marT="190500" marB="1905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r h="677824">
                <a:tc>
                  <a:txBody>
                    <a:bodyPr/>
                    <a:lstStyle/>
                    <a:p>
                      <a:pPr algn="l">
                        <a:lnSpc>
                          <a:spcPts val="1959"/>
                        </a:lnSpc>
                        <a:defRPr/>
                      </a:pPr>
                      <a:r>
                        <a:rPr lang="en-US" sz="1399">
                          <a:solidFill>
                            <a:srgbClr val="000000"/>
                          </a:solidFill>
                          <a:latin typeface="Calibri"/>
                          <a:ea typeface="Calibri"/>
                          <a:cs typeface="Calibri"/>
                          <a:sym typeface="Calibri"/>
                        </a:rPr>
                        <a:t>Fake photo or edited record</a:t>
                      </a:r>
                      <a:endParaRPr lang="en-US" sz="1100"/>
                    </a:p>
                  </a:txBody>
                  <a:tcPr marL="190500" marR="190500" marT="190500" marB="1905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l">
                        <a:lnSpc>
                          <a:spcPts val="1959"/>
                        </a:lnSpc>
                        <a:defRPr/>
                      </a:pPr>
                      <a:r>
                        <a:rPr lang="en-US" sz="1399">
                          <a:solidFill>
                            <a:srgbClr val="000000"/>
                          </a:solidFill>
                          <a:latin typeface="Calibri"/>
                          <a:ea typeface="Calibri"/>
                          <a:cs typeface="Calibri"/>
                          <a:sym typeface="Calibri"/>
                        </a:rPr>
                        <a:t>In-app camera only + photo fingerprint</a:t>
                      </a:r>
                      <a:endParaRPr lang="en-US" sz="1100"/>
                    </a:p>
                  </a:txBody>
                  <a:tcPr marL="190500" marR="190500" marT="190500" marB="1905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4"/>
                  </a:ext>
                </a:extLst>
              </a:tr>
              <a:tr h="677824">
                <a:tc>
                  <a:txBody>
                    <a:bodyPr/>
                    <a:lstStyle/>
                    <a:p>
                      <a:pPr algn="l">
                        <a:lnSpc>
                          <a:spcPts val="1959"/>
                        </a:lnSpc>
                        <a:defRPr/>
                      </a:pPr>
                      <a:r>
                        <a:rPr lang="en-US" sz="1399">
                          <a:solidFill>
                            <a:srgbClr val="000000"/>
                          </a:solidFill>
                          <a:latin typeface="Calibri"/>
                          <a:ea typeface="Calibri"/>
                          <a:cs typeface="Calibri"/>
                          <a:sym typeface="Calibri"/>
                        </a:rPr>
                        <a:t>Different kits and phones</a:t>
                      </a:r>
                      <a:endParaRPr lang="en-US" sz="1100"/>
                    </a:p>
                  </a:txBody>
                  <a:tcPr marL="190500" marR="190500" marT="190500" marB="1905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l">
                        <a:lnSpc>
                          <a:spcPts val="1959"/>
                        </a:lnSpc>
                        <a:defRPr/>
                      </a:pPr>
                      <a:r>
                        <a:rPr lang="en-US" sz="1399">
                          <a:solidFill>
                            <a:srgbClr val="000000"/>
                          </a:solidFill>
                          <a:latin typeface="Calibri"/>
                          <a:ea typeface="Calibri"/>
                          <a:cs typeface="Calibri"/>
                          <a:sym typeface="Calibri"/>
                        </a:rPr>
                        <a:t>Kit settings + colours fixed every photo</a:t>
                      </a:r>
                      <a:endParaRPr lang="en-US" sz="1100"/>
                    </a:p>
                  </a:txBody>
                  <a:tcPr marL="190500" marR="190500" marT="190500" marB="1905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
        <p:nvSpPr>
          <p:cNvPr id="11" name="AutoShape 11"/>
          <p:cNvSpPr/>
          <p:nvPr/>
        </p:nvSpPr>
        <p:spPr>
          <a:xfrm>
            <a:off x="8899227" y="1857539"/>
            <a:ext cx="0" cy="7193961"/>
          </a:xfrm>
          <a:prstGeom prst="line">
            <a:avLst/>
          </a:prstGeom>
          <a:ln w="19050" cap="flat">
            <a:solidFill>
              <a:srgbClr val="B2935B"/>
            </a:solidFill>
            <a:prstDash val="solid"/>
            <a:headEnd type="none" w="sm" len="sm"/>
            <a:tailEnd type="none" w="sm" len="sm"/>
          </a:ln>
        </p:spPr>
        <p:txBody>
          <a:bodyPr/>
          <a:lstStyle/>
          <a:p>
            <a:endParaRPr/>
          </a:p>
        </p:txBody>
      </p:sp>
      <p:sp>
        <p:nvSpPr>
          <p:cNvPr id="12" name="AutoShape 12"/>
          <p:cNvSpPr/>
          <p:nvPr/>
        </p:nvSpPr>
        <p:spPr>
          <a:xfrm>
            <a:off x="414105" y="6018440"/>
            <a:ext cx="8475596" cy="0"/>
          </a:xfrm>
          <a:prstGeom prst="line">
            <a:avLst/>
          </a:prstGeom>
          <a:ln w="19050" cap="flat">
            <a:solidFill>
              <a:srgbClr val="B2935B"/>
            </a:solidFill>
            <a:prstDash val="solid"/>
            <a:headEnd type="none" w="sm" len="sm"/>
            <a:tailEnd type="none" w="sm" len="sm"/>
          </a:ln>
        </p:spPr>
        <p:txBody>
          <a:bodyPr/>
          <a:lstStyle/>
          <a:p>
            <a:endParaRPr/>
          </a:p>
        </p:txBody>
      </p:sp>
      <p:sp>
        <p:nvSpPr>
          <p:cNvPr id="13" name="Freeform 13"/>
          <p:cNvSpPr/>
          <p:nvPr/>
        </p:nvSpPr>
        <p:spPr>
          <a:xfrm>
            <a:off x="391335" y="315011"/>
            <a:ext cx="2629852" cy="1249680"/>
          </a:xfrm>
          <a:custGeom>
            <a:avLst/>
            <a:gdLst/>
            <a:ahLst/>
            <a:cxnLst/>
            <a:rect l="l" t="t" r="r" b="b"/>
            <a:pathLst>
              <a:path w="2629852" h="1249680">
                <a:moveTo>
                  <a:pt x="0" y="0"/>
                </a:moveTo>
                <a:lnTo>
                  <a:pt x="2629852" y="0"/>
                </a:lnTo>
                <a:lnTo>
                  <a:pt x="2629852" y="1249680"/>
                </a:lnTo>
                <a:lnTo>
                  <a:pt x="0" y="1249680"/>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a:p>
        </p:txBody>
      </p:sp>
      <p:sp>
        <p:nvSpPr>
          <p:cNvPr id="14" name="Freeform 14"/>
          <p:cNvSpPr/>
          <p:nvPr/>
        </p:nvSpPr>
        <p:spPr>
          <a:xfrm>
            <a:off x="502920" y="6675120"/>
            <a:ext cx="3977639" cy="2219604"/>
          </a:xfrm>
          <a:custGeom>
            <a:avLst/>
            <a:gdLst/>
            <a:ahLst/>
            <a:cxnLst/>
            <a:rect l="l" t="t" r="r" b="b"/>
            <a:pathLst>
              <a:path w="5354622" h="2987110">
                <a:moveTo>
                  <a:pt x="0" y="0"/>
                </a:moveTo>
                <a:lnTo>
                  <a:pt x="5354622" y="0"/>
                </a:lnTo>
                <a:lnTo>
                  <a:pt x="5354622" y="2987110"/>
                </a:lnTo>
                <a:lnTo>
                  <a:pt x="0" y="2987110"/>
                </a:lnTo>
                <a:lnTo>
                  <a:pt x="0" y="0"/>
                </a:lnTo>
                <a:close/>
              </a:path>
            </a:pathLst>
          </a:custGeom>
          <a:blipFill>
            <a:blip r:embed="rId4"/>
            <a:stretch>
              <a:fillRect l="-22999" t="-62172" r="-21685" b="-32345"/>
            </a:stretch>
          </a:blipFill>
        </p:spPr>
        <p:txBody>
          <a:bodyPr/>
          <a:lstStyle/>
          <a:p>
            <a:endParaRPr/>
          </a:p>
        </p:txBody>
      </p:sp>
      <p:sp>
        <p:nvSpPr>
          <p:cNvPr id="15" name="TextBox 15" descr="$PPTXTitle"/>
          <p:cNvSpPr txBox="1"/>
          <p:nvPr/>
        </p:nvSpPr>
        <p:spPr>
          <a:xfrm>
            <a:off x="3963967" y="360907"/>
            <a:ext cx="9813370" cy="847725"/>
          </a:xfrm>
          <a:prstGeom prst="rect">
            <a:avLst/>
          </a:prstGeom>
        </p:spPr>
        <p:txBody>
          <a:bodyPr lIns="0" tIns="0" rIns="0" bIns="0" rtlCol="0" anchor="t">
            <a:spAutoFit/>
          </a:bodyPr>
          <a:lstStyle/>
          <a:p>
            <a:pPr algn="l">
              <a:lnSpc>
                <a:spcPts val="6480"/>
              </a:lnSpc>
            </a:pPr>
            <a:r>
              <a:rPr lang="en-US" sz="5400" b="1" spc="-30">
                <a:solidFill>
                  <a:srgbClr val="7A2F00"/>
                </a:solidFill>
                <a:latin typeface="Times New Roman Bold"/>
                <a:ea typeface="Times New Roman Bold"/>
                <a:cs typeface="Times New Roman Bold"/>
                <a:sym typeface="Times New Roman Bold"/>
              </a:rPr>
              <a:t>FEASIBILITY AND VIABILITY</a:t>
            </a:r>
          </a:p>
        </p:txBody>
      </p:sp>
      <p:sp>
        <p:nvSpPr>
          <p:cNvPr id="16" name="TextBox 16"/>
          <p:cNvSpPr txBox="1"/>
          <p:nvPr/>
        </p:nvSpPr>
        <p:spPr>
          <a:xfrm>
            <a:off x="9144000" y="1809914"/>
            <a:ext cx="3849172" cy="381000"/>
          </a:xfrm>
          <a:prstGeom prst="rect">
            <a:avLst/>
          </a:prstGeom>
        </p:spPr>
        <p:txBody>
          <a:bodyPr lIns="0" tIns="0" rIns="0" bIns="0" rtlCol="0" anchor="t">
            <a:spAutoFit/>
          </a:bodyPr>
          <a:lstStyle/>
          <a:p>
            <a:pPr algn="l">
              <a:lnSpc>
                <a:spcPts val="2640"/>
              </a:lnSpc>
            </a:pPr>
            <a:r>
              <a:rPr lang="en-US" sz="2200" b="1">
                <a:solidFill>
                  <a:srgbClr val="7A2F00"/>
                </a:solidFill>
                <a:latin typeface="Calibri"/>
                <a:ea typeface="Calibri"/>
                <a:cs typeface="Calibri"/>
                <a:sym typeface="Calibri"/>
              </a:rPr>
              <a:t>Potential Challenges &amp; Strategies</a:t>
            </a:r>
          </a:p>
        </p:txBody>
      </p:sp>
      <p:sp>
        <p:nvSpPr>
          <p:cNvPr id="17" name="TextBox 17"/>
          <p:cNvSpPr txBox="1"/>
          <p:nvPr/>
        </p:nvSpPr>
        <p:spPr>
          <a:xfrm>
            <a:off x="17063656" y="9649673"/>
            <a:ext cx="104775" cy="288608"/>
          </a:xfrm>
          <a:prstGeom prst="rect">
            <a:avLst/>
          </a:prstGeom>
        </p:spPr>
        <p:txBody>
          <a:bodyPr lIns="0" tIns="0" rIns="0" bIns="0" rtlCol="0" anchor="t">
            <a:spAutoFit/>
          </a:bodyPr>
          <a:lstStyle/>
          <a:p>
            <a:pPr algn="l">
              <a:lnSpc>
                <a:spcPts val="2137"/>
              </a:lnSpc>
            </a:pPr>
            <a:r>
              <a:rPr lang="en-US" sz="1800" b="1" spc="-75">
                <a:solidFill>
                  <a:srgbClr val="FFFFFF"/>
                </a:solidFill>
                <a:latin typeface="Times New Roman Bold"/>
                <a:ea typeface="Times New Roman Bold"/>
                <a:cs typeface="Times New Roman Bold"/>
                <a:sym typeface="Times New Roman Bold"/>
              </a:rPr>
              <a:t>4</a:t>
            </a:r>
          </a:p>
        </p:txBody>
      </p:sp>
      <p:sp>
        <p:nvSpPr>
          <p:cNvPr id="18" name="TextBox 18" descr="$PPTXTitle"/>
          <p:cNvSpPr txBox="1"/>
          <p:nvPr/>
        </p:nvSpPr>
        <p:spPr>
          <a:xfrm>
            <a:off x="1074372" y="677913"/>
            <a:ext cx="1461403" cy="466725"/>
          </a:xfrm>
          <a:prstGeom prst="rect">
            <a:avLst/>
          </a:prstGeom>
        </p:spPr>
        <p:txBody>
          <a:bodyPr lIns="0" tIns="0" rIns="0" bIns="0" rtlCol="0" anchor="t">
            <a:spAutoFit/>
          </a:bodyPr>
          <a:lstStyle/>
          <a:p>
            <a:pPr algn="l">
              <a:lnSpc>
                <a:spcPts val="3240"/>
              </a:lnSpc>
            </a:pPr>
            <a:r>
              <a:rPr lang="en-US" sz="2700" b="1" spc="-29">
                <a:solidFill>
                  <a:srgbClr val="7A2F00"/>
                </a:solidFill>
                <a:latin typeface="Calibri"/>
                <a:ea typeface="Calibri"/>
                <a:cs typeface="Calibri"/>
                <a:sym typeface="Calibri"/>
              </a:rPr>
              <a:t>HexTech</a:t>
            </a:r>
          </a:p>
        </p:txBody>
      </p:sp>
      <p:sp>
        <p:nvSpPr>
          <p:cNvPr id="19" name="TextBox 19"/>
          <p:cNvSpPr txBox="1"/>
          <p:nvPr/>
        </p:nvSpPr>
        <p:spPr>
          <a:xfrm>
            <a:off x="646791" y="6104165"/>
            <a:ext cx="4281964" cy="381000"/>
          </a:xfrm>
          <a:prstGeom prst="rect">
            <a:avLst/>
          </a:prstGeom>
        </p:spPr>
        <p:txBody>
          <a:bodyPr lIns="0" tIns="0" rIns="0" bIns="0" rtlCol="0" anchor="t">
            <a:spAutoFit/>
          </a:bodyPr>
          <a:lstStyle/>
          <a:p>
            <a:pPr algn="l">
              <a:lnSpc>
                <a:spcPts val="2640"/>
              </a:lnSpc>
            </a:pPr>
            <a:r>
              <a:rPr lang="en-US" sz="2200" b="1">
                <a:solidFill>
                  <a:srgbClr val="7A2F00"/>
                </a:solidFill>
                <a:latin typeface="Calibri"/>
                <a:ea typeface="Calibri"/>
                <a:cs typeface="Calibri"/>
                <a:sym typeface="Calibri"/>
              </a:rPr>
              <a:t>Phased Implementation &amp; Scalability</a:t>
            </a:r>
          </a:p>
        </p:txBody>
      </p:sp>
      <p:sp>
        <p:nvSpPr>
          <p:cNvPr id="20" name="TextBox 20"/>
          <p:cNvSpPr txBox="1"/>
          <p:nvPr/>
        </p:nvSpPr>
        <p:spPr>
          <a:xfrm>
            <a:off x="646791" y="1809914"/>
            <a:ext cx="3064312" cy="381000"/>
          </a:xfrm>
          <a:prstGeom prst="rect">
            <a:avLst/>
          </a:prstGeom>
        </p:spPr>
        <p:txBody>
          <a:bodyPr lIns="0" tIns="0" rIns="0" bIns="0" rtlCol="0" anchor="t">
            <a:spAutoFit/>
          </a:bodyPr>
          <a:lstStyle/>
          <a:p>
            <a:pPr algn="l">
              <a:lnSpc>
                <a:spcPts val="2640"/>
              </a:lnSpc>
            </a:pPr>
            <a:r>
              <a:rPr lang="en-US" sz="2200" b="1">
                <a:solidFill>
                  <a:srgbClr val="7A2F00"/>
                </a:solidFill>
                <a:latin typeface="Calibri"/>
                <a:ea typeface="Calibri"/>
                <a:cs typeface="Calibri"/>
                <a:sym typeface="Calibri"/>
              </a:rPr>
              <a:t>Feasibility &amp; Sustainability</a:t>
            </a:r>
          </a:p>
        </p:txBody>
      </p:sp>
      <p:sp>
        <p:nvSpPr>
          <p:cNvPr id="21" name="TextBox 21"/>
          <p:cNvSpPr txBox="1"/>
          <p:nvPr/>
        </p:nvSpPr>
        <p:spPr>
          <a:xfrm>
            <a:off x="471255" y="2271877"/>
            <a:ext cx="8399396" cy="3608451"/>
          </a:xfrm>
          <a:prstGeom prst="rect">
            <a:avLst/>
          </a:prstGeom>
        </p:spPr>
        <p:txBody>
          <a:bodyPr lIns="0" tIns="0" rIns="0" bIns="0" rtlCol="0" anchor="t">
            <a:spAutoFit/>
          </a:bodyPr>
          <a:lstStyle/>
          <a:p>
            <a:pPr marL="410209" lvl="1" indent="-205105" algn="l">
              <a:lnSpc>
                <a:spcPts val="3191"/>
              </a:lnSpc>
              <a:buFont typeface="Arial"/>
              <a:buChar char="•"/>
            </a:pPr>
            <a:r>
              <a:rPr lang="en-US" sz="1899" b="1" spc="-15">
                <a:solidFill>
                  <a:srgbClr val="000000"/>
                </a:solidFill>
                <a:latin typeface="Calibri"/>
                <a:ea typeface="Calibri"/>
                <a:cs typeface="Calibri"/>
                <a:sym typeface="Calibri"/>
              </a:rPr>
              <a:t>Technical</a:t>
            </a:r>
            <a:r>
              <a:rPr lang="en-US" sz="1899" spc="-15">
                <a:solidFill>
                  <a:srgbClr val="000000"/>
                </a:solidFill>
                <a:latin typeface="Calibri"/>
                <a:ea typeface="Calibri"/>
                <a:cs typeface="Calibri"/>
                <a:sym typeface="Calibri"/>
              </a:rPr>
              <a:t> - Core app tested with OpenCV-based colour analysis.</a:t>
            </a:r>
          </a:p>
          <a:p>
            <a:pPr marL="410209" lvl="1" indent="-205105" algn="l">
              <a:lnSpc>
                <a:spcPts val="3191"/>
              </a:lnSpc>
              <a:buFont typeface="Arial"/>
              <a:buChar char="•"/>
            </a:pPr>
            <a:r>
              <a:rPr lang="en-US" sz="1899" b="1" spc="-15">
                <a:solidFill>
                  <a:srgbClr val="000000"/>
                </a:solidFill>
                <a:latin typeface="Calibri"/>
                <a:ea typeface="Calibri"/>
                <a:cs typeface="Calibri"/>
                <a:sym typeface="Calibri"/>
              </a:rPr>
              <a:t>User-Friendly</a:t>
            </a:r>
            <a:r>
              <a:rPr lang="en-US" sz="1899" spc="-15">
                <a:solidFill>
                  <a:srgbClr val="000000"/>
                </a:solidFill>
                <a:latin typeface="Calibri"/>
                <a:ea typeface="Calibri"/>
                <a:cs typeface="Calibri"/>
                <a:sym typeface="Calibri"/>
              </a:rPr>
              <a:t> - Capture one photo and get a result within seconds.</a:t>
            </a:r>
          </a:p>
          <a:p>
            <a:pPr marL="410209" lvl="1" indent="-205105" algn="l">
              <a:lnSpc>
                <a:spcPts val="3191"/>
              </a:lnSpc>
              <a:buFont typeface="Arial"/>
              <a:buChar char="•"/>
            </a:pPr>
            <a:r>
              <a:rPr lang="en-US" sz="1899" b="1" spc="-15">
                <a:solidFill>
                  <a:srgbClr val="000000"/>
                </a:solidFill>
                <a:latin typeface="Calibri"/>
                <a:ea typeface="Calibri"/>
                <a:cs typeface="Calibri"/>
                <a:sym typeface="Calibri"/>
              </a:rPr>
              <a:t>Low Cost</a:t>
            </a:r>
            <a:r>
              <a:rPr lang="en-US" sz="1899" spc="-15">
                <a:solidFill>
                  <a:srgbClr val="000000"/>
                </a:solidFill>
                <a:latin typeface="Calibri"/>
                <a:ea typeface="Calibri"/>
                <a:cs typeface="Calibri"/>
                <a:sym typeface="Calibri"/>
              </a:rPr>
              <a:t> - Uses an existing Android phone, a reusable ~₹10 colour card, and open-source tools.</a:t>
            </a:r>
          </a:p>
          <a:p>
            <a:pPr marL="410209" lvl="1" indent="-205105" algn="l">
              <a:lnSpc>
                <a:spcPts val="3191"/>
              </a:lnSpc>
              <a:buFont typeface="Arial"/>
              <a:buChar char="•"/>
            </a:pPr>
            <a:r>
              <a:rPr lang="en-US" sz="1899" b="1" spc="-15">
                <a:solidFill>
                  <a:srgbClr val="000000"/>
                </a:solidFill>
                <a:latin typeface="Calibri"/>
                <a:ea typeface="Calibri"/>
                <a:cs typeface="Calibri"/>
                <a:sym typeface="Calibri"/>
              </a:rPr>
              <a:t>Operational</a:t>
            </a:r>
            <a:r>
              <a:rPr lang="en-US" sz="1899" spc="-15">
                <a:solidFill>
                  <a:srgbClr val="000000"/>
                </a:solidFill>
                <a:latin typeface="Calibri"/>
                <a:ea typeface="Calibri"/>
                <a:cs typeface="Calibri"/>
                <a:sym typeface="Calibri"/>
              </a:rPr>
              <a:t> - Simple photo-based workflow with minimal training required.</a:t>
            </a:r>
          </a:p>
          <a:p>
            <a:pPr marL="410209" lvl="1" indent="-205105" algn="l">
              <a:lnSpc>
                <a:spcPts val="3191"/>
              </a:lnSpc>
              <a:buFont typeface="Arial"/>
              <a:buChar char="•"/>
            </a:pPr>
            <a:r>
              <a:rPr lang="en-US" sz="1899" b="1" spc="-15">
                <a:solidFill>
                  <a:srgbClr val="000000"/>
                </a:solidFill>
                <a:latin typeface="Calibri"/>
                <a:ea typeface="Calibri"/>
                <a:cs typeface="Calibri"/>
                <a:sym typeface="Calibri"/>
              </a:rPr>
              <a:t>Scalable</a:t>
            </a:r>
            <a:r>
              <a:rPr lang="en-US" sz="1899" spc="-15">
                <a:solidFill>
                  <a:srgbClr val="000000"/>
                </a:solidFill>
                <a:latin typeface="Calibri"/>
                <a:ea typeface="Calibri"/>
                <a:cs typeface="Calibri"/>
                <a:sym typeface="Calibri"/>
              </a:rPr>
              <a:t> - Add new test-kit colour profiles through the Admin website without updating the app.</a:t>
            </a:r>
          </a:p>
          <a:p>
            <a:pPr marL="410209" lvl="1" indent="-205105" algn="l">
              <a:lnSpc>
                <a:spcPts val="3191"/>
              </a:lnSpc>
              <a:buFont typeface="Arial"/>
              <a:buChar char="•"/>
            </a:pPr>
            <a:r>
              <a:rPr lang="en-US" sz="1899" b="1" spc="-15">
                <a:solidFill>
                  <a:srgbClr val="000000"/>
                </a:solidFill>
                <a:latin typeface="Calibri"/>
                <a:ea typeface="Calibri"/>
                <a:cs typeface="Calibri"/>
                <a:sym typeface="Calibri"/>
              </a:rPr>
              <a:t>Sustainable</a:t>
            </a:r>
            <a:r>
              <a:rPr lang="en-US" sz="1899" spc="-15">
                <a:solidFill>
                  <a:srgbClr val="000000"/>
                </a:solidFill>
                <a:latin typeface="Calibri"/>
                <a:ea typeface="Calibri"/>
                <a:cs typeface="Calibri"/>
                <a:sym typeface="Calibri"/>
              </a:rPr>
              <a:t> - Government-cloud hosting, regular profile updates, and secure data storage support long-term use.</a:t>
            </a:r>
          </a:p>
        </p:txBody>
      </p:sp>
      <p:grpSp>
        <p:nvGrpSpPr>
          <p:cNvPr id="22" name="Group 22"/>
          <p:cNvGrpSpPr/>
          <p:nvPr/>
        </p:nvGrpSpPr>
        <p:grpSpPr>
          <a:xfrm>
            <a:off x="14720116" y="33423"/>
            <a:ext cx="3287373" cy="1531268"/>
            <a:chOff x="0" y="0"/>
            <a:chExt cx="4383164" cy="2041690"/>
          </a:xfrm>
        </p:grpSpPr>
        <p:sp>
          <p:nvSpPr>
            <p:cNvPr id="23" name="Freeform 23"/>
            <p:cNvSpPr/>
            <p:nvPr/>
          </p:nvSpPr>
          <p:spPr>
            <a:xfrm>
              <a:off x="0" y="0"/>
              <a:ext cx="4383151" cy="2041652"/>
            </a:xfrm>
            <a:custGeom>
              <a:avLst/>
              <a:gdLst/>
              <a:ahLst/>
              <a:cxnLst/>
              <a:rect l="l" t="t" r="r" b="b"/>
              <a:pathLst>
                <a:path w="4383151" h="2041652">
                  <a:moveTo>
                    <a:pt x="0" y="0"/>
                  </a:moveTo>
                  <a:lnTo>
                    <a:pt x="4383151" y="0"/>
                  </a:lnTo>
                  <a:lnTo>
                    <a:pt x="4383151" y="2041652"/>
                  </a:lnTo>
                  <a:lnTo>
                    <a:pt x="0" y="2041652"/>
                  </a:lnTo>
                  <a:lnTo>
                    <a:pt x="0" y="0"/>
                  </a:lnTo>
                  <a:close/>
                </a:path>
              </a:pathLst>
            </a:custGeom>
            <a:blipFill>
              <a:blip r:embed="rId5"/>
              <a:stretch>
                <a:fillRect t="-106" b="-108"/>
              </a:stretch>
            </a:blipFill>
          </p:spPr>
        </p:sp>
      </p:grpSp>
      <p:sp>
        <p:nvSpPr>
          <p:cNvPr id="24" name="TextBox 24"/>
          <p:cNvSpPr txBox="1"/>
          <p:nvPr/>
        </p:nvSpPr>
        <p:spPr>
          <a:xfrm>
            <a:off x="9144000" y="6749314"/>
            <a:ext cx="2830116" cy="381000"/>
          </a:xfrm>
          <a:prstGeom prst="rect">
            <a:avLst/>
          </a:prstGeom>
        </p:spPr>
        <p:txBody>
          <a:bodyPr lIns="0" tIns="0" rIns="0" bIns="0" rtlCol="0" anchor="t">
            <a:spAutoFit/>
          </a:bodyPr>
          <a:lstStyle/>
          <a:p>
            <a:pPr algn="l">
              <a:lnSpc>
                <a:spcPts val="2640"/>
              </a:lnSpc>
            </a:pPr>
            <a:r>
              <a:rPr lang="en-US" sz="2200" b="1">
                <a:solidFill>
                  <a:srgbClr val="7A2F00"/>
                </a:solidFill>
                <a:latin typeface="Calibri"/>
                <a:ea typeface="Calibri"/>
                <a:cs typeface="Calibri"/>
                <a:sym typeface="Calibri"/>
              </a:rPr>
              <a:t>Cost &amp; Deployment Plan</a:t>
            </a:r>
          </a:p>
        </p:txBody>
      </p:sp>
      <p:grpSp>
        <p:nvGrpSpPr>
          <p:cNvPr id="25" name="Group 25"/>
          <p:cNvGrpSpPr/>
          <p:nvPr/>
        </p:nvGrpSpPr>
        <p:grpSpPr>
          <a:xfrm>
            <a:off x="9088924" y="7391299"/>
            <a:ext cx="1606622" cy="1880336"/>
            <a:chOff x="0" y="0"/>
            <a:chExt cx="27419684" cy="32091074"/>
          </a:xfrm>
        </p:grpSpPr>
        <p:sp>
          <p:nvSpPr>
            <p:cNvPr id="26" name="Freeform 26"/>
            <p:cNvSpPr/>
            <p:nvPr/>
          </p:nvSpPr>
          <p:spPr>
            <a:xfrm>
              <a:off x="0" y="0"/>
              <a:ext cx="27419684" cy="32091074"/>
            </a:xfrm>
            <a:custGeom>
              <a:avLst/>
              <a:gdLst/>
              <a:ahLst/>
              <a:cxnLst/>
              <a:rect l="l" t="t" r="r" b="b"/>
              <a:pathLst>
                <a:path w="27419684" h="32091074">
                  <a:moveTo>
                    <a:pt x="48188" y="0"/>
                  </a:moveTo>
                  <a:lnTo>
                    <a:pt x="27371498" y="0"/>
                  </a:lnTo>
                  <a:cubicBezTo>
                    <a:pt x="27384276" y="0"/>
                    <a:pt x="27396532" y="5077"/>
                    <a:pt x="27405571" y="14114"/>
                  </a:cubicBezTo>
                  <a:cubicBezTo>
                    <a:pt x="27414609" y="23151"/>
                    <a:pt x="27419684" y="35407"/>
                    <a:pt x="27419684" y="48188"/>
                  </a:cubicBezTo>
                  <a:lnTo>
                    <a:pt x="27419684" y="32042888"/>
                  </a:lnTo>
                  <a:cubicBezTo>
                    <a:pt x="27419684" y="32055665"/>
                    <a:pt x="27414609" y="32067922"/>
                    <a:pt x="27405571" y="32076960"/>
                  </a:cubicBezTo>
                  <a:cubicBezTo>
                    <a:pt x="27396532" y="32085998"/>
                    <a:pt x="27384276" y="32091074"/>
                    <a:pt x="27371498" y="32091074"/>
                  </a:cubicBezTo>
                  <a:lnTo>
                    <a:pt x="48188" y="32091074"/>
                  </a:lnTo>
                  <a:cubicBezTo>
                    <a:pt x="35407" y="32091074"/>
                    <a:pt x="23151" y="32085998"/>
                    <a:pt x="14114" y="32076960"/>
                  </a:cubicBezTo>
                  <a:cubicBezTo>
                    <a:pt x="5077" y="32067922"/>
                    <a:pt x="0" y="32055665"/>
                    <a:pt x="0" y="32042888"/>
                  </a:cubicBezTo>
                  <a:lnTo>
                    <a:pt x="0" y="48188"/>
                  </a:lnTo>
                  <a:cubicBezTo>
                    <a:pt x="0" y="35407"/>
                    <a:pt x="5077" y="23151"/>
                    <a:pt x="14114" y="14114"/>
                  </a:cubicBezTo>
                  <a:cubicBezTo>
                    <a:pt x="23151" y="5077"/>
                    <a:pt x="35407" y="0"/>
                    <a:pt x="48188" y="0"/>
                  </a:cubicBezTo>
                  <a:close/>
                </a:path>
              </a:pathLst>
            </a:custGeom>
            <a:solidFill>
              <a:srgbClr val="FFFFFF"/>
            </a:solidFill>
            <a:ln w="19050" cap="sq">
              <a:solidFill>
                <a:srgbClr val="B2935B"/>
              </a:solidFill>
              <a:prstDash val="solid"/>
              <a:miter/>
            </a:ln>
          </p:spPr>
        </p:sp>
        <p:sp>
          <p:nvSpPr>
            <p:cNvPr id="27" name="TextBox 27"/>
            <p:cNvSpPr txBox="1"/>
            <p:nvPr/>
          </p:nvSpPr>
          <p:spPr>
            <a:xfrm>
              <a:off x="0" y="-28575"/>
              <a:ext cx="27419684" cy="32119649"/>
            </a:xfrm>
            <a:prstGeom prst="rect">
              <a:avLst/>
            </a:prstGeom>
          </p:spPr>
          <p:txBody>
            <a:bodyPr lIns="50800" tIns="50800" rIns="50800" bIns="50800" rtlCol="0" anchor="ctr"/>
            <a:lstStyle/>
            <a:p>
              <a:pPr algn="ctr">
                <a:lnSpc>
                  <a:spcPts val="2239"/>
                </a:lnSpc>
                <a:spcBef>
                  <a:spcPct val="0"/>
                </a:spcBef>
              </a:pPr>
              <a:endParaRPr/>
            </a:p>
          </p:txBody>
        </p:sp>
      </p:grpSp>
      <p:grpSp>
        <p:nvGrpSpPr>
          <p:cNvPr id="28" name="Group 28"/>
          <p:cNvGrpSpPr/>
          <p:nvPr/>
        </p:nvGrpSpPr>
        <p:grpSpPr>
          <a:xfrm>
            <a:off x="10875719" y="7391299"/>
            <a:ext cx="1606622" cy="1880336"/>
            <a:chOff x="0" y="0"/>
            <a:chExt cx="27419684" cy="32091074"/>
          </a:xfrm>
        </p:grpSpPr>
        <p:sp>
          <p:nvSpPr>
            <p:cNvPr id="29" name="Freeform 29"/>
            <p:cNvSpPr/>
            <p:nvPr/>
          </p:nvSpPr>
          <p:spPr>
            <a:xfrm>
              <a:off x="0" y="0"/>
              <a:ext cx="27419684" cy="32091074"/>
            </a:xfrm>
            <a:custGeom>
              <a:avLst/>
              <a:gdLst/>
              <a:ahLst/>
              <a:cxnLst/>
              <a:rect l="l" t="t" r="r" b="b"/>
              <a:pathLst>
                <a:path w="27419684" h="32091074">
                  <a:moveTo>
                    <a:pt x="48188" y="0"/>
                  </a:moveTo>
                  <a:lnTo>
                    <a:pt x="27371498" y="0"/>
                  </a:lnTo>
                  <a:cubicBezTo>
                    <a:pt x="27384276" y="0"/>
                    <a:pt x="27396532" y="5077"/>
                    <a:pt x="27405571" y="14114"/>
                  </a:cubicBezTo>
                  <a:cubicBezTo>
                    <a:pt x="27414609" y="23151"/>
                    <a:pt x="27419684" y="35407"/>
                    <a:pt x="27419684" y="48188"/>
                  </a:cubicBezTo>
                  <a:lnTo>
                    <a:pt x="27419684" y="32042888"/>
                  </a:lnTo>
                  <a:cubicBezTo>
                    <a:pt x="27419684" y="32055665"/>
                    <a:pt x="27414609" y="32067922"/>
                    <a:pt x="27405571" y="32076960"/>
                  </a:cubicBezTo>
                  <a:cubicBezTo>
                    <a:pt x="27396532" y="32085998"/>
                    <a:pt x="27384276" y="32091074"/>
                    <a:pt x="27371498" y="32091074"/>
                  </a:cubicBezTo>
                  <a:lnTo>
                    <a:pt x="48188" y="32091074"/>
                  </a:lnTo>
                  <a:cubicBezTo>
                    <a:pt x="35407" y="32091074"/>
                    <a:pt x="23151" y="32085998"/>
                    <a:pt x="14114" y="32076960"/>
                  </a:cubicBezTo>
                  <a:cubicBezTo>
                    <a:pt x="5077" y="32067922"/>
                    <a:pt x="0" y="32055665"/>
                    <a:pt x="0" y="32042888"/>
                  </a:cubicBezTo>
                  <a:lnTo>
                    <a:pt x="0" y="48188"/>
                  </a:lnTo>
                  <a:cubicBezTo>
                    <a:pt x="0" y="35407"/>
                    <a:pt x="5077" y="23151"/>
                    <a:pt x="14114" y="14114"/>
                  </a:cubicBezTo>
                  <a:cubicBezTo>
                    <a:pt x="23151" y="5077"/>
                    <a:pt x="35407" y="0"/>
                    <a:pt x="48188" y="0"/>
                  </a:cubicBezTo>
                  <a:close/>
                </a:path>
              </a:pathLst>
            </a:custGeom>
            <a:solidFill>
              <a:srgbClr val="FFFFFF"/>
            </a:solidFill>
            <a:ln w="19050" cap="sq">
              <a:solidFill>
                <a:srgbClr val="B2935B"/>
              </a:solidFill>
              <a:prstDash val="solid"/>
              <a:miter/>
            </a:ln>
          </p:spPr>
        </p:sp>
        <p:sp>
          <p:nvSpPr>
            <p:cNvPr id="30" name="TextBox 30"/>
            <p:cNvSpPr txBox="1"/>
            <p:nvPr/>
          </p:nvSpPr>
          <p:spPr>
            <a:xfrm>
              <a:off x="0" y="-28575"/>
              <a:ext cx="27419684" cy="32119649"/>
            </a:xfrm>
            <a:prstGeom prst="rect">
              <a:avLst/>
            </a:prstGeom>
          </p:spPr>
          <p:txBody>
            <a:bodyPr lIns="50800" tIns="50800" rIns="50800" bIns="50800" rtlCol="0" anchor="ctr"/>
            <a:lstStyle/>
            <a:p>
              <a:pPr algn="ctr">
                <a:lnSpc>
                  <a:spcPts val="2239"/>
                </a:lnSpc>
                <a:spcBef>
                  <a:spcPct val="0"/>
                </a:spcBef>
              </a:pPr>
              <a:endParaRPr/>
            </a:p>
          </p:txBody>
        </p:sp>
      </p:grpSp>
      <p:grpSp>
        <p:nvGrpSpPr>
          <p:cNvPr id="31" name="Group 31"/>
          <p:cNvGrpSpPr/>
          <p:nvPr/>
        </p:nvGrpSpPr>
        <p:grpSpPr>
          <a:xfrm>
            <a:off x="12663316" y="7391299"/>
            <a:ext cx="1606622" cy="1880336"/>
            <a:chOff x="0" y="0"/>
            <a:chExt cx="27419684" cy="32091074"/>
          </a:xfrm>
        </p:grpSpPr>
        <p:sp>
          <p:nvSpPr>
            <p:cNvPr id="32" name="Freeform 32"/>
            <p:cNvSpPr/>
            <p:nvPr/>
          </p:nvSpPr>
          <p:spPr>
            <a:xfrm>
              <a:off x="0" y="0"/>
              <a:ext cx="27419684" cy="32091074"/>
            </a:xfrm>
            <a:custGeom>
              <a:avLst/>
              <a:gdLst/>
              <a:ahLst/>
              <a:cxnLst/>
              <a:rect l="l" t="t" r="r" b="b"/>
              <a:pathLst>
                <a:path w="27419684" h="32091074">
                  <a:moveTo>
                    <a:pt x="48188" y="0"/>
                  </a:moveTo>
                  <a:lnTo>
                    <a:pt x="27371498" y="0"/>
                  </a:lnTo>
                  <a:cubicBezTo>
                    <a:pt x="27384276" y="0"/>
                    <a:pt x="27396532" y="5077"/>
                    <a:pt x="27405571" y="14114"/>
                  </a:cubicBezTo>
                  <a:cubicBezTo>
                    <a:pt x="27414609" y="23151"/>
                    <a:pt x="27419684" y="35407"/>
                    <a:pt x="27419684" y="48188"/>
                  </a:cubicBezTo>
                  <a:lnTo>
                    <a:pt x="27419684" y="32042888"/>
                  </a:lnTo>
                  <a:cubicBezTo>
                    <a:pt x="27419684" y="32055665"/>
                    <a:pt x="27414609" y="32067922"/>
                    <a:pt x="27405571" y="32076960"/>
                  </a:cubicBezTo>
                  <a:cubicBezTo>
                    <a:pt x="27396532" y="32085998"/>
                    <a:pt x="27384276" y="32091074"/>
                    <a:pt x="27371498" y="32091074"/>
                  </a:cubicBezTo>
                  <a:lnTo>
                    <a:pt x="48188" y="32091074"/>
                  </a:lnTo>
                  <a:cubicBezTo>
                    <a:pt x="35407" y="32091074"/>
                    <a:pt x="23151" y="32085998"/>
                    <a:pt x="14114" y="32076960"/>
                  </a:cubicBezTo>
                  <a:cubicBezTo>
                    <a:pt x="5077" y="32067922"/>
                    <a:pt x="0" y="32055665"/>
                    <a:pt x="0" y="32042888"/>
                  </a:cubicBezTo>
                  <a:lnTo>
                    <a:pt x="0" y="48188"/>
                  </a:lnTo>
                  <a:cubicBezTo>
                    <a:pt x="0" y="35407"/>
                    <a:pt x="5077" y="23151"/>
                    <a:pt x="14114" y="14114"/>
                  </a:cubicBezTo>
                  <a:cubicBezTo>
                    <a:pt x="23151" y="5077"/>
                    <a:pt x="35407" y="0"/>
                    <a:pt x="48188" y="0"/>
                  </a:cubicBezTo>
                  <a:close/>
                </a:path>
              </a:pathLst>
            </a:custGeom>
            <a:solidFill>
              <a:srgbClr val="FFFFFF"/>
            </a:solidFill>
            <a:ln w="19050" cap="sq">
              <a:solidFill>
                <a:srgbClr val="B2935B"/>
              </a:solidFill>
              <a:prstDash val="solid"/>
              <a:miter/>
            </a:ln>
          </p:spPr>
        </p:sp>
        <p:sp>
          <p:nvSpPr>
            <p:cNvPr id="33" name="TextBox 33"/>
            <p:cNvSpPr txBox="1"/>
            <p:nvPr/>
          </p:nvSpPr>
          <p:spPr>
            <a:xfrm>
              <a:off x="0" y="-28575"/>
              <a:ext cx="27419684" cy="32119649"/>
            </a:xfrm>
            <a:prstGeom prst="rect">
              <a:avLst/>
            </a:prstGeom>
          </p:spPr>
          <p:txBody>
            <a:bodyPr lIns="50800" tIns="50800" rIns="50800" bIns="50800" rtlCol="0" anchor="ctr"/>
            <a:lstStyle/>
            <a:p>
              <a:pPr algn="ctr">
                <a:lnSpc>
                  <a:spcPts val="2239"/>
                </a:lnSpc>
                <a:spcBef>
                  <a:spcPct val="0"/>
                </a:spcBef>
              </a:pPr>
              <a:endParaRPr/>
            </a:p>
          </p:txBody>
        </p:sp>
      </p:grpSp>
      <p:grpSp>
        <p:nvGrpSpPr>
          <p:cNvPr id="34" name="Group 34"/>
          <p:cNvGrpSpPr/>
          <p:nvPr/>
        </p:nvGrpSpPr>
        <p:grpSpPr>
          <a:xfrm>
            <a:off x="14450913" y="7391299"/>
            <a:ext cx="1606622" cy="1880336"/>
            <a:chOff x="0" y="0"/>
            <a:chExt cx="27419684" cy="32091074"/>
          </a:xfrm>
        </p:grpSpPr>
        <p:sp>
          <p:nvSpPr>
            <p:cNvPr id="35" name="Freeform 35"/>
            <p:cNvSpPr/>
            <p:nvPr/>
          </p:nvSpPr>
          <p:spPr>
            <a:xfrm>
              <a:off x="0" y="0"/>
              <a:ext cx="27419684" cy="32091074"/>
            </a:xfrm>
            <a:custGeom>
              <a:avLst/>
              <a:gdLst/>
              <a:ahLst/>
              <a:cxnLst/>
              <a:rect l="l" t="t" r="r" b="b"/>
              <a:pathLst>
                <a:path w="27419684" h="32091074">
                  <a:moveTo>
                    <a:pt x="48188" y="0"/>
                  </a:moveTo>
                  <a:lnTo>
                    <a:pt x="27371498" y="0"/>
                  </a:lnTo>
                  <a:cubicBezTo>
                    <a:pt x="27384276" y="0"/>
                    <a:pt x="27396532" y="5077"/>
                    <a:pt x="27405571" y="14114"/>
                  </a:cubicBezTo>
                  <a:cubicBezTo>
                    <a:pt x="27414609" y="23151"/>
                    <a:pt x="27419684" y="35407"/>
                    <a:pt x="27419684" y="48188"/>
                  </a:cubicBezTo>
                  <a:lnTo>
                    <a:pt x="27419684" y="32042888"/>
                  </a:lnTo>
                  <a:cubicBezTo>
                    <a:pt x="27419684" y="32055665"/>
                    <a:pt x="27414609" y="32067922"/>
                    <a:pt x="27405571" y="32076960"/>
                  </a:cubicBezTo>
                  <a:cubicBezTo>
                    <a:pt x="27396532" y="32085998"/>
                    <a:pt x="27384276" y="32091074"/>
                    <a:pt x="27371498" y="32091074"/>
                  </a:cubicBezTo>
                  <a:lnTo>
                    <a:pt x="48188" y="32091074"/>
                  </a:lnTo>
                  <a:cubicBezTo>
                    <a:pt x="35407" y="32091074"/>
                    <a:pt x="23151" y="32085998"/>
                    <a:pt x="14114" y="32076960"/>
                  </a:cubicBezTo>
                  <a:cubicBezTo>
                    <a:pt x="5077" y="32067922"/>
                    <a:pt x="0" y="32055665"/>
                    <a:pt x="0" y="32042888"/>
                  </a:cubicBezTo>
                  <a:lnTo>
                    <a:pt x="0" y="48188"/>
                  </a:lnTo>
                  <a:cubicBezTo>
                    <a:pt x="0" y="35407"/>
                    <a:pt x="5077" y="23151"/>
                    <a:pt x="14114" y="14114"/>
                  </a:cubicBezTo>
                  <a:cubicBezTo>
                    <a:pt x="23151" y="5077"/>
                    <a:pt x="35407" y="0"/>
                    <a:pt x="48188" y="0"/>
                  </a:cubicBezTo>
                  <a:close/>
                </a:path>
              </a:pathLst>
            </a:custGeom>
            <a:solidFill>
              <a:srgbClr val="FFFFFF"/>
            </a:solidFill>
            <a:ln w="19050" cap="sq">
              <a:solidFill>
                <a:srgbClr val="B2935B"/>
              </a:solidFill>
              <a:prstDash val="solid"/>
              <a:miter/>
            </a:ln>
          </p:spPr>
        </p:sp>
        <p:sp>
          <p:nvSpPr>
            <p:cNvPr id="36" name="TextBox 36"/>
            <p:cNvSpPr txBox="1"/>
            <p:nvPr/>
          </p:nvSpPr>
          <p:spPr>
            <a:xfrm>
              <a:off x="0" y="-28575"/>
              <a:ext cx="27419684" cy="32119649"/>
            </a:xfrm>
            <a:prstGeom prst="rect">
              <a:avLst/>
            </a:prstGeom>
          </p:spPr>
          <p:txBody>
            <a:bodyPr lIns="50800" tIns="50800" rIns="50800" bIns="50800" rtlCol="0" anchor="ctr"/>
            <a:lstStyle/>
            <a:p>
              <a:pPr algn="ctr">
                <a:lnSpc>
                  <a:spcPts val="2239"/>
                </a:lnSpc>
                <a:spcBef>
                  <a:spcPct val="0"/>
                </a:spcBef>
              </a:pPr>
              <a:endParaRPr/>
            </a:p>
          </p:txBody>
        </p:sp>
      </p:grpSp>
      <p:grpSp>
        <p:nvGrpSpPr>
          <p:cNvPr id="37" name="Group 37"/>
          <p:cNvGrpSpPr/>
          <p:nvPr/>
        </p:nvGrpSpPr>
        <p:grpSpPr>
          <a:xfrm>
            <a:off x="16238511" y="7391299"/>
            <a:ext cx="1606622" cy="1880336"/>
            <a:chOff x="0" y="0"/>
            <a:chExt cx="27419684" cy="32091074"/>
          </a:xfrm>
        </p:grpSpPr>
        <p:sp>
          <p:nvSpPr>
            <p:cNvPr id="38" name="Freeform 38"/>
            <p:cNvSpPr/>
            <p:nvPr/>
          </p:nvSpPr>
          <p:spPr>
            <a:xfrm>
              <a:off x="0" y="0"/>
              <a:ext cx="27419684" cy="32091074"/>
            </a:xfrm>
            <a:custGeom>
              <a:avLst/>
              <a:gdLst/>
              <a:ahLst/>
              <a:cxnLst/>
              <a:rect l="l" t="t" r="r" b="b"/>
              <a:pathLst>
                <a:path w="27419684" h="32091074">
                  <a:moveTo>
                    <a:pt x="48188" y="0"/>
                  </a:moveTo>
                  <a:lnTo>
                    <a:pt x="27371498" y="0"/>
                  </a:lnTo>
                  <a:cubicBezTo>
                    <a:pt x="27384276" y="0"/>
                    <a:pt x="27396532" y="5077"/>
                    <a:pt x="27405571" y="14114"/>
                  </a:cubicBezTo>
                  <a:cubicBezTo>
                    <a:pt x="27414609" y="23151"/>
                    <a:pt x="27419684" y="35407"/>
                    <a:pt x="27419684" y="48188"/>
                  </a:cubicBezTo>
                  <a:lnTo>
                    <a:pt x="27419684" y="32042888"/>
                  </a:lnTo>
                  <a:cubicBezTo>
                    <a:pt x="27419684" y="32055665"/>
                    <a:pt x="27414609" y="32067922"/>
                    <a:pt x="27405571" y="32076960"/>
                  </a:cubicBezTo>
                  <a:cubicBezTo>
                    <a:pt x="27396532" y="32085998"/>
                    <a:pt x="27384276" y="32091074"/>
                    <a:pt x="27371498" y="32091074"/>
                  </a:cubicBezTo>
                  <a:lnTo>
                    <a:pt x="48188" y="32091074"/>
                  </a:lnTo>
                  <a:cubicBezTo>
                    <a:pt x="35407" y="32091074"/>
                    <a:pt x="23151" y="32085998"/>
                    <a:pt x="14114" y="32076960"/>
                  </a:cubicBezTo>
                  <a:cubicBezTo>
                    <a:pt x="5077" y="32067922"/>
                    <a:pt x="0" y="32055665"/>
                    <a:pt x="0" y="32042888"/>
                  </a:cubicBezTo>
                  <a:lnTo>
                    <a:pt x="0" y="48188"/>
                  </a:lnTo>
                  <a:cubicBezTo>
                    <a:pt x="0" y="35407"/>
                    <a:pt x="5077" y="23151"/>
                    <a:pt x="14114" y="14114"/>
                  </a:cubicBezTo>
                  <a:cubicBezTo>
                    <a:pt x="23151" y="5077"/>
                    <a:pt x="35407" y="0"/>
                    <a:pt x="48188" y="0"/>
                  </a:cubicBezTo>
                  <a:close/>
                </a:path>
              </a:pathLst>
            </a:custGeom>
            <a:solidFill>
              <a:srgbClr val="FFFFFF"/>
            </a:solidFill>
            <a:ln w="19050" cap="sq">
              <a:solidFill>
                <a:srgbClr val="B2935B"/>
              </a:solidFill>
              <a:prstDash val="solid"/>
              <a:miter/>
            </a:ln>
          </p:spPr>
        </p:sp>
        <p:sp>
          <p:nvSpPr>
            <p:cNvPr id="39" name="TextBox 39"/>
            <p:cNvSpPr txBox="1"/>
            <p:nvPr/>
          </p:nvSpPr>
          <p:spPr>
            <a:xfrm>
              <a:off x="0" y="-28575"/>
              <a:ext cx="27419684" cy="32119649"/>
            </a:xfrm>
            <a:prstGeom prst="rect">
              <a:avLst/>
            </a:prstGeom>
          </p:spPr>
          <p:txBody>
            <a:bodyPr lIns="50800" tIns="50800" rIns="50800" bIns="50800" rtlCol="0" anchor="ctr"/>
            <a:lstStyle/>
            <a:p>
              <a:pPr algn="ctr">
                <a:lnSpc>
                  <a:spcPts val="2239"/>
                </a:lnSpc>
                <a:spcBef>
                  <a:spcPct val="0"/>
                </a:spcBef>
              </a:pPr>
              <a:endParaRPr/>
            </a:p>
          </p:txBody>
        </p:sp>
      </p:grpSp>
      <p:sp>
        <p:nvSpPr>
          <p:cNvPr id="40" name="TextBox 40"/>
          <p:cNvSpPr txBox="1"/>
          <p:nvPr/>
        </p:nvSpPr>
        <p:spPr>
          <a:xfrm>
            <a:off x="9088924" y="7516404"/>
            <a:ext cx="1606622" cy="323850"/>
          </a:xfrm>
          <a:prstGeom prst="rect">
            <a:avLst/>
          </a:prstGeom>
        </p:spPr>
        <p:txBody>
          <a:bodyPr wrap="none" lIns="0" tIns="0" rIns="0" bIns="0" rtlCol="0" anchor="t">
            <a:noAutofit/>
          </a:bodyPr>
          <a:lstStyle/>
          <a:p>
            <a:pPr algn="ctr">
              <a:lnSpc>
                <a:spcPts val="2280"/>
              </a:lnSpc>
              <a:spcBef>
                <a:spcPct val="0"/>
              </a:spcBef>
            </a:pPr>
            <a:r>
              <a:rPr lang="en-US" sz="1900" spc="-21">
                <a:solidFill>
                  <a:srgbClr val="974826"/>
                </a:solidFill>
                <a:latin typeface="Calibri"/>
                <a:ea typeface="Calibri"/>
                <a:cs typeface="Calibri"/>
                <a:sym typeface="Calibri"/>
              </a:rPr>
              <a:t>COST</a:t>
            </a:r>
          </a:p>
        </p:txBody>
      </p:sp>
      <p:sp>
        <p:nvSpPr>
          <p:cNvPr id="41" name="TextBox 41"/>
          <p:cNvSpPr txBox="1"/>
          <p:nvPr/>
        </p:nvSpPr>
        <p:spPr>
          <a:xfrm>
            <a:off x="10875719" y="7516404"/>
            <a:ext cx="1606622" cy="323850"/>
          </a:xfrm>
          <a:prstGeom prst="rect">
            <a:avLst/>
          </a:prstGeom>
        </p:spPr>
        <p:txBody>
          <a:bodyPr wrap="none" lIns="0" tIns="0" rIns="0" bIns="0" rtlCol="0" anchor="t">
            <a:noAutofit/>
          </a:bodyPr>
          <a:lstStyle/>
          <a:p>
            <a:pPr algn="ctr">
              <a:lnSpc>
                <a:spcPts val="2280"/>
              </a:lnSpc>
              <a:spcBef>
                <a:spcPct val="0"/>
              </a:spcBef>
            </a:pPr>
            <a:r>
              <a:rPr lang="en-US" sz="1900" spc="-21">
                <a:solidFill>
                  <a:srgbClr val="974826"/>
                </a:solidFill>
                <a:latin typeface="Calibri"/>
                <a:ea typeface="Calibri"/>
                <a:cs typeface="Calibri"/>
                <a:sym typeface="Calibri"/>
              </a:rPr>
              <a:t>HOSTING</a:t>
            </a:r>
          </a:p>
        </p:txBody>
      </p:sp>
      <p:sp>
        <p:nvSpPr>
          <p:cNvPr id="42" name="TextBox 42"/>
          <p:cNvSpPr txBox="1"/>
          <p:nvPr/>
        </p:nvSpPr>
        <p:spPr>
          <a:xfrm>
            <a:off x="12663316" y="7516404"/>
            <a:ext cx="1606622" cy="323850"/>
          </a:xfrm>
          <a:prstGeom prst="rect">
            <a:avLst/>
          </a:prstGeom>
        </p:spPr>
        <p:txBody>
          <a:bodyPr wrap="none" lIns="0" tIns="0" rIns="0" bIns="0" rtlCol="0" anchor="t">
            <a:noAutofit/>
          </a:bodyPr>
          <a:lstStyle/>
          <a:p>
            <a:pPr algn="ctr">
              <a:lnSpc>
                <a:spcPts val="2280"/>
              </a:lnSpc>
              <a:spcBef>
                <a:spcPct val="0"/>
              </a:spcBef>
            </a:pPr>
            <a:r>
              <a:rPr lang="en-US" sz="1900" spc="-21">
                <a:solidFill>
                  <a:srgbClr val="974826"/>
                </a:solidFill>
                <a:latin typeface="Calibri"/>
                <a:ea typeface="Calibri"/>
                <a:cs typeface="Calibri"/>
                <a:sym typeface="Calibri"/>
              </a:rPr>
              <a:t>MAINTENANCE</a:t>
            </a:r>
          </a:p>
        </p:txBody>
      </p:sp>
      <p:sp>
        <p:nvSpPr>
          <p:cNvPr id="43" name="TextBox 43"/>
          <p:cNvSpPr txBox="1"/>
          <p:nvPr/>
        </p:nvSpPr>
        <p:spPr>
          <a:xfrm>
            <a:off x="14450913" y="7516404"/>
            <a:ext cx="1606622" cy="323850"/>
          </a:xfrm>
          <a:prstGeom prst="rect">
            <a:avLst/>
          </a:prstGeom>
        </p:spPr>
        <p:txBody>
          <a:bodyPr wrap="none" lIns="0" tIns="0" rIns="0" bIns="0" rtlCol="0" anchor="t">
            <a:noAutofit/>
          </a:bodyPr>
          <a:lstStyle/>
          <a:p>
            <a:pPr algn="ctr">
              <a:lnSpc>
                <a:spcPts val="2280"/>
              </a:lnSpc>
              <a:spcBef>
                <a:spcPct val="0"/>
              </a:spcBef>
            </a:pPr>
            <a:r>
              <a:rPr lang="en-US" sz="1900" spc="-21">
                <a:solidFill>
                  <a:srgbClr val="974826"/>
                </a:solidFill>
                <a:latin typeface="Calibri"/>
                <a:ea typeface="Calibri"/>
                <a:cs typeface="Calibri"/>
                <a:sym typeface="Calibri"/>
              </a:rPr>
              <a:t>DEPLOYMENT</a:t>
            </a:r>
          </a:p>
        </p:txBody>
      </p:sp>
      <p:sp>
        <p:nvSpPr>
          <p:cNvPr id="44" name="TextBox 44"/>
          <p:cNvSpPr txBox="1"/>
          <p:nvPr/>
        </p:nvSpPr>
        <p:spPr>
          <a:xfrm>
            <a:off x="16238511" y="7516404"/>
            <a:ext cx="1606622" cy="323850"/>
          </a:xfrm>
          <a:prstGeom prst="rect">
            <a:avLst/>
          </a:prstGeom>
        </p:spPr>
        <p:txBody>
          <a:bodyPr wrap="none" lIns="0" tIns="0" rIns="0" bIns="0" rtlCol="0" anchor="t">
            <a:noAutofit/>
          </a:bodyPr>
          <a:lstStyle/>
          <a:p>
            <a:pPr algn="ctr">
              <a:lnSpc>
                <a:spcPts val="2280"/>
              </a:lnSpc>
              <a:spcBef>
                <a:spcPct val="0"/>
              </a:spcBef>
            </a:pPr>
            <a:r>
              <a:rPr lang="en-US" sz="1900" spc="-21">
                <a:solidFill>
                  <a:srgbClr val="974826"/>
                </a:solidFill>
                <a:latin typeface="Calibri"/>
                <a:ea typeface="Calibri"/>
                <a:cs typeface="Calibri"/>
                <a:sym typeface="Calibri"/>
              </a:rPr>
              <a:t>SCALE</a:t>
            </a:r>
          </a:p>
        </p:txBody>
      </p:sp>
      <p:sp>
        <p:nvSpPr>
          <p:cNvPr id="45" name="TextBox 45"/>
          <p:cNvSpPr txBox="1"/>
          <p:nvPr/>
        </p:nvSpPr>
        <p:spPr>
          <a:xfrm>
            <a:off x="9157881" y="7925979"/>
            <a:ext cx="1468708" cy="1181100"/>
          </a:xfrm>
          <a:prstGeom prst="rect">
            <a:avLst/>
          </a:prstGeom>
        </p:spPr>
        <p:txBody>
          <a:bodyPr lIns="0" tIns="0" rIns="0" bIns="0" rtlCol="0" anchor="t">
            <a:spAutoFit/>
          </a:bodyPr>
          <a:lstStyle/>
          <a:p>
            <a:pPr algn="ctr">
              <a:lnSpc>
                <a:spcPts val="1800"/>
              </a:lnSpc>
              <a:spcBef>
                <a:spcPct val="0"/>
              </a:spcBef>
            </a:pPr>
            <a:r>
              <a:rPr lang="en-US" sz="1500" spc="-16">
                <a:solidFill>
                  <a:srgbClr val="000000"/>
                </a:solidFill>
                <a:latin typeface="Calibri"/>
                <a:ea typeface="Calibri"/>
                <a:cs typeface="Calibri"/>
                <a:sym typeface="Calibri"/>
              </a:rPr>
              <a:t>Uses an existing phone, ₹10 reusable colour card, and open-source software.</a:t>
            </a:r>
          </a:p>
        </p:txBody>
      </p:sp>
      <p:sp>
        <p:nvSpPr>
          <p:cNvPr id="46" name="TextBox 46"/>
          <p:cNvSpPr txBox="1"/>
          <p:nvPr/>
        </p:nvSpPr>
        <p:spPr>
          <a:xfrm>
            <a:off x="10943196" y="7925979"/>
            <a:ext cx="1468708" cy="1181100"/>
          </a:xfrm>
          <a:prstGeom prst="rect">
            <a:avLst/>
          </a:prstGeom>
        </p:spPr>
        <p:txBody>
          <a:bodyPr lIns="0" tIns="0" rIns="0" bIns="0" rtlCol="0" anchor="t">
            <a:spAutoFit/>
          </a:bodyPr>
          <a:lstStyle/>
          <a:p>
            <a:pPr algn="ctr">
              <a:lnSpc>
                <a:spcPts val="1800"/>
              </a:lnSpc>
              <a:spcBef>
                <a:spcPct val="0"/>
              </a:spcBef>
            </a:pPr>
            <a:r>
              <a:rPr lang="en-US" sz="1500" spc="-16">
                <a:solidFill>
                  <a:srgbClr val="000000"/>
                </a:solidFill>
                <a:latin typeface="Calibri"/>
                <a:ea typeface="Calibri"/>
                <a:cs typeface="Calibri"/>
                <a:sym typeface="Calibri"/>
              </a:rPr>
              <a:t>Runs on government cloud for the app, database, and admin dashboard.</a:t>
            </a:r>
          </a:p>
        </p:txBody>
      </p:sp>
      <p:sp>
        <p:nvSpPr>
          <p:cNvPr id="47" name="TextBox 47"/>
          <p:cNvSpPr txBox="1"/>
          <p:nvPr/>
        </p:nvSpPr>
        <p:spPr>
          <a:xfrm>
            <a:off x="12705981" y="8040279"/>
            <a:ext cx="1468708" cy="952500"/>
          </a:xfrm>
          <a:prstGeom prst="rect">
            <a:avLst/>
          </a:prstGeom>
        </p:spPr>
        <p:txBody>
          <a:bodyPr lIns="0" tIns="0" rIns="0" bIns="0" rtlCol="0" anchor="t">
            <a:spAutoFit/>
          </a:bodyPr>
          <a:lstStyle/>
          <a:p>
            <a:pPr algn="ctr">
              <a:lnSpc>
                <a:spcPts val="1800"/>
              </a:lnSpc>
              <a:spcBef>
                <a:spcPct val="0"/>
              </a:spcBef>
            </a:pPr>
            <a:r>
              <a:rPr lang="en-US" sz="1500" spc="-16">
                <a:solidFill>
                  <a:srgbClr val="000000"/>
                </a:solidFill>
                <a:latin typeface="Calibri"/>
                <a:ea typeface="Calibri"/>
                <a:cs typeface="Calibri"/>
                <a:sym typeface="Calibri"/>
              </a:rPr>
              <a:t>Regular security updates and easy kit-profile updates as needed.</a:t>
            </a:r>
          </a:p>
        </p:txBody>
      </p:sp>
      <p:sp>
        <p:nvSpPr>
          <p:cNvPr id="48" name="TextBox 48"/>
          <p:cNvSpPr txBox="1"/>
          <p:nvPr/>
        </p:nvSpPr>
        <p:spPr>
          <a:xfrm>
            <a:off x="14519871" y="8040279"/>
            <a:ext cx="1468708" cy="952500"/>
          </a:xfrm>
          <a:prstGeom prst="rect">
            <a:avLst/>
          </a:prstGeom>
        </p:spPr>
        <p:txBody>
          <a:bodyPr lIns="0" tIns="0" rIns="0" bIns="0" rtlCol="0" anchor="t">
            <a:spAutoFit/>
          </a:bodyPr>
          <a:lstStyle/>
          <a:p>
            <a:pPr algn="ctr">
              <a:lnSpc>
                <a:spcPts val="1800"/>
              </a:lnSpc>
              <a:spcBef>
                <a:spcPct val="0"/>
              </a:spcBef>
            </a:pPr>
            <a:r>
              <a:rPr lang="en-US" sz="1500" spc="-16">
                <a:solidFill>
                  <a:srgbClr val="000000"/>
                </a:solidFill>
                <a:latin typeface="Calibri"/>
                <a:ea typeface="Calibri"/>
                <a:cs typeface="Calibri"/>
                <a:sym typeface="Calibri"/>
              </a:rPr>
              <a:t>Start with a pilot, test in the field, then expand deployment.</a:t>
            </a:r>
          </a:p>
        </p:txBody>
      </p:sp>
      <p:sp>
        <p:nvSpPr>
          <p:cNvPr id="49" name="TextBox 49"/>
          <p:cNvSpPr txBox="1"/>
          <p:nvPr/>
        </p:nvSpPr>
        <p:spPr>
          <a:xfrm>
            <a:off x="16329303" y="7925979"/>
            <a:ext cx="1468708" cy="1181100"/>
          </a:xfrm>
          <a:prstGeom prst="rect">
            <a:avLst/>
          </a:prstGeom>
        </p:spPr>
        <p:txBody>
          <a:bodyPr lIns="0" tIns="0" rIns="0" bIns="0" rtlCol="0" anchor="t">
            <a:spAutoFit/>
          </a:bodyPr>
          <a:lstStyle/>
          <a:p>
            <a:pPr algn="ctr">
              <a:lnSpc>
                <a:spcPts val="1800"/>
              </a:lnSpc>
              <a:spcBef>
                <a:spcPct val="0"/>
              </a:spcBef>
            </a:pPr>
            <a:r>
              <a:rPr lang="en-US" sz="1500" spc="-16">
                <a:solidFill>
                  <a:srgbClr val="000000"/>
                </a:solidFill>
                <a:latin typeface="Calibri"/>
                <a:ea typeface="Calibri"/>
                <a:cs typeface="Calibri"/>
                <a:sym typeface="Calibri"/>
              </a:rPr>
              <a:t>New test kits can be added through the website without updating the app.</a:t>
            </a:r>
          </a:p>
        </p:txBody>
      </p:sp>
      <p:sp>
        <p:nvSpPr>
          <p:cNvPr id="50" name="AutoShape 50"/>
          <p:cNvSpPr/>
          <p:nvPr/>
        </p:nvSpPr>
        <p:spPr>
          <a:xfrm>
            <a:off x="10691338" y="8324540"/>
            <a:ext cx="184381" cy="0"/>
          </a:xfrm>
          <a:prstGeom prst="line">
            <a:avLst/>
          </a:prstGeom>
          <a:ln w="19050" cap="flat">
            <a:solidFill>
              <a:srgbClr val="B2935B"/>
            </a:solidFill>
            <a:prstDash val="solid"/>
            <a:headEnd type="none" w="sm" len="sm"/>
            <a:tailEnd type="arrow" w="med" len="sm"/>
          </a:ln>
        </p:spPr>
        <p:txBody>
          <a:bodyPr/>
          <a:lstStyle/>
          <a:p>
            <a:endParaRPr/>
          </a:p>
        </p:txBody>
      </p:sp>
      <p:sp>
        <p:nvSpPr>
          <p:cNvPr id="51" name="AutoShape 51"/>
          <p:cNvSpPr/>
          <p:nvPr/>
        </p:nvSpPr>
        <p:spPr>
          <a:xfrm>
            <a:off x="12478935" y="8340992"/>
            <a:ext cx="184381" cy="0"/>
          </a:xfrm>
          <a:prstGeom prst="line">
            <a:avLst/>
          </a:prstGeom>
          <a:ln w="19050" cap="flat">
            <a:solidFill>
              <a:srgbClr val="B2935B"/>
            </a:solidFill>
            <a:prstDash val="solid"/>
            <a:headEnd type="none" w="sm" len="sm"/>
            <a:tailEnd type="arrow" w="med" len="sm"/>
          </a:ln>
        </p:spPr>
        <p:txBody>
          <a:bodyPr/>
          <a:lstStyle/>
          <a:p>
            <a:endParaRPr/>
          </a:p>
        </p:txBody>
      </p:sp>
      <p:sp>
        <p:nvSpPr>
          <p:cNvPr id="52" name="AutoShape 52"/>
          <p:cNvSpPr/>
          <p:nvPr/>
        </p:nvSpPr>
        <p:spPr>
          <a:xfrm>
            <a:off x="14269938" y="8321942"/>
            <a:ext cx="184381" cy="0"/>
          </a:xfrm>
          <a:prstGeom prst="line">
            <a:avLst/>
          </a:prstGeom>
          <a:ln w="19050" cap="flat">
            <a:solidFill>
              <a:srgbClr val="B2935B"/>
            </a:solidFill>
            <a:prstDash val="solid"/>
            <a:headEnd type="none" w="sm" len="sm"/>
            <a:tailEnd type="arrow" w="med" len="sm"/>
          </a:ln>
        </p:spPr>
        <p:txBody>
          <a:bodyPr/>
          <a:lstStyle/>
          <a:p>
            <a:endParaRPr/>
          </a:p>
        </p:txBody>
      </p:sp>
      <p:sp>
        <p:nvSpPr>
          <p:cNvPr id="53" name="AutoShape 53"/>
          <p:cNvSpPr/>
          <p:nvPr/>
        </p:nvSpPr>
        <p:spPr>
          <a:xfrm>
            <a:off x="16057536" y="8331467"/>
            <a:ext cx="184381" cy="0"/>
          </a:xfrm>
          <a:prstGeom prst="line">
            <a:avLst/>
          </a:prstGeom>
          <a:ln w="19050" cap="flat">
            <a:solidFill>
              <a:srgbClr val="B2935B"/>
            </a:solidFill>
            <a:prstDash val="solid"/>
            <a:headEnd type="none" w="sm" len="sm"/>
            <a:tailEnd type="arrow" w="med" len="sm"/>
          </a:ln>
        </p:spPr>
        <p:txBody>
          <a:bodyPr/>
          <a:lstStyle/>
          <a:p>
            <a:endParaRPr/>
          </a:p>
        </p:txBody>
      </p:sp>
      <p:sp>
        <p:nvSpPr>
          <p:cNvPr id="54" name="TextBox 19"/>
          <p:cNvSpPr txBox="1"/>
          <p:nvPr/>
        </p:nvSpPr>
        <p:spPr>
          <a:xfrm>
            <a:off x="4572000" y="6492240"/>
            <a:ext cx="4206240" cy="384048"/>
          </a:xfrm>
          <a:prstGeom prst="rect">
            <a:avLst/>
          </a:prstGeom>
        </p:spPr>
        <p:txBody>
          <a:bodyPr wrap="none" lIns="0" tIns="0" rIns="0" bIns="0" rtlCol="0" anchor="t">
            <a:noAutofit/>
          </a:bodyPr>
          <a:lstStyle/>
          <a:p>
            <a:pPr algn="l">
              <a:lnSpc>
                <a:spcPts val="2640"/>
              </a:lnSpc>
            </a:pPr>
            <a:r>
              <a:rPr lang="en-US" sz="2200" b="1">
                <a:solidFill>
                  <a:srgbClr val="7A2F00"/>
                </a:solidFill>
                <a:latin typeface="Calibri"/>
                <a:ea typeface="Calibri"/>
                <a:cs typeface="Calibri"/>
                <a:sym typeface="Calibri"/>
              </a:rPr>
              <a:t>Pilot Plan (proposed)</a:t>
            </a:r>
          </a:p>
        </p:txBody>
      </p:sp>
      <p:sp>
        <p:nvSpPr>
          <p:cNvPr id="55" name="TextBox 21"/>
          <p:cNvSpPr txBox="1"/>
          <p:nvPr/>
        </p:nvSpPr>
        <p:spPr>
          <a:xfrm>
            <a:off x="4526280" y="6931152"/>
            <a:ext cx="4315968" cy="2487168"/>
          </a:xfrm>
          <a:prstGeom prst="rect">
            <a:avLst/>
          </a:prstGeom>
        </p:spPr>
        <p:txBody>
          <a:bodyPr wrap="square" lIns="0" tIns="0" rIns="0" bIns="0" rtlCol="0" anchor="t">
            <a:noAutofit/>
          </a:bodyPr>
          <a:lstStyle/>
          <a:p>
            <a:pPr marL="410209" lvl="1" indent="-205105" algn="l">
              <a:lnSpc>
                <a:spcPct val="110000"/>
              </a:lnSpc>
              <a:buFont typeface="Arial"/>
              <a:buChar char="•"/>
            </a:pPr>
            <a:r>
              <a:rPr lang="en-US" sz="1500" b="1" spc="-15" dirty="0">
                <a:solidFill>
                  <a:srgbClr val="000000"/>
                </a:solidFill>
                <a:latin typeface="Calibri"/>
                <a:ea typeface="Calibri"/>
                <a:cs typeface="Calibri"/>
                <a:sym typeface="Calibri"/>
              </a:rPr>
              <a:t>Where</a:t>
            </a:r>
            <a:r>
              <a:rPr lang="en-US" sz="1500" spc="-15" dirty="0">
                <a:solidFill>
                  <a:srgbClr val="000000"/>
                </a:solidFill>
                <a:latin typeface="Calibri"/>
                <a:ea typeface="Calibri"/>
                <a:cs typeface="Calibri"/>
                <a:sym typeface="Calibri"/>
              </a:rPr>
              <a:t> - 1 district in Tamil Nadu, with local police and the nearest FSL</a:t>
            </a:r>
          </a:p>
          <a:p>
            <a:pPr marL="410209" lvl="1" indent="-205105" algn="l">
              <a:lnSpc>
                <a:spcPct val="110000"/>
              </a:lnSpc>
              <a:buFont typeface="Arial"/>
              <a:buChar char="•"/>
            </a:pPr>
            <a:r>
              <a:rPr lang="en-US" sz="1500" b="1" spc="-15" dirty="0">
                <a:solidFill>
                  <a:srgbClr val="000000"/>
                </a:solidFill>
                <a:latin typeface="Calibri"/>
                <a:ea typeface="Calibri"/>
                <a:cs typeface="Calibri"/>
                <a:sym typeface="Calibri"/>
              </a:rPr>
              <a:t>Who</a:t>
            </a:r>
            <a:r>
              <a:rPr lang="en-US" sz="1500" spc="-15" dirty="0">
                <a:solidFill>
                  <a:srgbClr val="000000"/>
                </a:solidFill>
                <a:latin typeface="Calibri"/>
                <a:ea typeface="Calibri"/>
                <a:cs typeface="Calibri"/>
                <a:sym typeface="Calibri"/>
              </a:rPr>
              <a:t> - 20 officers, for 3 months</a:t>
            </a:r>
          </a:p>
          <a:p>
            <a:pPr marL="410209" lvl="1" indent="-205105" algn="l">
              <a:lnSpc>
                <a:spcPct val="110000"/>
              </a:lnSpc>
              <a:buFont typeface="Arial"/>
              <a:buChar char="•"/>
            </a:pPr>
            <a:r>
              <a:rPr lang="en-US" sz="1500" b="1" spc="-15" dirty="0">
                <a:solidFill>
                  <a:srgbClr val="000000"/>
                </a:solidFill>
                <a:latin typeface="Calibri"/>
                <a:ea typeface="Calibri"/>
                <a:cs typeface="Calibri"/>
                <a:sym typeface="Calibri"/>
              </a:rPr>
              <a:t>Check</a:t>
            </a:r>
            <a:r>
              <a:rPr lang="en-US" sz="1500" spc="-15" dirty="0">
                <a:solidFill>
                  <a:srgbClr val="000000"/>
                </a:solidFill>
                <a:latin typeface="Calibri"/>
                <a:ea typeface="Calibri"/>
                <a:cs typeface="Calibri"/>
                <a:sym typeface="Calibri"/>
              </a:rPr>
              <a:t> - every field result is checked again in the FSL lab</a:t>
            </a:r>
          </a:p>
          <a:p>
            <a:pPr marL="410209" lvl="1" indent="-205105" algn="l">
              <a:lnSpc>
                <a:spcPct val="110000"/>
              </a:lnSpc>
              <a:buFont typeface="Arial"/>
              <a:buChar char="•"/>
            </a:pPr>
            <a:r>
              <a:rPr lang="en-US" sz="1500" b="1" spc="-15" dirty="0">
                <a:solidFill>
                  <a:srgbClr val="000000"/>
                </a:solidFill>
                <a:latin typeface="Calibri"/>
                <a:ea typeface="Calibri"/>
                <a:cs typeface="Calibri"/>
                <a:sym typeface="Calibri"/>
              </a:rPr>
              <a:t>Success</a:t>
            </a:r>
            <a:r>
              <a:rPr lang="en-US" sz="1500" spc="-15" dirty="0">
                <a:solidFill>
                  <a:srgbClr val="000000"/>
                </a:solidFill>
                <a:latin typeface="Calibri"/>
                <a:ea typeface="Calibri"/>
                <a:cs typeface="Calibri"/>
                <a:sym typeface="Calibri"/>
              </a:rPr>
              <a:t> - 95% or more same as lab, NOT SURE below 10%, every record passes the check</a:t>
            </a:r>
          </a:p>
          <a:p>
            <a:pPr marL="410209" lvl="1" indent="-205105" algn="l">
              <a:lnSpc>
                <a:spcPct val="110000"/>
              </a:lnSpc>
              <a:buFont typeface="Arial"/>
              <a:buChar char="•"/>
            </a:pPr>
            <a:r>
              <a:rPr lang="en-US" sz="1500" b="1" spc="-15" dirty="0">
                <a:solidFill>
                  <a:srgbClr val="000000"/>
                </a:solidFill>
                <a:latin typeface="Calibri"/>
                <a:ea typeface="Calibri"/>
                <a:cs typeface="Calibri"/>
                <a:sym typeface="Calibri"/>
              </a:rPr>
              <a:t>Cost</a:t>
            </a:r>
            <a:r>
              <a:rPr lang="en-US" sz="1500" spc="-15" dirty="0">
                <a:solidFill>
                  <a:srgbClr val="000000"/>
                </a:solidFill>
                <a:latin typeface="Calibri"/>
                <a:ea typeface="Calibri"/>
                <a:cs typeface="Calibri"/>
                <a:sym typeface="Calibri"/>
              </a:rPr>
              <a:t> - around ₹10,000 for 3 months, for cards and server (rough estimate)</a:t>
            </a:r>
          </a:p>
        </p:txBody>
      </p:sp>
      <p:sp>
        <p:nvSpPr>
          <p:cNvPr id="56" name="TextBox 55"/>
          <p:cNvSpPr txBox="1"/>
          <p:nvPr/>
        </p:nvSpPr>
        <p:spPr>
          <a:xfrm>
            <a:off x="12207240" y="6731026"/>
            <a:ext cx="5715000" cy="475488"/>
          </a:xfrm>
          <a:prstGeom prst="rect">
            <a:avLst/>
          </a:prstGeom>
          <a:noFill/>
        </p:spPr>
        <p:txBody>
          <a:bodyPr wrap="square" lIns="27432" tIns="9144" rIns="27432" bIns="9144">
            <a:noAutofit/>
          </a:bodyPr>
          <a:lstStyle/>
          <a:p>
            <a:r>
              <a:rPr sz="1200" b="1" dirty="0">
                <a:solidFill>
                  <a:srgbClr val="555555"/>
                </a:solidFill>
                <a:latin typeface="Calibri"/>
              </a:rPr>
              <a:t>After the pilot, </a:t>
            </a:r>
            <a:r>
              <a:rPr sz="1200" b="0" dirty="0">
                <a:solidFill>
                  <a:srgbClr val="555555"/>
                </a:solidFill>
                <a:latin typeface="Calibri"/>
              </a:rPr>
              <a:t>the cost can come from the state police or NCB IT budget.</a:t>
            </a:r>
          </a:p>
          <a:p>
            <a:r>
              <a:rPr sz="1200" b="0" dirty="0">
                <a:solidFill>
                  <a:srgbClr val="555555"/>
                </a:solidFill>
                <a:latin typeface="Calibri"/>
              </a:rPr>
              <a:t>No licence fee as it is open source, so running cost stays low.</a:t>
            </a:r>
            <a:r>
              <a:rPr sz="1200" b="0" dirty="0" err="1">
                <a:solidFill>
                  <a:srgbClr val="555555"/>
                </a:solidFill>
                <a:latin typeface="Calibri"/>
              </a:rPr>
              <a:t/>
            </a:r>
            <a:r>
              <a:rPr sz="1200" b="0" dirty="0">
                <a:solidFill>
                  <a:srgbClr val="555555"/>
                </a:solidFill>
                <a:latin typeface="Calibri"/>
              </a:rPr>
              <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9564624"/>
            <a:ext cx="18280761" cy="715289"/>
            <a:chOff x="0" y="0"/>
            <a:chExt cx="24374348" cy="953719"/>
          </a:xfrm>
        </p:grpSpPr>
        <p:sp>
          <p:nvSpPr>
            <p:cNvPr id="3" name="Freeform 3"/>
            <p:cNvSpPr/>
            <p:nvPr/>
          </p:nvSpPr>
          <p:spPr>
            <a:xfrm>
              <a:off x="0" y="0"/>
              <a:ext cx="24374348" cy="953770"/>
            </a:xfrm>
            <a:custGeom>
              <a:avLst/>
              <a:gdLst/>
              <a:ahLst/>
              <a:cxnLst/>
              <a:rect l="l" t="t" r="r" b="b"/>
              <a:pathLst>
                <a:path w="24374348" h="953770">
                  <a:moveTo>
                    <a:pt x="0" y="0"/>
                  </a:moveTo>
                  <a:lnTo>
                    <a:pt x="24374348" y="0"/>
                  </a:lnTo>
                  <a:lnTo>
                    <a:pt x="24374348" y="953770"/>
                  </a:lnTo>
                  <a:lnTo>
                    <a:pt x="0" y="953770"/>
                  </a:lnTo>
                  <a:lnTo>
                    <a:pt x="0" y="0"/>
                  </a:lnTo>
                  <a:close/>
                </a:path>
              </a:pathLst>
            </a:custGeom>
            <a:blipFill>
              <a:blip r:embed="rId3"/>
              <a:stretch>
                <a:fillRect t="-914" b="-909"/>
              </a:stretch>
            </a:blipFill>
          </p:spPr>
        </p:sp>
      </p:grpSp>
      <p:grpSp>
        <p:nvGrpSpPr>
          <p:cNvPr id="4" name="Group 4"/>
          <p:cNvGrpSpPr/>
          <p:nvPr/>
        </p:nvGrpSpPr>
        <p:grpSpPr>
          <a:xfrm>
            <a:off x="0" y="9532620"/>
            <a:ext cx="18288000" cy="754380"/>
            <a:chOff x="0" y="0"/>
            <a:chExt cx="24384000" cy="1005840"/>
          </a:xfrm>
        </p:grpSpPr>
        <p:sp>
          <p:nvSpPr>
            <p:cNvPr id="5" name="Freeform 5"/>
            <p:cNvSpPr/>
            <p:nvPr/>
          </p:nvSpPr>
          <p:spPr>
            <a:xfrm>
              <a:off x="0" y="0"/>
              <a:ext cx="24384000" cy="1005840"/>
            </a:xfrm>
            <a:custGeom>
              <a:avLst/>
              <a:gdLst/>
              <a:ahLst/>
              <a:cxnLst/>
              <a:rect l="l" t="t" r="r" b="b"/>
              <a:pathLst>
                <a:path w="24384000" h="1005840">
                  <a:moveTo>
                    <a:pt x="24384000" y="0"/>
                  </a:moveTo>
                  <a:lnTo>
                    <a:pt x="0" y="0"/>
                  </a:lnTo>
                  <a:lnTo>
                    <a:pt x="0" y="1005840"/>
                  </a:lnTo>
                  <a:lnTo>
                    <a:pt x="24384000" y="1005840"/>
                  </a:lnTo>
                  <a:lnTo>
                    <a:pt x="24384000" y="0"/>
                  </a:lnTo>
                  <a:close/>
                </a:path>
              </a:pathLst>
            </a:custGeom>
            <a:solidFill>
              <a:srgbClr val="006EC0"/>
            </a:solidFill>
          </p:spPr>
        </p:sp>
      </p:grpSp>
      <p:sp>
        <p:nvSpPr>
          <p:cNvPr id="6" name="Freeform 6"/>
          <p:cNvSpPr/>
          <p:nvPr/>
        </p:nvSpPr>
        <p:spPr>
          <a:xfrm>
            <a:off x="391335" y="315011"/>
            <a:ext cx="2629852" cy="1249680"/>
          </a:xfrm>
          <a:custGeom>
            <a:avLst/>
            <a:gdLst/>
            <a:ahLst/>
            <a:cxnLst/>
            <a:rect l="l" t="t" r="r" b="b"/>
            <a:pathLst>
              <a:path w="2629852" h="1249680">
                <a:moveTo>
                  <a:pt x="0" y="0"/>
                </a:moveTo>
                <a:lnTo>
                  <a:pt x="2629852" y="0"/>
                </a:lnTo>
                <a:lnTo>
                  <a:pt x="2629852" y="1249680"/>
                </a:lnTo>
                <a:lnTo>
                  <a:pt x="0" y="1249680"/>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a:p>
        </p:txBody>
      </p:sp>
      <p:grpSp>
        <p:nvGrpSpPr>
          <p:cNvPr id="7" name="Group 7"/>
          <p:cNvGrpSpPr/>
          <p:nvPr/>
        </p:nvGrpSpPr>
        <p:grpSpPr>
          <a:xfrm>
            <a:off x="852866" y="2000650"/>
            <a:ext cx="9090296" cy="2418586"/>
            <a:chOff x="0" y="0"/>
            <a:chExt cx="180762863" cy="48094198"/>
          </a:xfrm>
        </p:grpSpPr>
        <p:sp>
          <p:nvSpPr>
            <p:cNvPr id="8" name="Freeform 8"/>
            <p:cNvSpPr/>
            <p:nvPr/>
          </p:nvSpPr>
          <p:spPr>
            <a:xfrm>
              <a:off x="0" y="0"/>
              <a:ext cx="180762870" cy="48094196"/>
            </a:xfrm>
            <a:custGeom>
              <a:avLst/>
              <a:gdLst/>
              <a:ahLst/>
              <a:cxnLst/>
              <a:rect l="l" t="t" r="r" b="b"/>
              <a:pathLst>
                <a:path w="180762870" h="48094196">
                  <a:moveTo>
                    <a:pt x="8517" y="0"/>
                  </a:moveTo>
                  <a:lnTo>
                    <a:pt x="180754350" y="0"/>
                  </a:lnTo>
                  <a:cubicBezTo>
                    <a:pt x="180759063" y="0"/>
                    <a:pt x="180762870" y="3813"/>
                    <a:pt x="180762870" y="8517"/>
                  </a:cubicBezTo>
                  <a:lnTo>
                    <a:pt x="180762870" y="48085679"/>
                  </a:lnTo>
                  <a:cubicBezTo>
                    <a:pt x="180762870" y="48090382"/>
                    <a:pt x="180759063" y="48094196"/>
                    <a:pt x="180754350" y="48094196"/>
                  </a:cubicBezTo>
                  <a:lnTo>
                    <a:pt x="8517" y="48094196"/>
                  </a:lnTo>
                  <a:cubicBezTo>
                    <a:pt x="3813" y="48094196"/>
                    <a:pt x="0" y="48090382"/>
                    <a:pt x="0" y="48085679"/>
                  </a:cubicBezTo>
                  <a:lnTo>
                    <a:pt x="0" y="8517"/>
                  </a:lnTo>
                  <a:cubicBezTo>
                    <a:pt x="0" y="3813"/>
                    <a:pt x="3813" y="0"/>
                    <a:pt x="8517" y="0"/>
                  </a:cubicBezTo>
                  <a:close/>
                </a:path>
              </a:pathLst>
            </a:custGeom>
            <a:solidFill>
              <a:srgbClr val="FFFFFF"/>
            </a:solidFill>
            <a:ln w="38100" cap="sq">
              <a:solidFill>
                <a:srgbClr val="7A2F00"/>
              </a:solidFill>
              <a:prstDash val="solid"/>
              <a:miter/>
            </a:ln>
          </p:spPr>
        </p:sp>
        <p:sp>
          <p:nvSpPr>
            <p:cNvPr id="9" name="TextBox 9"/>
            <p:cNvSpPr txBox="1"/>
            <p:nvPr/>
          </p:nvSpPr>
          <p:spPr>
            <a:xfrm>
              <a:off x="0" y="-76200"/>
              <a:ext cx="180762863" cy="48170398"/>
            </a:xfrm>
            <a:prstGeom prst="rect">
              <a:avLst/>
            </a:prstGeom>
          </p:spPr>
          <p:txBody>
            <a:bodyPr lIns="50800" tIns="50800" rIns="50800" bIns="50800" rtlCol="0" anchor="ctr"/>
            <a:lstStyle/>
            <a:p>
              <a:pPr algn="ctr">
                <a:lnSpc>
                  <a:spcPts val="5320"/>
                </a:lnSpc>
                <a:spcBef>
                  <a:spcPct val="0"/>
                </a:spcBef>
              </a:pPr>
              <a:endParaRPr/>
            </a:p>
          </p:txBody>
        </p:sp>
      </p:grpSp>
      <p:sp>
        <p:nvSpPr>
          <p:cNvPr id="10" name="Freeform 10"/>
          <p:cNvSpPr/>
          <p:nvPr/>
        </p:nvSpPr>
        <p:spPr>
          <a:xfrm>
            <a:off x="712566" y="4836047"/>
            <a:ext cx="4685447" cy="4615775"/>
          </a:xfrm>
          <a:custGeom>
            <a:avLst/>
            <a:gdLst/>
            <a:ahLst/>
            <a:cxnLst/>
            <a:rect l="l" t="t" r="r" b="b"/>
            <a:pathLst>
              <a:path w="4685447" h="4615775">
                <a:moveTo>
                  <a:pt x="0" y="0"/>
                </a:moveTo>
                <a:lnTo>
                  <a:pt x="4685448" y="0"/>
                </a:lnTo>
                <a:lnTo>
                  <a:pt x="4685448" y="4615775"/>
                </a:lnTo>
                <a:lnTo>
                  <a:pt x="0" y="4615775"/>
                </a:lnTo>
                <a:lnTo>
                  <a:pt x="0" y="0"/>
                </a:lnTo>
                <a:close/>
              </a:path>
            </a:pathLst>
          </a:custGeom>
          <a:blipFill>
            <a:blip r:embed="rId5"/>
            <a:stretch>
              <a:fillRect/>
            </a:stretch>
          </a:blipFill>
        </p:spPr>
        <p:txBody>
          <a:bodyPr/>
          <a:lstStyle/>
          <a:p>
            <a:endParaRPr/>
          </a:p>
        </p:txBody>
      </p:sp>
      <p:grpSp>
        <p:nvGrpSpPr>
          <p:cNvPr id="11" name="Group 11"/>
          <p:cNvGrpSpPr/>
          <p:nvPr/>
        </p:nvGrpSpPr>
        <p:grpSpPr>
          <a:xfrm>
            <a:off x="10649712" y="7644185"/>
            <a:ext cx="6735059" cy="1810710"/>
            <a:chOff x="0" y="0"/>
            <a:chExt cx="133928377" cy="65512658"/>
          </a:xfrm>
        </p:grpSpPr>
        <p:sp>
          <p:nvSpPr>
            <p:cNvPr id="12" name="Freeform 12"/>
            <p:cNvSpPr/>
            <p:nvPr/>
          </p:nvSpPr>
          <p:spPr>
            <a:xfrm>
              <a:off x="0" y="0"/>
              <a:ext cx="133928383" cy="65512659"/>
            </a:xfrm>
            <a:custGeom>
              <a:avLst/>
              <a:gdLst/>
              <a:ahLst/>
              <a:cxnLst/>
              <a:rect l="l" t="t" r="r" b="b"/>
              <a:pathLst>
                <a:path w="133928383" h="65512659">
                  <a:moveTo>
                    <a:pt x="11495" y="0"/>
                  </a:moveTo>
                  <a:lnTo>
                    <a:pt x="133916886" y="0"/>
                  </a:lnTo>
                  <a:cubicBezTo>
                    <a:pt x="133919937" y="0"/>
                    <a:pt x="133922864" y="1211"/>
                    <a:pt x="133925022" y="3367"/>
                  </a:cubicBezTo>
                  <a:cubicBezTo>
                    <a:pt x="133927168" y="5523"/>
                    <a:pt x="133928383" y="8446"/>
                    <a:pt x="133928383" y="11495"/>
                  </a:cubicBezTo>
                  <a:lnTo>
                    <a:pt x="133928383" y="65501162"/>
                  </a:lnTo>
                  <a:cubicBezTo>
                    <a:pt x="133928383" y="65507512"/>
                    <a:pt x="133923236" y="65512659"/>
                    <a:pt x="133916886" y="65512659"/>
                  </a:cubicBezTo>
                  <a:lnTo>
                    <a:pt x="11495" y="65512659"/>
                  </a:lnTo>
                  <a:cubicBezTo>
                    <a:pt x="8446" y="65512659"/>
                    <a:pt x="5523" y="65511449"/>
                    <a:pt x="3367" y="65509291"/>
                  </a:cubicBezTo>
                  <a:cubicBezTo>
                    <a:pt x="1211" y="65507133"/>
                    <a:pt x="0" y="65504213"/>
                    <a:pt x="0" y="65501162"/>
                  </a:cubicBezTo>
                  <a:lnTo>
                    <a:pt x="0" y="11495"/>
                  </a:lnTo>
                  <a:cubicBezTo>
                    <a:pt x="0" y="8446"/>
                    <a:pt x="1211" y="5523"/>
                    <a:pt x="3367" y="3367"/>
                  </a:cubicBezTo>
                  <a:cubicBezTo>
                    <a:pt x="5523" y="1211"/>
                    <a:pt x="8446" y="0"/>
                    <a:pt x="11495" y="0"/>
                  </a:cubicBezTo>
                  <a:close/>
                </a:path>
              </a:pathLst>
            </a:custGeom>
            <a:solidFill>
              <a:srgbClr val="FFFFFF"/>
            </a:solidFill>
            <a:ln w="38100" cap="sq">
              <a:solidFill>
                <a:srgbClr val="7A2F00"/>
              </a:solidFill>
              <a:prstDash val="solid"/>
              <a:miter/>
            </a:ln>
          </p:spPr>
        </p:sp>
        <p:sp>
          <p:nvSpPr>
            <p:cNvPr id="13" name="TextBox 13"/>
            <p:cNvSpPr txBox="1"/>
            <p:nvPr/>
          </p:nvSpPr>
          <p:spPr>
            <a:xfrm>
              <a:off x="0" y="-76200"/>
              <a:ext cx="133928377" cy="65588858"/>
            </a:xfrm>
            <a:prstGeom prst="rect">
              <a:avLst/>
            </a:prstGeom>
          </p:spPr>
          <p:txBody>
            <a:bodyPr lIns="50800" tIns="50800" rIns="50800" bIns="50800" rtlCol="0" anchor="ctr"/>
            <a:lstStyle/>
            <a:p>
              <a:pPr algn="ctr">
                <a:lnSpc>
                  <a:spcPts val="5320"/>
                </a:lnSpc>
                <a:spcBef>
                  <a:spcPct val="0"/>
                </a:spcBef>
              </a:pPr>
              <a:endParaRPr/>
            </a:p>
          </p:txBody>
        </p:sp>
      </p:grpSp>
      <p:sp>
        <p:nvSpPr>
          <p:cNvPr id="14" name="AutoShape 14"/>
          <p:cNvSpPr/>
          <p:nvPr/>
        </p:nvSpPr>
        <p:spPr>
          <a:xfrm>
            <a:off x="4699814" y="2426368"/>
            <a:ext cx="0" cy="1839760"/>
          </a:xfrm>
          <a:prstGeom prst="line">
            <a:avLst/>
          </a:prstGeom>
          <a:ln w="19050" cap="flat">
            <a:solidFill>
              <a:srgbClr val="B2935B"/>
            </a:solidFill>
            <a:prstDash val="solid"/>
            <a:headEnd type="none" w="sm" len="sm"/>
            <a:tailEnd type="none" w="sm" len="sm"/>
          </a:ln>
        </p:spPr>
        <p:txBody>
          <a:bodyPr/>
          <a:lstStyle/>
          <a:p>
            <a:endParaRPr/>
          </a:p>
        </p:txBody>
      </p:sp>
      <p:sp>
        <p:nvSpPr>
          <p:cNvPr id="15" name="Freeform 15"/>
          <p:cNvSpPr/>
          <p:nvPr/>
        </p:nvSpPr>
        <p:spPr>
          <a:xfrm rot="19366187">
            <a:off x="4706902" y="5048222"/>
            <a:ext cx="1589450" cy="1289893"/>
          </a:xfrm>
          <a:custGeom>
            <a:avLst/>
            <a:gdLst/>
            <a:ahLst/>
            <a:cxnLst/>
            <a:rect l="l" t="t" r="r" b="b"/>
            <a:pathLst>
              <a:path w="1557904" h="1324218">
                <a:moveTo>
                  <a:pt x="0" y="0"/>
                </a:moveTo>
                <a:lnTo>
                  <a:pt x="1557904" y="0"/>
                </a:lnTo>
                <a:lnTo>
                  <a:pt x="1557904" y="1324219"/>
                </a:lnTo>
                <a:lnTo>
                  <a:pt x="0" y="1324219"/>
                </a:lnTo>
                <a:lnTo>
                  <a:pt x="0" y="0"/>
                </a:lnTo>
                <a:close/>
              </a:path>
            </a:pathLst>
          </a:custGeom>
          <a:blipFill>
            <a:blip>
              <a:extLst>
                <a:ext uri="{96DAC541-7B7A-43D3-8B79-37D633B846F1}">
                  <asvg:svgBlip xmlns:asvg="http://schemas.microsoft.com/office/drawing/2016/SVG/main" r:embed="rId6"/>
                </a:ext>
              </a:extLst>
            </a:blip>
            <a:stretch>
              <a:fillRect/>
            </a:stretch>
          </a:blipFill>
        </p:spPr>
        <p:txBody>
          <a:bodyPr/>
          <a:lstStyle/>
          <a:p>
            <a:endParaRPr/>
          </a:p>
        </p:txBody>
      </p:sp>
      <p:sp>
        <p:nvSpPr>
          <p:cNvPr id="16" name="Freeform 16"/>
          <p:cNvSpPr/>
          <p:nvPr/>
        </p:nvSpPr>
        <p:spPr>
          <a:xfrm>
            <a:off x="6524601" y="5010285"/>
            <a:ext cx="3418560" cy="4441537"/>
          </a:xfrm>
          <a:custGeom>
            <a:avLst/>
            <a:gdLst/>
            <a:ahLst/>
            <a:cxnLst/>
            <a:rect l="l" t="t" r="r" b="b"/>
            <a:pathLst>
              <a:path w="3418560" h="4441537">
                <a:moveTo>
                  <a:pt x="0" y="0"/>
                </a:moveTo>
                <a:lnTo>
                  <a:pt x="3418560" y="0"/>
                </a:lnTo>
                <a:lnTo>
                  <a:pt x="3418560" y="4441537"/>
                </a:lnTo>
                <a:lnTo>
                  <a:pt x="0" y="4441537"/>
                </a:lnTo>
                <a:lnTo>
                  <a:pt x="0" y="0"/>
                </a:lnTo>
                <a:close/>
              </a:path>
            </a:pathLst>
          </a:custGeom>
          <a:blipFill>
            <a:blip r:embed="rId7"/>
            <a:stretch>
              <a:fillRect t="-721" b="-9940"/>
            </a:stretch>
          </a:blipFill>
        </p:spPr>
        <p:txBody>
          <a:bodyPr/>
          <a:lstStyle/>
          <a:p>
            <a:endParaRPr/>
          </a:p>
        </p:txBody>
      </p:sp>
      <p:grpSp>
        <p:nvGrpSpPr>
          <p:cNvPr id="17" name="Group 17"/>
          <p:cNvGrpSpPr/>
          <p:nvPr/>
        </p:nvGrpSpPr>
        <p:grpSpPr>
          <a:xfrm>
            <a:off x="14720116" y="33423"/>
            <a:ext cx="3287373" cy="1531268"/>
            <a:chOff x="0" y="0"/>
            <a:chExt cx="4383164" cy="2041690"/>
          </a:xfrm>
        </p:grpSpPr>
        <p:sp>
          <p:nvSpPr>
            <p:cNvPr id="18" name="Freeform 18"/>
            <p:cNvSpPr/>
            <p:nvPr/>
          </p:nvSpPr>
          <p:spPr>
            <a:xfrm>
              <a:off x="0" y="0"/>
              <a:ext cx="4383151" cy="2041652"/>
            </a:xfrm>
            <a:custGeom>
              <a:avLst/>
              <a:gdLst/>
              <a:ahLst/>
              <a:cxnLst/>
              <a:rect l="l" t="t" r="r" b="b"/>
              <a:pathLst>
                <a:path w="4383151" h="2041652">
                  <a:moveTo>
                    <a:pt x="0" y="0"/>
                  </a:moveTo>
                  <a:lnTo>
                    <a:pt x="4383151" y="0"/>
                  </a:lnTo>
                  <a:lnTo>
                    <a:pt x="4383151" y="2041652"/>
                  </a:lnTo>
                  <a:lnTo>
                    <a:pt x="0" y="2041652"/>
                  </a:lnTo>
                  <a:lnTo>
                    <a:pt x="0" y="0"/>
                  </a:lnTo>
                  <a:close/>
                </a:path>
              </a:pathLst>
            </a:custGeom>
            <a:blipFill>
              <a:blip r:embed="rId8"/>
              <a:stretch>
                <a:fillRect t="-106" b="-108"/>
              </a:stretch>
            </a:blipFill>
          </p:spPr>
        </p:sp>
      </p:grpSp>
      <p:sp>
        <p:nvSpPr>
          <p:cNvPr id="19" name="Freeform 19"/>
          <p:cNvSpPr/>
          <p:nvPr/>
        </p:nvSpPr>
        <p:spPr>
          <a:xfrm>
            <a:off x="10649712" y="2304288"/>
            <a:ext cx="6735059" cy="2354471"/>
          </a:xfrm>
          <a:custGeom>
            <a:avLst/>
            <a:gdLst/>
            <a:ahLst/>
            <a:cxnLst/>
            <a:rect l="l" t="t" r="r" b="b"/>
            <a:pathLst>
              <a:path w="6095839" h="3360331">
                <a:moveTo>
                  <a:pt x="0" y="0"/>
                </a:moveTo>
                <a:lnTo>
                  <a:pt x="6095839" y="0"/>
                </a:lnTo>
                <a:lnTo>
                  <a:pt x="6095839" y="3360331"/>
                </a:lnTo>
                <a:lnTo>
                  <a:pt x="0" y="3360331"/>
                </a:lnTo>
                <a:lnTo>
                  <a:pt x="0" y="0"/>
                </a:lnTo>
                <a:close/>
              </a:path>
            </a:pathLst>
          </a:custGeom>
          <a:blipFill>
            <a:blip r:embed="rId9"/>
            <a:srcRect l="17800" t="10000" r="1500" b="38900"/>
            <a:stretch>
              <a:fillRect/>
            </a:stretch>
          </a:blipFill>
        </p:spPr>
        <p:txBody>
          <a:bodyPr/>
          <a:lstStyle/>
          <a:p>
            <a:endParaRPr/>
          </a:p>
        </p:txBody>
      </p:sp>
      <p:sp>
        <p:nvSpPr>
          <p:cNvPr id="20" name="TextBox 20" descr="$PPTXTitle"/>
          <p:cNvSpPr txBox="1"/>
          <p:nvPr/>
        </p:nvSpPr>
        <p:spPr>
          <a:xfrm>
            <a:off x="4912538" y="346300"/>
            <a:ext cx="7916228" cy="876938"/>
          </a:xfrm>
          <a:prstGeom prst="rect">
            <a:avLst/>
          </a:prstGeom>
        </p:spPr>
        <p:txBody>
          <a:bodyPr lIns="0" tIns="0" rIns="0" bIns="0" rtlCol="0" anchor="t">
            <a:spAutoFit/>
          </a:bodyPr>
          <a:lstStyle/>
          <a:p>
            <a:pPr algn="l">
              <a:lnSpc>
                <a:spcPts val="6480"/>
              </a:lnSpc>
            </a:pPr>
            <a:r>
              <a:rPr lang="en-US" sz="5400" b="1" spc="-15">
                <a:solidFill>
                  <a:srgbClr val="7A2F00"/>
                </a:solidFill>
                <a:latin typeface="Times New Roman Bold"/>
                <a:ea typeface="Times New Roman Bold"/>
                <a:cs typeface="Times New Roman Bold"/>
                <a:sym typeface="Times New Roman Bold"/>
              </a:rPr>
              <a:t>IMPACT AND BENEFITS</a:t>
            </a:r>
          </a:p>
        </p:txBody>
      </p:sp>
      <p:sp>
        <p:nvSpPr>
          <p:cNvPr id="21" name="TextBox 21"/>
          <p:cNvSpPr txBox="1"/>
          <p:nvPr/>
        </p:nvSpPr>
        <p:spPr>
          <a:xfrm>
            <a:off x="17063656" y="9649673"/>
            <a:ext cx="104775" cy="288608"/>
          </a:xfrm>
          <a:prstGeom prst="rect">
            <a:avLst/>
          </a:prstGeom>
        </p:spPr>
        <p:txBody>
          <a:bodyPr lIns="0" tIns="0" rIns="0" bIns="0" rtlCol="0" anchor="t">
            <a:spAutoFit/>
          </a:bodyPr>
          <a:lstStyle/>
          <a:p>
            <a:pPr algn="l">
              <a:lnSpc>
                <a:spcPts val="2137"/>
              </a:lnSpc>
            </a:pPr>
            <a:r>
              <a:rPr lang="en-US" sz="1800" b="1" spc="-75">
                <a:solidFill>
                  <a:srgbClr val="FFFFFF"/>
                </a:solidFill>
                <a:latin typeface="Times New Roman Bold"/>
                <a:ea typeface="Times New Roman Bold"/>
                <a:cs typeface="Times New Roman Bold"/>
                <a:sym typeface="Times New Roman Bold"/>
              </a:rPr>
              <a:t>5</a:t>
            </a:r>
          </a:p>
        </p:txBody>
      </p:sp>
      <p:sp>
        <p:nvSpPr>
          <p:cNvPr id="22" name="TextBox 22"/>
          <p:cNvSpPr txBox="1"/>
          <p:nvPr/>
        </p:nvSpPr>
        <p:spPr>
          <a:xfrm>
            <a:off x="10695384" y="8046521"/>
            <a:ext cx="6689387" cy="2745720"/>
          </a:xfrm>
          <a:prstGeom prst="rect">
            <a:avLst/>
          </a:prstGeom>
        </p:spPr>
        <p:txBody>
          <a:bodyPr lIns="0" tIns="0" rIns="0" bIns="0" rtlCol="0" anchor="t">
            <a:spAutoFit/>
          </a:bodyPr>
          <a:lstStyle/>
          <a:p>
            <a:pPr marL="376968" lvl="1" indent="-188484" algn="l">
              <a:lnSpc>
                <a:spcPct val="105000"/>
              </a:lnSpc>
              <a:buFont typeface="Arial"/>
              <a:buChar char="•"/>
            </a:pPr>
            <a:r>
              <a:rPr lang="en-US" sz="1400" spc="-8">
                <a:solidFill>
                  <a:srgbClr val="000000"/>
                </a:solidFill>
                <a:latin typeface="Calibri"/>
                <a:ea typeface="Calibri"/>
                <a:cs typeface="Calibri"/>
                <a:sym typeface="Calibri"/>
              </a:rPr>
              <a:t>Offline Mode (month 1) - save the test on phone, send it when network is back.</a:t>
            </a:r>
          </a:p>
          <a:p>
            <a:pPr marL="376968" lvl="1" indent="-188484" algn="l">
              <a:lnSpc>
                <a:spcPct val="105000"/>
              </a:lnSpc>
              <a:buFont typeface="Arial"/>
              <a:buChar char="•"/>
            </a:pPr>
            <a:r>
              <a:rPr lang="en-US" sz="1400" spc="-8">
                <a:solidFill>
                  <a:srgbClr val="000000"/>
                </a:solidFill>
                <a:latin typeface="Calibri"/>
                <a:ea typeface="Calibri"/>
                <a:cs typeface="Calibri"/>
                <a:sym typeface="Calibri"/>
              </a:rPr>
              <a:t>Phone Security (month 2) - sign each test with the phone's security chip.</a:t>
            </a:r>
          </a:p>
          <a:p>
            <a:pPr marL="376968" lvl="1" indent="-188484" algn="l">
              <a:lnSpc>
                <a:spcPct val="105000"/>
              </a:lnSpc>
              <a:buFont typeface="Arial"/>
              <a:buChar char="•"/>
            </a:pPr>
            <a:r>
              <a:rPr lang="en-US" sz="1400" spc="-8">
                <a:solidFill>
                  <a:srgbClr val="000000"/>
                </a:solidFill>
                <a:latin typeface="Calibri"/>
                <a:ea typeface="Calibri"/>
                <a:cs typeface="Calibri"/>
                <a:sym typeface="Calibri"/>
              </a:rPr>
              <a:t>Police System Integration (after pilot) - apply to NIC or MHA to link with e-Sakshya and CCTNS. Our CSV export is ready.</a:t>
            </a:r>
          </a:p>
          <a:p>
            <a:pPr marL="376968" lvl="1" indent="-188484" algn="l">
              <a:lnSpc>
                <a:spcPct val="105000"/>
              </a:lnSpc>
              <a:buFont typeface="Arial"/>
              <a:buChar char="•"/>
            </a:pPr>
            <a:r>
              <a:rPr lang="en-US" sz="1400" spc="-8">
                <a:solidFill>
                  <a:srgbClr val="000000"/>
                </a:solidFill>
                <a:latin typeface="Calibri"/>
                <a:ea typeface="Calibri"/>
                <a:cs typeface="Calibri"/>
                <a:sym typeface="Calibri"/>
              </a:rPr>
              <a:t>Lab Comparison (during pilot) - compare field results with FSL lab results.</a:t>
            </a:r>
          </a:p>
          <a:p>
            <a:pPr marL="376968" lvl="1" indent="-188484" algn="l">
              <a:lnSpc>
                <a:spcPct val="105000"/>
              </a:lnSpc>
              <a:buFont typeface="Arial"/>
              <a:buChar char="•"/>
            </a:pPr>
            <a:r>
              <a:rPr lang="en-US" sz="1400" spc="-8">
                <a:solidFill>
                  <a:srgbClr val="000000"/>
                </a:solidFill>
                <a:latin typeface="Calibri"/>
                <a:ea typeface="Calibri"/>
                <a:cs typeface="Calibri"/>
                <a:sym typeface="Calibri"/>
              </a:rPr>
              <a:t>Regional Languages - Tamil is done in the app. Hindi and voice help in month 3.</a:t>
            </a:r>
          </a:p>
        </p:txBody>
      </p:sp>
      <p:sp>
        <p:nvSpPr>
          <p:cNvPr id="23" name="TextBox 23" descr="$PPTXTitle"/>
          <p:cNvSpPr txBox="1"/>
          <p:nvPr/>
        </p:nvSpPr>
        <p:spPr>
          <a:xfrm>
            <a:off x="1074372" y="677913"/>
            <a:ext cx="1461403" cy="466725"/>
          </a:xfrm>
          <a:prstGeom prst="rect">
            <a:avLst/>
          </a:prstGeom>
        </p:spPr>
        <p:txBody>
          <a:bodyPr lIns="0" tIns="0" rIns="0" bIns="0" rtlCol="0" anchor="t">
            <a:spAutoFit/>
          </a:bodyPr>
          <a:lstStyle/>
          <a:p>
            <a:pPr algn="l">
              <a:lnSpc>
                <a:spcPts val="3240"/>
              </a:lnSpc>
            </a:pPr>
            <a:r>
              <a:rPr lang="en-US" sz="2700" b="1" spc="-29">
                <a:solidFill>
                  <a:srgbClr val="7A2F00"/>
                </a:solidFill>
                <a:latin typeface="Calibri"/>
                <a:ea typeface="Calibri"/>
                <a:cs typeface="Calibri"/>
                <a:sym typeface="Calibri"/>
              </a:rPr>
              <a:t>HexTech</a:t>
            </a:r>
          </a:p>
        </p:txBody>
      </p:sp>
      <p:sp>
        <p:nvSpPr>
          <p:cNvPr id="24" name="TextBox 24"/>
          <p:cNvSpPr txBox="1"/>
          <p:nvPr/>
        </p:nvSpPr>
        <p:spPr>
          <a:xfrm>
            <a:off x="852866" y="2433353"/>
            <a:ext cx="3762650" cy="1744244"/>
          </a:xfrm>
          <a:prstGeom prst="rect">
            <a:avLst/>
          </a:prstGeom>
        </p:spPr>
        <p:txBody>
          <a:bodyPr lIns="0" tIns="0" rIns="0" bIns="0" rtlCol="0" anchor="t">
            <a:spAutoFit/>
          </a:bodyPr>
          <a:lstStyle/>
          <a:p>
            <a:pPr marL="413775" lvl="1" indent="-206888" algn="l">
              <a:lnSpc>
                <a:spcPts val="2740"/>
              </a:lnSpc>
              <a:buFont typeface="Arial"/>
              <a:buChar char="•"/>
            </a:pPr>
            <a:r>
              <a:rPr lang="en-US" sz="1916" spc="-21">
                <a:solidFill>
                  <a:srgbClr val="000000"/>
                </a:solidFill>
                <a:latin typeface="Calibri"/>
                <a:ea typeface="Calibri"/>
                <a:cs typeface="Calibri"/>
                <a:sym typeface="Calibri"/>
              </a:rPr>
              <a:t>Faster, more consistent testing</a:t>
            </a:r>
          </a:p>
          <a:p>
            <a:pPr marL="413775" lvl="1" indent="-206888" algn="l">
              <a:lnSpc>
                <a:spcPts val="2740"/>
              </a:lnSpc>
              <a:buFont typeface="Arial"/>
              <a:buChar char="•"/>
            </a:pPr>
            <a:r>
              <a:rPr lang="en-US" sz="1916" spc="-21">
                <a:solidFill>
                  <a:srgbClr val="000000"/>
                </a:solidFill>
                <a:latin typeface="Calibri"/>
                <a:ea typeface="Calibri"/>
                <a:cs typeface="Calibri"/>
                <a:sym typeface="Calibri"/>
              </a:rPr>
              <a:t>Less manual colour checking</a:t>
            </a:r>
          </a:p>
          <a:p>
            <a:pPr marL="413775" lvl="1" indent="-206888" algn="l">
              <a:lnSpc>
                <a:spcPts val="2740"/>
              </a:lnSpc>
              <a:buFont typeface="Arial"/>
              <a:buChar char="•"/>
            </a:pPr>
            <a:r>
              <a:rPr lang="en-US" sz="1916" spc="-21">
                <a:solidFill>
                  <a:srgbClr val="000000"/>
                </a:solidFill>
                <a:latin typeface="Calibri"/>
                <a:ea typeface="Calibri"/>
                <a:cs typeface="Calibri"/>
                <a:sym typeface="Calibri"/>
              </a:rPr>
              <a:t>INCONCLUSIVE when unclear</a:t>
            </a:r>
          </a:p>
          <a:p>
            <a:pPr marL="413775" lvl="1" indent="-206888" algn="l">
              <a:lnSpc>
                <a:spcPts val="2740"/>
              </a:lnSpc>
              <a:buFont typeface="Arial"/>
              <a:buChar char="•"/>
            </a:pPr>
            <a:r>
              <a:rPr lang="en-US" sz="1916" spc="-21">
                <a:solidFill>
                  <a:srgbClr val="000000"/>
                </a:solidFill>
                <a:latin typeface="Calibri"/>
                <a:ea typeface="Calibri"/>
                <a:cs typeface="Calibri"/>
                <a:sym typeface="Calibri"/>
              </a:rPr>
              <a:t>Easy digital test records</a:t>
            </a:r>
          </a:p>
          <a:p>
            <a:pPr marL="413775" lvl="1" indent="-206888" algn="l">
              <a:lnSpc>
                <a:spcPts val="2740"/>
              </a:lnSpc>
              <a:buFont typeface="Arial"/>
              <a:buChar char="•"/>
            </a:pPr>
            <a:r>
              <a:rPr lang="en-US" sz="1916" spc="-21">
                <a:solidFill>
                  <a:srgbClr val="000000"/>
                </a:solidFill>
                <a:latin typeface="Calibri"/>
                <a:ea typeface="Calibri"/>
                <a:cs typeface="Calibri"/>
                <a:sym typeface="Calibri"/>
              </a:rPr>
              <a:t>Quick access to past test records</a:t>
            </a:r>
          </a:p>
        </p:txBody>
      </p:sp>
      <p:sp>
        <p:nvSpPr>
          <p:cNvPr id="25" name="TextBox 25"/>
          <p:cNvSpPr txBox="1"/>
          <p:nvPr/>
        </p:nvSpPr>
        <p:spPr>
          <a:xfrm>
            <a:off x="4784113" y="2433353"/>
            <a:ext cx="5051078" cy="1744142"/>
          </a:xfrm>
          <a:prstGeom prst="rect">
            <a:avLst/>
          </a:prstGeom>
        </p:spPr>
        <p:txBody>
          <a:bodyPr lIns="0" tIns="0" rIns="0" bIns="0" rtlCol="0" anchor="t">
            <a:spAutoFit/>
          </a:bodyPr>
          <a:lstStyle/>
          <a:p>
            <a:pPr marL="414528" lvl="1" indent="-207264" algn="l">
              <a:lnSpc>
                <a:spcPts val="2745"/>
              </a:lnSpc>
              <a:buFont typeface="Arial"/>
              <a:buChar char="•"/>
            </a:pPr>
            <a:r>
              <a:rPr lang="en-US" sz="1920" spc="-21">
                <a:solidFill>
                  <a:srgbClr val="000000"/>
                </a:solidFill>
                <a:latin typeface="Calibri"/>
                <a:ea typeface="Calibri"/>
                <a:cs typeface="Calibri"/>
                <a:sym typeface="Calibri"/>
              </a:rPr>
              <a:t>Proof of every test: time, place, officer &amp; photo</a:t>
            </a:r>
          </a:p>
          <a:p>
            <a:pPr marL="414528" lvl="1" indent="-207264" algn="l">
              <a:lnSpc>
                <a:spcPts val="2745"/>
              </a:lnSpc>
              <a:buFont typeface="Arial"/>
              <a:buChar char="•"/>
            </a:pPr>
            <a:r>
              <a:rPr lang="en-US" sz="1920" spc="-21">
                <a:solidFill>
                  <a:srgbClr val="000000"/>
                </a:solidFill>
                <a:latin typeface="Calibri"/>
                <a:ea typeface="Calibri"/>
                <a:cs typeface="Calibri"/>
                <a:sym typeface="Calibri"/>
              </a:rPr>
              <a:t>Secure and verifiable records</a:t>
            </a:r>
          </a:p>
          <a:p>
            <a:pPr marL="414528" lvl="1" indent="-207264" algn="l">
              <a:lnSpc>
                <a:spcPts val="2745"/>
              </a:lnSpc>
              <a:buFont typeface="Arial"/>
              <a:buChar char="•"/>
            </a:pPr>
            <a:r>
              <a:rPr lang="en-US" sz="1920" spc="-21">
                <a:solidFill>
                  <a:srgbClr val="000000"/>
                </a:solidFill>
                <a:latin typeface="Calibri"/>
                <a:ea typeface="Calibri"/>
                <a:cs typeface="Calibri"/>
                <a:sym typeface="Calibri"/>
              </a:rPr>
              <a:t>Less paperwork with PDF &amp; QR</a:t>
            </a:r>
          </a:p>
          <a:p>
            <a:pPr marL="414528" lvl="1" indent="-207264" algn="l">
              <a:lnSpc>
                <a:spcPts val="2745"/>
              </a:lnSpc>
              <a:buFont typeface="Arial"/>
              <a:buChar char="•"/>
            </a:pPr>
            <a:r>
              <a:rPr lang="en-US" sz="1920" spc="-21">
                <a:solidFill>
                  <a:srgbClr val="000000"/>
                </a:solidFill>
                <a:latin typeface="Calibri"/>
                <a:ea typeface="Calibri"/>
                <a:cs typeface="Calibri"/>
                <a:sym typeface="Calibri"/>
              </a:rPr>
              <a:t>Easy search, reports and monitoring</a:t>
            </a:r>
          </a:p>
          <a:p>
            <a:pPr marL="414528" lvl="1" indent="-207264" algn="l">
              <a:lnSpc>
                <a:spcPts val="2745"/>
              </a:lnSpc>
              <a:buFont typeface="Arial"/>
              <a:buChar char="•"/>
            </a:pPr>
            <a:r>
              <a:rPr lang="en-US" sz="1920" spc="-21">
                <a:solidFill>
                  <a:srgbClr val="000000"/>
                </a:solidFill>
                <a:latin typeface="Calibri"/>
                <a:ea typeface="Calibri"/>
                <a:cs typeface="Calibri"/>
                <a:sym typeface="Calibri"/>
              </a:rPr>
              <a:t>Better field-test documentation</a:t>
            </a:r>
          </a:p>
        </p:txBody>
      </p:sp>
      <p:sp>
        <p:nvSpPr>
          <p:cNvPr id="26" name="TextBox 26"/>
          <p:cNvSpPr txBox="1"/>
          <p:nvPr/>
        </p:nvSpPr>
        <p:spPr>
          <a:xfrm>
            <a:off x="1774430" y="2079685"/>
            <a:ext cx="1919520" cy="342900"/>
          </a:xfrm>
          <a:prstGeom prst="rect">
            <a:avLst/>
          </a:prstGeom>
        </p:spPr>
        <p:txBody>
          <a:bodyPr lIns="0" tIns="0" rIns="0" bIns="0" rtlCol="0" anchor="t">
            <a:spAutoFit/>
          </a:bodyPr>
          <a:lstStyle/>
          <a:p>
            <a:pPr algn="ctr">
              <a:lnSpc>
                <a:spcPts val="2471"/>
              </a:lnSpc>
              <a:spcBef>
                <a:spcPct val="0"/>
              </a:spcBef>
            </a:pPr>
            <a:r>
              <a:rPr lang="en-US" sz="2059" b="1" spc="-22">
                <a:solidFill>
                  <a:srgbClr val="974826"/>
                </a:solidFill>
                <a:latin typeface="Calibri"/>
                <a:ea typeface="Calibri"/>
                <a:cs typeface="Calibri"/>
                <a:sym typeface="Calibri"/>
              </a:rPr>
              <a:t>Inspector Benefits</a:t>
            </a:r>
          </a:p>
        </p:txBody>
      </p:sp>
      <p:sp>
        <p:nvSpPr>
          <p:cNvPr id="27" name="TextBox 27"/>
          <p:cNvSpPr txBox="1"/>
          <p:nvPr/>
        </p:nvSpPr>
        <p:spPr>
          <a:xfrm>
            <a:off x="5853724" y="2085531"/>
            <a:ext cx="2355832" cy="342900"/>
          </a:xfrm>
          <a:prstGeom prst="rect">
            <a:avLst/>
          </a:prstGeom>
        </p:spPr>
        <p:txBody>
          <a:bodyPr lIns="0" tIns="0" rIns="0" bIns="0" rtlCol="0" anchor="t">
            <a:spAutoFit/>
          </a:bodyPr>
          <a:lstStyle/>
          <a:p>
            <a:pPr algn="ctr">
              <a:lnSpc>
                <a:spcPts val="2471"/>
              </a:lnSpc>
              <a:spcBef>
                <a:spcPct val="0"/>
              </a:spcBef>
            </a:pPr>
            <a:r>
              <a:rPr lang="en-US" sz="2059" b="1" spc="-22">
                <a:solidFill>
                  <a:srgbClr val="974826"/>
                </a:solidFill>
                <a:latin typeface="Calibri"/>
                <a:ea typeface="Calibri"/>
                <a:cs typeface="Calibri"/>
                <a:sym typeface="Calibri"/>
              </a:rPr>
              <a:t>Organisation Benefits</a:t>
            </a:r>
          </a:p>
        </p:txBody>
      </p:sp>
      <p:sp>
        <p:nvSpPr>
          <p:cNvPr id="28" name="TextBox 28"/>
          <p:cNvSpPr txBox="1"/>
          <p:nvPr/>
        </p:nvSpPr>
        <p:spPr>
          <a:xfrm>
            <a:off x="10830810" y="7680761"/>
            <a:ext cx="5029200" cy="371475"/>
          </a:xfrm>
          <a:prstGeom prst="rect">
            <a:avLst/>
          </a:prstGeom>
        </p:spPr>
        <p:txBody>
          <a:bodyPr lIns="0" tIns="0" rIns="0" bIns="0" rtlCol="0" anchor="t" wrap="none">
            <a:noAutofit/>
          </a:bodyPr>
          <a:lstStyle/>
          <a:p>
            <a:pPr algn="l">
              <a:lnSpc>
                <a:spcPts val="2608"/>
              </a:lnSpc>
              <a:spcBef>
                <a:spcPct val="0"/>
              </a:spcBef>
            </a:pPr>
            <a:r>
              <a:rPr lang="en-US" sz="2173" b="1" spc="-24">
                <a:solidFill>
                  <a:srgbClr val="974826"/>
                </a:solidFill>
                <a:latin typeface="Calibri"/>
                <a:ea typeface="Calibri"/>
                <a:cs typeface="Calibri"/>
                <a:sym typeface="Calibri"/>
              </a:rPr>
              <a:t>Future Scope (our plan after SIH)</a:t>
            </a:r>
          </a:p>
        </p:txBody>
      </p:sp>
      <p:sp>
        <p:nvSpPr>
          <p:cNvPr id="29" name="TextBox 29"/>
          <p:cNvSpPr txBox="1"/>
          <p:nvPr/>
        </p:nvSpPr>
        <p:spPr>
          <a:xfrm>
            <a:off x="10649712" y="1938528"/>
            <a:ext cx="694643" cy="342900"/>
          </a:xfrm>
          <a:prstGeom prst="rect">
            <a:avLst/>
          </a:prstGeom>
        </p:spPr>
        <p:txBody>
          <a:bodyPr lIns="0" tIns="0" rIns="0" bIns="0" rtlCol="0" anchor="t">
            <a:spAutoFit/>
          </a:bodyPr>
          <a:lstStyle/>
          <a:p>
            <a:pPr algn="ctr">
              <a:lnSpc>
                <a:spcPts val="2471"/>
              </a:lnSpc>
              <a:spcBef>
                <a:spcPct val="0"/>
              </a:spcBef>
            </a:pPr>
            <a:r>
              <a:rPr lang="en-US" sz="2059" b="1" spc="-22">
                <a:solidFill>
                  <a:srgbClr val="974826"/>
                </a:solidFill>
                <a:latin typeface="Calibri"/>
                <a:ea typeface="Calibri"/>
                <a:cs typeface="Calibri"/>
                <a:sym typeface="Calibri"/>
              </a:rPr>
              <a:t>Map -</a:t>
            </a:r>
          </a:p>
        </p:txBody>
      </p:sp>
      <p:sp>
        <p:nvSpPr>
          <p:cNvPr id="30" name="TextBox 30"/>
          <p:cNvSpPr txBox="1"/>
          <p:nvPr/>
        </p:nvSpPr>
        <p:spPr>
          <a:xfrm>
            <a:off x="3973677" y="4553085"/>
            <a:ext cx="3302484" cy="342900"/>
          </a:xfrm>
          <a:prstGeom prst="rect">
            <a:avLst/>
          </a:prstGeom>
        </p:spPr>
        <p:txBody>
          <a:bodyPr lIns="0" tIns="0" rIns="0" bIns="0" rtlCol="0" anchor="t">
            <a:spAutoFit/>
          </a:bodyPr>
          <a:lstStyle/>
          <a:p>
            <a:pPr algn="ctr">
              <a:lnSpc>
                <a:spcPts val="2471"/>
              </a:lnSpc>
              <a:spcBef>
                <a:spcPct val="0"/>
              </a:spcBef>
            </a:pPr>
            <a:r>
              <a:rPr lang="en-US" sz="2059" b="1" spc="-22">
                <a:solidFill>
                  <a:srgbClr val="974826"/>
                </a:solidFill>
                <a:latin typeface="Calibri"/>
                <a:ea typeface="Calibri"/>
                <a:cs typeface="Calibri"/>
                <a:sym typeface="Calibri"/>
              </a:rPr>
              <a:t>QR-Based Record Verification</a:t>
            </a:r>
          </a:p>
        </p:txBody>
      </p:sp>
      <p:sp>
        <p:nvSpPr>
          <p:cNvPr id="31" name="TextBox 31"/>
          <p:cNvSpPr txBox="1"/>
          <p:nvPr/>
        </p:nvSpPr>
        <p:spPr>
          <a:xfrm>
            <a:off x="11372088" y="1975104"/>
            <a:ext cx="2004464" cy="295275"/>
          </a:xfrm>
          <a:prstGeom prst="rect">
            <a:avLst/>
          </a:prstGeom>
        </p:spPr>
        <p:txBody>
          <a:bodyPr lIns="0" tIns="0" rIns="0" bIns="0" rtlCol="0" anchor="t">
            <a:spAutoFit/>
          </a:bodyPr>
          <a:lstStyle/>
          <a:p>
            <a:pPr algn="l">
              <a:lnSpc>
                <a:spcPts val="2040"/>
              </a:lnSpc>
              <a:spcBef>
                <a:spcPct val="0"/>
              </a:spcBef>
            </a:pPr>
            <a:r>
              <a:rPr lang="en-US" sz="1700" spc="-18">
                <a:solidFill>
                  <a:srgbClr val="000000"/>
                </a:solidFill>
                <a:latin typeface="Calibri"/>
                <a:ea typeface="Calibri"/>
                <a:cs typeface="Calibri"/>
                <a:sym typeface="Calibri"/>
              </a:rPr>
              <a:t>Geo-Tagged test result</a:t>
            </a:r>
          </a:p>
        </p:txBody>
      </p:sp>
      <p:sp>
        <p:nvSpPr>
          <p:cNvPr id="32" name="TextBox 29"/>
          <p:cNvSpPr txBox="1"/>
          <p:nvPr/>
        </p:nvSpPr>
        <p:spPr>
          <a:xfrm>
            <a:off x="10649712" y="4750199"/>
            <a:ext cx="1828800" cy="365760"/>
          </a:xfrm>
          <a:prstGeom prst="rect">
            <a:avLst/>
          </a:prstGeom>
        </p:spPr>
        <p:txBody>
          <a:bodyPr wrap="none" lIns="0" tIns="0" rIns="0" bIns="0" rtlCol="0" anchor="t">
            <a:noAutofit/>
          </a:bodyPr>
          <a:lstStyle/>
          <a:p>
            <a:pPr algn="ctr">
              <a:lnSpc>
                <a:spcPts val="2471"/>
              </a:lnSpc>
              <a:spcBef>
                <a:spcPct val="0"/>
              </a:spcBef>
            </a:pPr>
            <a:r>
              <a:rPr lang="en-US" sz="2059" b="1" spc="-22">
                <a:solidFill>
                  <a:srgbClr val="974826"/>
                </a:solidFill>
                <a:latin typeface="Calibri"/>
                <a:ea typeface="Calibri"/>
                <a:cs typeface="Calibri"/>
                <a:sym typeface="Calibri"/>
              </a:rPr>
              <a:t>Tamper Test -</a:t>
            </a:r>
          </a:p>
        </p:txBody>
      </p:sp>
      <p:sp>
        <p:nvSpPr>
          <p:cNvPr id="33" name="TextBox 31"/>
          <p:cNvSpPr txBox="1"/>
          <p:nvPr/>
        </p:nvSpPr>
        <p:spPr>
          <a:xfrm>
            <a:off x="12368784" y="4786775"/>
            <a:ext cx="4937760" cy="310896"/>
          </a:xfrm>
          <a:prstGeom prst="rect">
            <a:avLst/>
          </a:prstGeom>
        </p:spPr>
        <p:txBody>
          <a:bodyPr wrap="none" lIns="0" tIns="0" rIns="0" bIns="0" rtlCol="0" anchor="t">
            <a:noAutofit/>
          </a:bodyPr>
          <a:lstStyle/>
          <a:p>
            <a:pPr algn="l">
              <a:lnSpc>
                <a:spcPts val="2040"/>
              </a:lnSpc>
              <a:spcBef>
                <a:spcPct val="0"/>
              </a:spcBef>
            </a:pPr>
            <a:r>
              <a:rPr lang="en-US" sz="1700" spc="-18">
                <a:solidFill>
                  <a:srgbClr val="000000"/>
                </a:solidFill>
                <a:latin typeface="Calibri"/>
                <a:ea typeface="Calibri"/>
                <a:cs typeface="Calibri"/>
                <a:sym typeface="Calibri"/>
              </a:rPr>
              <a:t>we tried it on our saved records</a:t>
            </a:r>
          </a:p>
        </p:txBody>
      </p:sp>
      <p:pic>
        <p:nvPicPr>
          <p:cNvPr id="34" name="Tamper proof" descr="tamper_proof_tall.png"/>
          <p:cNvPicPr>
            <a:picLocks noChangeAspect="1"/>
          </p:cNvPicPr>
          <p:nvPr/>
        </p:nvPicPr>
        <p:blipFill>
          <a:blip r:embed="rId10"/>
          <a:stretch>
            <a:fillRect/>
          </a:stretch>
        </p:blipFill>
        <p:spPr>
          <a:xfrm>
            <a:off x="10649712" y="5115959"/>
            <a:ext cx="6735059" cy="2418498"/>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9564624"/>
            <a:ext cx="18280761" cy="715289"/>
            <a:chOff x="0" y="0"/>
            <a:chExt cx="24374348" cy="953719"/>
          </a:xfrm>
        </p:grpSpPr>
        <p:sp>
          <p:nvSpPr>
            <p:cNvPr id="3" name="Freeform 3"/>
            <p:cNvSpPr/>
            <p:nvPr/>
          </p:nvSpPr>
          <p:spPr>
            <a:xfrm>
              <a:off x="0" y="0"/>
              <a:ext cx="24374348" cy="953770"/>
            </a:xfrm>
            <a:custGeom>
              <a:avLst/>
              <a:gdLst/>
              <a:ahLst/>
              <a:cxnLst/>
              <a:rect l="l" t="t" r="r" b="b"/>
              <a:pathLst>
                <a:path w="24374348" h="953770">
                  <a:moveTo>
                    <a:pt x="0" y="0"/>
                  </a:moveTo>
                  <a:lnTo>
                    <a:pt x="24374348" y="0"/>
                  </a:lnTo>
                  <a:lnTo>
                    <a:pt x="24374348" y="953770"/>
                  </a:lnTo>
                  <a:lnTo>
                    <a:pt x="0" y="953770"/>
                  </a:lnTo>
                  <a:lnTo>
                    <a:pt x="0" y="0"/>
                  </a:lnTo>
                  <a:close/>
                </a:path>
              </a:pathLst>
            </a:custGeom>
            <a:blipFill>
              <a:blip r:embed="rId2"/>
              <a:stretch>
                <a:fillRect t="-914" b="-909"/>
              </a:stretch>
            </a:blipFill>
          </p:spPr>
        </p:sp>
      </p:grpSp>
      <p:grpSp>
        <p:nvGrpSpPr>
          <p:cNvPr id="4" name="Group 4"/>
          <p:cNvGrpSpPr/>
          <p:nvPr/>
        </p:nvGrpSpPr>
        <p:grpSpPr>
          <a:xfrm>
            <a:off x="0" y="9532620"/>
            <a:ext cx="18288000" cy="754380"/>
            <a:chOff x="0" y="0"/>
            <a:chExt cx="24384000" cy="1005840"/>
          </a:xfrm>
        </p:grpSpPr>
        <p:sp>
          <p:nvSpPr>
            <p:cNvPr id="5" name="Freeform 5"/>
            <p:cNvSpPr/>
            <p:nvPr/>
          </p:nvSpPr>
          <p:spPr>
            <a:xfrm>
              <a:off x="0" y="0"/>
              <a:ext cx="24384000" cy="1005840"/>
            </a:xfrm>
            <a:custGeom>
              <a:avLst/>
              <a:gdLst/>
              <a:ahLst/>
              <a:cxnLst/>
              <a:rect l="l" t="t" r="r" b="b"/>
              <a:pathLst>
                <a:path w="24384000" h="1005840">
                  <a:moveTo>
                    <a:pt x="24384000" y="0"/>
                  </a:moveTo>
                  <a:lnTo>
                    <a:pt x="0" y="0"/>
                  </a:lnTo>
                  <a:lnTo>
                    <a:pt x="0" y="1005840"/>
                  </a:lnTo>
                  <a:lnTo>
                    <a:pt x="24384000" y="1005840"/>
                  </a:lnTo>
                  <a:lnTo>
                    <a:pt x="24384000" y="0"/>
                  </a:lnTo>
                  <a:close/>
                </a:path>
              </a:pathLst>
            </a:custGeom>
            <a:solidFill>
              <a:srgbClr val="006EC0"/>
            </a:solidFill>
          </p:spPr>
        </p:sp>
      </p:grpSp>
      <p:sp>
        <p:nvSpPr>
          <p:cNvPr id="6" name="Freeform 6"/>
          <p:cNvSpPr/>
          <p:nvPr/>
        </p:nvSpPr>
        <p:spPr>
          <a:xfrm>
            <a:off x="391335" y="315011"/>
            <a:ext cx="2629852" cy="1249680"/>
          </a:xfrm>
          <a:custGeom>
            <a:avLst/>
            <a:gdLst/>
            <a:ahLst/>
            <a:cxnLst/>
            <a:rect l="l" t="t" r="r" b="b"/>
            <a:pathLst>
              <a:path w="2629852" h="1249680">
                <a:moveTo>
                  <a:pt x="0" y="0"/>
                </a:moveTo>
                <a:lnTo>
                  <a:pt x="2629852" y="0"/>
                </a:lnTo>
                <a:lnTo>
                  <a:pt x="2629852" y="1249680"/>
                </a:lnTo>
                <a:lnTo>
                  <a:pt x="0" y="1249680"/>
                </a:lnTo>
                <a:lnTo>
                  <a:pt x="0" y="0"/>
                </a:lnTo>
                <a:close/>
              </a:path>
            </a:pathLst>
          </a:custGeom>
          <a:blipFill>
            <a:blip>
              <a:extLst>
                <a:ext uri="{96DAC541-7B7A-43D3-8B79-37D633B846F1}">
                  <asvg:svgBlip xmlns:asvg="http://schemas.microsoft.com/office/drawing/2016/SVG/main" r:embed="rId3"/>
                </a:ext>
              </a:extLst>
            </a:blip>
            <a:stretch>
              <a:fillRect/>
            </a:stretch>
          </a:blipFill>
        </p:spPr>
      </p:sp>
      <p:graphicFrame>
        <p:nvGraphicFramePr>
          <p:cNvPr id="7" name="Table 7"/>
          <p:cNvGraphicFramePr>
            <a:graphicFrameLocks noGrp="1"/>
          </p:cNvGraphicFramePr>
          <p:nvPr/>
        </p:nvGraphicFramePr>
        <p:xfrm>
          <a:off x="685800" y="1920240"/>
          <a:ext cx="16916400" cy="7406640"/>
        </p:xfrm>
        <a:graphic>
          <a:graphicData uri="http://schemas.openxmlformats.org/drawingml/2006/table">
            <a:tbl>
              <a:tblPr/>
              <a:tblGrid>
                <a:gridCol w="6400800">
                  <a:extLst>
                    <a:ext uri="{9D8B030D-6E8A-4147-A177-3AD203B41FA5}">
                      <a16:colId xmlns:a16="http://schemas.microsoft.com/office/drawing/2014/main" val="20000"/>
                    </a:ext>
                  </a:extLst>
                </a:gridCol>
                <a:gridCol w="4114800">
                  <a:extLst>
                    <a:ext uri="{9D8B030D-6E8A-4147-A177-3AD203B41FA5}">
                      <a16:colId xmlns:a16="http://schemas.microsoft.com/office/drawing/2014/main" val="20001"/>
                    </a:ext>
                  </a:extLst>
                </a:gridCol>
                <a:gridCol w="6400800">
                  <a:extLst>
                    <a:ext uri="{9D8B030D-6E8A-4147-A177-3AD203B41FA5}">
                      <a16:colId xmlns:a16="http://schemas.microsoft.com/office/drawing/2014/main" val="20002"/>
                    </a:ext>
                  </a:extLst>
                </a:gridCol>
              </a:tblGrid>
              <a:tr h="777240">
                <a:tc>
                  <a:txBody>
                    <a:bodyPr/>
                    <a:lstStyle/>
                    <a:p>
                      <a:pPr algn="ctr">
                        <a:lnSpc>
                          <a:spcPts val="2519"/>
                        </a:lnSpc>
                        <a:defRPr/>
                      </a:pPr>
                      <a:r>
                        <a:rPr lang="en-US" sz="1799">
                          <a:solidFill>
                            <a:srgbClr val="000000"/>
                          </a:solidFill>
                          <a:latin typeface="Arimo"/>
                          <a:ea typeface="Arimo"/>
                          <a:cs typeface="Arimo"/>
                          <a:sym typeface="Arimo"/>
                        </a:rPr>
                        <a:t>What they found</a:t>
                      </a:r>
                      <a:endParaRPr lang="en-US" sz="1100"/>
                    </a:p>
                  </a:txBody>
                  <a:tcPr marL="190500" marR="190500" marT="190500" marB="190500" anchor="ctr">
                    <a:lnL w="19050" cap="flat" cmpd="sng" algn="ctr">
                      <a:solidFill>
                        <a:srgbClr val="7A2F00"/>
                      </a:solidFill>
                      <a:prstDash val="solid"/>
                      <a:round/>
                      <a:headEnd type="none" w="med" len="med"/>
                      <a:tailEnd type="none" w="med" len="med"/>
                    </a:lnL>
                    <a:lnR w="19050" cap="flat" cmpd="sng" algn="ctr">
                      <a:solidFill>
                        <a:srgbClr val="7A2F00"/>
                      </a:solidFill>
                      <a:prstDash val="solid"/>
                      <a:round/>
                      <a:headEnd type="none" w="med" len="med"/>
                      <a:tailEnd type="none" w="med" len="med"/>
                    </a:lnR>
                    <a:lnT w="19050" cap="flat" cmpd="sng" algn="ctr">
                      <a:solidFill>
                        <a:srgbClr val="7A2F00"/>
                      </a:solidFill>
                      <a:prstDash val="solid"/>
                      <a:round/>
                      <a:headEnd type="none" w="med" len="med"/>
                      <a:tailEnd type="none" w="med" len="med"/>
                    </a:lnT>
                    <a:lnB w="19050" cap="flat" cmpd="sng" algn="ctr">
                      <a:solidFill>
                        <a:srgbClr val="7A2F00"/>
                      </a:solidFill>
                      <a:prstDash val="solid"/>
                      <a:round/>
                      <a:headEnd type="none" w="med" len="med"/>
                      <a:tailEnd type="none" w="med" len="med"/>
                    </a:lnB>
                    <a:solidFill>
                      <a:srgbClr val="B2935B"/>
                    </a:solidFill>
                  </a:tcPr>
                </a:tc>
                <a:tc>
                  <a:txBody>
                    <a:bodyPr/>
                    <a:lstStyle/>
                    <a:p>
                      <a:pPr algn="ctr">
                        <a:lnSpc>
                          <a:spcPts val="2519"/>
                        </a:lnSpc>
                        <a:defRPr/>
                      </a:pPr>
                      <a:r>
                        <a:rPr lang="en-US" sz="1799">
                          <a:solidFill>
                            <a:srgbClr val="000000"/>
                          </a:solidFill>
                          <a:latin typeface="Arimo"/>
                          <a:ea typeface="Arimo"/>
                          <a:cs typeface="Arimo"/>
                          <a:sym typeface="Arimo"/>
                        </a:rPr>
                        <a:t>How we use it</a:t>
                      </a:r>
                      <a:endParaRPr lang="en-US" sz="1100"/>
                    </a:p>
                  </a:txBody>
                  <a:tcPr marL="190500" marR="190500" marT="190500" marB="190500" anchor="ctr">
                    <a:lnL w="19050" cap="flat" cmpd="sng" algn="ctr">
                      <a:solidFill>
                        <a:srgbClr val="7A2F00"/>
                      </a:solidFill>
                      <a:prstDash val="solid"/>
                      <a:round/>
                      <a:headEnd type="none" w="med" len="med"/>
                      <a:tailEnd type="none" w="med" len="med"/>
                    </a:lnL>
                    <a:lnR w="19050" cap="flat" cmpd="sng" algn="ctr">
                      <a:solidFill>
                        <a:srgbClr val="7A2F00"/>
                      </a:solidFill>
                      <a:prstDash val="solid"/>
                      <a:round/>
                      <a:headEnd type="none" w="med" len="med"/>
                      <a:tailEnd type="none" w="med" len="med"/>
                    </a:lnR>
                    <a:lnT w="19050" cap="flat" cmpd="sng" algn="ctr">
                      <a:solidFill>
                        <a:srgbClr val="7A2F00"/>
                      </a:solidFill>
                      <a:prstDash val="solid"/>
                      <a:round/>
                      <a:headEnd type="none" w="med" len="med"/>
                      <a:tailEnd type="none" w="med" len="med"/>
                    </a:lnT>
                    <a:lnB w="19050" cap="flat" cmpd="sng" algn="ctr">
                      <a:solidFill>
                        <a:srgbClr val="7A2F00"/>
                      </a:solidFill>
                      <a:prstDash val="solid"/>
                      <a:round/>
                      <a:headEnd type="none" w="med" len="med"/>
                      <a:tailEnd type="none" w="med" len="med"/>
                    </a:lnB>
                    <a:solidFill>
                      <a:srgbClr val="B2935B"/>
                    </a:solidFill>
                  </a:tcPr>
                </a:tc>
                <a:tc>
                  <a:txBody>
                    <a:bodyPr/>
                    <a:lstStyle/>
                    <a:p>
                      <a:pPr algn="ctr">
                        <a:lnSpc>
                          <a:spcPts val="2519"/>
                        </a:lnSpc>
                        <a:defRPr/>
                      </a:pPr>
                      <a:r>
                        <a:rPr lang="en-US" sz="1799">
                          <a:solidFill>
                            <a:srgbClr val="000000"/>
                          </a:solidFill>
                          <a:latin typeface="Arimo"/>
                          <a:ea typeface="Arimo"/>
                          <a:cs typeface="Arimo"/>
                          <a:sym typeface="Arimo"/>
                        </a:rPr>
                        <a:t>Research</a:t>
                      </a:r>
                      <a:endParaRPr lang="en-US" sz="1100"/>
                    </a:p>
                  </a:txBody>
                  <a:tcPr marL="190500" marR="190500" marT="190500" marB="190500" anchor="ctr">
                    <a:lnL w="19050" cap="flat" cmpd="sng" algn="ctr">
                      <a:solidFill>
                        <a:srgbClr val="7A2F00"/>
                      </a:solidFill>
                      <a:prstDash val="solid"/>
                      <a:round/>
                      <a:headEnd type="none" w="med" len="med"/>
                      <a:tailEnd type="none" w="med" len="med"/>
                    </a:lnL>
                    <a:lnR w="19050" cap="flat" cmpd="sng" algn="ctr">
                      <a:solidFill>
                        <a:srgbClr val="7A2F00"/>
                      </a:solidFill>
                      <a:prstDash val="solid"/>
                      <a:round/>
                      <a:headEnd type="none" w="med" len="med"/>
                      <a:tailEnd type="none" w="med" len="med"/>
                    </a:lnR>
                    <a:lnT w="19050" cap="flat" cmpd="sng" algn="ctr">
                      <a:solidFill>
                        <a:srgbClr val="7A2F00"/>
                      </a:solidFill>
                      <a:prstDash val="solid"/>
                      <a:round/>
                      <a:headEnd type="none" w="med" len="med"/>
                      <a:tailEnd type="none" w="med" len="med"/>
                    </a:lnT>
                    <a:lnB w="19050" cap="flat" cmpd="sng" algn="ctr">
                      <a:solidFill>
                        <a:srgbClr val="7A2F00"/>
                      </a:solidFill>
                      <a:prstDash val="solid"/>
                      <a:round/>
                      <a:headEnd type="none" w="med" len="med"/>
                      <a:tailEnd type="none" w="med" len="med"/>
                    </a:lnB>
                    <a:solidFill>
                      <a:srgbClr val="B2935B"/>
                    </a:solidFill>
                  </a:tcPr>
                </a:tc>
                <a:extLst>
                  <a:ext uri="{0D108BD9-81ED-4DB2-BD59-A6C34878D82A}">
                    <a16:rowId xmlns:a16="http://schemas.microsoft.com/office/drawing/2014/main" val="10000"/>
                  </a:ext>
                </a:extLst>
              </a:tr>
              <a:tr h="1325880">
                <a:tc>
                  <a:txBody>
                    <a:bodyPr/>
                    <a:lstStyle/>
                    <a:p>
                      <a:pPr algn="l">
                        <a:spcAft>
                          <a:spcPts val="600"/>
                        </a:spcAft>
                      </a:pPr>
                      <a:r>
                        <a:rPr lang="en-US" sz="1500" b="1" spc="-16">
                          <a:solidFill>
                            <a:srgbClr val="000000"/>
                          </a:solidFill>
                          <a:latin typeface="Calibri"/>
                          <a:ea typeface="Calibri"/>
                          <a:cs typeface="Calibri"/>
                          <a:sym typeface="Calibri"/>
                        </a:rPr>
                        <a:t>IEEE EMBC 2016</a:t>
                      </a:r>
                    </a:p>
                    <a:p>
                      <a:pPr algn="l">
                        <a:lnSpc>
                          <a:spcPts val="1679"/>
                        </a:lnSpc>
                        <a:defRPr/>
                      </a:pPr>
                      <a:r>
                        <a:rPr lang="en-US" sz="1400">
                          <a:solidFill>
                            <a:srgbClr val="000000"/>
                          </a:solidFill>
                          <a:latin typeface="Calibri"/>
                          <a:ea typeface="Calibri"/>
                          <a:cs typeface="Calibri"/>
                          <a:sym typeface="Calibri"/>
                        </a:rPr>
                        <a:t>Phone camera colours change with light and phone model; reference colours can help handle this.</a:t>
                      </a:r>
                      <a:endParaRPr lang="en-US" sz="1100"/>
                    </a:p>
                  </a:txBody>
                  <a:tcPr marL="190500" marR="190500" marT="190500" marB="190500" anchor="ctr">
                    <a:lnL w="19050" cap="flat" cmpd="sng" algn="ctr">
                      <a:solidFill>
                        <a:srgbClr val="7A2F00"/>
                      </a:solidFill>
                      <a:prstDash val="solid"/>
                      <a:round/>
                      <a:headEnd type="none" w="med" len="med"/>
                      <a:tailEnd type="none" w="med" len="med"/>
                    </a:lnL>
                    <a:lnR w="19050" cap="flat" cmpd="sng" algn="ctr">
                      <a:solidFill>
                        <a:srgbClr val="7A2F00"/>
                      </a:solidFill>
                      <a:prstDash val="solid"/>
                      <a:round/>
                      <a:headEnd type="none" w="med" len="med"/>
                      <a:tailEnd type="none" w="med" len="med"/>
                    </a:lnR>
                    <a:lnT w="19050" cap="flat" cmpd="sng" algn="ctr">
                      <a:solidFill>
                        <a:srgbClr val="7A2F00"/>
                      </a:solidFill>
                      <a:prstDash val="solid"/>
                      <a:round/>
                      <a:headEnd type="none" w="med" len="med"/>
                      <a:tailEnd type="none" w="med" len="med"/>
                    </a:lnT>
                    <a:lnB w="19050" cap="flat" cmpd="sng" algn="ctr">
                      <a:solidFill>
                        <a:srgbClr val="7A2F00"/>
                      </a:solidFill>
                      <a:prstDash val="solid"/>
                      <a:round/>
                      <a:headEnd type="none" w="med" len="med"/>
                      <a:tailEnd type="none" w="med" len="med"/>
                    </a:lnB>
                  </a:tcPr>
                </a:tc>
                <a:tc>
                  <a:txBody>
                    <a:bodyPr/>
                    <a:lstStyle/>
                    <a:p>
                      <a:pPr algn="l">
                        <a:lnSpc>
                          <a:spcPts val="1679"/>
                        </a:lnSpc>
                        <a:defRPr/>
                      </a:pPr>
                      <a:r>
                        <a:rPr lang="en-US" sz="1400">
                          <a:solidFill>
                            <a:srgbClr val="000000"/>
                          </a:solidFill>
                          <a:latin typeface="Calibri"/>
                          <a:ea typeface="Calibri"/>
                          <a:cs typeface="Calibri"/>
                          <a:sym typeface="Calibri"/>
                        </a:rPr>
                        <a:t>Our ₹10 colour card fixes colours in every test</a:t>
                      </a:r>
                      <a:endParaRPr lang="en-US" sz="1100"/>
                    </a:p>
                  </a:txBody>
                  <a:tcPr marL="190500" marR="190500" marT="190500" marB="190500" anchor="ctr">
                    <a:lnL w="19050" cap="flat" cmpd="sng" algn="ctr">
                      <a:solidFill>
                        <a:srgbClr val="7A2F00"/>
                      </a:solidFill>
                      <a:prstDash val="solid"/>
                      <a:round/>
                      <a:headEnd type="none" w="med" len="med"/>
                      <a:tailEnd type="none" w="med" len="med"/>
                    </a:lnL>
                    <a:lnR w="19050" cap="flat" cmpd="sng" algn="ctr">
                      <a:solidFill>
                        <a:srgbClr val="7A2F00"/>
                      </a:solidFill>
                      <a:prstDash val="solid"/>
                      <a:round/>
                      <a:headEnd type="none" w="med" len="med"/>
                      <a:tailEnd type="none" w="med" len="med"/>
                    </a:lnR>
                    <a:lnT w="19050" cap="flat" cmpd="sng" algn="ctr">
                      <a:solidFill>
                        <a:srgbClr val="7A2F00"/>
                      </a:solidFill>
                      <a:prstDash val="solid"/>
                      <a:round/>
                      <a:headEnd type="none" w="med" len="med"/>
                      <a:tailEnd type="none" w="med" len="med"/>
                    </a:lnT>
                    <a:lnB w="19050" cap="flat" cmpd="sng" algn="ctr">
                      <a:solidFill>
                        <a:srgbClr val="7A2F00"/>
                      </a:solidFill>
                      <a:prstDash val="solid"/>
                      <a:round/>
                      <a:headEnd type="none" w="med" len="med"/>
                      <a:tailEnd type="none" w="med" len="med"/>
                    </a:lnB>
                  </a:tcPr>
                </a:tc>
                <a:tc>
                  <a:txBody>
                    <a:bodyPr/>
                    <a:lstStyle/>
                    <a:p>
                      <a:pPr algn="l">
                        <a:lnSpc>
                          <a:spcPts val="1819"/>
                        </a:lnSpc>
                      </a:pPr>
                      <a:r>
                        <a:rPr lang="en-US" sz="1300" u="sng">
                          <a:solidFill>
                            <a:srgbClr val="1F477B"/>
                          </a:solidFill>
                          <a:latin typeface="Calibri"/>
                          <a:ea typeface="Arimo"/>
                          <a:cs typeface="Arimo"/>
                          <a:sym typeface="Arimo"/>
                          <a:hlinkClick r:id="rId10"/>
                        </a:rPr>
                        <a:t>[1] H. Karisen and T. Dong, "Illumination and device independence for colorimetric detection of urinary biomarkers with smartphone," in Proc. 38th Annu. Int. Conf. IEEE Eng. Med. Biol. Soc. (EMBC), Orlando, FL, USA, 2016, pp. 5184-5187, doi: 10.1109/EMBC.2016.7591895.</a:t>
                      </a:r>
                    </a:p>
                  </a:txBody>
                  <a:tcPr marL="190500" marR="190500" marT="190500" marB="190500" anchor="ctr">
                    <a:lnL w="19050" cap="flat" cmpd="sng" algn="ctr">
                      <a:solidFill>
                        <a:srgbClr val="7A2F00"/>
                      </a:solidFill>
                      <a:prstDash val="solid"/>
                      <a:round/>
                      <a:headEnd type="none" w="med" len="med"/>
                      <a:tailEnd type="none" w="med" len="med"/>
                    </a:lnL>
                    <a:lnR w="19050" cap="flat" cmpd="sng" algn="ctr">
                      <a:solidFill>
                        <a:srgbClr val="7A2F00"/>
                      </a:solidFill>
                      <a:prstDash val="solid"/>
                      <a:round/>
                      <a:headEnd type="none" w="med" len="med"/>
                      <a:tailEnd type="none" w="med" len="med"/>
                    </a:lnR>
                    <a:lnT w="19050" cap="flat" cmpd="sng" algn="ctr">
                      <a:solidFill>
                        <a:srgbClr val="7A2F00"/>
                      </a:solidFill>
                      <a:prstDash val="solid"/>
                      <a:round/>
                      <a:headEnd type="none" w="med" len="med"/>
                      <a:tailEnd type="none" w="med" len="med"/>
                    </a:lnT>
                    <a:lnB w="19050" cap="flat" cmpd="sng" algn="ctr">
                      <a:solidFill>
                        <a:srgbClr val="7A2F00"/>
                      </a:solidFill>
                      <a:prstDash val="solid"/>
                      <a:round/>
                      <a:headEnd type="none" w="med" len="med"/>
                      <a:tailEnd type="none" w="med" len="med"/>
                    </a:lnB>
                  </a:tcPr>
                </a:tc>
                <a:extLst>
                  <a:ext uri="{0D108BD9-81ED-4DB2-BD59-A6C34878D82A}">
                    <a16:rowId xmlns:a16="http://schemas.microsoft.com/office/drawing/2014/main" val="10001"/>
                  </a:ext>
                </a:extLst>
              </a:tr>
              <a:tr h="1325880">
                <a:tc>
                  <a:txBody>
                    <a:bodyPr/>
                    <a:lstStyle/>
                    <a:p>
                      <a:pPr algn="l">
                        <a:spcAft>
                          <a:spcPts val="600"/>
                        </a:spcAft>
                      </a:pPr>
                      <a:r>
                        <a:rPr lang="en-US" sz="1500" b="1" spc="-16">
                          <a:solidFill>
                            <a:srgbClr val="000000"/>
                          </a:solidFill>
                          <a:latin typeface="Calibri"/>
                          <a:ea typeface="Calibri"/>
                          <a:cs typeface="Calibri"/>
                          <a:sym typeface="Calibri"/>
                        </a:rPr>
                        <a:t>IEEE TPS-ISA 2024</a:t>
                      </a:r>
                    </a:p>
                    <a:p>
                      <a:pPr algn="l">
                        <a:lnSpc>
                          <a:spcPts val="1679"/>
                        </a:lnSpc>
                        <a:defRPr/>
                      </a:pPr>
                      <a:r>
                        <a:rPr lang="en-US" sz="1400">
                          <a:solidFill>
                            <a:srgbClr val="000000"/>
                          </a:solidFill>
                          <a:latin typeface="Calibri"/>
                          <a:ea typeface="Calibri"/>
                          <a:cs typeface="Calibri"/>
                          <a:sym typeface="Calibri"/>
                        </a:rPr>
                        <a:t>Digital evidence must maintain integrity and show how it was handled.</a:t>
                      </a:r>
                      <a:endParaRPr lang="en-US" sz="1100"/>
                    </a:p>
                  </a:txBody>
                  <a:tcPr marL="190500" marR="190500" marT="190500" marB="190500" anchor="ctr">
                    <a:lnL w="19050" cap="flat" cmpd="sng" algn="ctr">
                      <a:solidFill>
                        <a:srgbClr val="7A2F00"/>
                      </a:solidFill>
                      <a:prstDash val="solid"/>
                      <a:round/>
                      <a:headEnd type="none" w="med" len="med"/>
                      <a:tailEnd type="none" w="med" len="med"/>
                    </a:lnL>
                    <a:lnR w="19050" cap="flat" cmpd="sng" algn="ctr">
                      <a:solidFill>
                        <a:srgbClr val="7A2F00"/>
                      </a:solidFill>
                      <a:prstDash val="solid"/>
                      <a:round/>
                      <a:headEnd type="none" w="med" len="med"/>
                      <a:tailEnd type="none" w="med" len="med"/>
                    </a:lnR>
                    <a:lnT w="19050" cap="flat" cmpd="sng" algn="ctr">
                      <a:solidFill>
                        <a:srgbClr val="7A2F00"/>
                      </a:solidFill>
                      <a:prstDash val="solid"/>
                      <a:round/>
                      <a:headEnd type="none" w="med" len="med"/>
                      <a:tailEnd type="none" w="med" len="med"/>
                    </a:lnT>
                    <a:lnB w="19050" cap="flat" cmpd="sng" algn="ctr">
                      <a:solidFill>
                        <a:srgbClr val="7A2F00"/>
                      </a:solidFill>
                      <a:prstDash val="solid"/>
                      <a:round/>
                      <a:headEnd type="none" w="med" len="med"/>
                      <a:tailEnd type="none" w="med" len="med"/>
                    </a:lnB>
                  </a:tcPr>
                </a:tc>
                <a:tc>
                  <a:txBody>
                    <a:bodyPr/>
                    <a:lstStyle/>
                    <a:p>
                      <a:pPr algn="l">
                        <a:lnSpc>
                          <a:spcPts val="1679"/>
                        </a:lnSpc>
                        <a:defRPr/>
                      </a:pPr>
                      <a:r>
                        <a:rPr lang="en-US" sz="1400">
                          <a:solidFill>
                            <a:srgbClr val="000000"/>
                          </a:solidFill>
                          <a:latin typeface="Calibri"/>
                          <a:ea typeface="Calibri"/>
                          <a:cs typeface="Calibri"/>
                          <a:sym typeface="Calibri"/>
                        </a:rPr>
                        <a:t>Photo fingerprint + signature + chained log</a:t>
                      </a:r>
                      <a:endParaRPr lang="en-US" sz="1100"/>
                    </a:p>
                  </a:txBody>
                  <a:tcPr marL="190500" marR="190500" marT="190500" marB="190500" anchor="ctr">
                    <a:lnL w="19050" cap="flat" cmpd="sng" algn="ctr">
                      <a:solidFill>
                        <a:srgbClr val="7A2F00"/>
                      </a:solidFill>
                      <a:prstDash val="solid"/>
                      <a:round/>
                      <a:headEnd type="none" w="med" len="med"/>
                      <a:tailEnd type="none" w="med" len="med"/>
                    </a:lnL>
                    <a:lnR w="19050" cap="flat" cmpd="sng" algn="ctr">
                      <a:solidFill>
                        <a:srgbClr val="7A2F00"/>
                      </a:solidFill>
                      <a:prstDash val="solid"/>
                      <a:round/>
                      <a:headEnd type="none" w="med" len="med"/>
                      <a:tailEnd type="none" w="med" len="med"/>
                    </a:lnR>
                    <a:lnT w="19050" cap="flat" cmpd="sng" algn="ctr">
                      <a:solidFill>
                        <a:srgbClr val="7A2F00"/>
                      </a:solidFill>
                      <a:prstDash val="solid"/>
                      <a:round/>
                      <a:headEnd type="none" w="med" len="med"/>
                      <a:tailEnd type="none" w="med" len="med"/>
                    </a:lnT>
                    <a:lnB w="19050" cap="flat" cmpd="sng" algn="ctr">
                      <a:solidFill>
                        <a:srgbClr val="7A2F00"/>
                      </a:solidFill>
                      <a:prstDash val="solid"/>
                      <a:round/>
                      <a:headEnd type="none" w="med" len="med"/>
                      <a:tailEnd type="none" w="med" len="med"/>
                    </a:lnB>
                  </a:tcPr>
                </a:tc>
                <a:tc>
                  <a:txBody>
                    <a:bodyPr/>
                    <a:lstStyle/>
                    <a:p>
                      <a:pPr algn="l">
                        <a:lnSpc>
                          <a:spcPts val="1819"/>
                        </a:lnSpc>
                      </a:pPr>
                      <a:r>
                        <a:rPr lang="en-US" sz="1300" u="sng">
                          <a:solidFill>
                            <a:srgbClr val="1F477B"/>
                          </a:solidFill>
                          <a:latin typeface="Calibri"/>
                          <a:ea typeface="Arimo"/>
                          <a:cs typeface="Arimo"/>
                          <a:sym typeface="Arimo"/>
                          <a:hlinkClick r:id="rId4"/>
                        </a:rPr>
                        <a:t>[2] S. Nath, K. Summers, J. Baek, and G.-J. Ahn, "Digital evidence chain of custody: Navigating new realities of digital forensics," in Proc. IEEE 6th Int. Conf. Trust, Privacy Secur. Intell. Syst. Appl. (TPS-ISA), Washington, DC, USA, 2024, pp. 11-20, doi: 10.1109/TPS-ISA62245.2024.00012.</a:t>
                      </a:r>
                    </a:p>
                  </a:txBody>
                  <a:tcPr marL="190500" marR="190500" marT="190500" marB="190500" anchor="ctr">
                    <a:lnL w="19050" cap="flat" cmpd="sng" algn="ctr">
                      <a:solidFill>
                        <a:srgbClr val="7A2F00"/>
                      </a:solidFill>
                      <a:prstDash val="solid"/>
                      <a:round/>
                      <a:headEnd type="none" w="med" len="med"/>
                      <a:tailEnd type="none" w="med" len="med"/>
                    </a:lnL>
                    <a:lnR w="19050" cap="flat" cmpd="sng" algn="ctr">
                      <a:solidFill>
                        <a:srgbClr val="7A2F00"/>
                      </a:solidFill>
                      <a:prstDash val="solid"/>
                      <a:round/>
                      <a:headEnd type="none" w="med" len="med"/>
                      <a:tailEnd type="none" w="med" len="med"/>
                    </a:lnR>
                    <a:lnT w="19050" cap="flat" cmpd="sng" algn="ctr">
                      <a:solidFill>
                        <a:srgbClr val="7A2F00"/>
                      </a:solidFill>
                      <a:prstDash val="solid"/>
                      <a:round/>
                      <a:headEnd type="none" w="med" len="med"/>
                      <a:tailEnd type="none" w="med" len="med"/>
                    </a:lnT>
                    <a:lnB w="19050" cap="flat" cmpd="sng" algn="ctr">
                      <a:solidFill>
                        <a:srgbClr val="7A2F00"/>
                      </a:solidFill>
                      <a:prstDash val="solid"/>
                      <a:round/>
                      <a:headEnd type="none" w="med" len="med"/>
                      <a:tailEnd type="none" w="med" len="med"/>
                    </a:lnB>
                  </a:tcPr>
                </a:tc>
                <a:extLst>
                  <a:ext uri="{0D108BD9-81ED-4DB2-BD59-A6C34878D82A}">
                    <a16:rowId xmlns:a16="http://schemas.microsoft.com/office/drawing/2014/main" val="10002"/>
                  </a:ext>
                </a:extLst>
              </a:tr>
              <a:tr h="1325880">
                <a:tc>
                  <a:txBody>
                    <a:bodyPr/>
                    <a:lstStyle/>
                    <a:p>
                      <a:pPr algn="l">
                        <a:spcAft>
                          <a:spcPts val="600"/>
                        </a:spcAft>
                      </a:pPr>
                      <a:r>
                        <a:rPr lang="en-US" sz="1500" b="1" spc="-16">
                          <a:solidFill>
                            <a:srgbClr val="000000"/>
                          </a:solidFill>
                          <a:latin typeface="Calibri"/>
                          <a:ea typeface="Calibri"/>
                          <a:cs typeface="Calibri"/>
                          <a:sym typeface="Calibri"/>
                        </a:rPr>
                        <a:t>Forensic Science International 2014</a:t>
                      </a:r>
                    </a:p>
                    <a:p>
                      <a:pPr algn="l">
                        <a:lnSpc>
                          <a:spcPts val="1679"/>
                        </a:lnSpc>
                        <a:defRPr/>
                      </a:pPr>
                      <a:r>
                        <a:rPr lang="en-US" sz="1400">
                          <a:solidFill>
                            <a:srgbClr val="000000"/>
                          </a:solidFill>
                          <a:latin typeface="Calibri"/>
                          <a:ea typeface="Calibri"/>
                          <a:cs typeface="Calibri"/>
                          <a:sym typeface="Calibri"/>
                        </a:rPr>
                        <a:t>A mobile phone camera can measure drug-test colours using RGB values.</a:t>
                      </a:r>
                      <a:endParaRPr lang="en-US" sz="1100"/>
                    </a:p>
                  </a:txBody>
                  <a:tcPr marL="190500" marR="190500" marT="190500" marB="190500" anchor="ctr">
                    <a:lnL w="19050" cap="flat" cmpd="sng" algn="ctr">
                      <a:solidFill>
                        <a:srgbClr val="7A2F00"/>
                      </a:solidFill>
                      <a:prstDash val="solid"/>
                      <a:round/>
                      <a:headEnd type="none" w="med" len="med"/>
                      <a:tailEnd type="none" w="med" len="med"/>
                    </a:lnL>
                    <a:lnR w="19050" cap="flat" cmpd="sng" algn="ctr">
                      <a:solidFill>
                        <a:srgbClr val="7A2F00"/>
                      </a:solidFill>
                      <a:prstDash val="solid"/>
                      <a:round/>
                      <a:headEnd type="none" w="med" len="med"/>
                      <a:tailEnd type="none" w="med" len="med"/>
                    </a:lnR>
                    <a:lnT w="19050" cap="flat" cmpd="sng" algn="ctr">
                      <a:solidFill>
                        <a:srgbClr val="7A2F00"/>
                      </a:solidFill>
                      <a:prstDash val="solid"/>
                      <a:round/>
                      <a:headEnd type="none" w="med" len="med"/>
                      <a:tailEnd type="none" w="med" len="med"/>
                    </a:lnT>
                    <a:lnB w="19050" cap="flat" cmpd="sng" algn="ctr">
                      <a:solidFill>
                        <a:srgbClr val="7A2F00"/>
                      </a:solidFill>
                      <a:prstDash val="solid"/>
                      <a:round/>
                      <a:headEnd type="none" w="med" len="med"/>
                      <a:tailEnd type="none" w="med" len="med"/>
                    </a:lnB>
                  </a:tcPr>
                </a:tc>
                <a:tc>
                  <a:txBody>
                    <a:bodyPr/>
                    <a:lstStyle/>
                    <a:p>
                      <a:pPr algn="l">
                        <a:lnSpc>
                          <a:spcPts val="1679"/>
                        </a:lnSpc>
                        <a:defRPr/>
                      </a:pPr>
                      <a:r>
                        <a:rPr lang="en-US" sz="1400">
                          <a:solidFill>
                            <a:srgbClr val="000000"/>
                          </a:solidFill>
                          <a:latin typeface="Calibri"/>
                          <a:ea typeface="Calibri"/>
                          <a:cs typeface="Calibri"/>
                          <a:sym typeface="Calibri"/>
                        </a:rPr>
                        <a:t>Our app reads the test colour as a number</a:t>
                      </a:r>
                      <a:endParaRPr lang="en-US" sz="1100"/>
                    </a:p>
                  </a:txBody>
                  <a:tcPr marL="190500" marR="190500" marT="190500" marB="190500" anchor="ctr">
                    <a:lnL w="19050" cap="flat" cmpd="sng" algn="ctr">
                      <a:solidFill>
                        <a:srgbClr val="7A2F00"/>
                      </a:solidFill>
                      <a:prstDash val="solid"/>
                      <a:round/>
                      <a:headEnd type="none" w="med" len="med"/>
                      <a:tailEnd type="none" w="med" len="med"/>
                    </a:lnL>
                    <a:lnR w="19050" cap="flat" cmpd="sng" algn="ctr">
                      <a:solidFill>
                        <a:srgbClr val="7A2F00"/>
                      </a:solidFill>
                      <a:prstDash val="solid"/>
                      <a:round/>
                      <a:headEnd type="none" w="med" len="med"/>
                      <a:tailEnd type="none" w="med" len="med"/>
                    </a:lnR>
                    <a:lnT w="19050" cap="flat" cmpd="sng" algn="ctr">
                      <a:solidFill>
                        <a:srgbClr val="7A2F00"/>
                      </a:solidFill>
                      <a:prstDash val="solid"/>
                      <a:round/>
                      <a:headEnd type="none" w="med" len="med"/>
                      <a:tailEnd type="none" w="med" len="med"/>
                    </a:lnT>
                    <a:lnB w="19050" cap="flat" cmpd="sng" algn="ctr">
                      <a:solidFill>
                        <a:srgbClr val="7A2F00"/>
                      </a:solidFill>
                      <a:prstDash val="solid"/>
                      <a:round/>
                      <a:headEnd type="none" w="med" len="med"/>
                      <a:tailEnd type="none" w="med" len="med"/>
                    </a:lnB>
                  </a:tcPr>
                </a:tc>
                <a:tc>
                  <a:txBody>
                    <a:bodyPr/>
                    <a:lstStyle/>
                    <a:p>
                      <a:pPr algn="l">
                        <a:lnSpc>
                          <a:spcPts val="1819"/>
                        </a:lnSpc>
                      </a:pPr>
                      <a:r>
                        <a:rPr lang="en-US" sz="1300" u="sng">
                          <a:solidFill>
                            <a:srgbClr val="1F477B"/>
                          </a:solidFill>
                          <a:latin typeface="Calibri"/>
                          <a:ea typeface="Arimo"/>
                          <a:cs typeface="Arimo"/>
                          <a:sym typeface="Arimo"/>
                          <a:hlinkClick r:id="rId5"/>
                        </a:rPr>
                        <a:t>[3] A. Choodum, K. Parabun, N. Klawach, N. Nic Daeid, P. Kanatharana, and W. Wongniramaikul, "Real time quantitative colourimetric test for methamphetamine detection using digital and mobile phone technology," Forensic Sci. Int., vol. 235, pp. 8-13, Feb. 2014, doi: 10.1016/j.forsciint.2013.11.018.</a:t>
                      </a:r>
                    </a:p>
                  </a:txBody>
                  <a:tcPr marL="190500" marR="190500" marT="190500" marB="190500" anchor="ctr">
                    <a:lnL w="19050" cap="flat" cmpd="sng" algn="ctr">
                      <a:solidFill>
                        <a:srgbClr val="7A2F00"/>
                      </a:solidFill>
                      <a:prstDash val="solid"/>
                      <a:round/>
                      <a:headEnd type="none" w="med" len="med"/>
                      <a:tailEnd type="none" w="med" len="med"/>
                    </a:lnL>
                    <a:lnR w="19050" cap="flat" cmpd="sng" algn="ctr">
                      <a:solidFill>
                        <a:srgbClr val="7A2F00"/>
                      </a:solidFill>
                      <a:prstDash val="solid"/>
                      <a:round/>
                      <a:headEnd type="none" w="med" len="med"/>
                      <a:tailEnd type="none" w="med" len="med"/>
                    </a:lnR>
                    <a:lnT w="19050" cap="flat" cmpd="sng" algn="ctr">
                      <a:solidFill>
                        <a:srgbClr val="7A2F00"/>
                      </a:solidFill>
                      <a:prstDash val="solid"/>
                      <a:round/>
                      <a:headEnd type="none" w="med" len="med"/>
                      <a:tailEnd type="none" w="med" len="med"/>
                    </a:lnT>
                    <a:lnB w="19050" cap="flat" cmpd="sng" algn="ctr">
                      <a:solidFill>
                        <a:srgbClr val="7A2F00"/>
                      </a:solidFill>
                      <a:prstDash val="solid"/>
                      <a:round/>
                      <a:headEnd type="none" w="med" len="med"/>
                      <a:tailEnd type="none" w="med" len="med"/>
                    </a:lnB>
                  </a:tcPr>
                </a:tc>
                <a:extLst>
                  <a:ext uri="{0D108BD9-81ED-4DB2-BD59-A6C34878D82A}">
                    <a16:rowId xmlns:a16="http://schemas.microsoft.com/office/drawing/2014/main" val="10003"/>
                  </a:ext>
                </a:extLst>
              </a:tr>
              <a:tr h="1325880">
                <a:tc>
                  <a:txBody>
                    <a:bodyPr/>
                    <a:lstStyle/>
                    <a:p>
                      <a:pPr algn="l">
                        <a:spcAft>
                          <a:spcPts val="600"/>
                        </a:spcAft>
                      </a:pPr>
                      <a:r>
                        <a:rPr lang="en-US" sz="1500" b="1" spc="-16">
                          <a:solidFill>
                            <a:srgbClr val="000000"/>
                          </a:solidFill>
                          <a:latin typeface="Calibri"/>
                          <a:ea typeface="Calibri"/>
                          <a:cs typeface="Calibri"/>
                          <a:sym typeface="Calibri"/>
                        </a:rPr>
                        <a:t>Analytical Chemistry 2016</a:t>
                      </a:r>
                    </a:p>
                    <a:p>
                      <a:pPr algn="l">
                        <a:lnSpc>
                          <a:spcPts val="1679"/>
                        </a:lnSpc>
                        <a:defRPr/>
                      </a:pPr>
                      <a:r>
                        <a:rPr lang="en-US" sz="1400">
                          <a:solidFill>
                            <a:srgbClr val="000000"/>
                          </a:solidFill>
                          <a:latin typeface="Calibri"/>
                          <a:ea typeface="Calibri"/>
                          <a:cs typeface="Calibri"/>
                          <a:sym typeface="Calibri"/>
                        </a:rPr>
                        <a:t>By-eye colour interpretation is subjective; smartphone image analysis can provide objective analysis.</a:t>
                      </a:r>
                      <a:endParaRPr lang="en-US" sz="1100"/>
                    </a:p>
                  </a:txBody>
                  <a:tcPr marL="190500" marR="190500" marT="190500" marB="190500" anchor="ctr">
                    <a:lnL w="19050" cap="flat" cmpd="sng" algn="ctr">
                      <a:solidFill>
                        <a:srgbClr val="7A2F00"/>
                      </a:solidFill>
                      <a:prstDash val="solid"/>
                      <a:round/>
                      <a:headEnd type="none" w="med" len="med"/>
                      <a:tailEnd type="none" w="med" len="med"/>
                    </a:lnL>
                    <a:lnR w="19050" cap="flat" cmpd="sng" algn="ctr">
                      <a:solidFill>
                        <a:srgbClr val="7A2F00"/>
                      </a:solidFill>
                      <a:prstDash val="solid"/>
                      <a:round/>
                      <a:headEnd type="none" w="med" len="med"/>
                      <a:tailEnd type="none" w="med" len="med"/>
                    </a:lnR>
                    <a:lnT w="19050" cap="flat" cmpd="sng" algn="ctr">
                      <a:solidFill>
                        <a:srgbClr val="7A2F00"/>
                      </a:solidFill>
                      <a:prstDash val="solid"/>
                      <a:round/>
                      <a:headEnd type="none" w="med" len="med"/>
                      <a:tailEnd type="none" w="med" len="med"/>
                    </a:lnT>
                    <a:lnB w="19050" cap="flat" cmpd="sng" algn="ctr">
                      <a:solidFill>
                        <a:srgbClr val="7A2F00"/>
                      </a:solidFill>
                      <a:prstDash val="solid"/>
                      <a:round/>
                      <a:headEnd type="none" w="med" len="med"/>
                      <a:tailEnd type="none" w="med" len="med"/>
                    </a:lnB>
                  </a:tcPr>
                </a:tc>
                <a:tc>
                  <a:txBody>
                    <a:bodyPr/>
                    <a:lstStyle/>
                    <a:p>
                      <a:pPr algn="l">
                        <a:lnSpc>
                          <a:spcPts val="1679"/>
                        </a:lnSpc>
                        <a:defRPr/>
                      </a:pPr>
                      <a:r>
                        <a:rPr lang="en-US" sz="1400">
                          <a:solidFill>
                            <a:srgbClr val="000000"/>
                          </a:solidFill>
                          <a:latin typeface="Calibri"/>
                          <a:ea typeface="Arimo"/>
                          <a:cs typeface="Arimo"/>
                          <a:sym typeface="Arimo"/>
                        </a:rPr>
                        <a:t>App gives POSITIVE / NEGATIVE / NOT SURE</a:t>
                      </a:r>
                      <a:endParaRPr lang="en-US" sz="1100"/>
                    </a:p>
                  </a:txBody>
                  <a:tcPr marL="190500" marR="190500" marT="190500" marB="190500" anchor="ctr">
                    <a:lnL w="19050" cap="flat" cmpd="sng" algn="ctr">
                      <a:solidFill>
                        <a:srgbClr val="7A2F00"/>
                      </a:solidFill>
                      <a:prstDash val="solid"/>
                      <a:round/>
                      <a:headEnd type="none" w="med" len="med"/>
                      <a:tailEnd type="none" w="med" len="med"/>
                    </a:lnL>
                    <a:lnR w="19050" cap="flat" cmpd="sng" algn="ctr">
                      <a:solidFill>
                        <a:srgbClr val="7A2F00"/>
                      </a:solidFill>
                      <a:prstDash val="solid"/>
                      <a:round/>
                      <a:headEnd type="none" w="med" len="med"/>
                      <a:tailEnd type="none" w="med" len="med"/>
                    </a:lnR>
                    <a:lnT w="19050" cap="flat" cmpd="sng" algn="ctr">
                      <a:solidFill>
                        <a:srgbClr val="7A2F00"/>
                      </a:solidFill>
                      <a:prstDash val="solid"/>
                      <a:round/>
                      <a:headEnd type="none" w="med" len="med"/>
                      <a:tailEnd type="none" w="med" len="med"/>
                    </a:lnT>
                    <a:lnB w="19050" cap="flat" cmpd="sng" algn="ctr">
                      <a:solidFill>
                        <a:srgbClr val="7A2F00"/>
                      </a:solidFill>
                      <a:prstDash val="solid"/>
                      <a:round/>
                      <a:headEnd type="none" w="med" len="med"/>
                      <a:tailEnd type="none" w="med" len="med"/>
                    </a:lnB>
                  </a:tcPr>
                </a:tc>
                <a:tc>
                  <a:txBody>
                    <a:bodyPr/>
                    <a:lstStyle/>
                    <a:p>
                      <a:pPr algn="l">
                        <a:lnSpc>
                          <a:spcPts val="1819"/>
                        </a:lnSpc>
                      </a:pPr>
                      <a:r>
                        <a:rPr lang="en-US" sz="1300" u="sng">
                          <a:solidFill>
                            <a:srgbClr val="1F477B"/>
                          </a:solidFill>
                          <a:latin typeface="Calibri"/>
                          <a:ea typeface="Arimo"/>
                          <a:cs typeface="Arimo"/>
                          <a:sym typeface="Arimo"/>
                          <a:hlinkClick r:id="rId6"/>
                        </a:rPr>
                        <a:t>[4] S. T. Krauss et al., "Objective method for presumptive field-testing of illicit drug possession using centrifugal microdevices and smartphone analysis," Anal. Chem., vol. 88, no. 17, pp. 8689-8697, Sep. 2016, doi: 10.1021/acs.analchem.6b01982.</a:t>
                      </a:r>
                    </a:p>
                  </a:txBody>
                  <a:tcPr marL="190500" marR="190500" marT="190500" marB="190500" anchor="ctr">
                    <a:lnL w="19050" cap="flat" cmpd="sng" algn="ctr">
                      <a:solidFill>
                        <a:srgbClr val="7A2F00"/>
                      </a:solidFill>
                      <a:prstDash val="solid"/>
                      <a:round/>
                      <a:headEnd type="none" w="med" len="med"/>
                      <a:tailEnd type="none" w="med" len="med"/>
                    </a:lnL>
                    <a:lnR w="19050" cap="flat" cmpd="sng" algn="ctr">
                      <a:solidFill>
                        <a:srgbClr val="7A2F00"/>
                      </a:solidFill>
                      <a:prstDash val="solid"/>
                      <a:round/>
                      <a:headEnd type="none" w="med" len="med"/>
                      <a:tailEnd type="none" w="med" len="med"/>
                    </a:lnR>
                    <a:lnT w="19050" cap="flat" cmpd="sng" algn="ctr">
                      <a:solidFill>
                        <a:srgbClr val="7A2F00"/>
                      </a:solidFill>
                      <a:prstDash val="solid"/>
                      <a:round/>
                      <a:headEnd type="none" w="med" len="med"/>
                      <a:tailEnd type="none" w="med" len="med"/>
                    </a:lnT>
                    <a:lnB w="19050" cap="flat" cmpd="sng" algn="ctr">
                      <a:solidFill>
                        <a:srgbClr val="7A2F00"/>
                      </a:solidFill>
                      <a:prstDash val="solid"/>
                      <a:round/>
                      <a:headEnd type="none" w="med" len="med"/>
                      <a:tailEnd type="none" w="med" len="med"/>
                    </a:lnB>
                  </a:tcPr>
                </a:tc>
                <a:extLst>
                  <a:ext uri="{0D108BD9-81ED-4DB2-BD59-A6C34878D82A}">
                    <a16:rowId xmlns:a16="http://schemas.microsoft.com/office/drawing/2014/main" val="10004"/>
                  </a:ext>
                </a:extLst>
              </a:tr>
              <a:tr h="1325880">
                <a:tc>
                  <a:txBody>
                    <a:bodyPr/>
                    <a:lstStyle/>
                    <a:p>
                      <a:pPr algn="l">
                        <a:spcAft>
                          <a:spcPts val="600"/>
                        </a:spcAft>
                      </a:pPr>
                      <a:r>
                        <a:rPr lang="en-US" sz="1500" b="1" spc="-16">
                          <a:solidFill>
                            <a:srgbClr val="000000"/>
                          </a:solidFill>
                          <a:latin typeface="Calibri"/>
                          <a:ea typeface="Calibri"/>
                          <a:cs typeface="Calibri"/>
                          <a:sym typeface="Calibri"/>
                        </a:rPr>
                        <a:t>Digital Discovery 2023</a:t>
                      </a:r>
                    </a:p>
                    <a:p>
                      <a:pPr algn="l">
                        <a:lnSpc>
                          <a:spcPts val="1679"/>
                        </a:lnSpc>
                        <a:defRPr/>
                      </a:pPr>
                      <a:r>
                        <a:rPr lang="en-US" sz="1400">
                          <a:solidFill>
                            <a:srgbClr val="000000"/>
                          </a:solidFill>
                          <a:latin typeface="Calibri"/>
                          <a:ea typeface="Calibri"/>
                          <a:cs typeface="Calibri"/>
                          <a:sym typeface="Calibri"/>
                        </a:rPr>
                        <a:t>Computer vision can quantify and compare colour changes that may look similar by eye.</a:t>
                      </a:r>
                      <a:endParaRPr lang="en-US" sz="1100"/>
                    </a:p>
                  </a:txBody>
                  <a:tcPr marL="190500" marR="190500" marT="190500" marB="190500" anchor="ctr">
                    <a:lnL w="19050" cap="flat" cmpd="sng" algn="ctr">
                      <a:solidFill>
                        <a:srgbClr val="7A2F00"/>
                      </a:solidFill>
                      <a:prstDash val="solid"/>
                      <a:round/>
                      <a:headEnd type="none" w="med" len="med"/>
                      <a:tailEnd type="none" w="med" len="med"/>
                    </a:lnL>
                    <a:lnR w="19050" cap="flat" cmpd="sng" algn="ctr">
                      <a:solidFill>
                        <a:srgbClr val="7A2F00"/>
                      </a:solidFill>
                      <a:prstDash val="solid"/>
                      <a:round/>
                      <a:headEnd type="none" w="med" len="med"/>
                      <a:tailEnd type="none" w="med" len="med"/>
                    </a:lnR>
                    <a:lnT w="19050" cap="flat" cmpd="sng" algn="ctr">
                      <a:solidFill>
                        <a:srgbClr val="7A2F00"/>
                      </a:solidFill>
                      <a:prstDash val="solid"/>
                      <a:round/>
                      <a:headEnd type="none" w="med" len="med"/>
                      <a:tailEnd type="none" w="med" len="med"/>
                    </a:lnT>
                    <a:lnB w="19050" cap="flat" cmpd="sng" algn="ctr">
                      <a:solidFill>
                        <a:srgbClr val="7A2F00"/>
                      </a:solidFill>
                      <a:prstDash val="solid"/>
                      <a:round/>
                      <a:headEnd type="none" w="med" len="med"/>
                      <a:tailEnd type="none" w="med" len="med"/>
                    </a:lnB>
                  </a:tcPr>
                </a:tc>
                <a:tc>
                  <a:txBody>
                    <a:bodyPr/>
                    <a:lstStyle/>
                    <a:p>
                      <a:pPr algn="l">
                        <a:lnSpc>
                          <a:spcPts val="1679"/>
                        </a:lnSpc>
                        <a:defRPr/>
                      </a:pPr>
                      <a:r>
                        <a:rPr lang="en-US" sz="1400">
                          <a:solidFill>
                            <a:srgbClr val="000000"/>
                          </a:solidFill>
                          <a:latin typeface="Calibri"/>
                          <a:ea typeface="Calibri"/>
                          <a:cs typeface="Calibri"/>
                          <a:sym typeface="Calibri"/>
                        </a:rPr>
                        <a:t>App shows photo colour next to kit colours</a:t>
                      </a:r>
                      <a:endParaRPr lang="en-US" sz="1100"/>
                    </a:p>
                  </a:txBody>
                  <a:tcPr marL="190500" marR="190500" marT="190500" marB="190500" anchor="ctr">
                    <a:lnL w="19050" cap="flat" cmpd="sng" algn="ctr">
                      <a:solidFill>
                        <a:srgbClr val="7A2F00"/>
                      </a:solidFill>
                      <a:prstDash val="solid"/>
                      <a:round/>
                      <a:headEnd type="none" w="med" len="med"/>
                      <a:tailEnd type="none" w="med" len="med"/>
                    </a:lnL>
                    <a:lnR w="19050" cap="flat" cmpd="sng" algn="ctr">
                      <a:solidFill>
                        <a:srgbClr val="7A2F00"/>
                      </a:solidFill>
                      <a:prstDash val="solid"/>
                      <a:round/>
                      <a:headEnd type="none" w="med" len="med"/>
                      <a:tailEnd type="none" w="med" len="med"/>
                    </a:lnR>
                    <a:lnT w="19050" cap="flat" cmpd="sng" algn="ctr">
                      <a:solidFill>
                        <a:srgbClr val="7A2F00"/>
                      </a:solidFill>
                      <a:prstDash val="solid"/>
                      <a:round/>
                      <a:headEnd type="none" w="med" len="med"/>
                      <a:tailEnd type="none" w="med" len="med"/>
                    </a:lnT>
                    <a:lnB w="19050" cap="flat" cmpd="sng" algn="ctr">
                      <a:solidFill>
                        <a:srgbClr val="7A2F00"/>
                      </a:solidFill>
                      <a:prstDash val="solid"/>
                      <a:round/>
                      <a:headEnd type="none" w="med" len="med"/>
                      <a:tailEnd type="none" w="med" len="med"/>
                    </a:lnB>
                  </a:tcPr>
                </a:tc>
                <a:tc>
                  <a:txBody>
                    <a:bodyPr/>
                    <a:lstStyle/>
                    <a:p>
                      <a:pPr algn="l">
                        <a:lnSpc>
                          <a:spcPts val="1819"/>
                        </a:lnSpc>
                      </a:pPr>
                      <a:r>
                        <a:rPr lang="en-US" sz="1300" u="sng">
                          <a:solidFill>
                            <a:srgbClr val="1F477B"/>
                          </a:solidFill>
                          <a:latin typeface="Calibri"/>
                          <a:ea typeface="Arimo"/>
                          <a:cs typeface="Arimo"/>
                          <a:sym typeface="Arimo"/>
                          <a:hlinkClick r:id="rId7"/>
                        </a:rPr>
                        <a:t>[5] N. Bugeja et al., "Teaching old presumptive tests new digital tricks with computer vision for forensic applications," Digital Discovery, vol. 2, no. 4, pp. 1143-1151, 2023, doi: 10.1039/D3DD00066D.</a:t>
                      </a:r>
                    </a:p>
                  </a:txBody>
                  <a:tcPr marL="190500" marR="190500" marT="190500" marB="190500" anchor="ctr">
                    <a:lnL w="19050" cap="flat" cmpd="sng" algn="ctr">
                      <a:solidFill>
                        <a:srgbClr val="7A2F00"/>
                      </a:solidFill>
                      <a:prstDash val="solid"/>
                      <a:round/>
                      <a:headEnd type="none" w="med" len="med"/>
                      <a:tailEnd type="none" w="med" len="med"/>
                    </a:lnL>
                    <a:lnR w="19050" cap="flat" cmpd="sng" algn="ctr">
                      <a:solidFill>
                        <a:srgbClr val="7A2F00"/>
                      </a:solidFill>
                      <a:prstDash val="solid"/>
                      <a:round/>
                      <a:headEnd type="none" w="med" len="med"/>
                      <a:tailEnd type="none" w="med" len="med"/>
                    </a:lnR>
                    <a:lnT w="19050" cap="flat" cmpd="sng" algn="ctr">
                      <a:solidFill>
                        <a:srgbClr val="7A2F00"/>
                      </a:solidFill>
                      <a:prstDash val="solid"/>
                      <a:round/>
                      <a:headEnd type="none" w="med" len="med"/>
                      <a:tailEnd type="none" w="med" len="med"/>
                    </a:lnT>
                    <a:lnB w="19050" cap="flat" cmpd="sng" algn="ctr">
                      <a:solidFill>
                        <a:srgbClr val="7A2F00"/>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
        <p:nvSpPr>
          <p:cNvPr id="15" name="TextBox 15" descr="$PPTXTitle"/>
          <p:cNvSpPr txBox="1"/>
          <p:nvPr/>
        </p:nvSpPr>
        <p:spPr>
          <a:xfrm>
            <a:off x="3660096" y="346300"/>
            <a:ext cx="10421112" cy="876938"/>
          </a:xfrm>
          <a:prstGeom prst="rect">
            <a:avLst/>
          </a:prstGeom>
        </p:spPr>
        <p:txBody>
          <a:bodyPr lIns="0" tIns="0" rIns="0" bIns="0" rtlCol="0" anchor="t">
            <a:spAutoFit/>
          </a:bodyPr>
          <a:lstStyle/>
          <a:p>
            <a:pPr algn="l">
              <a:lnSpc>
                <a:spcPts val="6480"/>
              </a:lnSpc>
            </a:pPr>
            <a:r>
              <a:rPr lang="en-US" sz="5400" b="1">
                <a:solidFill>
                  <a:srgbClr val="7A2F00"/>
                </a:solidFill>
                <a:latin typeface="Times New Roman Bold"/>
                <a:ea typeface="Times New Roman Bold"/>
                <a:cs typeface="Times New Roman Bold"/>
                <a:sym typeface="Times New Roman Bold"/>
              </a:rPr>
              <a:t>RESEARCH AND REFERENCES</a:t>
            </a:r>
          </a:p>
        </p:txBody>
      </p:sp>
      <p:sp>
        <p:nvSpPr>
          <p:cNvPr id="16" name="TextBox 16"/>
          <p:cNvSpPr txBox="1"/>
          <p:nvPr/>
        </p:nvSpPr>
        <p:spPr>
          <a:xfrm>
            <a:off x="17063656" y="9649673"/>
            <a:ext cx="104775" cy="288608"/>
          </a:xfrm>
          <a:prstGeom prst="rect">
            <a:avLst/>
          </a:prstGeom>
        </p:spPr>
        <p:txBody>
          <a:bodyPr lIns="0" tIns="0" rIns="0" bIns="0" rtlCol="0" anchor="t">
            <a:spAutoFit/>
          </a:bodyPr>
          <a:lstStyle/>
          <a:p>
            <a:pPr algn="l">
              <a:lnSpc>
                <a:spcPts val="2137"/>
              </a:lnSpc>
            </a:pPr>
            <a:r>
              <a:rPr lang="en-US" sz="1800" b="1" spc="-75">
                <a:solidFill>
                  <a:srgbClr val="FFFFFF"/>
                </a:solidFill>
                <a:latin typeface="Times New Roman Bold"/>
                <a:ea typeface="Times New Roman Bold"/>
                <a:cs typeface="Times New Roman Bold"/>
                <a:sym typeface="Times New Roman Bold"/>
              </a:rPr>
              <a:t>6</a:t>
            </a:r>
          </a:p>
        </p:txBody>
      </p:sp>
      <p:sp>
        <p:nvSpPr>
          <p:cNvPr id="17" name="TextBox 17" descr="$PPTXTitle"/>
          <p:cNvSpPr txBox="1"/>
          <p:nvPr/>
        </p:nvSpPr>
        <p:spPr>
          <a:xfrm>
            <a:off x="1074372" y="677913"/>
            <a:ext cx="1461403" cy="466725"/>
          </a:xfrm>
          <a:prstGeom prst="rect">
            <a:avLst/>
          </a:prstGeom>
        </p:spPr>
        <p:txBody>
          <a:bodyPr lIns="0" tIns="0" rIns="0" bIns="0" rtlCol="0" anchor="t">
            <a:spAutoFit/>
          </a:bodyPr>
          <a:lstStyle/>
          <a:p>
            <a:pPr algn="l">
              <a:lnSpc>
                <a:spcPts val="3240"/>
              </a:lnSpc>
            </a:pPr>
            <a:r>
              <a:rPr lang="en-US" sz="2700" b="1" spc="-29">
                <a:solidFill>
                  <a:srgbClr val="7A2F00"/>
                </a:solidFill>
                <a:latin typeface="Calibri"/>
                <a:ea typeface="Calibri"/>
                <a:cs typeface="Calibri"/>
                <a:sym typeface="Calibri"/>
              </a:rPr>
              <a:t>HexTech</a:t>
            </a:r>
          </a:p>
        </p:txBody>
      </p:sp>
      <p:grpSp>
        <p:nvGrpSpPr>
          <p:cNvPr id="24" name="Group 24"/>
          <p:cNvGrpSpPr/>
          <p:nvPr/>
        </p:nvGrpSpPr>
        <p:grpSpPr>
          <a:xfrm>
            <a:off x="14720116" y="33423"/>
            <a:ext cx="3287373" cy="1531268"/>
            <a:chOff x="0" y="0"/>
            <a:chExt cx="4383164" cy="2041690"/>
          </a:xfrm>
        </p:grpSpPr>
        <p:sp>
          <p:nvSpPr>
            <p:cNvPr id="25" name="Freeform 25"/>
            <p:cNvSpPr/>
            <p:nvPr/>
          </p:nvSpPr>
          <p:spPr>
            <a:xfrm>
              <a:off x="0" y="0"/>
              <a:ext cx="4383151" cy="2041652"/>
            </a:xfrm>
            <a:custGeom>
              <a:avLst/>
              <a:gdLst/>
              <a:ahLst/>
              <a:cxnLst/>
              <a:rect l="l" t="t" r="r" b="b"/>
              <a:pathLst>
                <a:path w="4383151" h="2041652">
                  <a:moveTo>
                    <a:pt x="0" y="0"/>
                  </a:moveTo>
                  <a:lnTo>
                    <a:pt x="4383151" y="0"/>
                  </a:lnTo>
                  <a:lnTo>
                    <a:pt x="4383151" y="2041652"/>
                  </a:lnTo>
                  <a:lnTo>
                    <a:pt x="0" y="2041652"/>
                  </a:lnTo>
                  <a:lnTo>
                    <a:pt x="0" y="0"/>
                  </a:lnTo>
                  <a:close/>
                </a:path>
              </a:pathLst>
            </a:custGeom>
            <a:blipFill>
              <a:blip r:embed="rId9"/>
              <a:stretch>
                <a:fillRect t="-106" b="-108"/>
              </a:stretch>
            </a:blipFill>
          </p:spPr>
        </p:sp>
      </p:grpSp>
      <p:sp>
        <p:nvSpPr>
          <p:cNvPr id="26" name="Research link 1">
            <a:hlinkClick r:id="rId10"/>
          </p:cNvPr>
          <p:cNvSpPr/>
          <p:nvPr/>
        </p:nvSpPr>
        <p:spPr>
          <a:xfrm>
            <a:off x="11201400" y="2697480"/>
            <a:ext cx="6400800" cy="1325880"/>
          </a:xfrm>
          <a:prstGeom prst="rect">
            <a:avLst/>
          </a:prstGeom>
          <a:solidFill>
            <a:srgbClr val="FFFFFF">
              <a:alpha val="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esearch link 2">
            <a:hlinkClick r:id="rId4"/>
          </p:cNvPr>
          <p:cNvSpPr/>
          <p:nvPr/>
        </p:nvSpPr>
        <p:spPr>
          <a:xfrm>
            <a:off x="11201400" y="4023360"/>
            <a:ext cx="6400800" cy="1325880"/>
          </a:xfrm>
          <a:prstGeom prst="rect">
            <a:avLst/>
          </a:prstGeom>
          <a:solidFill>
            <a:srgbClr val="FFFFFF">
              <a:alpha val="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Research link 3">
            <a:hlinkClick r:id="rId5"/>
          </p:cNvPr>
          <p:cNvSpPr/>
          <p:nvPr/>
        </p:nvSpPr>
        <p:spPr>
          <a:xfrm>
            <a:off x="11201400" y="5349240"/>
            <a:ext cx="6400800" cy="1325880"/>
          </a:xfrm>
          <a:prstGeom prst="rect">
            <a:avLst/>
          </a:prstGeom>
          <a:solidFill>
            <a:srgbClr val="FFFFFF">
              <a:alpha val="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Research link 4">
            <a:hlinkClick r:id="rId6"/>
          </p:cNvPr>
          <p:cNvSpPr/>
          <p:nvPr/>
        </p:nvSpPr>
        <p:spPr>
          <a:xfrm>
            <a:off x="11201400" y="6675120"/>
            <a:ext cx="6400800" cy="1325880"/>
          </a:xfrm>
          <a:prstGeom prst="rect">
            <a:avLst/>
          </a:prstGeom>
          <a:solidFill>
            <a:srgbClr val="FFFFFF">
              <a:alpha val="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Research link 5">
            <a:hlinkClick r:id="rId7"/>
          </p:cNvPr>
          <p:cNvSpPr/>
          <p:nvPr/>
        </p:nvSpPr>
        <p:spPr>
          <a:xfrm>
            <a:off x="11201400" y="8001000"/>
            <a:ext cx="6400800" cy="1325880"/>
          </a:xfrm>
          <a:prstGeom prst="rect">
            <a:avLst/>
          </a:prstGeom>
          <a:solidFill>
            <a:srgbClr val="FFFFFF">
              <a:alpha val="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TotalTime>
  <Words>1312</Words>
  <Application>Microsoft Office PowerPoint</Application>
  <PresentationFormat>Custom</PresentationFormat>
  <Paragraphs>145</Paragraphs>
  <Slides>6</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6</vt:i4>
      </vt:variant>
    </vt:vector>
  </HeadingPairs>
  <TitlesOfParts>
    <vt:vector size="12" baseType="lpstr">
      <vt:lpstr>Times New Roman Bold</vt:lpstr>
      <vt:lpstr>Calibri</vt:lpstr>
      <vt:lpstr>Arimo</vt:lpstr>
      <vt:lpstr>Times New Roman</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Problem Statement ID – 26034 Problem Statement Title- Software System to check compliance of packaged commodities under Legal Metrology (Packaged Commodities) Rules,2011 by scanning product images and labels. Theme- Miscellaneous PS Category- Software</dc:title>
  <cp:lastModifiedBy>Lokesh Raj</cp:lastModifiedBy>
  <cp:revision>3</cp:revision>
  <dcterms:created xsi:type="dcterms:W3CDTF">2006-08-16T00:00:00Z</dcterms:created>
  <dcterms:modified xsi:type="dcterms:W3CDTF">2026-09-29T05:48:14Z</dcterms:modified>
  <dc:identifier>DAHVDURAeOo</dc:identifier>
</cp:coreProperties>
</file>
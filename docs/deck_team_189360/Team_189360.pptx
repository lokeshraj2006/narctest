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 id="262" r:id="rId16"/>
    <p:sldId id="263" r:id="rId1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7.xml"/><Relationship Id="rId17"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(35 s): Every test has time, place, officer and photo. Change even one byte of the photo, or the result in the database, and the check page says TAMPERED. We tried this on copies of our saved records.</a:t>
            </a:r>
          </a:p>
          <a:p>
            <a:r>
              <a:t>Each PDF has a filled BSA 2023 section 63 page. We say it SUPPORTS the certificate. The officer and an expert still sign, and the FSL report confirms. Never say 'court approved'.</a:t>
            </a:r>
          </a:p>
          <a:p/>
          <a:p>
            <a:r>
              <a:t>DEMO (90 s, in this order): 1) scan a positive card in normal light, then under a torch or dim light. 2) scan a trick card, show NOT SURE. 3) show a blurry photo asking for a retake. 4) open the PDF, let a judge scan the QR on their own phone (run backend/scripts/public_link.py first and re-download the PDF, the free link lasts 60 min). 5) change 1 byte of a saved copy and show TAMPERED. Keep a screen recording and a mobile hotspot as backup.</a:t>
            </a:r>
          </a:p>
          <a:p>
            <a:r>
              <a:t>IF ASKED 'Offline?': Designed, not built. We will build it together with phone chip signing so an offline test is signed on the phone before it syncs.</a:t>
            </a:r>
          </a:p>
          <a:p>
            <a:r>
              <a:t>IF ASKED 'e-Sakshya?': We have not contacted NIC yet. Our CSV already has time, GPS, officer, result, photo hash and check link.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(20 s): We are HexTech, problem statement 26231, Digital Companion for Field Drug Testing. Field drug tests are read by eye, under any light, with no standard reference and often no record anyone can check later. That makes the result easy to dispute. FieldProof reads the kit colour with a Rs 10 colour card, says NOT SURE when it cannot tell, and saves a record that anyone can check with a QR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(40 s): Officers judge the colour by eye. A yellow street lamp can make purple look brown. There is no standard colour and often no record anyone can check later.</a:t>
            </a:r>
          </a:p>
          <a:p>
            <a:r>
              <a:t>Our flow: pick the kit, the app runs the kit's read timer, the officer takes one photo of the kit next to our Rs 10 colour card, and the result comes on screen in about 16 seconds. The record is sealed and gets a QR.</a:t>
            </a:r>
          </a:p>
          <a:p>
            <a:r>
              <a:t>Novelty is not colour reading alone. Research has done that (refs 3, 4, 5). What we add is the full path from field to court: corrected colour, an honest NOT SURE, and a record anyone can check.</a:t>
            </a:r>
          </a:p>
          <a:p/>
          <a:p>
            <a:r>
              <a:t>IF ASKED 'NOT SURE goes to a senior officer to eyeball it?': No. The supervisor cannot change a NOT SURE into POSITIVE. On the Review page they can only order a retest or confirm NOT SURE. The sample goes to FSL as it does today.</a:t>
            </a:r>
          </a:p>
          <a:p>
            <a:r>
              <a:t>IF ASKED 'Is this AI?': No AI model, on purpose. Classical colour maths, every result can be explained with numbers, and it needs no drug photos to train.</a:t>
            </a:r>
          </a:p>
          <a:p>
            <a:r>
              <a:t>Source for 1,20,010: NCRB Crime in India 2023 (also quoted in a PIB reply on NDPS cases). It is total NDPS cases, we do not know how many used a field kit.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(40 s): The card has 24 colours we already know. The app sees how the light changed those colours, removes that same change from the kit colour, and only then decides. It needs the closest kit colour within Delta E 14 and at least 4 points ahead of the next one, else it says NOT SURE.</a:t>
            </a:r>
          </a:p>
          <a:p>
            <a:r>
              <a:t>Results: 25 real phone scans, 14 right, 11 NOT SURE, 0 wrong. 7 of the NOT SUREs were trick cards made to test this, 3 were blurry photos (records 13, 14, 20, reason 'Photo is blurry'), 1 was a card-fit reject on 28 Sep.</a:t>
            </a:r>
          </a:p>
          <a:p>
            <a:r>
              <a:t>Be honest: printed swatches on a screen, 1 phone. The FSL trial with real kits is next.</a:t>
            </a:r>
          </a:p>
          <a:p/>
          <a:p>
            <a:r>
              <a:t>IF ASKED 'What does 76% sure mean?': It is a match score. 99 x lead part x closeness part. Lead part = gap to the next colour / 12, capped at 1. Closeness part = 1 - half of (distance / 14). Not a probability. We will rename it 'match score' in the app.</a:t>
            </a:r>
          </a:p>
          <a:p>
            <a:r>
              <a:t>IF ASKED 'Why Delta E 14?': On real scans the right colour was 4.7 to 8.9 away, trick cards 16 to 31, other kit colours 34 or more. 14 sits in that gap. The margin to trick cards is thin, so each real kit gets its own limit from FSL data (backup slide 8).</a:t>
            </a:r>
          </a:p>
          <a:p>
            <a:r>
              <a:t>IF ASKED 'Residual error after correction?': That is our card fit number, the average Delta E of the 24 known colours after correction. 5.9 to 8.7 on real photos of a screen (limit 9), under 1 on computer-made photos. Screens glow, a paper card test is next.</a:t>
            </a:r>
          </a:p>
          <a:p>
            <a:r>
              <a:t>IF ASKED '2.5 s or 16 s?': 2.5 s is the server part (colour check about 0.16 s, most of the rest is the internet time lookup). 16 s is the whole test by one team member, photo to saved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(35 s): It works end to end today as a lab prototype. The pilot we propose is 1 district in Tamil Nadu, 20 officers, 3 months, with the nearest FSL. We measure 2 things apart: does the app read the kit the same way a trained expert does, and does the kit agree with the FSL lab. A kit false positive is the kit's error, not the app's.</a:t>
            </a:r>
          </a:p>
          <a:p>
            <a:r>
              <a:t>Every risk in the table has a status. Built means it is in the code now. Planned means it is not built yet.</a:t>
            </a:r>
          </a:p>
          <a:p/>
          <a:p>
            <a:r>
              <a:t>IF ASKED 'Why 60 tests?': Rule of three. With 0 errors in n tests, the true error rate is below 3/n with 95% confidence. 3/60 = 5%. For 1% we would need 300.</a:t>
            </a:r>
          </a:p>
          <a:p>
            <a:r>
              <a:t>IF ASKED 'What is not in Rs 9,200?': Kits (already bought today), officers' phones, FSL time, training, security audit and staff time. We need a quote from the department for those.</a:t>
            </a:r>
          </a:p>
          <a:p>
            <a:r>
              <a:t>IF ASKED 'Who owns it after the pilot?': State police IT cell runs the server, FSL owns the kit colour profiles. MoU is planned, not signed.</a:t>
            </a:r>
          </a:p>
          <a:p>
            <a:r>
              <a:t>IF ASKED 'Photo of a screen?': Honest answer, this is open. Our own tests used a screen, which proves the risk. Plan: screen-photo (moire) check plus Play Integrity. Until then a supervisor can see the photo on the Review page and the FSL report is still the final word.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5 DOIs open. Reference 1 author: IEEE Xplore and PubMed list the name as 'Karisen', so we cite it as indexed (the author also publishes as Haakon Karlsen).</a:t>
            </a:r>
          </a:p>
          <a:p>
            <a:r>
              <a:t>SAY (20 s, closing): We do not just read a colour, we make the field result checkable. Corrected colour, honest NOT SURE, and a record anyone can check. Next step is the FSL trial with real kits.</a:t>
            </a:r>
          </a:p>
          <a:p>
            <a:r>
              <a:t>IF ASKED 'Why not a handheld Raman device?': Those identify the drug better but are costly and one per team. FieldProof is for the cheap colour kits officers already carry, and a Raman or lab result can still be added to the same record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about numbers. One ledger: 6 scans on 28 Sep + 19 on 29 Sep = 25 real scans. Right answers 5 + 9 = 14. NOT SURE 1 + 10 = 11. Wrong 0.</a:t>
            </a:r>
          </a:p>
          <a:p>
            <a:r>
              <a:t>Round 1 NOT SURE (28 Sep, record 7) was a card-fit reject at 6.16 when the limit was lower. The limit was later raised to 9 after seeing real photos, so we quote the live result, not a re-run.</a:t>
            </a:r>
          </a:p>
          <a:p>
            <a:r>
              <a:t>Round 2 reasons come from the 'as taken' rows of stress_test.json (same engine, same day).</a:t>
            </a:r>
          </a:p>
          <a:p>
            <a:r>
              <a:t>The computer-made photos were also used to tune the rules, so 25/25 shows the engine works as designed, it is not an independent accuracy number.</a:t>
            </a:r>
          </a:p>
          <a:p>
            <a:r>
              <a:t>Stress test = computer-changed copies of the 19 real photos, so the 171 checks are not independent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about security or the real-kit plan.</a:t>
            </a:r>
          </a:p>
          <a:p>
            <a:r>
              <a:t>Insider question: today whoever holds the server key and the database could rewrite and re-sign the chain. That is why the key goes into a hardware box (HSM) and the chain head is copied outside every day, so a rewrite would not match the outside copy.</a:t>
            </a:r>
          </a:p>
          <a:p>
            <a:r>
              <a:t>Key loss: today the server makes a new key if the key file is missing, so old records would show TAMPERED. Fix: stop and alert instead, and keep a backup.</a:t>
            </a:r>
          </a:p>
          <a:p>
            <a:r>
              <a:t>Threshold question: our limit 14 came from printed swatches. With real reagents we measure the spread of the right colour and the nearest wrong colour for each kit, set the limit and lead in that gap, freeze them, then test on fresh samples against the FSL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 Id="rId14"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 Id="rId9"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drive.google.com/file/d/1NIR2OyYZRdmEM1R3cz9ghb7rZqyY1D1Z/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8" Type="http://schemas.openxmlformats.org/officeDocument/2006/relationships/notesSlide" Target="../notesSlides/notesSlide6.xm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8" Type="http://schemas.openxmlformats.org/officeDocument/2006/relationships/image" Target="../media/image3.png"/><Relationship Id="rId9" Type="http://schemas.openxmlformats.org/officeDocument/2006/relationships/hyperlink" Target="https://doi.org/10.1109/EMBC.2016.7591895" TargetMode="External"/><Relationship Id="rId10" Type="http://schemas.openxmlformats.org/officeDocument/2006/relationships/image" Target="../media/image25.png"/><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8" Type="http://schemas.openxmlformats.org/officeDocument/2006/relationships/image" Target="../media/image3.png"/><Relationship Id="rId9" Type="http://schemas.openxmlformats.org/officeDocument/2006/relationships/hyperlink" Target="https://doi.org/10.1109/EMBC.2016.7591895" TargetMode="Externa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967728" y="8247888"/>
            <a:ext cx="1115568" cy="1115568"/>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987552" y="8558784"/>
            <a:ext cx="3063240" cy="393192"/>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114800" y="8577072"/>
            <a:ext cx="2103120" cy="36576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114800" y="853135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967728" y="8247888"/>
            <a:ext cx="1115568" cy="1115568"/>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Real screenshots. Result screen shown in Tamil. Test Log (right) filters by date, officer, kit and result, and downloads CSV or PDF with QR.</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
        <p:nvSpPr>
          <p:cNvPr id="44" name="TextBox 43"/>
          <p:cNvSpPr txBox="1"/>
          <p:nvPr/>
        </p:nvSpPr>
        <p:spPr>
          <a:xfrm>
            <a:off x="987552" y="1783080"/>
            <a:ext cx="1463040" cy="457200"/>
          </a:xfrm>
          <a:prstGeom prst="rect">
            <a:avLst/>
          </a:prstGeom>
          <a:noFill/>
        </p:spPr>
        <p:txBody>
          <a:bodyPr wrap="square" anchor="t" lIns="27432" rIns="27432" tIns="18288" bIns="18288">
            <a:noAutofit/>
          </a:bodyPr>
          <a:lstStyle/>
          <a:p>
            <a:pPr algn="l">
              <a:spcAft>
                <a:spcPts val="0"/>
              </a:spcAft>
            </a:pPr>
            <a:r>
              <a:rPr sz="2500" b="1" i="0">
                <a:solidFill>
                  <a:srgbClr val="974826"/>
                </a:solidFill>
                <a:latin typeface="Calibri"/>
              </a:rPr>
              <a:t>Problem</a:t>
            </a:r>
          </a:p>
        </p:txBody>
      </p:sp>
      <p:sp>
        <p:nvSpPr>
          <p:cNvPr id="45" name="TextBox 44"/>
          <p:cNvSpPr txBox="1"/>
          <p:nvPr/>
        </p:nvSpPr>
        <p:spPr>
          <a:xfrm>
            <a:off x="2331720" y="1883664"/>
            <a:ext cx="5852160" cy="310896"/>
          </a:xfrm>
          <a:prstGeom prst="rect">
            <a:avLst/>
          </a:prstGeom>
          <a:noFill/>
        </p:spPr>
        <p:txBody>
          <a:bodyPr wrap="square" anchor="t" lIns="27432" rIns="27432" tIns="18288" bIns="18288">
            <a:noAutofit/>
          </a:bodyPr>
          <a:lstStyle/>
          <a:p>
            <a:pPr algn="l">
              <a:spcAft>
                <a:spcPts val="400"/>
              </a:spcAft>
            </a:pPr>
            <a:r>
              <a:rPr sz="1200" b="0" i="0">
                <a:solidFill>
                  <a:srgbClr val="555555"/>
                </a:solidFill>
                <a:latin typeface="Calibri"/>
              </a:rPr>
              <a:t>India: 1,20,010 NDPS cases registered in 2023 (NCRB, Crime in India 2023)</a:t>
            </a:r>
          </a:p>
        </p:txBody>
      </p:sp>
      <p:sp>
        <p:nvSpPr>
          <p:cNvPr id="46" name="TextBox 45"/>
          <p:cNvSpPr txBox="1"/>
          <p:nvPr/>
        </p:nvSpPr>
        <p:spPr>
          <a:xfrm>
            <a:off x="987552" y="2258568"/>
            <a:ext cx="7132320" cy="1572768"/>
          </a:xfrm>
          <a:prstGeom prst="rect">
            <a:avLst/>
          </a:prstGeom>
          <a:noFill/>
        </p:spPr>
        <p:txBody>
          <a:bodyPr wrap="square" anchor="t" lIns="27432" rIns="27432" tIns="18288" bIns="18288">
            <a:noAutofit/>
          </a:bodyPr>
          <a:lstStyle/>
          <a:p>
            <a:pPr algn="l" marL="201168" indent="-201168">
              <a:spcAft>
                <a:spcPts val="300"/>
              </a:spcAft>
              <a:buFont typeface="Arial"/>
              <a:buChar char="•"/>
            </a:pPr>
            <a:r>
              <a:rPr sz="1600" b="0" i="0">
                <a:solidFill>
                  <a:srgbClr val="000000"/>
                </a:solidFill>
                <a:latin typeface="Calibri"/>
              </a:rPr>
              <a:t>Officers read the kit's colour change by eye, so street lamp, torch or sunlight and personal judgement can change the result.</a:t>
            </a:r>
          </a:p>
          <a:p>
            <a:pPr algn="l" marL="201168" indent="-201168">
              <a:spcAft>
                <a:spcPts val="300"/>
              </a:spcAft>
              <a:buFont typeface="Arial"/>
              <a:buChar char="•"/>
            </a:pPr>
            <a:r>
              <a:rPr sz="1600" b="0" i="0">
                <a:solidFill>
                  <a:srgbClr val="000000"/>
                </a:solidFill>
                <a:latin typeface="Calibri"/>
              </a:rPr>
              <a:t>There is no standard colour value to compare the result with.</a:t>
            </a:r>
          </a:p>
          <a:p>
            <a:pPr algn="l" marL="201168" indent="-201168">
              <a:spcAft>
                <a:spcPts val="300"/>
              </a:spcAft>
              <a:buFont typeface="Arial"/>
              <a:buChar char="•"/>
            </a:pPr>
            <a:r>
              <a:rPr sz="1600" b="0" i="0">
                <a:solidFill>
                  <a:srgbClr val="000000"/>
                </a:solidFill>
                <a:latin typeface="Calibri"/>
              </a:rPr>
              <a:t>The test often leaves no clear digital record of who tested, where and when, so it is hard to verify later.</a:t>
            </a:r>
          </a:p>
        </p:txBody>
      </p:sp>
      <p:sp>
        <p:nvSpPr>
          <p:cNvPr id="47" name="TextBox 46"/>
          <p:cNvSpPr txBox="1"/>
          <p:nvPr/>
        </p:nvSpPr>
        <p:spPr>
          <a:xfrm>
            <a:off x="987552" y="3931920"/>
            <a:ext cx="2743200" cy="457200"/>
          </a:xfrm>
          <a:prstGeom prst="rect">
            <a:avLst/>
          </a:prstGeom>
          <a:noFill/>
        </p:spPr>
        <p:txBody>
          <a:bodyPr wrap="square" anchor="t" lIns="27432" rIns="27432" tIns="18288" bIns="18288">
            <a:noAutofit/>
          </a:bodyPr>
          <a:lstStyle/>
          <a:p>
            <a:pPr algn="l">
              <a:spcAft>
                <a:spcPts val="0"/>
              </a:spcAft>
            </a:pPr>
            <a:r>
              <a:rPr sz="2500" b="1" i="0">
                <a:solidFill>
                  <a:srgbClr val="974826"/>
                </a:solidFill>
                <a:latin typeface="Calibri"/>
              </a:rPr>
              <a:t>Solution</a:t>
            </a:r>
          </a:p>
        </p:txBody>
      </p:sp>
      <p:sp>
        <p:nvSpPr>
          <p:cNvPr id="48" name="TextBox 47"/>
          <p:cNvSpPr txBox="1"/>
          <p:nvPr/>
        </p:nvSpPr>
        <p:spPr>
          <a:xfrm>
            <a:off x="987552" y="4370832"/>
            <a:ext cx="7132320" cy="1783080"/>
          </a:xfrm>
          <a:prstGeom prst="rect">
            <a:avLst/>
          </a:prstGeom>
          <a:noFill/>
        </p:spPr>
        <p:txBody>
          <a:bodyPr wrap="square" anchor="t" lIns="27432" rIns="27432" tIns="18288" bIns="18288">
            <a:noAutofit/>
          </a:bodyPr>
          <a:lstStyle/>
          <a:p>
            <a:pPr algn="l" marL="201168" indent="-201168">
              <a:spcAft>
                <a:spcPts val="300"/>
              </a:spcAft>
              <a:buFont typeface="Arial"/>
              <a:buChar char="•"/>
            </a:pPr>
            <a:r>
              <a:rPr sz="1600" b="1" i="0">
                <a:solidFill>
                  <a:srgbClr val="000000"/>
                </a:solidFill>
                <a:latin typeface="Calibri"/>
              </a:rPr>
              <a:t>Check the Test</a:t>
            </a:r>
            <a:r>
              <a:rPr sz="1600" b="0" i="0">
                <a:solidFill>
                  <a:srgbClr val="000000"/>
                </a:solidFill>
                <a:latin typeface="Calibri"/>
              </a:rPr>
              <a:t> - the app photographs the kit next to a ₹10 colour card, corrects the colour and says POSITIVE, NEGATIVE or NOT SURE.</a:t>
            </a:r>
          </a:p>
          <a:p>
            <a:pPr algn="l" marL="201168" indent="-201168">
              <a:spcAft>
                <a:spcPts val="300"/>
              </a:spcAft>
              <a:buFont typeface="Arial"/>
              <a:buChar char="•"/>
            </a:pPr>
            <a:r>
              <a:rPr sz="1600" b="1" i="0">
                <a:solidFill>
                  <a:srgbClr val="000000"/>
                </a:solidFill>
                <a:latin typeface="Calibri"/>
              </a:rPr>
              <a:t>Record the Test</a:t>
            </a:r>
            <a:r>
              <a:rPr sz="1600" b="0" i="0">
                <a:solidFill>
                  <a:srgbClr val="000000"/>
                </a:solidFill>
                <a:latin typeface="Calibri"/>
              </a:rPr>
              <a:t> - saves the photo fingerprint, internet time, GPS and officer ID as a signed record with a QR check.</a:t>
            </a:r>
          </a:p>
          <a:p>
            <a:pPr algn="l" marL="201168" indent="-201168">
              <a:spcAft>
                <a:spcPts val="300"/>
              </a:spcAft>
              <a:buFont typeface="Arial"/>
              <a:buChar char="•"/>
            </a:pPr>
            <a:r>
              <a:rPr sz="1600" b="1" i="0">
                <a:solidFill>
                  <a:srgbClr val="000000"/>
                </a:solidFill>
                <a:latin typeface="Calibri"/>
              </a:rPr>
              <a:t>Manage the Records</a:t>
            </a:r>
            <a:r>
              <a:rPr sz="1600" b="0" i="0">
                <a:solidFill>
                  <a:srgbClr val="000000"/>
                </a:solidFill>
                <a:latin typeface="Calibri"/>
              </a:rPr>
              <a:t> - supervisors see the test log, map, NOT SURE review and PDF reports on the dashboard.</a:t>
            </a:r>
          </a:p>
        </p:txBody>
      </p:sp>
      <p:sp>
        <p:nvSpPr>
          <p:cNvPr id="49" name="TextBox 48"/>
          <p:cNvSpPr txBox="1"/>
          <p:nvPr/>
        </p:nvSpPr>
        <p:spPr>
          <a:xfrm>
            <a:off x="987552" y="6199632"/>
            <a:ext cx="4572000" cy="457200"/>
          </a:xfrm>
          <a:prstGeom prst="rect">
            <a:avLst/>
          </a:prstGeom>
          <a:noFill/>
        </p:spPr>
        <p:txBody>
          <a:bodyPr wrap="square" anchor="t" lIns="27432" rIns="27432" tIns="18288" bIns="18288">
            <a:noAutofit/>
          </a:bodyPr>
          <a:lstStyle/>
          <a:p>
            <a:pPr algn="l">
              <a:spcAft>
                <a:spcPts val="0"/>
              </a:spcAft>
            </a:pPr>
            <a:r>
              <a:rPr sz="2500" b="1" i="0">
                <a:solidFill>
                  <a:srgbClr val="974826"/>
                </a:solidFill>
                <a:latin typeface="Calibri"/>
              </a:rPr>
              <a:t>User Experience</a:t>
            </a:r>
          </a:p>
        </p:txBody>
      </p:sp>
      <p:sp>
        <p:nvSpPr>
          <p:cNvPr id="50" name="TextBox 49"/>
          <p:cNvSpPr txBox="1"/>
          <p:nvPr/>
        </p:nvSpPr>
        <p:spPr>
          <a:xfrm>
            <a:off x="987552" y="6638544"/>
            <a:ext cx="7132320" cy="1645920"/>
          </a:xfrm>
          <a:prstGeom prst="rect">
            <a:avLst/>
          </a:prstGeom>
          <a:noFill/>
        </p:spPr>
        <p:txBody>
          <a:bodyPr wrap="square" anchor="t" lIns="27432" rIns="27432" tIns="18288" bIns="18288">
            <a:noAutofit/>
          </a:bodyPr>
          <a:lstStyle/>
          <a:p>
            <a:pPr algn="l" marL="201168" indent="-201168">
              <a:spcAft>
                <a:spcPts val="200"/>
              </a:spcAft>
              <a:buFont typeface="Arial"/>
              <a:buChar char="•"/>
            </a:pPr>
            <a:r>
              <a:rPr sz="1500" b="1" i="0">
                <a:solidFill>
                  <a:srgbClr val="000000"/>
                </a:solidFill>
                <a:latin typeface="Calibri"/>
              </a:rPr>
              <a:t>4 steps</a:t>
            </a:r>
            <a:r>
              <a:rPr sz="1500" b="0" i="0">
                <a:solidFill>
                  <a:srgbClr val="000000"/>
                </a:solidFill>
                <a:latin typeface="Calibri"/>
              </a:rPr>
              <a:t> - choose kit, start the kit's read timer, take the photo inside the box, see the result. About 16 s per test (19 scans, 1 team member).</a:t>
            </a:r>
          </a:p>
          <a:p>
            <a:pPr algn="l" marL="201168" indent="-201168">
              <a:spcAft>
                <a:spcPts val="200"/>
              </a:spcAft>
              <a:buFont typeface="Arial"/>
              <a:buChar char="•"/>
            </a:pPr>
            <a:r>
              <a:rPr sz="1500" b="1" i="0">
                <a:solidFill>
                  <a:srgbClr val="000000"/>
                </a:solidFill>
                <a:latin typeface="Calibri"/>
              </a:rPr>
              <a:t>NOT SURE path</a:t>
            </a:r>
            <a:r>
              <a:rPr sz="1500" b="0" i="0">
                <a:solidFill>
                  <a:srgbClr val="000000"/>
                </a:solidFill>
                <a:latin typeface="Calibri"/>
              </a:rPr>
              <a:t> - the app says why (blurry, shiny, card not seen, colour unclear) and asks for a retake. Still NOT SURE means no field result. The supervisor can only order a retest or confirm NOT SURE, and the sample goes to FSL.</a:t>
            </a:r>
          </a:p>
          <a:p>
            <a:pPr algn="l" marL="201168" indent="-201168">
              <a:spcAft>
                <a:spcPts val="200"/>
              </a:spcAft>
              <a:buFont typeface="Arial"/>
              <a:buChar char="•"/>
            </a:pPr>
            <a:r>
              <a:rPr sz="1500" b="1" i="0">
                <a:solidFill>
                  <a:srgbClr val="000000"/>
                </a:solidFill>
                <a:latin typeface="Calibri"/>
              </a:rPr>
              <a:t>Easy to read</a:t>
            </a:r>
            <a:r>
              <a:rPr sz="1500" b="0" i="0">
                <a:solidFill>
                  <a:srgbClr val="000000"/>
                </a:solidFill>
                <a:latin typeface="Calibri"/>
              </a:rPr>
              <a:t> - big coloured result, works in Tamil too.</a:t>
            </a:r>
          </a:p>
        </p:txBody>
      </p:sp>
      <p:sp>
        <p:nvSpPr>
          <p:cNvPr id="51" name="Rounded Rectangle 50"/>
          <p:cNvSpPr/>
          <p:nvPr/>
        </p:nvSpPr>
        <p:spPr>
          <a:xfrm>
            <a:off x="8595360" y="5961888"/>
            <a:ext cx="9006840" cy="3456432"/>
          </a:xfrm>
          <a:prstGeom prst="roundRect">
            <a:avLst>
              <a:gd name="adj" fmla="val 6000"/>
            </a:avLst>
          </a:prstGeom>
          <a:noFill/>
          <a:ln w="25400">
            <a:solidFill>
              <a:srgbClr val="7A2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96528" y="6016752"/>
            <a:ext cx="1463040" cy="457200"/>
          </a:xfrm>
          <a:prstGeom prst="rect">
            <a:avLst/>
          </a:prstGeom>
          <a:noFill/>
        </p:spPr>
        <p:txBody>
          <a:bodyPr wrap="square" anchor="t" lIns="27432" rIns="27432" tIns="18288" bIns="18288">
            <a:noAutofit/>
          </a:bodyPr>
          <a:lstStyle/>
          <a:p>
            <a:pPr algn="l">
              <a:spcAft>
                <a:spcPts val="0"/>
              </a:spcAft>
            </a:pPr>
            <a:r>
              <a:rPr sz="2500" b="1" i="0">
                <a:solidFill>
                  <a:srgbClr val="974826"/>
                </a:solidFill>
                <a:latin typeface="Calibri"/>
              </a:rPr>
              <a:t>Novelty</a:t>
            </a:r>
          </a:p>
        </p:txBody>
      </p:sp>
      <p:sp>
        <p:nvSpPr>
          <p:cNvPr id="53" name="TextBox 52"/>
          <p:cNvSpPr txBox="1"/>
          <p:nvPr/>
        </p:nvSpPr>
        <p:spPr>
          <a:xfrm>
            <a:off x="10241280" y="6108192"/>
            <a:ext cx="7223760" cy="310896"/>
          </a:xfrm>
          <a:prstGeom prst="rect">
            <a:avLst/>
          </a:prstGeom>
          <a:noFill/>
        </p:spPr>
        <p:txBody>
          <a:bodyPr wrap="square" anchor="t" lIns="27432" rIns="27432" tIns="18288" bIns="18288">
            <a:noAutofit/>
          </a:bodyPr>
          <a:lstStyle/>
          <a:p>
            <a:pPr algn="l">
              <a:spcAft>
                <a:spcPts val="400"/>
              </a:spcAft>
            </a:pPr>
            <a:r>
              <a:rPr sz="1400" b="1" i="0">
                <a:solidFill>
                  <a:srgbClr val="7A2F00"/>
                </a:solidFill>
                <a:latin typeface="Calibri"/>
              </a:rPr>
              <a:t>Not just a colour reader. A field result that anyone can check later.</a:t>
            </a:r>
          </a:p>
        </p:txBody>
      </p:sp>
      <p:graphicFrame>
        <p:nvGraphicFramePr>
          <p:cNvPr id="54" name="Table 53"/>
          <p:cNvGraphicFramePr>
            <a:graphicFrameLocks noGrp="1"/>
          </p:cNvGraphicFramePr>
          <p:nvPr/>
        </p:nvGraphicFramePr>
        <p:xfrm>
          <a:off x="8796528" y="6510528"/>
          <a:ext cx="8641080" cy="2304288"/>
        </p:xfrm>
        <a:graphic>
          <a:graphicData uri="http://schemas.openxmlformats.org/drawingml/2006/table">
            <a:tbl>
              <a:tblPr firstRow="1" bandRow="0">
                <a:tableStyleId>{5C22544A-7EE6-4342-B048-85BDC9FD1C3A}</a:tableStyleId>
              </a:tblPr>
              <a:tblGrid>
                <a:gridCol w="2514600"/>
                <a:gridCol w="1554480"/>
                <a:gridCol w="1600200"/>
                <a:gridCol w="2971800"/>
              </a:tblGrid>
              <a:tr h="384048">
                <a:tc>
                  <a:txBody>
                    <a:bodyPr wrap="square"/>
                    <a:lstStyle/>
                    <a:p>
                      <a:pPr algn="l">
                        <a:spcAft>
                          <a:spcPts val="0"/>
                        </a:spcAft>
                      </a:pP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00" b="1" i="0">
                          <a:solidFill>
                            <a:srgbClr val="000000"/>
                          </a:solidFill>
                          <a:latin typeface="Calibri"/>
                        </a:rPr>
                        <a:t>Eye check today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00" b="1" i="0">
                          <a:solidFill>
                            <a:srgbClr val="000000"/>
                          </a:solidFill>
                          <a:latin typeface="Calibri"/>
                        </a:rPr>
                        <a:t>FSL lab</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00" b="1" i="0">
                          <a:solidFill>
                            <a:srgbClr val="000000"/>
                          </a:solidFill>
                          <a:latin typeface="Calibri"/>
                        </a:rPr>
                        <a:t>FieldProof</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r>
              <a:tr h="384048">
                <a:tc>
                  <a:txBody>
                    <a:bodyPr wrap="square"/>
                    <a:lstStyle/>
                    <a:p>
                      <a:pPr algn="l">
                        <a:spcAft>
                          <a:spcPts val="0"/>
                        </a:spcAft>
                      </a:pPr>
                      <a:r>
                        <a:rPr sz="1300" b="1" i="0">
                          <a:solidFill>
                            <a:srgbClr val="000000"/>
                          </a:solidFill>
                          <a:latin typeface="Calibri"/>
                        </a:rPr>
                        <a:t>Result on the spot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Yes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 report later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Yes, about 16 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00" b="1" i="0">
                          <a:solidFill>
                            <a:srgbClr val="000000"/>
                          </a:solidFill>
                          <a:latin typeface="Calibri"/>
                        </a:rPr>
                        <a:t>Same reading in any light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Yes, lab conditions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Yes, colour card in every photo</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00" b="1" i="0">
                          <a:solidFill>
                            <a:srgbClr val="000000"/>
                          </a:solidFill>
                          <a:latin typeface="Calibri"/>
                        </a:rPr>
                        <a:t>Says NOT SURE when unclear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Depends on officer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Not needed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Yes, with the reason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00" b="1" i="0">
                          <a:solidFill>
                            <a:srgbClr val="000000"/>
                          </a:solidFill>
                          <a:latin typeface="Calibri"/>
                        </a:rPr>
                        <a:t>Record anyone can check later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Lab report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Signed record + QR, BSA s.63 page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00" b="1" i="0">
                          <a:solidFill>
                            <a:srgbClr val="000000"/>
                          </a:solidFill>
                          <a:latin typeface="Calibri"/>
                        </a:rPr>
                        <a:t>Confirms which drug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Yes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 first check only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bl>
          </a:graphicData>
        </a:graphic>
      </p:graphicFrame>
      <p:sp>
        <p:nvSpPr>
          <p:cNvPr id="55" name="TextBox 54"/>
          <p:cNvSpPr txBox="1"/>
          <p:nvPr/>
        </p:nvSpPr>
        <p:spPr>
          <a:xfrm>
            <a:off x="8796528" y="9034272"/>
            <a:ext cx="8686800" cy="310896"/>
          </a:xfrm>
          <a:prstGeom prst="rect">
            <a:avLst/>
          </a:prstGeom>
          <a:noFill/>
        </p:spPr>
        <p:txBody>
          <a:bodyPr wrap="square" anchor="t" lIns="27432" rIns="27432" tIns="18288" bIns="18288">
            <a:noAutofit/>
          </a:bodyPr>
          <a:lstStyle/>
          <a:p>
            <a:pPr algn="l">
              <a:spcAft>
                <a:spcPts val="400"/>
              </a:spcAft>
            </a:pPr>
            <a:r>
              <a:rPr sz="1250" b="0" i="0">
                <a:solidFill>
                  <a:srgbClr val="555555"/>
                </a:solidFill>
                <a:latin typeface="Calibri"/>
              </a:rPr>
              <a:t>Also: new kit profiles are added from the admin website without an app update. The app works in Tamil.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3206103"/>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2563902"/>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Rounded Rectangle 18"/>
          <p:cNvSpPr/>
          <p:nvPr/>
        </p:nvSpPr>
        <p:spPr>
          <a:xfrm>
            <a:off x="640080" y="2286000"/>
            <a:ext cx="8321040" cy="877824"/>
          </a:xfrm>
          <a:prstGeom prst="roundRect">
            <a:avLst>
              <a:gd name="adj" fmla="val 8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286000"/>
            <a:ext cx="1234439" cy="877824"/>
          </a:xfrm>
          <a:prstGeom prst="rect">
            <a:avLst/>
          </a:prstGeom>
          <a:noFill/>
        </p:spPr>
        <p:txBody>
          <a:bodyPr wrap="square" anchor="ctr" lIns="27432" rIns="27432" tIns="18288" bIns="18288">
            <a:noAutofit/>
          </a:bodyPr>
          <a:lstStyle/>
          <a:p>
            <a:pPr algn="ctr">
              <a:spcAft>
                <a:spcPts val="0"/>
              </a:spcAft>
            </a:pPr>
            <a:r>
              <a:rPr sz="1300" b="1" i="0">
                <a:solidFill>
                  <a:srgbClr val="7A2F00"/>
                </a:solidFill>
                <a:latin typeface="Calibri"/>
              </a:rPr>
              <a:t>Officer's phone</a:t>
            </a:r>
          </a:p>
          <a:p>
            <a:pPr algn="ctr">
              <a:spcAft>
                <a:spcPts val="0"/>
              </a:spcAft>
            </a:pPr>
            <a:r>
              <a:rPr sz="1300" b="1" i="0">
                <a:solidFill>
                  <a:srgbClr val="7A2F00"/>
                </a:solidFill>
                <a:latin typeface="Calibri"/>
              </a:rPr>
              <a:t>(Flutter app)</a:t>
            </a:r>
          </a:p>
        </p:txBody>
      </p:sp>
      <p:sp>
        <p:nvSpPr>
          <p:cNvPr id="21" name="Rounded Rectangle 20"/>
          <p:cNvSpPr/>
          <p:nvPr/>
        </p:nvSpPr>
        <p:spPr>
          <a:xfrm>
            <a:off x="1965959" y="2395728"/>
            <a:ext cx="107442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Login and</a:t>
            </a:r>
          </a:p>
          <a:p>
            <a:pPr algn="ctr">
              <a:spcAft>
                <a:spcPts val="0"/>
              </a:spcAft>
            </a:pPr>
            <a:r>
              <a:rPr sz="1200" b="0" i="0">
                <a:solidFill>
                  <a:srgbClr val="000000"/>
                </a:solidFill>
                <a:latin typeface="Calibri"/>
              </a:rPr>
              <a:t>pick kit</a:t>
            </a:r>
          </a:p>
        </p:txBody>
      </p:sp>
      <p:sp>
        <p:nvSpPr>
          <p:cNvPr id="22" name="Rounded Rectangle 21"/>
          <p:cNvSpPr/>
          <p:nvPr/>
        </p:nvSpPr>
        <p:spPr>
          <a:xfrm>
            <a:off x="3131820" y="2395728"/>
            <a:ext cx="107442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Kit read</a:t>
            </a:r>
          </a:p>
          <a:p>
            <a:pPr algn="ctr">
              <a:spcAft>
                <a:spcPts val="0"/>
              </a:spcAft>
            </a:pPr>
            <a:r>
              <a:rPr sz="1200" b="0" i="0">
                <a:solidFill>
                  <a:srgbClr val="000000"/>
                </a:solidFill>
                <a:latin typeface="Calibri"/>
              </a:rPr>
              <a:t>timer</a:t>
            </a:r>
          </a:p>
        </p:txBody>
      </p:sp>
      <p:sp>
        <p:nvSpPr>
          <p:cNvPr id="23" name="Rounded Rectangle 22"/>
          <p:cNvSpPr/>
          <p:nvPr/>
        </p:nvSpPr>
        <p:spPr>
          <a:xfrm>
            <a:off x="4297679" y="2395728"/>
            <a:ext cx="107442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Camera with</a:t>
            </a:r>
          </a:p>
          <a:p>
            <a:pPr algn="ctr">
              <a:spcAft>
                <a:spcPts val="0"/>
              </a:spcAft>
            </a:pPr>
            <a:r>
              <a:rPr sz="1200" b="0" i="0">
                <a:solidFill>
                  <a:srgbClr val="000000"/>
                </a:solidFill>
                <a:latin typeface="Calibri"/>
              </a:rPr>
              <a:t>card guide</a:t>
            </a:r>
          </a:p>
        </p:txBody>
      </p:sp>
      <p:sp>
        <p:nvSpPr>
          <p:cNvPr id="24" name="Rounded Rectangle 23"/>
          <p:cNvSpPr/>
          <p:nvPr/>
        </p:nvSpPr>
        <p:spPr>
          <a:xfrm>
            <a:off x="5463540" y="2395728"/>
            <a:ext cx="107442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Blur check</a:t>
            </a:r>
          </a:p>
          <a:p>
            <a:pPr algn="ctr">
              <a:spcAft>
                <a:spcPts val="0"/>
              </a:spcAft>
            </a:pPr>
            <a:r>
              <a:rPr sz="1200" b="0" i="0">
                <a:solidFill>
                  <a:srgbClr val="000000"/>
                </a:solidFill>
                <a:latin typeface="Calibri"/>
              </a:rPr>
              <a:t>on phone</a:t>
            </a:r>
          </a:p>
        </p:txBody>
      </p:sp>
      <p:sp>
        <p:nvSpPr>
          <p:cNvPr id="25" name="Rounded Rectangle 24"/>
          <p:cNvSpPr/>
          <p:nvPr/>
        </p:nvSpPr>
        <p:spPr>
          <a:xfrm>
            <a:off x="6629400" y="2395728"/>
            <a:ext cx="107442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GPS and</a:t>
            </a:r>
          </a:p>
          <a:p>
            <a:pPr algn="ctr">
              <a:spcAft>
                <a:spcPts val="0"/>
              </a:spcAft>
            </a:pPr>
            <a:r>
              <a:rPr sz="1200" b="0" i="0">
                <a:solidFill>
                  <a:srgbClr val="000000"/>
                </a:solidFill>
                <a:latin typeface="Calibri"/>
              </a:rPr>
              <a:t>mock flag</a:t>
            </a:r>
          </a:p>
        </p:txBody>
      </p:sp>
      <p:sp>
        <p:nvSpPr>
          <p:cNvPr id="26" name="Rounded Rectangle 25"/>
          <p:cNvSpPr/>
          <p:nvPr/>
        </p:nvSpPr>
        <p:spPr>
          <a:xfrm>
            <a:off x="7795260" y="2395728"/>
            <a:ext cx="107442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Photo</a:t>
            </a:r>
          </a:p>
          <a:p>
            <a:pPr algn="ctr">
              <a:spcAft>
                <a:spcPts val="0"/>
              </a:spcAft>
            </a:pPr>
            <a:r>
              <a:rPr sz="1200" b="0" i="0">
                <a:solidFill>
                  <a:srgbClr val="000000"/>
                </a:solidFill>
                <a:latin typeface="Calibri"/>
              </a:rPr>
              <a:t>SHA-256</a:t>
            </a:r>
          </a:p>
        </p:txBody>
      </p:sp>
      <p:sp>
        <p:nvSpPr>
          <p:cNvPr id="27" name="Down Arrow 26"/>
          <p:cNvSpPr/>
          <p:nvPr/>
        </p:nvSpPr>
        <p:spPr>
          <a:xfrm>
            <a:off x="5262371" y="3191256"/>
            <a:ext cx="310896" cy="237744"/>
          </a:xfrm>
          <a:prstGeom prst="downArrow">
            <a:avLst/>
          </a:prstGeom>
          <a:solidFill>
            <a:srgbClr val="B29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3474720"/>
            <a:ext cx="8321040" cy="1335024"/>
          </a:xfrm>
          <a:prstGeom prst="roundRect">
            <a:avLst>
              <a:gd name="adj" fmla="val 8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474720"/>
            <a:ext cx="1234439" cy="1335024"/>
          </a:xfrm>
          <a:prstGeom prst="rect">
            <a:avLst/>
          </a:prstGeom>
          <a:noFill/>
        </p:spPr>
        <p:txBody>
          <a:bodyPr wrap="square" anchor="ctr" lIns="27432" rIns="27432" tIns="18288" bIns="18288">
            <a:noAutofit/>
          </a:bodyPr>
          <a:lstStyle/>
          <a:p>
            <a:pPr algn="ctr">
              <a:spcAft>
                <a:spcPts val="0"/>
              </a:spcAft>
            </a:pPr>
            <a:r>
              <a:rPr sz="1300" b="1" i="0">
                <a:solidFill>
                  <a:srgbClr val="7A2F00"/>
                </a:solidFill>
                <a:latin typeface="Calibri"/>
              </a:rPr>
              <a:t>Colour engine</a:t>
            </a:r>
          </a:p>
          <a:p>
            <a:pPr algn="ctr">
              <a:spcAft>
                <a:spcPts val="0"/>
              </a:spcAft>
            </a:pPr>
            <a:r>
              <a:rPr sz="1300" b="1" i="0">
                <a:solidFill>
                  <a:srgbClr val="7A2F00"/>
                </a:solidFill>
                <a:latin typeface="Calibri"/>
              </a:rPr>
              <a:t>(server, OpenCV)</a:t>
            </a:r>
          </a:p>
        </p:txBody>
      </p:sp>
      <p:sp>
        <p:nvSpPr>
          <p:cNvPr id="30" name="Rounded Rectangle 29"/>
          <p:cNvSpPr/>
          <p:nvPr/>
        </p:nvSpPr>
        <p:spPr>
          <a:xfrm>
            <a:off x="1965959" y="358444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Find card</a:t>
            </a:r>
          </a:p>
          <a:p>
            <a:pPr algn="ctr">
              <a:spcAft>
                <a:spcPts val="0"/>
              </a:spcAft>
            </a:pPr>
            <a:r>
              <a:rPr sz="1200" b="0" i="0">
                <a:solidFill>
                  <a:srgbClr val="000000"/>
                </a:solidFill>
                <a:latin typeface="Calibri"/>
              </a:rPr>
              <a:t>(4 corners)</a:t>
            </a:r>
          </a:p>
        </p:txBody>
      </p:sp>
      <p:sp>
        <p:nvSpPr>
          <p:cNvPr id="31" name="Rounded Rectangle 30"/>
          <p:cNvSpPr/>
          <p:nvPr/>
        </p:nvSpPr>
        <p:spPr>
          <a:xfrm>
            <a:off x="3364991" y="358444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Blur and</a:t>
            </a:r>
          </a:p>
          <a:p>
            <a:pPr algn="ctr">
              <a:spcAft>
                <a:spcPts val="0"/>
              </a:spcAft>
            </a:pPr>
            <a:r>
              <a:rPr sz="1200" b="0" i="0">
                <a:solidFill>
                  <a:srgbClr val="000000"/>
                </a:solidFill>
                <a:latin typeface="Calibri"/>
              </a:rPr>
              <a:t>glare check</a:t>
            </a:r>
          </a:p>
        </p:txBody>
      </p:sp>
      <p:sp>
        <p:nvSpPr>
          <p:cNvPr id="32" name="Rounded Rectangle 31"/>
          <p:cNvSpPr/>
          <p:nvPr/>
        </p:nvSpPr>
        <p:spPr>
          <a:xfrm>
            <a:off x="4764023" y="358444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Fix colours</a:t>
            </a:r>
          </a:p>
          <a:p>
            <a:pPr algn="ctr">
              <a:spcAft>
                <a:spcPts val="0"/>
              </a:spcAft>
            </a:pPr>
            <a:r>
              <a:rPr sz="1200" b="0" i="0">
                <a:solidFill>
                  <a:srgbClr val="000000"/>
                </a:solidFill>
                <a:latin typeface="Calibri"/>
              </a:rPr>
              <a:t>(24 known)</a:t>
            </a:r>
          </a:p>
        </p:txBody>
      </p:sp>
      <p:sp>
        <p:nvSpPr>
          <p:cNvPr id="33" name="Rounded Rectangle 32"/>
          <p:cNvSpPr/>
          <p:nvPr/>
        </p:nvSpPr>
        <p:spPr>
          <a:xfrm>
            <a:off x="6163055" y="358444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CIELAB and</a:t>
            </a:r>
          </a:p>
          <a:p>
            <a:pPr algn="ctr">
              <a:spcAft>
                <a:spcPts val="0"/>
              </a:spcAft>
            </a:pPr>
            <a:r>
              <a:rPr sz="1200" b="0" i="0">
                <a:solidFill>
                  <a:srgbClr val="000000"/>
                </a:solidFill>
                <a:latin typeface="Calibri"/>
              </a:rPr>
              <a:t>ΔE 2000</a:t>
            </a:r>
          </a:p>
        </p:txBody>
      </p:sp>
      <p:sp>
        <p:nvSpPr>
          <p:cNvPr id="34" name="Rounded Rectangle 33"/>
          <p:cNvSpPr/>
          <p:nvPr/>
        </p:nvSpPr>
        <p:spPr>
          <a:xfrm>
            <a:off x="7562088" y="358444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Pick closest</a:t>
            </a:r>
          </a:p>
          <a:p>
            <a:pPr algn="ctr">
              <a:spcAft>
                <a:spcPts val="0"/>
              </a:spcAft>
            </a:pPr>
            <a:r>
              <a:rPr sz="1200" b="0" i="0">
                <a:solidFill>
                  <a:srgbClr val="000000"/>
                </a:solidFill>
                <a:latin typeface="Calibri"/>
              </a:rPr>
              <a:t>kit colour</a:t>
            </a:r>
          </a:p>
        </p:txBody>
      </p:sp>
      <p:sp>
        <p:nvSpPr>
          <p:cNvPr id="35" name="Rounded Rectangle 34"/>
          <p:cNvSpPr/>
          <p:nvPr/>
        </p:nvSpPr>
        <p:spPr>
          <a:xfrm>
            <a:off x="1965959" y="4343400"/>
            <a:ext cx="2240279" cy="347472"/>
          </a:xfrm>
          <a:prstGeom prst="roundRect">
            <a:avLst>
              <a:gd name="adj" fmla="val 3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1" i="0">
                <a:solidFill>
                  <a:srgbClr val="FFFFFF"/>
                </a:solidFill>
                <a:latin typeface="Calibri"/>
              </a:rPr>
              <a:t>POSITIVE</a:t>
            </a:r>
          </a:p>
        </p:txBody>
      </p:sp>
      <p:sp>
        <p:nvSpPr>
          <p:cNvPr id="36" name="Rounded Rectangle 35"/>
          <p:cNvSpPr/>
          <p:nvPr/>
        </p:nvSpPr>
        <p:spPr>
          <a:xfrm>
            <a:off x="4297679" y="4343400"/>
            <a:ext cx="2240279" cy="347472"/>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1" i="0">
                <a:solidFill>
                  <a:srgbClr val="FFFFFF"/>
                </a:solidFill>
                <a:latin typeface="Calibri"/>
              </a:rPr>
              <a:t>NEGATIVE</a:t>
            </a:r>
          </a:p>
        </p:txBody>
      </p:sp>
      <p:sp>
        <p:nvSpPr>
          <p:cNvPr id="37" name="Rounded Rectangle 36"/>
          <p:cNvSpPr/>
          <p:nvPr/>
        </p:nvSpPr>
        <p:spPr>
          <a:xfrm>
            <a:off x="6629399" y="4343400"/>
            <a:ext cx="2240279" cy="347472"/>
          </a:xfrm>
          <a:prstGeom prst="roundRect">
            <a:avLst>
              <a:gd name="adj" fmla="val 30000"/>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1" i="0">
                <a:solidFill>
                  <a:srgbClr val="FFFFFF"/>
                </a:solidFill>
                <a:latin typeface="Calibri"/>
              </a:rPr>
              <a:t>NOT SURE + reason</a:t>
            </a:r>
          </a:p>
        </p:txBody>
      </p:sp>
      <p:sp>
        <p:nvSpPr>
          <p:cNvPr id="38" name="Down Arrow 37"/>
          <p:cNvSpPr/>
          <p:nvPr/>
        </p:nvSpPr>
        <p:spPr>
          <a:xfrm>
            <a:off x="5262371" y="4837176"/>
            <a:ext cx="310896" cy="237744"/>
          </a:xfrm>
          <a:prstGeom prst="downArrow">
            <a:avLst/>
          </a:prstGeom>
          <a:solidFill>
            <a:srgbClr val="B29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0080" y="5120640"/>
            <a:ext cx="8321040" cy="877824"/>
          </a:xfrm>
          <a:prstGeom prst="roundRect">
            <a:avLst>
              <a:gd name="adj" fmla="val 8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120640"/>
            <a:ext cx="1234439" cy="877824"/>
          </a:xfrm>
          <a:prstGeom prst="rect">
            <a:avLst/>
          </a:prstGeom>
          <a:noFill/>
        </p:spPr>
        <p:txBody>
          <a:bodyPr wrap="square" anchor="ctr" lIns="27432" rIns="27432" tIns="18288" bIns="18288">
            <a:noAutofit/>
          </a:bodyPr>
          <a:lstStyle/>
          <a:p>
            <a:pPr algn="ctr">
              <a:spcAft>
                <a:spcPts val="0"/>
              </a:spcAft>
            </a:pPr>
            <a:r>
              <a:rPr sz="1300" b="1" i="0">
                <a:solidFill>
                  <a:srgbClr val="7A2F00"/>
                </a:solidFill>
                <a:latin typeface="Calibri"/>
              </a:rPr>
              <a:t>Sealed record</a:t>
            </a:r>
          </a:p>
          <a:p>
            <a:pPr algn="ctr">
              <a:spcAft>
                <a:spcPts val="0"/>
              </a:spcAft>
            </a:pPr>
            <a:r>
              <a:rPr sz="1300" b="1" i="0">
                <a:solidFill>
                  <a:srgbClr val="7A2F00"/>
                </a:solidFill>
                <a:latin typeface="Calibri"/>
              </a:rPr>
              <a:t>(server)</a:t>
            </a:r>
          </a:p>
        </p:txBody>
      </p:sp>
      <p:sp>
        <p:nvSpPr>
          <p:cNvPr id="41" name="Rounded Rectangle 40"/>
          <p:cNvSpPr/>
          <p:nvPr/>
        </p:nvSpPr>
        <p:spPr>
          <a:xfrm>
            <a:off x="1965959" y="523036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Internet time</a:t>
            </a:r>
          </a:p>
          <a:p>
            <a:pPr algn="ctr">
              <a:spcAft>
                <a:spcPts val="0"/>
              </a:spcAft>
            </a:pPr>
            <a:r>
              <a:rPr sz="1200" b="0" i="0">
                <a:solidFill>
                  <a:srgbClr val="000000"/>
                </a:solidFill>
                <a:latin typeface="Calibri"/>
              </a:rPr>
              <a:t>(NTP, HTTPS)</a:t>
            </a:r>
          </a:p>
        </p:txBody>
      </p:sp>
      <p:sp>
        <p:nvSpPr>
          <p:cNvPr id="42" name="Rounded Rectangle 41"/>
          <p:cNvSpPr/>
          <p:nvPr/>
        </p:nvSpPr>
        <p:spPr>
          <a:xfrm>
            <a:off x="3364991" y="523036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22 fields</a:t>
            </a:r>
          </a:p>
          <a:p>
            <a:pPr algn="ctr">
              <a:spcAft>
                <a:spcPts val="0"/>
              </a:spcAft>
            </a:pPr>
            <a:r>
              <a:rPr sz="1200" b="0" i="0">
                <a:solidFill>
                  <a:srgbClr val="000000"/>
                </a:solidFill>
                <a:latin typeface="Calibri"/>
              </a:rPr>
              <a:t>sealed</a:t>
            </a:r>
          </a:p>
        </p:txBody>
      </p:sp>
      <p:sp>
        <p:nvSpPr>
          <p:cNvPr id="43" name="Rounded Rectangle 42"/>
          <p:cNvSpPr/>
          <p:nvPr/>
        </p:nvSpPr>
        <p:spPr>
          <a:xfrm>
            <a:off x="4764023" y="523036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SHA-256</a:t>
            </a:r>
          </a:p>
          <a:p>
            <a:pPr algn="ctr">
              <a:spcAft>
                <a:spcPts val="0"/>
              </a:spcAft>
            </a:pPr>
            <a:r>
              <a:rPr sz="1200" b="0" i="0">
                <a:solidFill>
                  <a:srgbClr val="000000"/>
                </a:solidFill>
                <a:latin typeface="Calibri"/>
              </a:rPr>
              <a:t>record hash</a:t>
            </a:r>
          </a:p>
        </p:txBody>
      </p:sp>
      <p:sp>
        <p:nvSpPr>
          <p:cNvPr id="44" name="Rounded Rectangle 43"/>
          <p:cNvSpPr/>
          <p:nvPr/>
        </p:nvSpPr>
        <p:spPr>
          <a:xfrm>
            <a:off x="6163055" y="523036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Ed25519</a:t>
            </a:r>
          </a:p>
          <a:p>
            <a:pPr algn="ctr">
              <a:spcAft>
                <a:spcPts val="0"/>
              </a:spcAft>
            </a:pPr>
            <a:r>
              <a:rPr sz="1200" b="0" i="0">
                <a:solidFill>
                  <a:srgbClr val="000000"/>
                </a:solidFill>
                <a:latin typeface="Calibri"/>
              </a:rPr>
              <a:t>signature</a:t>
            </a:r>
          </a:p>
        </p:txBody>
      </p:sp>
      <p:sp>
        <p:nvSpPr>
          <p:cNvPr id="45" name="Rounded Rectangle 44"/>
          <p:cNvSpPr/>
          <p:nvPr/>
        </p:nvSpPr>
        <p:spPr>
          <a:xfrm>
            <a:off x="7562088" y="5230368"/>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Chain to last</a:t>
            </a:r>
          </a:p>
          <a:p>
            <a:pPr algn="ctr">
              <a:spcAft>
                <a:spcPts val="0"/>
              </a:spcAft>
            </a:pPr>
            <a:r>
              <a:rPr sz="1200" b="0" i="0">
                <a:solidFill>
                  <a:srgbClr val="000000"/>
                </a:solidFill>
                <a:latin typeface="Calibri"/>
              </a:rPr>
              <a:t>record</a:t>
            </a:r>
          </a:p>
        </p:txBody>
      </p:sp>
      <p:sp>
        <p:nvSpPr>
          <p:cNvPr id="46" name="Down Arrow 45"/>
          <p:cNvSpPr/>
          <p:nvPr/>
        </p:nvSpPr>
        <p:spPr>
          <a:xfrm>
            <a:off x="5262371" y="6025896"/>
            <a:ext cx="310896" cy="237744"/>
          </a:xfrm>
          <a:prstGeom prst="downArrow">
            <a:avLst/>
          </a:prstGeom>
          <a:solidFill>
            <a:srgbClr val="B29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40080" y="6309359"/>
            <a:ext cx="8321040" cy="877824"/>
          </a:xfrm>
          <a:prstGeom prst="roundRect">
            <a:avLst>
              <a:gd name="adj" fmla="val 8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6309359"/>
            <a:ext cx="1234439" cy="877824"/>
          </a:xfrm>
          <a:prstGeom prst="rect">
            <a:avLst/>
          </a:prstGeom>
          <a:noFill/>
        </p:spPr>
        <p:txBody>
          <a:bodyPr wrap="square" anchor="ctr" lIns="27432" rIns="27432" tIns="18288" bIns="18288">
            <a:noAutofit/>
          </a:bodyPr>
          <a:lstStyle/>
          <a:p>
            <a:pPr algn="ctr">
              <a:spcAft>
                <a:spcPts val="0"/>
              </a:spcAft>
            </a:pPr>
            <a:r>
              <a:rPr sz="1300" b="1" i="0">
                <a:solidFill>
                  <a:srgbClr val="7A2F00"/>
                </a:solidFill>
                <a:latin typeface="Calibri"/>
              </a:rPr>
              <a:t>Storage</a:t>
            </a:r>
          </a:p>
        </p:txBody>
      </p:sp>
      <p:sp>
        <p:nvSpPr>
          <p:cNvPr id="49" name="Rounded Rectangle 48"/>
          <p:cNvSpPr/>
          <p:nvPr/>
        </p:nvSpPr>
        <p:spPr>
          <a:xfrm>
            <a:off x="1965959" y="6419088"/>
            <a:ext cx="340614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PostgreSQL: users, tests,</a:t>
            </a:r>
          </a:p>
          <a:p>
            <a:pPr algn="ctr">
              <a:spcAft>
                <a:spcPts val="0"/>
              </a:spcAft>
            </a:pPr>
            <a:r>
              <a:rPr sz="1200" b="0" i="0">
                <a:solidFill>
                  <a:srgbClr val="000000"/>
                </a:solidFill>
                <a:latin typeface="Calibri"/>
              </a:rPr>
              <a:t>kit profiles, reviews</a:t>
            </a:r>
          </a:p>
        </p:txBody>
      </p:sp>
      <p:sp>
        <p:nvSpPr>
          <p:cNvPr id="50" name="Rounded Rectangle 49"/>
          <p:cNvSpPr/>
          <p:nvPr/>
        </p:nvSpPr>
        <p:spPr>
          <a:xfrm>
            <a:off x="5463540" y="6419088"/>
            <a:ext cx="3406140"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Photo store, PDF with QR</a:t>
            </a:r>
          </a:p>
          <a:p>
            <a:pPr algn="ctr">
              <a:spcAft>
                <a:spcPts val="0"/>
              </a:spcAft>
            </a:pPr>
            <a:r>
              <a:rPr sz="1200" b="0" i="0">
                <a:solidFill>
                  <a:srgbClr val="000000"/>
                </a:solidFill>
                <a:latin typeface="Calibri"/>
              </a:rPr>
              <a:t>and BSA s.63 page</a:t>
            </a:r>
          </a:p>
        </p:txBody>
      </p:sp>
      <p:sp>
        <p:nvSpPr>
          <p:cNvPr id="51" name="Down Arrow 50"/>
          <p:cNvSpPr/>
          <p:nvPr/>
        </p:nvSpPr>
        <p:spPr>
          <a:xfrm>
            <a:off x="5262371" y="7214616"/>
            <a:ext cx="310896" cy="237744"/>
          </a:xfrm>
          <a:prstGeom prst="downArrow">
            <a:avLst/>
          </a:prstGeom>
          <a:solidFill>
            <a:srgbClr val="B29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0080" y="7498079"/>
            <a:ext cx="8321040" cy="877824"/>
          </a:xfrm>
          <a:prstGeom prst="roundRect">
            <a:avLst>
              <a:gd name="adj" fmla="val 8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7498079"/>
            <a:ext cx="1234439" cy="877824"/>
          </a:xfrm>
          <a:prstGeom prst="rect">
            <a:avLst/>
          </a:prstGeom>
          <a:noFill/>
        </p:spPr>
        <p:txBody>
          <a:bodyPr wrap="square" anchor="ctr" lIns="27432" rIns="27432" tIns="18288" bIns="18288">
            <a:noAutofit/>
          </a:bodyPr>
          <a:lstStyle/>
          <a:p>
            <a:pPr algn="ctr">
              <a:spcAft>
                <a:spcPts val="0"/>
              </a:spcAft>
            </a:pPr>
            <a:r>
              <a:rPr sz="1300" b="1" i="0">
                <a:solidFill>
                  <a:srgbClr val="7A2F00"/>
                </a:solidFill>
                <a:latin typeface="Calibri"/>
              </a:rPr>
              <a:t>Dashboard</a:t>
            </a:r>
          </a:p>
          <a:p>
            <a:pPr algn="ctr">
              <a:spcAft>
                <a:spcPts val="0"/>
              </a:spcAft>
            </a:pPr>
            <a:r>
              <a:rPr sz="1300" b="1" i="0">
                <a:solidFill>
                  <a:srgbClr val="7A2F00"/>
                </a:solidFill>
                <a:latin typeface="Calibri"/>
              </a:rPr>
              <a:t>(React)</a:t>
            </a:r>
          </a:p>
        </p:txBody>
      </p:sp>
      <p:sp>
        <p:nvSpPr>
          <p:cNvPr id="54" name="Rounded Rectangle 53"/>
          <p:cNvSpPr/>
          <p:nvPr/>
        </p:nvSpPr>
        <p:spPr>
          <a:xfrm>
            <a:off x="1965959" y="7607807"/>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Test log</a:t>
            </a:r>
          </a:p>
          <a:p>
            <a:pPr algn="ctr">
              <a:spcAft>
                <a:spcPts val="0"/>
              </a:spcAft>
            </a:pPr>
            <a:r>
              <a:rPr sz="1200" b="0" i="0">
                <a:solidFill>
                  <a:srgbClr val="000000"/>
                </a:solidFill>
                <a:latin typeface="Calibri"/>
              </a:rPr>
              <a:t>and CSV</a:t>
            </a:r>
          </a:p>
        </p:txBody>
      </p:sp>
      <p:sp>
        <p:nvSpPr>
          <p:cNvPr id="55" name="Rounded Rectangle 54"/>
          <p:cNvSpPr/>
          <p:nvPr/>
        </p:nvSpPr>
        <p:spPr>
          <a:xfrm>
            <a:off x="3364991" y="7607807"/>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Map</a:t>
            </a:r>
          </a:p>
        </p:txBody>
      </p:sp>
      <p:sp>
        <p:nvSpPr>
          <p:cNvPr id="56" name="Rounded Rectangle 55"/>
          <p:cNvSpPr/>
          <p:nvPr/>
        </p:nvSpPr>
        <p:spPr>
          <a:xfrm>
            <a:off x="4764023" y="7607807"/>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Kit editor</a:t>
            </a:r>
          </a:p>
        </p:txBody>
      </p:sp>
      <p:sp>
        <p:nvSpPr>
          <p:cNvPr id="57" name="Rounded Rectangle 56"/>
          <p:cNvSpPr/>
          <p:nvPr/>
        </p:nvSpPr>
        <p:spPr>
          <a:xfrm>
            <a:off x="6163055" y="7607807"/>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NOT SURE</a:t>
            </a:r>
          </a:p>
          <a:p>
            <a:pPr algn="ctr">
              <a:spcAft>
                <a:spcPts val="0"/>
              </a:spcAft>
            </a:pPr>
            <a:r>
              <a:rPr sz="1200" b="0" i="0">
                <a:solidFill>
                  <a:srgbClr val="000000"/>
                </a:solidFill>
                <a:latin typeface="Calibri"/>
              </a:rPr>
              <a:t>review</a:t>
            </a:r>
          </a:p>
        </p:txBody>
      </p:sp>
      <p:sp>
        <p:nvSpPr>
          <p:cNvPr id="58" name="Rounded Rectangle 57"/>
          <p:cNvSpPr/>
          <p:nvPr/>
        </p:nvSpPr>
        <p:spPr>
          <a:xfrm>
            <a:off x="7562088" y="7607807"/>
            <a:ext cx="1307592" cy="658368"/>
          </a:xfrm>
          <a:prstGeom prst="roundRect">
            <a:avLst>
              <a:gd name="adj" fmla="val 12000"/>
            </a:avLst>
          </a:prstGeom>
          <a:solidFill>
            <a:srgbClr val="FFFFFF"/>
          </a:solidFill>
          <a:ln w="12700">
            <a:solidFill>
              <a:srgbClr val="B2935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200" b="0" i="0">
                <a:solidFill>
                  <a:srgbClr val="000000"/>
                </a:solidFill>
                <a:latin typeface="Calibri"/>
              </a:rPr>
              <a:t>QR check</a:t>
            </a:r>
          </a:p>
          <a:p>
            <a:pPr algn="ctr">
              <a:spcAft>
                <a:spcPts val="0"/>
              </a:spcAft>
            </a:pPr>
            <a:r>
              <a:rPr sz="1200" b="0" i="0">
                <a:solidFill>
                  <a:srgbClr val="000000"/>
                </a:solidFill>
                <a:latin typeface="Calibri"/>
              </a:rPr>
              <a:t>page</a:t>
            </a:r>
          </a:p>
        </p:txBody>
      </p:sp>
      <p:sp>
        <p:nvSpPr>
          <p:cNvPr id="59" name="TextBox 58"/>
          <p:cNvSpPr txBox="1"/>
          <p:nvPr/>
        </p:nvSpPr>
        <p:spPr>
          <a:xfrm>
            <a:off x="640080" y="8412480"/>
            <a:ext cx="8321040" cy="274320"/>
          </a:xfrm>
          <a:prstGeom prst="rect">
            <a:avLst/>
          </a:prstGeom>
          <a:noFill/>
        </p:spPr>
        <p:txBody>
          <a:bodyPr wrap="square" anchor="t" lIns="27432" rIns="27432" tIns="18288" bIns="18288">
            <a:noAutofit/>
          </a:bodyPr>
          <a:lstStyle/>
          <a:p>
            <a:pPr algn="l">
              <a:spcAft>
                <a:spcPts val="0"/>
              </a:spcAft>
            </a:pPr>
            <a:r>
              <a:rPr sz="1200" b="0" i="1">
                <a:solidFill>
                  <a:srgbClr val="555555"/>
                </a:solidFill>
                <a:latin typeface="Calibri"/>
              </a:rPr>
              <a:t>Everything in this diagram is built and running in our prototype.</a:t>
            </a:r>
          </a:p>
        </p:txBody>
      </p:sp>
      <p:sp>
        <p:nvSpPr>
          <p:cNvPr id="60" name="TextBox 59"/>
          <p:cNvSpPr txBox="1"/>
          <p:nvPr/>
        </p:nvSpPr>
        <p:spPr>
          <a:xfrm>
            <a:off x="9281160" y="1783080"/>
            <a:ext cx="5852160" cy="457200"/>
          </a:xfrm>
          <a:prstGeom prst="rect">
            <a:avLst/>
          </a:prstGeom>
          <a:noFill/>
        </p:spPr>
        <p:txBody>
          <a:bodyPr wrap="square" anchor="t" lIns="27432" rIns="27432" tIns="18288" bIns="18288">
            <a:noAutofit/>
          </a:bodyPr>
          <a:lstStyle/>
          <a:p>
            <a:pPr algn="l">
              <a:spcAft>
                <a:spcPts val="0"/>
              </a:spcAft>
            </a:pPr>
            <a:r>
              <a:rPr sz="2500" b="1" i="0">
                <a:solidFill>
                  <a:srgbClr val="974826"/>
                </a:solidFill>
                <a:latin typeface="Calibri"/>
              </a:rPr>
              <a:t>How the App Decides</a:t>
            </a:r>
          </a:p>
        </p:txBody>
      </p:sp>
      <p:sp>
        <p:nvSpPr>
          <p:cNvPr id="61" name="TextBox 60"/>
          <p:cNvSpPr txBox="1"/>
          <p:nvPr/>
        </p:nvSpPr>
        <p:spPr>
          <a:xfrm>
            <a:off x="9281160" y="2240280"/>
            <a:ext cx="5897880" cy="2743200"/>
          </a:xfrm>
          <a:prstGeom prst="rect">
            <a:avLst/>
          </a:prstGeom>
          <a:noFill/>
        </p:spPr>
        <p:txBody>
          <a:bodyPr wrap="square" anchor="t" lIns="27432" rIns="27432" tIns="18288" bIns="18288">
            <a:noAutofit/>
          </a:bodyPr>
          <a:lstStyle/>
          <a:p>
            <a:pPr algn="l" marL="201168" indent="-201168">
              <a:spcAft>
                <a:spcPts val="300"/>
              </a:spcAft>
              <a:buFont typeface="Arial"/>
              <a:buChar char="•"/>
            </a:pPr>
            <a:r>
              <a:rPr sz="1500" b="0" i="0">
                <a:solidFill>
                  <a:srgbClr val="000000"/>
                </a:solidFill>
                <a:latin typeface="Calibri"/>
              </a:rPr>
              <a:t>The card has 24 colours we already know. The app sees how the light changed them and removes the same change from the kit colour.</a:t>
            </a:r>
          </a:p>
          <a:p>
            <a:pPr algn="l" marL="201168" indent="-201168">
              <a:spcAft>
                <a:spcPts val="300"/>
              </a:spcAft>
              <a:buFont typeface="Arial"/>
              <a:buChar char="•"/>
            </a:pPr>
            <a:r>
              <a:rPr sz="1500" b="0" i="0">
                <a:solidFill>
                  <a:srgbClr val="000000"/>
                </a:solidFill>
                <a:latin typeface="Calibri"/>
              </a:rPr>
              <a:t>Result only if the closest kit colour is within </a:t>
            </a:r>
            <a:r>
              <a:rPr sz="1500" b="1" i="0">
                <a:solidFill>
                  <a:srgbClr val="000000"/>
                </a:solidFill>
                <a:latin typeface="Calibri"/>
              </a:rPr>
              <a:t>ΔE 14</a:t>
            </a:r>
            <a:r>
              <a:rPr sz="1500" b="0" i="0">
                <a:solidFill>
                  <a:srgbClr val="000000"/>
                </a:solidFill>
                <a:latin typeface="Calibri"/>
              </a:rPr>
              <a:t> and at least </a:t>
            </a:r>
            <a:r>
              <a:rPr sz="1500" b="1" i="0">
                <a:solidFill>
                  <a:srgbClr val="000000"/>
                </a:solidFill>
                <a:latin typeface="Calibri"/>
              </a:rPr>
              <a:t>4 points</a:t>
            </a:r>
            <a:r>
              <a:rPr sz="1500" b="0" i="0">
                <a:solidFill>
                  <a:srgbClr val="000000"/>
                </a:solidFill>
                <a:latin typeface="Calibri"/>
              </a:rPr>
              <a:t> ahead of the next. Else NOT SURE.</a:t>
            </a:r>
          </a:p>
          <a:p>
            <a:pPr algn="l" marL="201168" indent="-201168">
              <a:spcAft>
                <a:spcPts val="300"/>
              </a:spcAft>
              <a:buFont typeface="Arial"/>
              <a:buChar char="•"/>
            </a:pPr>
            <a:r>
              <a:rPr sz="1500" b="1" i="0">
                <a:solidFill>
                  <a:srgbClr val="000000"/>
                </a:solidFill>
                <a:latin typeface="Calibri"/>
              </a:rPr>
              <a:t>Card fit check</a:t>
            </a:r>
            <a:r>
              <a:rPr sz="1500" b="0" i="0">
                <a:solidFill>
                  <a:srgbClr val="000000"/>
                </a:solidFill>
                <a:latin typeface="Calibri"/>
              </a:rPr>
              <a:t> - after correction, the 24 known colours must be within ΔE 9 on average (real photos gave 5.9 to 8.7).</a:t>
            </a:r>
          </a:p>
          <a:p>
            <a:pPr algn="l" marL="201168" indent="-201168">
              <a:spcAft>
                <a:spcPts val="300"/>
              </a:spcAft>
              <a:buFont typeface="Arial"/>
              <a:buChar char="•"/>
            </a:pPr>
            <a:r>
              <a:rPr sz="1500" b="0" i="0">
                <a:solidFill>
                  <a:srgbClr val="000000"/>
                </a:solidFill>
                <a:latin typeface="Calibri"/>
              </a:rPr>
              <a:t>The % on the result screen is a </a:t>
            </a:r>
            <a:r>
              <a:rPr sz="1500" b="1" i="0">
                <a:solidFill>
                  <a:srgbClr val="000000"/>
                </a:solidFill>
                <a:latin typeface="Calibri"/>
              </a:rPr>
              <a:t>match score</a:t>
            </a:r>
            <a:r>
              <a:rPr sz="1500" b="0" i="0">
                <a:solidFill>
                  <a:srgbClr val="000000"/>
                </a:solidFill>
                <a:latin typeface="Calibri"/>
              </a:rPr>
              <a:t> (closeness and lead), not a probability.</a:t>
            </a:r>
          </a:p>
          <a:p>
            <a:pPr algn="l" marL="201168" indent="-201168">
              <a:spcAft>
                <a:spcPts val="300"/>
              </a:spcAft>
              <a:buFont typeface="Arial"/>
              <a:buChar char="•"/>
            </a:pPr>
            <a:r>
              <a:rPr sz="1500" b="1" i="0">
                <a:solidFill>
                  <a:srgbClr val="000000"/>
                </a:solidFill>
                <a:latin typeface="Calibri"/>
              </a:rPr>
              <a:t>No AI model, on purpose</a:t>
            </a:r>
            <a:r>
              <a:rPr sz="1500" b="0" i="0">
                <a:solidFill>
                  <a:srgbClr val="000000"/>
                </a:solidFill>
                <a:latin typeface="Calibri"/>
              </a:rPr>
              <a:t> - it needs no drug photos to train, and every result can be explained with numbers.</a:t>
            </a:r>
          </a:p>
        </p:txBody>
      </p:sp>
      <p:sp>
        <p:nvSpPr>
          <p:cNvPr id="62" name="TextBox 61"/>
          <p:cNvSpPr txBox="1"/>
          <p:nvPr/>
        </p:nvSpPr>
        <p:spPr>
          <a:xfrm>
            <a:off x="9281160" y="4983480"/>
            <a:ext cx="5852160" cy="457200"/>
          </a:xfrm>
          <a:prstGeom prst="rect">
            <a:avLst/>
          </a:prstGeom>
          <a:noFill/>
        </p:spPr>
        <p:txBody>
          <a:bodyPr wrap="square" anchor="t" lIns="27432" rIns="27432" tIns="18288" bIns="18288">
            <a:noAutofit/>
          </a:bodyPr>
          <a:lstStyle/>
          <a:p>
            <a:pPr algn="l">
              <a:spcAft>
                <a:spcPts val="0"/>
              </a:spcAft>
            </a:pPr>
            <a:r>
              <a:rPr sz="2500" b="1" i="0">
                <a:solidFill>
                  <a:srgbClr val="974826"/>
                </a:solidFill>
                <a:latin typeface="Calibri"/>
              </a:rPr>
              <a:t>Measured Results</a:t>
            </a:r>
          </a:p>
        </p:txBody>
      </p:sp>
      <p:sp>
        <p:nvSpPr>
          <p:cNvPr id="63" name="TextBox 62"/>
          <p:cNvSpPr txBox="1"/>
          <p:nvPr/>
        </p:nvSpPr>
        <p:spPr>
          <a:xfrm>
            <a:off x="9281160" y="5394960"/>
            <a:ext cx="5897880" cy="329184"/>
          </a:xfrm>
          <a:prstGeom prst="rect">
            <a:avLst/>
          </a:prstGeom>
          <a:noFill/>
        </p:spPr>
        <p:txBody>
          <a:bodyPr wrap="square" anchor="t" lIns="27432" rIns="27432" tIns="18288" bIns="18288">
            <a:noAutofit/>
          </a:bodyPr>
          <a:lstStyle/>
          <a:p>
            <a:pPr algn="l">
              <a:spcAft>
                <a:spcPts val="0"/>
              </a:spcAft>
            </a:pPr>
            <a:r>
              <a:rPr sz="1500" b="1" i="0">
                <a:solidFill>
                  <a:srgbClr val="7A2F00"/>
                </a:solidFill>
                <a:latin typeface="Calibri"/>
              </a:rPr>
              <a:t>0 wrong answers so far, and every NOT SURE had a reason.</a:t>
            </a:r>
          </a:p>
        </p:txBody>
      </p:sp>
      <p:graphicFrame>
        <p:nvGraphicFramePr>
          <p:cNvPr id="64" name="Table 63"/>
          <p:cNvGraphicFramePr>
            <a:graphicFrameLocks noGrp="1"/>
          </p:cNvGraphicFramePr>
          <p:nvPr/>
        </p:nvGraphicFramePr>
        <p:xfrm>
          <a:off x="9281160" y="5760720"/>
          <a:ext cx="5897879" cy="2304288"/>
        </p:xfrm>
        <a:graphic>
          <a:graphicData uri="http://schemas.openxmlformats.org/drawingml/2006/table">
            <a:tbl>
              <a:tblPr firstRow="1" bandRow="0">
                <a:tableStyleId>{5C22544A-7EE6-4342-B048-85BDC9FD1C3A}</a:tableStyleId>
              </a:tblPr>
              <a:tblGrid>
                <a:gridCol w="1874519"/>
                <a:gridCol w="502920"/>
                <a:gridCol w="3520440"/>
              </a:tblGrid>
              <a:tr h="310896">
                <a:tc>
                  <a:txBody>
                    <a:bodyPr wrap="square"/>
                    <a:lstStyle/>
                    <a:p>
                      <a:pPr algn="l">
                        <a:spcAft>
                          <a:spcPts val="0"/>
                        </a:spcAft>
                      </a:pPr>
                      <a:r>
                        <a:rPr sz="1250" b="1" i="0">
                          <a:solidFill>
                            <a:srgbClr val="000000"/>
                          </a:solidFill>
                          <a:latin typeface="Calibri"/>
                        </a:rPr>
                        <a:t>Test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250" b="1" i="0">
                          <a:solidFill>
                            <a:srgbClr val="000000"/>
                          </a:solidFill>
                          <a:latin typeface="Calibri"/>
                        </a:rPr>
                        <a:t>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250" b="1" i="0">
                          <a:solidFill>
                            <a:srgbClr val="000000"/>
                          </a:solidFill>
                          <a:latin typeface="Calibri"/>
                        </a:rPr>
                        <a:t>What happened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r>
              <a:tr h="457200">
                <a:tc>
                  <a:txBody>
                    <a:bodyPr wrap="square"/>
                    <a:lstStyle/>
                    <a:p>
                      <a:pPr algn="l">
                        <a:spcAft>
                          <a:spcPts val="0"/>
                        </a:spcAft>
                      </a:pPr>
                      <a:r>
                        <a:rPr sz="1250" b="0" i="0">
                          <a:solidFill>
                            <a:srgbClr val="000000"/>
                          </a:solidFill>
                          <a:latin typeface="Calibri"/>
                        </a:rPr>
                        <a:t>Computer-made photos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37</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5 lights. 25 of 25 good photos right, 12 of 12 bad photos NOT SURE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10896">
                <a:tc>
                  <a:txBody>
                    <a:bodyPr wrap="square"/>
                    <a:lstStyle/>
                    <a:p>
                      <a:pPr algn="l">
                        <a:spcAft>
                          <a:spcPts val="0"/>
                        </a:spcAft>
                      </a:pPr>
                      <a:r>
                        <a:rPr sz="1250" b="0" i="0">
                          <a:solidFill>
                            <a:srgbClr val="000000"/>
                          </a:solidFill>
                          <a:latin typeface="Calibri"/>
                        </a:rPr>
                        <a:t>Real scans, 28 Sep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6</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5 right, 1 NOT SURE (card fit), 0 wrong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457200">
                <a:tc>
                  <a:txBody>
                    <a:bodyPr wrap="square"/>
                    <a:lstStyle/>
                    <a:p>
                      <a:pPr algn="l">
                        <a:spcAft>
                          <a:spcPts val="0"/>
                        </a:spcAft>
                      </a:pPr>
                      <a:r>
                        <a:rPr sz="1250" b="0" i="0">
                          <a:solidFill>
                            <a:srgbClr val="000000"/>
                          </a:solidFill>
                          <a:latin typeface="Calibri"/>
                        </a:rPr>
                        <a:t>Real scans, 29 Sep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19</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9 right, 7 of 7 trick cards NOT SURE, 3 blurry photos NOT SURE, 0 wrong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10896">
                <a:tc>
                  <a:txBody>
                    <a:bodyPr wrap="square"/>
                    <a:lstStyle/>
                    <a:p>
                      <a:pPr algn="l">
                        <a:spcAft>
                          <a:spcPts val="0"/>
                        </a:spcAft>
                      </a:pPr>
                      <a:r>
                        <a:rPr sz="1250" b="1" i="0">
                          <a:solidFill>
                            <a:srgbClr val="000000"/>
                          </a:solidFill>
                          <a:latin typeface="Calibri"/>
                        </a:rPr>
                        <a:t>All real scans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1" i="0">
                          <a:solidFill>
                            <a:srgbClr val="000000"/>
                          </a:solidFill>
                          <a:latin typeface="Calibri"/>
                        </a:rPr>
                        <a:t>25</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1" i="0">
                          <a:solidFill>
                            <a:srgbClr val="000000"/>
                          </a:solidFill>
                          <a:latin typeface="Calibri"/>
                        </a:rPr>
                        <a:t>14 right, 11 NOT SURE, 0 wrong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457200">
                <a:tc>
                  <a:txBody>
                    <a:bodyPr wrap="square"/>
                    <a:lstStyle/>
                    <a:p>
                      <a:pPr algn="l">
                        <a:spcAft>
                          <a:spcPts val="0"/>
                        </a:spcAft>
                      </a:pPr>
                      <a:r>
                        <a:rPr sz="1250" b="0" i="0">
                          <a:solidFill>
                            <a:srgbClr val="000000"/>
                          </a:solidFill>
                          <a:latin typeface="Calibri"/>
                        </a:rPr>
                        <a:t>Speed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18</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250" b="0" i="0">
                          <a:solidFill>
                            <a:srgbClr val="000000"/>
                          </a:solidFill>
                          <a:latin typeface="Calibri"/>
                        </a:rPr>
                        <a:t>Server check 2.5 s typical, 5 s max</a:t>
                      </a:r>
                    </a:p>
                    <a:p>
                      <a:pPr algn="l">
                        <a:spcAft>
                          <a:spcPts val="0"/>
                        </a:spcAft>
                      </a:pPr>
                      <a:r>
                        <a:rPr sz="1250" b="0" i="0">
                          <a:solidFill>
                            <a:srgbClr val="000000"/>
                          </a:solidFill>
                          <a:latin typeface="Calibri"/>
                        </a:rPr>
                        <a:t>Whole test about 16 s (1 team member)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bl>
          </a:graphicData>
        </a:graphic>
      </p:graphicFrame>
      <p:sp>
        <p:nvSpPr>
          <p:cNvPr id="65" name="TextBox 64"/>
          <p:cNvSpPr txBox="1"/>
          <p:nvPr/>
        </p:nvSpPr>
        <p:spPr>
          <a:xfrm>
            <a:off x="9281160" y="8229600"/>
            <a:ext cx="5897880" cy="914400"/>
          </a:xfrm>
          <a:prstGeom prst="rect">
            <a:avLst/>
          </a:prstGeom>
          <a:noFill/>
        </p:spPr>
        <p:txBody>
          <a:bodyPr wrap="square" anchor="t" lIns="27432" rIns="27432" tIns="18288" bIns="18288">
            <a:noAutofit/>
          </a:bodyPr>
          <a:lstStyle/>
          <a:p>
            <a:pPr algn="l">
              <a:spcAft>
                <a:spcPts val="400"/>
              </a:spcAft>
            </a:pPr>
            <a:r>
              <a:rPr sz="1250" b="0" i="1">
                <a:solidFill>
                  <a:srgbClr val="555555"/>
                </a:solidFill>
                <a:latin typeface="Calibri"/>
              </a:rPr>
              <a:t>Kit colours are printed swatches shown on a screen, 1 phone, 1 room, our team only. 0 wrong in 14 real answers is a small test, not proof. Real kits need an FSL trial (lab prototype, TRL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51206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411480" y="6172200"/>
            <a:ext cx="3474720" cy="1947672"/>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5193792"/>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882127"/>
            <a:ext cx="1468708" cy="1280160"/>
          </a:xfrm>
          <a:prstGeom prst="rect">
            <a:avLst/>
          </a:prstGeom>
        </p:spPr>
        <p:txBody>
          <a:bodyPr lIns="0" tIns="0" rIns="0" bIns="0" rtlCol="0" anchor="ctr">
            <a:spAutoFit/>
          </a:bodyPr>
          <a:lstStyle/>
          <a:p>
            <a:pPr algn="ctr">
              <a:lnSpc>
                <a:spcPts val="1800"/>
              </a:lnSpc>
              <a:spcBef>
                <a:spcPct val="0"/>
              </a:spcBef>
            </a:pPr>
            <a:r>
              <a:rPr lang="en-US" sz="1400" spc="-16">
                <a:solidFill>
                  <a:srgbClr val="000000"/>
                </a:solidFill>
                <a:latin typeface="Calibri"/>
                <a:ea typeface="Calibri"/>
                <a:cs typeface="Calibri"/>
                <a:sym typeface="Calibri"/>
              </a:rPr>
              <a:t>Own phone, ₹10 card per officer, open-source software</a:t>
            </a:r>
          </a:p>
        </p:txBody>
      </p:sp>
      <p:sp>
        <p:nvSpPr>
          <p:cNvPr id="46" name="TextBox 46"/>
          <p:cNvSpPr txBox="1"/>
          <p:nvPr/>
        </p:nvSpPr>
        <p:spPr>
          <a:xfrm>
            <a:off x="10943196" y="7882127"/>
            <a:ext cx="1468708" cy="1280160"/>
          </a:xfrm>
          <a:prstGeom prst="rect">
            <a:avLst/>
          </a:prstGeom>
        </p:spPr>
        <p:txBody>
          <a:bodyPr lIns="0" tIns="0" rIns="0" bIns="0" rtlCol="0" anchor="ctr">
            <a:spAutoFit/>
          </a:bodyPr>
          <a:lstStyle/>
          <a:p>
            <a:pPr algn="ctr">
              <a:lnSpc>
                <a:spcPts val="1800"/>
              </a:lnSpc>
              <a:spcBef>
                <a:spcPct val="0"/>
              </a:spcBef>
            </a:pPr>
            <a:r>
              <a:rPr lang="en-US" sz="1400" spc="-16">
                <a:solidFill>
                  <a:srgbClr val="000000"/>
                </a:solidFill>
                <a:latin typeface="Calibri"/>
                <a:ea typeface="Calibri"/>
                <a:cs typeface="Calibri"/>
                <a:sym typeface="Calibri"/>
              </a:rPr>
              <a:t>NIC cloud or state data centre in India (to confirm)</a:t>
            </a:r>
          </a:p>
        </p:txBody>
      </p:sp>
      <p:sp>
        <p:nvSpPr>
          <p:cNvPr id="47" name="TextBox 47"/>
          <p:cNvSpPr txBox="1"/>
          <p:nvPr/>
        </p:nvSpPr>
        <p:spPr>
          <a:xfrm>
            <a:off x="12705981" y="7882127"/>
            <a:ext cx="1468708" cy="1280160"/>
          </a:xfrm>
          <a:prstGeom prst="rect">
            <a:avLst/>
          </a:prstGeom>
        </p:spPr>
        <p:txBody>
          <a:bodyPr lIns="0" tIns="0" rIns="0" bIns="0" rtlCol="0" anchor="ctr">
            <a:spAutoFit/>
          </a:bodyPr>
          <a:lstStyle/>
          <a:p>
            <a:pPr algn="ctr">
              <a:lnSpc>
                <a:spcPts val="1800"/>
              </a:lnSpc>
              <a:spcBef>
                <a:spcPct val="0"/>
              </a:spcBef>
            </a:pPr>
            <a:r>
              <a:rPr lang="en-US" sz="1400" spc="-16">
                <a:solidFill>
                  <a:srgbClr val="000000"/>
                </a:solidFill>
                <a:latin typeface="Calibri"/>
                <a:ea typeface="Calibri"/>
                <a:cs typeface="Calibri"/>
                <a:sym typeface="Calibri"/>
              </a:rPr>
              <a:t>Security update every 3 months. FSL updates kit colours</a:t>
            </a:r>
          </a:p>
        </p:txBody>
      </p:sp>
      <p:sp>
        <p:nvSpPr>
          <p:cNvPr id="48" name="TextBox 48"/>
          <p:cNvSpPr txBox="1"/>
          <p:nvPr/>
        </p:nvSpPr>
        <p:spPr>
          <a:xfrm>
            <a:off x="14519871" y="7882127"/>
            <a:ext cx="1468708" cy="1280160"/>
          </a:xfrm>
          <a:prstGeom prst="rect">
            <a:avLst/>
          </a:prstGeom>
        </p:spPr>
        <p:txBody>
          <a:bodyPr lIns="0" tIns="0" rIns="0" bIns="0" rtlCol="0" anchor="ctr">
            <a:spAutoFit/>
          </a:bodyPr>
          <a:lstStyle/>
          <a:p>
            <a:pPr algn="ctr">
              <a:lnSpc>
                <a:spcPts val="1800"/>
              </a:lnSpc>
              <a:spcBef>
                <a:spcPct val="0"/>
              </a:spcBef>
            </a:pPr>
            <a:r>
              <a:rPr lang="en-US" sz="1400" spc="-16">
                <a:solidFill>
                  <a:srgbClr val="000000"/>
                </a:solidFill>
                <a:latin typeface="Calibri"/>
                <a:ea typeface="Calibri"/>
                <a:cs typeface="Calibri"/>
                <a:sym typeface="Calibri"/>
              </a:rPr>
              <a:t>Pilot first, then district, state and national</a:t>
            </a:r>
          </a:p>
        </p:txBody>
      </p:sp>
      <p:sp>
        <p:nvSpPr>
          <p:cNvPr id="49" name="TextBox 49"/>
          <p:cNvSpPr txBox="1"/>
          <p:nvPr/>
        </p:nvSpPr>
        <p:spPr>
          <a:xfrm>
            <a:off x="16329303" y="7882127"/>
            <a:ext cx="1468708" cy="1280160"/>
          </a:xfrm>
          <a:prstGeom prst="rect">
            <a:avLst/>
          </a:prstGeom>
        </p:spPr>
        <p:txBody>
          <a:bodyPr lIns="0" tIns="0" rIns="0" bIns="0" rtlCol="0" anchor="ctr">
            <a:spAutoFit/>
          </a:bodyPr>
          <a:lstStyle/>
          <a:p>
            <a:pPr algn="ctr">
              <a:lnSpc>
                <a:spcPts val="1800"/>
              </a:lnSpc>
              <a:spcBef>
                <a:spcPct val="0"/>
              </a:spcBef>
            </a:pPr>
            <a:r>
              <a:rPr lang="en-US" sz="1400" spc="-16">
                <a:solidFill>
                  <a:srgbClr val="000000"/>
                </a:solidFill>
                <a:latin typeface="Calibri"/>
                <a:ea typeface="Calibri"/>
                <a:cs typeface="Calibri"/>
                <a:sym typeface="Calibri"/>
              </a:rPr>
              <a:t>New kits from the website after FSL calibration</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6" name="TextBox 55"/>
          <p:cNvSpPr txBox="1"/>
          <p:nvPr/>
        </p:nvSpPr>
        <p:spPr>
          <a:xfrm>
            <a:off x="12207240" y="6731026"/>
            <a:ext cx="5715000" cy="475488"/>
          </a:xfrm>
          <a:prstGeom prst="rect">
            <a:avLst/>
          </a:prstGeom>
          <a:noFill/>
        </p:spPr>
        <p:txBody>
          <a:bodyPr wrap="square" lIns="27432" tIns="9144" rIns="27432" bIns="9144">
            <a:noAutofit/>
          </a:bodyPr>
          <a:lstStyle/>
          <a:p>
            <a:r>
              <a:rPr sz="1200" b="1" dirty="0">
                <a:solidFill>
                  <a:srgbClr val="555555"/>
                </a:solidFill>
                <a:latin typeface="Calibri"/>
              </a:rPr>
              <a:t>After the pilot, the cost can come from the state police or NCB IT budget. Server about ₹36,000 a year (estimate).</a:t>
            </a:r>
          </a:p>
        </p:txBody>
      </p:sp>
      <p:sp>
        <p:nvSpPr>
          <p:cNvPr id="57" name="TextBox 56"/>
          <p:cNvSpPr txBox="1"/>
          <p:nvPr/>
        </p:nvSpPr>
        <p:spPr>
          <a:xfrm>
            <a:off x="3849624" y="1810512"/>
            <a:ext cx="4983480" cy="457200"/>
          </a:xfrm>
          <a:prstGeom prst="rect">
            <a:avLst/>
          </a:prstGeom>
          <a:noFill/>
        </p:spPr>
        <p:txBody>
          <a:bodyPr wrap="square" anchor="t" lIns="27432" rIns="27432" tIns="18288" bIns="18288">
            <a:noAutofit/>
          </a:bodyPr>
          <a:lstStyle/>
          <a:p>
            <a:pPr algn="l">
              <a:spcAft>
                <a:spcPts val="0"/>
              </a:spcAft>
            </a:pPr>
            <a:r>
              <a:rPr sz="1200" b="1" i="0">
                <a:solidFill>
                  <a:srgbClr val="555555"/>
                </a:solidFill>
                <a:latin typeface="Calibri"/>
              </a:rPr>
              <a:t>Legal:</a:t>
            </a:r>
            <a:r>
              <a:rPr sz="1200" b="0" i="0">
                <a:solidFill>
                  <a:srgbClr val="555555"/>
                </a:solidFill>
                <a:latin typeface="Calibri"/>
              </a:rPr>
              <a:t> first check only, the FSL lab confirms it.</a:t>
            </a:r>
          </a:p>
          <a:p>
            <a:pPr algn="l">
              <a:spcAft>
                <a:spcPts val="0"/>
              </a:spcAft>
            </a:pPr>
            <a:r>
              <a:rPr sz="1200" b="1" i="0">
                <a:solidFill>
                  <a:srgbClr val="555555"/>
                </a:solidFill>
                <a:latin typeface="Calibri"/>
              </a:rPr>
              <a:t>Privacy:</a:t>
            </a:r>
            <a:r>
              <a:rPr sz="1200" b="0" i="0">
                <a:solidFill>
                  <a:srgbClr val="555555"/>
                </a:solidFill>
                <a:latin typeface="Calibri"/>
              </a:rPr>
              <a:t> no face, fingerprint or suspect name, only a sample code.</a:t>
            </a:r>
          </a:p>
        </p:txBody>
      </p:sp>
      <p:sp>
        <p:nvSpPr>
          <p:cNvPr id="58" name="TextBox 57"/>
          <p:cNvSpPr txBox="1"/>
          <p:nvPr/>
        </p:nvSpPr>
        <p:spPr>
          <a:xfrm>
            <a:off x="475488" y="2286000"/>
            <a:ext cx="8366760" cy="2743200"/>
          </a:xfrm>
          <a:prstGeom prst="rect">
            <a:avLst/>
          </a:prstGeom>
          <a:noFill/>
        </p:spPr>
        <p:txBody>
          <a:bodyPr wrap="square" anchor="t" lIns="27432" rIns="27432" tIns="18288" bIns="18288">
            <a:noAutofit/>
          </a:bodyPr>
          <a:lstStyle/>
          <a:p>
            <a:pPr algn="l" marL="201168" indent="-201168">
              <a:spcAft>
                <a:spcPts val="400"/>
              </a:spcAft>
              <a:buFont typeface="Arial"/>
              <a:buChar char="•"/>
            </a:pPr>
            <a:r>
              <a:rPr sz="1550" b="1" i="0">
                <a:solidFill>
                  <a:srgbClr val="000000"/>
                </a:solidFill>
                <a:latin typeface="Calibri"/>
              </a:rPr>
              <a:t>Technical</a:t>
            </a:r>
            <a:r>
              <a:rPr sz="1550" b="0" i="0">
                <a:solidFill>
                  <a:srgbClr val="000000"/>
                </a:solidFill>
                <a:latin typeface="Calibri"/>
              </a:rPr>
              <a:t> - the full chain works today: phone app, server, database and dashboard (lab prototype, TRL 4).</a:t>
            </a:r>
          </a:p>
          <a:p>
            <a:pPr algn="l" marL="201168" indent="-201168">
              <a:spcAft>
                <a:spcPts val="400"/>
              </a:spcAft>
              <a:buFont typeface="Arial"/>
              <a:buChar char="•"/>
            </a:pPr>
            <a:r>
              <a:rPr sz="1550" b="1" i="0">
                <a:solidFill>
                  <a:srgbClr val="000000"/>
                </a:solidFill>
                <a:latin typeface="Calibri"/>
              </a:rPr>
              <a:t>User-friendly</a:t>
            </a:r>
            <a:r>
              <a:rPr sz="1550" b="0" i="0">
                <a:solidFill>
                  <a:srgbClr val="000000"/>
                </a:solidFill>
                <a:latin typeface="Calibri"/>
              </a:rPr>
              <a:t> - one photo, result in about 16 s. Tested by our team, not yet by officers.</a:t>
            </a:r>
          </a:p>
          <a:p>
            <a:pPr algn="l" marL="201168" indent="-201168">
              <a:spcAft>
                <a:spcPts val="400"/>
              </a:spcAft>
              <a:buFont typeface="Arial"/>
              <a:buChar char="•"/>
            </a:pPr>
            <a:r>
              <a:rPr sz="1550" b="1" i="0">
                <a:solidFill>
                  <a:srgbClr val="000000"/>
                </a:solidFill>
                <a:latin typeface="Calibri"/>
              </a:rPr>
              <a:t>Low cost</a:t>
            </a:r>
            <a:r>
              <a:rPr sz="1550" b="0" i="0">
                <a:solidFill>
                  <a:srgbClr val="000000"/>
                </a:solidFill>
                <a:latin typeface="Calibri"/>
              </a:rPr>
              <a:t> - officer's own Android phone, a ₹10 reusable card per officer and open-source software. Kits cost the same as today.</a:t>
            </a:r>
          </a:p>
          <a:p>
            <a:pPr algn="l" marL="201168" indent="-201168">
              <a:spcAft>
                <a:spcPts val="400"/>
              </a:spcAft>
              <a:buFont typeface="Arial"/>
              <a:buChar char="•"/>
            </a:pPr>
            <a:r>
              <a:rPr sz="1550" b="1" i="0">
                <a:solidFill>
                  <a:srgbClr val="000000"/>
                </a:solidFill>
                <a:latin typeface="Calibri"/>
              </a:rPr>
              <a:t>Scalable</a:t>
            </a:r>
            <a:r>
              <a:rPr sz="1550" b="0" i="0">
                <a:solidFill>
                  <a:srgbClr val="000000"/>
                </a:solidFill>
                <a:latin typeface="Calibri"/>
              </a:rPr>
              <a:t> - new kits are added from the admin website, after FSL calibrates their colours with real reagent.</a:t>
            </a:r>
          </a:p>
          <a:p>
            <a:pPr algn="l" marL="201168" indent="-201168">
              <a:spcAft>
                <a:spcPts val="400"/>
              </a:spcAft>
              <a:buFont typeface="Arial"/>
              <a:buChar char="•"/>
            </a:pPr>
            <a:r>
              <a:rPr sz="1550" b="1" i="0">
                <a:solidFill>
                  <a:srgbClr val="000000"/>
                </a:solidFill>
                <a:latin typeface="Calibri"/>
              </a:rPr>
              <a:t>Sustainable</a:t>
            </a:r>
            <a:r>
              <a:rPr sz="1550" b="0" i="0">
                <a:solidFill>
                  <a:srgbClr val="000000"/>
                </a:solidFill>
                <a:latin typeface="Calibri"/>
              </a:rPr>
              <a:t> - state police IT cell runs it, FSL keeps kit colours correct (proposed).</a:t>
            </a:r>
          </a:p>
        </p:txBody>
      </p:sp>
      <p:sp>
        <p:nvSpPr>
          <p:cNvPr id="59" name="TextBox 58"/>
          <p:cNvSpPr txBox="1"/>
          <p:nvPr/>
        </p:nvSpPr>
        <p:spPr>
          <a:xfrm>
            <a:off x="4023360" y="5669280"/>
            <a:ext cx="4754880" cy="457200"/>
          </a:xfrm>
          <a:prstGeom prst="rect">
            <a:avLst/>
          </a:prstGeom>
          <a:noFill/>
        </p:spPr>
        <p:txBody>
          <a:bodyPr wrap="square" anchor="t" lIns="27432" rIns="27432" tIns="18288" bIns="18288">
            <a:noAutofit/>
          </a:bodyPr>
          <a:lstStyle/>
          <a:p>
            <a:pPr algn="l">
              <a:spcAft>
                <a:spcPts val="0"/>
              </a:spcAft>
            </a:pPr>
            <a:r>
              <a:rPr sz="2100" b="1" i="0">
                <a:solidFill>
                  <a:srgbClr val="974826"/>
                </a:solidFill>
                <a:latin typeface="Calibri"/>
              </a:rPr>
              <a:t>Pilot Plan (proposed)</a:t>
            </a:r>
          </a:p>
        </p:txBody>
      </p:sp>
      <p:sp>
        <p:nvSpPr>
          <p:cNvPr id="60" name="TextBox 59"/>
          <p:cNvSpPr txBox="1"/>
          <p:nvPr/>
        </p:nvSpPr>
        <p:spPr>
          <a:xfrm>
            <a:off x="4023360" y="6080760"/>
            <a:ext cx="4846320" cy="3383280"/>
          </a:xfrm>
          <a:prstGeom prst="rect">
            <a:avLst/>
          </a:prstGeom>
          <a:noFill/>
        </p:spPr>
        <p:txBody>
          <a:bodyPr wrap="square" anchor="t" lIns="27432" rIns="27432" tIns="18288" bIns="18288">
            <a:noAutofit/>
          </a:bodyPr>
          <a:lstStyle/>
          <a:p>
            <a:pPr algn="l" marL="201168" indent="-201168">
              <a:spcAft>
                <a:spcPts val="400"/>
              </a:spcAft>
              <a:buFont typeface="Arial"/>
              <a:buChar char="•"/>
            </a:pPr>
            <a:r>
              <a:rPr sz="1400" b="1" i="0">
                <a:solidFill>
                  <a:srgbClr val="000000"/>
                </a:solidFill>
                <a:latin typeface="Calibri"/>
              </a:rPr>
              <a:t>Where</a:t>
            </a:r>
            <a:r>
              <a:rPr sz="1400" b="0" i="0">
                <a:solidFill>
                  <a:srgbClr val="000000"/>
                </a:solidFill>
                <a:latin typeface="Calibri"/>
              </a:rPr>
              <a:t> - 1 district in Tamil Nadu, 20 officers, 3 months, with the nearest FSL.</a:t>
            </a:r>
          </a:p>
          <a:p>
            <a:pPr algn="l" marL="201168" indent="-201168">
              <a:spcAft>
                <a:spcPts val="400"/>
              </a:spcAft>
              <a:buFont typeface="Arial"/>
              <a:buChar char="•"/>
            </a:pPr>
            <a:r>
              <a:rPr sz="1400" b="1" i="0">
                <a:solidFill>
                  <a:srgbClr val="000000"/>
                </a:solidFill>
                <a:latin typeface="Calibri"/>
              </a:rPr>
              <a:t>Check 2 things apart</a:t>
            </a:r>
            <a:r>
              <a:rPr sz="1400" b="0" i="0">
                <a:solidFill>
                  <a:srgbClr val="000000"/>
                </a:solidFill>
                <a:latin typeface="Calibri"/>
              </a:rPr>
              <a:t> - app vs an expert reading the same kit (target 95%+ same), and kit vs FSL lab (kit error, not app error).</a:t>
            </a:r>
          </a:p>
          <a:p>
            <a:pPr algn="l" marL="201168" indent="-201168">
              <a:spcAft>
                <a:spcPts val="400"/>
              </a:spcAft>
              <a:buFont typeface="Arial"/>
              <a:buChar char="•"/>
            </a:pPr>
            <a:r>
              <a:rPr sz="1400" b="1" i="0">
                <a:solidFill>
                  <a:srgbClr val="000000"/>
                </a:solidFill>
                <a:latin typeface="Calibri"/>
              </a:rPr>
              <a:t>Size</a:t>
            </a:r>
            <a:r>
              <a:rPr sz="1400" b="0" i="0">
                <a:solidFill>
                  <a:srgbClr val="000000"/>
                </a:solidFill>
                <a:latin typeface="Calibri"/>
              </a:rPr>
              <a:t> - 60+ tests per kit, so 0 wrong would show error under 5%.</a:t>
            </a:r>
          </a:p>
          <a:p>
            <a:pPr algn="l" marL="201168" indent="-201168">
              <a:spcAft>
                <a:spcPts val="400"/>
              </a:spcAft>
              <a:buFont typeface="Arial"/>
              <a:buChar char="•"/>
            </a:pPr>
            <a:r>
              <a:rPr sz="1400" b="1" i="0">
                <a:solidFill>
                  <a:srgbClr val="000000"/>
                </a:solidFill>
                <a:latin typeface="Calibri"/>
              </a:rPr>
              <a:t>Pass if</a:t>
            </a:r>
            <a:r>
              <a:rPr sz="1400" b="0" i="0">
                <a:solidFill>
                  <a:srgbClr val="000000"/>
                </a:solidFill>
                <a:latin typeface="Calibri"/>
              </a:rPr>
              <a:t> - NOT SURE under 10% and every record passes the QR check.</a:t>
            </a:r>
          </a:p>
          <a:p>
            <a:pPr algn="l" marL="201168" indent="-201168">
              <a:spcAft>
                <a:spcPts val="400"/>
              </a:spcAft>
              <a:buFont typeface="Arial"/>
              <a:buChar char="•"/>
            </a:pPr>
            <a:r>
              <a:rPr sz="1400" b="1" i="0">
                <a:solidFill>
                  <a:srgbClr val="000000"/>
                </a:solidFill>
                <a:latin typeface="Calibri"/>
              </a:rPr>
              <a:t>Cost</a:t>
            </a:r>
            <a:r>
              <a:rPr sz="1400" b="0" i="0">
                <a:solidFill>
                  <a:srgbClr val="000000"/>
                </a:solidFill>
                <a:latin typeface="Calibri"/>
              </a:rPr>
              <a:t> - about ₹9,200 for cards and server only (estimate). Kits, phones, FSL time, training and audit are extra.</a:t>
            </a:r>
          </a:p>
        </p:txBody>
      </p:sp>
      <p:graphicFrame>
        <p:nvGraphicFramePr>
          <p:cNvPr id="61" name="Table 60"/>
          <p:cNvGraphicFramePr>
            <a:graphicFrameLocks noGrp="1"/>
          </p:cNvGraphicFramePr>
          <p:nvPr/>
        </p:nvGraphicFramePr>
        <p:xfrm>
          <a:off x="9235440" y="2240280"/>
          <a:ext cx="8595360" cy="4014216"/>
        </p:xfrm>
        <a:graphic>
          <a:graphicData uri="http://schemas.openxmlformats.org/drawingml/2006/table">
            <a:tbl>
              <a:tblPr firstRow="1" bandRow="0">
                <a:tableStyleId>{5C22544A-7EE6-4342-B048-85BDC9FD1C3A}</a:tableStyleId>
              </a:tblPr>
              <a:tblGrid>
                <a:gridCol w="2514600"/>
                <a:gridCol w="4937760"/>
                <a:gridCol w="1143000"/>
              </a:tblGrid>
              <a:tr h="411480">
                <a:tc>
                  <a:txBody>
                    <a:bodyPr wrap="square"/>
                    <a:lstStyle/>
                    <a:p>
                      <a:pPr algn="l">
                        <a:spcAft>
                          <a:spcPts val="0"/>
                        </a:spcAft>
                      </a:pPr>
                      <a:r>
                        <a:rPr sz="1500" b="1" i="0">
                          <a:solidFill>
                            <a:srgbClr val="000000"/>
                          </a:solidFill>
                          <a:latin typeface="Calibri"/>
                        </a:rPr>
                        <a:t>Real-world problem</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500" b="1" i="0">
                          <a:solidFill>
                            <a:srgbClr val="000000"/>
                          </a:solidFill>
                          <a:latin typeface="Calibri"/>
                        </a:rPr>
                        <a:t>What our app does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500" b="1" i="0">
                          <a:solidFill>
                            <a:srgbClr val="000000"/>
                          </a:solidFill>
                          <a:latin typeface="Calibri"/>
                        </a:rPr>
                        <a:t>Status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r>
              <a:tr h="384048">
                <a:tc>
                  <a:txBody>
                    <a:bodyPr wrap="square"/>
                    <a:lstStyle/>
                    <a:p>
                      <a:pPr algn="l">
                        <a:spcAft>
                          <a:spcPts val="0"/>
                        </a:spcAft>
                      </a:pPr>
                      <a:r>
                        <a:rPr sz="1300" b="0" i="0">
                          <a:solidFill>
                            <a:srgbClr val="000000"/>
                          </a:solidFill>
                          <a:latin typeface="Calibri"/>
                        </a:rPr>
                        <a:t>Bad light (street lamp, torch)</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24 known colours on the card correct the kit colour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2E7D32"/>
                          </a:solidFill>
                          <a:latin typeface="Calibri"/>
                        </a:rPr>
                        <a:t>Built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566928">
                <a:tc>
                  <a:txBody>
                    <a:bodyPr wrap="square"/>
                    <a:lstStyle/>
                    <a:p>
                      <a:pPr algn="l">
                        <a:spcAft>
                          <a:spcPts val="0"/>
                        </a:spcAft>
                      </a:pPr>
                      <a:r>
                        <a:rPr sz="1300" b="0" i="0">
                          <a:solidFill>
                            <a:srgbClr val="000000"/>
                          </a:solidFill>
                          <a:latin typeface="Calibri"/>
                        </a:rPr>
                        <a:t>Blurry or shiny photo, card missing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NOT SURE with the reason and a retake. Blur check on the phone too</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2E7D32"/>
                          </a:solidFill>
                          <a:latin typeface="Calibri"/>
                        </a:rPr>
                        <a:t>Built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566928">
                <a:tc>
                  <a:txBody>
                    <a:bodyPr wrap="square"/>
                    <a:lstStyle/>
                    <a:p>
                      <a:pPr algn="l">
                        <a:spcAft>
                          <a:spcPts val="0"/>
                        </a:spcAft>
                      </a:pPr>
                      <a:r>
                        <a:rPr sz="1300" b="0" i="0">
                          <a:solidFill>
                            <a:srgbClr val="000000"/>
                          </a:solidFill>
                          <a:latin typeface="Calibri"/>
                        </a:rPr>
                        <a:t>Colour in between two results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NOT SURE. Supervisor can only order a retest or confirm NOT SURE, sample goes to FSL</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2E7D32"/>
                          </a:solidFill>
                          <a:latin typeface="Calibri"/>
                        </a:rPr>
                        <a:t>Built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566928">
                <a:tc>
                  <a:txBody>
                    <a:bodyPr wrap="square"/>
                    <a:lstStyle/>
                    <a:p>
                      <a:pPr algn="l">
                        <a:spcAft>
                          <a:spcPts val="0"/>
                        </a:spcAft>
                      </a:pPr>
                      <a:r>
                        <a:rPr sz="1300" b="0" i="0">
                          <a:solidFill>
                            <a:srgbClr val="000000"/>
                          </a:solidFill>
                          <a:latin typeface="Calibri"/>
                        </a:rPr>
                        <a:t>Kit colour keeps changing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Each kit has a read time, the app timer takes the photo on time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2E7D32"/>
                          </a:solidFill>
                          <a:latin typeface="Calibri"/>
                        </a:rPr>
                        <a:t>Built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00" b="0" i="0">
                          <a:solidFill>
                            <a:srgbClr val="000000"/>
                          </a:solidFill>
                          <a:latin typeface="Calibri"/>
                        </a:rPr>
                        <a:t>Fake GPS app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Android mock-location flag is sealed in the record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8A5A00"/>
                          </a:solidFill>
                          <a:latin typeface="Calibri"/>
                        </a:rPr>
                        <a:t>Flag only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566928">
                <a:tc>
                  <a:txBody>
                    <a:bodyPr wrap="square"/>
                    <a:lstStyle/>
                    <a:p>
                      <a:pPr algn="l">
                        <a:spcAft>
                          <a:spcPts val="0"/>
                        </a:spcAft>
                      </a:pPr>
                      <a:r>
                        <a:rPr sz="1300" b="0" i="0">
                          <a:solidFill>
                            <a:srgbClr val="000000"/>
                          </a:solidFill>
                          <a:latin typeface="Calibri"/>
                        </a:rPr>
                        <a:t>Photo of a screen or a staged colour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Screen-photo check and Play Integrity phone check</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8A5A00"/>
                          </a:solidFill>
                          <a:latin typeface="Calibri"/>
                        </a:rPr>
                        <a:t>Planned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566928">
                <a:tc>
                  <a:txBody>
                    <a:bodyPr wrap="square"/>
                    <a:lstStyle/>
                    <a:p>
                      <a:pPr algn="l">
                        <a:spcAft>
                          <a:spcPts val="0"/>
                        </a:spcAft>
                      </a:pPr>
                      <a:r>
                        <a:rPr sz="1300" b="0" i="0">
                          <a:solidFill>
                            <a:srgbClr val="000000"/>
                          </a:solidFill>
                          <a:latin typeface="Calibri"/>
                        </a:rPr>
                        <a:t>Someone with the server key rewrites records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0" i="0">
                          <a:solidFill>
                            <a:srgbClr val="000000"/>
                          </a:solidFill>
                          <a:latin typeface="Calibri"/>
                        </a:rPr>
                        <a:t>Changes by others are caught. Next: key in a hardware box (HSM), chain copy kept outside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00" b="1" i="0">
                          <a:solidFill>
                            <a:srgbClr val="8A5A00"/>
                          </a:solidFill>
                          <a:latin typeface="Calibri"/>
                        </a:rPr>
                        <a:t>Planned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1981257"/>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4000" r="1500" b="430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537960" cy="2745720"/>
          </a:xfrm>
          <a:prstGeom prst="rect">
            <a:avLst/>
          </a:prstGeom>
        </p:spPr>
        <p:txBody>
          <a:bodyPr lIns="0" tIns="0" rIns="0" bIns="0" rtlCol="0" anchor="t">
            <a:spAutoFit/>
          </a:bodyPr>
          <a:lstStyle/>
          <a:p>
            <a:pPr marL="376968" lvl="1" indent="-188484" algn="l">
              <a:lnSpc>
                <a:spcPct val="105000"/>
              </a:lnSpc>
              <a:buFont typeface="Arial"/>
              <a:buChar char="•"/>
            </a:pPr>
            <a:r>
              <a:rPr lang="en-US" sz="1500" spc="-8">
                <a:solidFill>
                  <a:srgbClr val="000000"/>
                </a:solidFill>
                <a:latin typeface="Calibri"/>
                <a:ea typeface="Calibri"/>
                <a:cs typeface="Calibri"/>
                <a:sym typeface="Calibri"/>
              </a:rPr>
              <a:t>Month 1-2 - offline mode and phone security chip signing, built together.</a:t>
            </a:r>
          </a:p>
          <a:p>
            <a:pPr marL="376968" lvl="1" indent="-188484" algn="l">
              <a:lnSpc>
                <a:spcPct val="105000"/>
              </a:lnSpc>
              <a:buFont typeface="Arial"/>
              <a:buChar char="•"/>
            </a:pPr>
            <a:r>
              <a:rPr lang="en-US" sz="1500" spc="-8">
                <a:solidFill>
                  <a:srgbClr val="000000"/>
                </a:solidFill>
                <a:latin typeface="Calibri"/>
                <a:ea typeface="Calibri"/>
                <a:cs typeface="Calibri"/>
                <a:sym typeface="Calibri"/>
              </a:rPr>
              <a:t>Next - FSL trial with real kits, paper card on 3+ phones, officer testing.</a:t>
            </a:r>
          </a:p>
          <a:p>
            <a:pPr marL="376968" lvl="1" indent="-188484" algn="l">
              <a:lnSpc>
                <a:spcPct val="105000"/>
              </a:lnSpc>
              <a:buFont typeface="Arial"/>
              <a:buChar char="•"/>
            </a:pPr>
            <a:r>
              <a:rPr lang="en-US" sz="1500" spc="-8">
                <a:solidFill>
                  <a:srgbClr val="000000"/>
                </a:solidFill>
                <a:latin typeface="Calibri"/>
                <a:ea typeface="Calibri"/>
                <a:cs typeface="Calibri"/>
                <a:sym typeface="Calibri"/>
              </a:rPr>
              <a:t>Month 3 - screen-photo check, Play Integrity, Hindi and voice (Tamil done).</a:t>
            </a:r>
          </a:p>
          <a:p>
            <a:pPr marL="376968" lvl="1" indent="-188484" algn="l">
              <a:lnSpc>
                <a:spcPct val="105000"/>
              </a:lnSpc>
              <a:buFont typeface="Arial"/>
              <a:buChar char="•"/>
            </a:pPr>
            <a:r>
              <a:rPr lang="en-US" sz="1500" spc="-8">
                <a:solidFill>
                  <a:srgbClr val="000000"/>
                </a:solidFill>
                <a:latin typeface="Calibri"/>
                <a:ea typeface="Calibri"/>
                <a:cs typeface="Calibri"/>
                <a:sym typeface="Calibri"/>
              </a:rPr>
              <a:t>After pilot - apply to NIC or MHA for e-Sakshya and CCTNS (not contacted yet).</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Same reading in any light</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NOT SURE instead of a guess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Result in about 16 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Record made automatically</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Works in Tamil</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Time, place, officer and photo for every test</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Any change to a record is caught</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PDF with QR and BSA s.63 page</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Search, map and CSV export</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NOT SURE tests go to supervisor review</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Officer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850392" y="4480560"/>
            <a:ext cx="3566160" cy="342900"/>
          </a:xfrm>
          <a:prstGeom prst="rect">
            <a:avLst/>
          </a:prstGeom>
        </p:spPr>
        <p:txBody>
          <a:bodyPr lIns="0" tIns="0" rIns="0" bIns="0" rtlCol="0" anchor="t">
            <a:spAutoFit/>
          </a:bodyPr>
          <a:lstStyle/>
          <a:p>
            <a:pPr algn="l">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0"/>
          <a:stretch>
            <a:fillRect/>
          </a:stretch>
        </p:blipFill>
        <p:spPr>
          <a:xfrm>
            <a:off x="10649712" y="5115959"/>
            <a:ext cx="6735059" cy="2418498"/>
          </a:xfrm>
          <a:prstGeom prst="rect">
            <a:avLst/>
          </a:prstGeom>
        </p:spPr>
      </p:pic>
      <p:sp>
        <p:nvSpPr>
          <p:cNvPr id="35" name="TextBox 34"/>
          <p:cNvSpPr txBox="1"/>
          <p:nvPr/>
        </p:nvSpPr>
        <p:spPr>
          <a:xfrm>
            <a:off x="10649712" y="4331265"/>
            <a:ext cx="6735059" cy="402336"/>
          </a:xfrm>
          <a:prstGeom prst="rect">
            <a:avLst/>
          </a:prstGeom>
          <a:noFill/>
        </p:spPr>
        <p:txBody>
          <a:bodyPr wrap="square" lIns="27432" rIns="27432" tIns="0" bIns="0">
            <a:noAutofit/>
          </a:bodyPr>
          <a:lstStyle/>
          <a:p>
            <a:r>
              <a:rPr sz="1300" b="1">
                <a:solidFill>
                  <a:srgbClr val="792E00"/>
                </a:solidFill>
                <a:latin typeface="Calibri"/>
              </a:rPr>
              <a:t>Court Certificate: </a:t>
            </a:r>
            <a:r>
              <a:rPr sz="1300" b="0">
                <a:solidFill>
                  <a:srgbClr val="000000"/>
                </a:solidFill>
                <a:latin typeface="Calibri"/>
              </a:rPr>
              <a:t>every PDF report now has a filled BSA section 63 page (photo hash, phone, time, GPS) for the officer and expert to sign. </a:t>
            </a:r>
            <a:r>
              <a:rPr sz="1300" b="0" u="sng">
                <a:solidFill>
                  <a:srgbClr val="0563C1"/>
                </a:solidFill>
                <a:latin typeface="Calibri"/>
                <a:hlinkClick r:id="rId11"/>
              </a:rPr>
              <a:t>Open a full sample report (PDF, 2 pages)</a:t>
            </a:r>
          </a:p>
        </p:txBody>
      </p:sp>
      <p:sp>
        <p:nvSpPr>
          <p:cNvPr id="36" name="Sample report link area">
            <a:hlinkClick r:id="rId11"/>
          </p:cNvPr>
          <p:cNvSpPr/>
          <p:nvPr/>
        </p:nvSpPr>
        <p:spPr>
          <a:xfrm>
            <a:off x="10649712" y="4331265"/>
            <a:ext cx="6735059" cy="402336"/>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4840" y="4480560"/>
            <a:ext cx="5577840" cy="384048"/>
          </a:xfrm>
          <a:prstGeom prst="rect">
            <a:avLst/>
          </a:prstGeom>
          <a:noFill/>
        </p:spPr>
        <p:txBody>
          <a:bodyPr wrap="square" anchor="t" lIns="27432" rIns="27432" tIns="18288" bIns="18288">
            <a:noAutofit/>
          </a:bodyPr>
          <a:lstStyle/>
          <a:p>
            <a:pPr algn="l">
              <a:spcAft>
                <a:spcPts val="0"/>
              </a:spcAft>
            </a:pPr>
            <a:r>
              <a:rPr sz="1200" b="0" i="0">
                <a:solidFill>
                  <a:srgbClr val="555555"/>
                </a:solidFill>
                <a:latin typeface="Calibri"/>
              </a:rPr>
              <a:t>Judges can scan it on their own phone. For the demo the QR opens a public HTTPS check page (verify only, nothing else is open).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6281928"/>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566928">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14300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and reference colours can help handle this.</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ct val="105000"/>
                        </a:lnSpc>
                      </a:pPr>
                      <a:r>
                        <a:rPr lang="en-US" sz="12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14300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ct val="105000"/>
                        </a:lnSpc>
                      </a:pPr>
                      <a:r>
                        <a:rPr lang="en-US" sz="12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14300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ct val="105000"/>
                        </a:lnSpc>
                      </a:pPr>
                      <a:r>
                        <a:rPr lang="en-US" sz="12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14300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Reading the colour by eye is subjective, and phone image analysis can give an objective reading.</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ct val="105000"/>
                        </a:lnSpc>
                      </a:pPr>
                      <a:r>
                        <a:rPr lang="en-US" sz="12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14300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ct val="105000"/>
                        </a:lnSpc>
                      </a:pPr>
                      <a:r>
                        <a:rPr lang="en-US" sz="12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45720" marB="4572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487168"/>
            <a:ext cx="6400800" cy="11430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3630168"/>
            <a:ext cx="6400800" cy="11430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4773168"/>
            <a:ext cx="6400800" cy="11430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5916168"/>
            <a:ext cx="6400800" cy="11430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7059168"/>
            <a:ext cx="6400800" cy="11430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8339327"/>
            <a:ext cx="16916400" cy="365760"/>
          </a:xfrm>
          <a:prstGeom prst="rect">
            <a:avLst/>
          </a:prstGeom>
          <a:noFill/>
        </p:spPr>
        <p:txBody>
          <a:bodyPr wrap="square" anchor="t" lIns="27432" rIns="27432" tIns="18288" bIns="18288">
            <a:noAutofit/>
          </a:bodyPr>
          <a:lstStyle/>
          <a:p>
            <a:pPr algn="l">
              <a:spcAft>
                <a:spcPts val="0"/>
              </a:spcAft>
            </a:pPr>
            <a:r>
              <a:rPr sz="1400" b="1" i="0">
                <a:solidFill>
                  <a:srgbClr val="000000"/>
                </a:solidFill>
                <a:latin typeface="Calibri"/>
              </a:rPr>
              <a:t>What we add:</a:t>
            </a:r>
            <a:r>
              <a:rPr sz="1400" b="0" i="0">
                <a:solidFill>
                  <a:srgbClr val="000000"/>
                </a:solidFill>
                <a:latin typeface="Calibri"/>
              </a:rPr>
              <a:t> earlier work shows a phone can read test colours [1][3][4][5]. We add the NOT SURE rule, a signed record anyone can check with a QR, and a BSA section 63 page.</a:t>
            </a:r>
          </a:p>
        </p:txBody>
      </p:sp>
      <p:sp>
        <p:nvSpPr>
          <p:cNvPr id="32" name="TextBox 31"/>
          <p:cNvSpPr txBox="1"/>
          <p:nvPr/>
        </p:nvSpPr>
        <p:spPr>
          <a:xfrm>
            <a:off x="685800" y="8833104"/>
            <a:ext cx="16916400" cy="411480"/>
          </a:xfrm>
          <a:prstGeom prst="rect">
            <a:avLst/>
          </a:prstGeom>
          <a:noFill/>
        </p:spPr>
        <p:txBody>
          <a:bodyPr wrap="square" anchor="t" lIns="27432" rIns="27432" tIns="18288" bIns="18288">
            <a:noAutofit/>
          </a:bodyPr>
          <a:lstStyle/>
          <a:p>
            <a:pPr algn="ctr">
              <a:spcAft>
                <a:spcPts val="0"/>
              </a:spcAft>
            </a:pPr>
            <a:r>
              <a:rPr sz="2000" b="1" i="0">
                <a:solidFill>
                  <a:srgbClr val="7A2F00"/>
                </a:solidFill>
                <a:latin typeface="Calibri"/>
              </a:rPr>
              <a:t>Corrected colour. Honest NOT SURE. A record anyone can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TEST RESULTS IN DETAIL</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7</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26" name="TextBox 25"/>
          <p:cNvSpPr txBox="1"/>
          <p:nvPr/>
        </p:nvSpPr>
        <p:spPr>
          <a:xfrm>
            <a:off x="3657600" y="1261872"/>
            <a:ext cx="10424160" cy="329184"/>
          </a:xfrm>
          <a:prstGeom prst="rect">
            <a:avLst/>
          </a:prstGeom>
          <a:noFill/>
        </p:spPr>
        <p:txBody>
          <a:bodyPr wrap="square" anchor="t" lIns="27432" rIns="27432" tIns="18288" bIns="18288">
            <a:noAutofit/>
          </a:bodyPr>
          <a:lstStyle/>
          <a:p>
            <a:pPr algn="ctr">
              <a:spcAft>
                <a:spcPts val="0"/>
              </a:spcAft>
            </a:pPr>
            <a:r>
              <a:rPr sz="1400" b="0" i="1">
                <a:solidFill>
                  <a:srgbClr val="555555"/>
                </a:solidFill>
                <a:latin typeface="Calibri"/>
              </a:rPr>
              <a:t>Backup slide for judges’ questions</a:t>
            </a:r>
          </a:p>
        </p:txBody>
      </p:sp>
      <p:sp>
        <p:nvSpPr>
          <p:cNvPr id="27" name="TextBox 26"/>
          <p:cNvSpPr txBox="1"/>
          <p:nvPr/>
        </p:nvSpPr>
        <p:spPr>
          <a:xfrm>
            <a:off x="640080" y="1783080"/>
            <a:ext cx="8778240" cy="457200"/>
          </a:xfrm>
          <a:prstGeom prst="rect">
            <a:avLst/>
          </a:prstGeom>
          <a:noFill/>
        </p:spPr>
        <p:txBody>
          <a:bodyPr wrap="square" anchor="t" lIns="27432" rIns="27432" tIns="18288" bIns="18288">
            <a:noAutofit/>
          </a:bodyPr>
          <a:lstStyle/>
          <a:p>
            <a:pPr algn="l">
              <a:spcAft>
                <a:spcPts val="0"/>
              </a:spcAft>
            </a:pPr>
            <a:r>
              <a:rPr sz="2300" b="1" i="0">
                <a:solidFill>
                  <a:srgbClr val="974826"/>
                </a:solidFill>
                <a:latin typeface="Calibri"/>
              </a:rPr>
              <a:t>All Tests in One Table</a:t>
            </a:r>
          </a:p>
        </p:txBody>
      </p:sp>
      <p:graphicFrame>
        <p:nvGraphicFramePr>
          <p:cNvPr id="28" name="Table 27"/>
          <p:cNvGraphicFramePr>
            <a:graphicFrameLocks noGrp="1"/>
          </p:cNvGraphicFramePr>
          <p:nvPr/>
        </p:nvGraphicFramePr>
        <p:xfrm>
          <a:off x="640080" y="2240280"/>
          <a:ext cx="8823960" cy="3730752"/>
        </p:xfrm>
        <a:graphic>
          <a:graphicData uri="http://schemas.openxmlformats.org/drawingml/2006/table">
            <a:tbl>
              <a:tblPr firstRow="1" bandRow="0">
                <a:tableStyleId>{5C22544A-7EE6-4342-B048-85BDC9FD1C3A}</a:tableStyleId>
              </a:tblPr>
              <a:tblGrid>
                <a:gridCol w="2011680"/>
                <a:gridCol w="548640"/>
                <a:gridCol w="3429000"/>
                <a:gridCol w="2834640"/>
              </a:tblGrid>
              <a:tr h="384048">
                <a:tc>
                  <a:txBody>
                    <a:bodyPr wrap="square"/>
                    <a:lstStyle/>
                    <a:p>
                      <a:pPr algn="l">
                        <a:spcAft>
                          <a:spcPts val="0"/>
                        </a:spcAft>
                      </a:pPr>
                      <a:r>
                        <a:rPr sz="1350" b="1" i="0">
                          <a:solidFill>
                            <a:srgbClr val="000000"/>
                          </a:solidFill>
                          <a:latin typeface="Calibri"/>
                        </a:rPr>
                        <a:t>Test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50" b="1" i="0">
                          <a:solidFill>
                            <a:srgbClr val="000000"/>
                          </a:solidFill>
                          <a:latin typeface="Calibri"/>
                        </a:rPr>
                        <a:t>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50" b="1" i="0">
                          <a:solidFill>
                            <a:srgbClr val="000000"/>
                          </a:solidFill>
                          <a:latin typeface="Calibri"/>
                        </a:rPr>
                        <a:t>Setup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50" b="1" i="0">
                          <a:solidFill>
                            <a:srgbClr val="000000"/>
                          </a:solidFill>
                          <a:latin typeface="Calibri"/>
                        </a:rPr>
                        <a:t>Result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r>
              <a:tr h="603504">
                <a:tc>
                  <a:txBody>
                    <a:bodyPr wrap="square"/>
                    <a:lstStyle/>
                    <a:p>
                      <a:pPr algn="l">
                        <a:spcAft>
                          <a:spcPts val="0"/>
                        </a:spcAft>
                      </a:pPr>
                      <a:r>
                        <a:rPr sz="1350" b="0" i="0">
                          <a:solidFill>
                            <a:srgbClr val="000000"/>
                          </a:solidFill>
                          <a:latin typeface="Calibri"/>
                        </a:rPr>
                        <a:t>Computer-made photos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37</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5 lights: day, bulb, tube light, dim, street lamp. Rules were tuned on these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25/25 good right, 12/12 bad NOT SURE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50" b="0" i="0">
                          <a:solidFill>
                            <a:srgbClr val="000000"/>
                          </a:solidFill>
                          <a:latin typeface="Calibri"/>
                        </a:rPr>
                        <a:t>Real scans, 28 Sep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6</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Card shown on a phone or laptop screen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5 right, 1 NOT SURE, 0 wrong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Real scans, 29 Sep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19</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8 positive, 4 plain, 7 trick cards. 1 room, window light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9 right, 10 NOT SURE, 0 wrong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50" b="1" i="0">
                          <a:solidFill>
                            <a:srgbClr val="000000"/>
                          </a:solidFill>
                          <a:latin typeface="Calibri"/>
                        </a:rPr>
                        <a:t>All real scans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000000"/>
                          </a:solidFill>
                          <a:latin typeface="Calibri"/>
                        </a:rPr>
                        <a:t>25</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1 phone (Nothing A015), our team only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000000"/>
                          </a:solidFill>
                          <a:latin typeface="Calibri"/>
                        </a:rPr>
                        <a:t>14 right, 11 NOT SURE, 0 wrong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Stress test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171</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19 real photos x 9 computer-made changes (dark, yellow bulb, tilt, shake, grain)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70 right, 101 NOT SURE, 0 wrong. Sharp photos 69/72 right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50" b="0" i="0">
                          <a:solidFill>
                            <a:srgbClr val="000000"/>
                          </a:solidFill>
                          <a:latin typeface="Calibri"/>
                        </a:rPr>
                        <a:t>Tamper test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5</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Copies of saved records, 4 changes and 1 untouched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4/4 changes caught, original passed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384048">
                <a:tc>
                  <a:txBody>
                    <a:bodyPr wrap="square"/>
                    <a:lstStyle/>
                    <a:p>
                      <a:pPr algn="l">
                        <a:spcAft>
                          <a:spcPts val="0"/>
                        </a:spcAft>
                      </a:pPr>
                      <a:r>
                        <a:rPr sz="1350" b="0" i="0">
                          <a:solidFill>
                            <a:srgbClr val="000000"/>
                          </a:solidFill>
                          <a:latin typeface="Calibri"/>
                        </a:rPr>
                        <a:t>Speed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18</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Server, 6 real photos x 3 runs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2.5 s typical, 5 s max</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bl>
          </a:graphicData>
        </a:graphic>
      </p:graphicFrame>
      <p:sp>
        <p:nvSpPr>
          <p:cNvPr id="29" name="Rounded Rectangle 28"/>
          <p:cNvSpPr/>
          <p:nvPr/>
        </p:nvSpPr>
        <p:spPr>
          <a:xfrm>
            <a:off x="640080" y="6537960"/>
            <a:ext cx="4251960" cy="2834640"/>
          </a:xfrm>
          <a:prstGeom prst="roundRect">
            <a:avLst>
              <a:gd name="adj" fmla="val 6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629400"/>
            <a:ext cx="4023360" cy="2697480"/>
          </a:xfrm>
          <a:prstGeom prst="rect">
            <a:avLst/>
          </a:prstGeom>
          <a:noFill/>
        </p:spPr>
        <p:txBody>
          <a:bodyPr wrap="square" anchor="t" lIns="27432" rIns="27432" tIns="18288" bIns="18288">
            <a:noAutofit/>
          </a:bodyPr>
          <a:lstStyle/>
          <a:p>
            <a:pPr algn="l">
              <a:spcAft>
                <a:spcPts val="400"/>
              </a:spcAft>
            </a:pPr>
            <a:r>
              <a:rPr sz="1500" b="1" i="0">
                <a:solidFill>
                  <a:srgbClr val="7A2F00"/>
                </a:solidFill>
                <a:latin typeface="Calibri"/>
              </a:rPr>
              <a:t>What 0 wrong means</a:t>
            </a:r>
          </a:p>
          <a:p>
            <a:pPr algn="l">
              <a:spcAft>
                <a:spcPts val="400"/>
              </a:spcAft>
            </a:pPr>
            <a:r>
              <a:rPr sz="1450" b="0" i="0">
                <a:solidFill>
                  <a:srgbClr val="000000"/>
                </a:solidFill>
                <a:latin typeface="Calibri"/>
              </a:rPr>
              <a:t>0 wrong in 14 real answers is a small test. By the rule of three the true error rate could still be up to about 21%.</a:t>
            </a:r>
          </a:p>
          <a:p>
            <a:pPr algn="l">
              <a:spcAft>
                <a:spcPts val="400"/>
              </a:spcAft>
            </a:pPr>
            <a:r>
              <a:rPr sz="1450" b="0" i="0">
                <a:solidFill>
                  <a:srgbClr val="000000"/>
                </a:solidFill>
                <a:latin typeface="Calibri"/>
              </a:rPr>
              <a:t>To show under 5% we need 60+ tests with 0 wrong, so the pilot asks for 60+ tests per kit.</a:t>
            </a:r>
          </a:p>
          <a:p>
            <a:pPr algn="l">
              <a:spcAft>
                <a:spcPts val="400"/>
              </a:spcAft>
            </a:pPr>
            <a:r>
              <a:rPr sz="1450" b="0" i="0">
                <a:solidFill>
                  <a:srgbClr val="000000"/>
                </a:solidFill>
                <a:latin typeface="Calibri"/>
              </a:rPr>
              <a:t>Photo 7 on 28 Sep was rejected when the card fit limit was lower. We quote that live result, not a re-run.</a:t>
            </a:r>
          </a:p>
        </p:txBody>
      </p:sp>
      <p:sp>
        <p:nvSpPr>
          <p:cNvPr id="31" name="Rounded Rectangle 30"/>
          <p:cNvSpPr/>
          <p:nvPr/>
        </p:nvSpPr>
        <p:spPr>
          <a:xfrm>
            <a:off x="5120640" y="6537960"/>
            <a:ext cx="4297680" cy="2834640"/>
          </a:xfrm>
          <a:prstGeom prst="roundRect">
            <a:avLst>
              <a:gd name="adj" fmla="val 6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7800" y="6629400"/>
            <a:ext cx="4069080" cy="2697480"/>
          </a:xfrm>
          <a:prstGeom prst="rect">
            <a:avLst/>
          </a:prstGeom>
          <a:noFill/>
        </p:spPr>
        <p:txBody>
          <a:bodyPr wrap="square" anchor="t" lIns="27432" rIns="27432" tIns="18288" bIns="18288">
            <a:noAutofit/>
          </a:bodyPr>
          <a:lstStyle/>
          <a:p>
            <a:pPr algn="l">
              <a:spcAft>
                <a:spcPts val="300"/>
              </a:spcAft>
            </a:pPr>
            <a:r>
              <a:rPr sz="1500" b="1" i="0">
                <a:solidFill>
                  <a:srgbClr val="7A2F00"/>
                </a:solidFill>
                <a:latin typeface="Calibri"/>
              </a:rPr>
              <a:t>What we do not claim</a:t>
            </a:r>
          </a:p>
          <a:p>
            <a:pPr algn="l" marL="201168" indent="-201168">
              <a:spcAft>
                <a:spcPts val="300"/>
              </a:spcAft>
              <a:buFont typeface="Arial"/>
              <a:buChar char="•"/>
            </a:pPr>
            <a:r>
              <a:rPr sz="1500" b="0" i="0">
                <a:solidFill>
                  <a:srgbClr val="000000"/>
                </a:solidFill>
                <a:latin typeface="Calibri"/>
              </a:rPr>
              <a:t>Accuracy on real reagents (not tested yet)</a:t>
            </a:r>
          </a:p>
          <a:p>
            <a:pPr algn="l" marL="201168" indent="-201168">
              <a:spcAft>
                <a:spcPts val="300"/>
              </a:spcAft>
              <a:buFont typeface="Arial"/>
              <a:buChar char="•"/>
            </a:pPr>
            <a:r>
              <a:rPr sz="1500" b="0" i="0">
                <a:solidFill>
                  <a:srgbClr val="000000"/>
                </a:solidFill>
                <a:latin typeface="Calibri"/>
              </a:rPr>
              <a:t>Which drug it is (the FSL lab confirms)</a:t>
            </a:r>
          </a:p>
          <a:p>
            <a:pPr algn="l" marL="201168" indent="-201168">
              <a:spcAft>
                <a:spcPts val="300"/>
              </a:spcAft>
              <a:buFont typeface="Arial"/>
              <a:buChar char="•"/>
            </a:pPr>
            <a:r>
              <a:rPr sz="1500" b="0" i="0">
                <a:solidFill>
                  <a:srgbClr val="000000"/>
                </a:solidFill>
                <a:latin typeface="Calibri"/>
              </a:rPr>
              <a:t>Court approval. It supports the BSA s.63 certificate, the officer and expert still sign</a:t>
            </a:r>
          </a:p>
          <a:p>
            <a:pPr algn="l" marL="201168" indent="-201168">
              <a:spcAft>
                <a:spcPts val="300"/>
              </a:spcAft>
              <a:buFont typeface="Arial"/>
              <a:buChar char="•"/>
            </a:pPr>
            <a:r>
              <a:rPr sz="1500" b="0" i="0">
                <a:solidFill>
                  <a:srgbClr val="000000"/>
                </a:solidFill>
                <a:latin typeface="Calibri"/>
              </a:rPr>
              <a:t>Results on other phones or with officers (next step)</a:t>
            </a:r>
          </a:p>
        </p:txBody>
      </p:sp>
      <p:sp>
        <p:nvSpPr>
          <p:cNvPr id="33" name="TextBox 32"/>
          <p:cNvSpPr txBox="1"/>
          <p:nvPr/>
        </p:nvSpPr>
        <p:spPr>
          <a:xfrm>
            <a:off x="9966960" y="1783080"/>
            <a:ext cx="7680960" cy="457200"/>
          </a:xfrm>
          <a:prstGeom prst="rect">
            <a:avLst/>
          </a:prstGeom>
          <a:noFill/>
        </p:spPr>
        <p:txBody>
          <a:bodyPr wrap="square" anchor="t" lIns="27432" rIns="27432" tIns="18288" bIns="18288">
            <a:noAutofit/>
          </a:bodyPr>
          <a:lstStyle/>
          <a:p>
            <a:pPr algn="l">
              <a:spcAft>
                <a:spcPts val="0"/>
              </a:spcAft>
            </a:pPr>
            <a:r>
              <a:rPr sz="2300" b="1" i="0">
                <a:solidFill>
                  <a:srgbClr val="974826"/>
                </a:solidFill>
                <a:latin typeface="Calibri"/>
              </a:rPr>
              <a:t>Colour Gap on Real Scans (ΔE 2000)</a:t>
            </a:r>
          </a:p>
        </p:txBody>
      </p:sp>
      <p:sp>
        <p:nvSpPr>
          <p:cNvPr id="34" name="TextBox 33"/>
          <p:cNvSpPr txBox="1"/>
          <p:nvPr/>
        </p:nvSpPr>
        <p:spPr>
          <a:xfrm>
            <a:off x="9464040" y="2587752"/>
            <a:ext cx="2103120" cy="365760"/>
          </a:xfrm>
          <a:prstGeom prst="rect">
            <a:avLst/>
          </a:prstGeom>
          <a:noFill/>
        </p:spPr>
        <p:txBody>
          <a:bodyPr wrap="square" anchor="ctr" lIns="27432" rIns="27432" tIns="18288" bIns="18288">
            <a:noAutofit/>
          </a:bodyPr>
          <a:lstStyle/>
          <a:p>
            <a:pPr algn="r">
              <a:spcAft>
                <a:spcPts val="0"/>
              </a:spcAft>
            </a:pPr>
            <a:r>
              <a:rPr sz="1300" b="0" i="0">
                <a:solidFill>
                  <a:srgbClr val="000000"/>
                </a:solidFill>
                <a:latin typeface="Calibri"/>
              </a:rPr>
              <a:t>Right kit colour</a:t>
            </a:r>
          </a:p>
        </p:txBody>
      </p:sp>
      <p:sp>
        <p:nvSpPr>
          <p:cNvPr id="35" name="Rectangle 34"/>
          <p:cNvSpPr/>
          <p:nvPr/>
        </p:nvSpPr>
        <p:spPr>
          <a:xfrm>
            <a:off x="12651455" y="2642616"/>
            <a:ext cx="437814"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91335" y="2587752"/>
            <a:ext cx="914400" cy="365760"/>
          </a:xfrm>
          <a:prstGeom prst="rect">
            <a:avLst/>
          </a:prstGeom>
          <a:noFill/>
        </p:spPr>
        <p:txBody>
          <a:bodyPr wrap="square" anchor="ctr" lIns="27432" rIns="27432" tIns="18288" bIns="18288">
            <a:noAutofit/>
          </a:bodyPr>
          <a:lstStyle/>
          <a:p>
            <a:pPr algn="r">
              <a:spcAft>
                <a:spcPts val="0"/>
              </a:spcAft>
            </a:pPr>
            <a:r>
              <a:rPr sz="1200" b="1" i="0">
                <a:solidFill>
                  <a:srgbClr val="2E7D32"/>
                </a:solidFill>
                <a:latin typeface="Calibri"/>
              </a:rPr>
              <a:t>4.7 to 8.9</a:t>
            </a:r>
          </a:p>
        </p:txBody>
      </p:sp>
      <p:sp>
        <p:nvSpPr>
          <p:cNvPr id="37" name="TextBox 36"/>
          <p:cNvSpPr txBox="1"/>
          <p:nvPr/>
        </p:nvSpPr>
        <p:spPr>
          <a:xfrm>
            <a:off x="9464040" y="3090672"/>
            <a:ext cx="2103120" cy="365760"/>
          </a:xfrm>
          <a:prstGeom prst="rect">
            <a:avLst/>
          </a:prstGeom>
          <a:noFill/>
        </p:spPr>
        <p:txBody>
          <a:bodyPr wrap="square" anchor="ctr" lIns="27432" rIns="27432" tIns="18288" bIns="18288">
            <a:noAutofit/>
          </a:bodyPr>
          <a:lstStyle/>
          <a:p>
            <a:pPr algn="r">
              <a:spcAft>
                <a:spcPts val="0"/>
              </a:spcAft>
            </a:pPr>
            <a:r>
              <a:rPr sz="1300" b="0" i="0">
                <a:solidFill>
                  <a:srgbClr val="000000"/>
                </a:solidFill>
                <a:latin typeface="Calibri"/>
              </a:rPr>
              <a:t>Trick cards</a:t>
            </a:r>
          </a:p>
        </p:txBody>
      </p:sp>
      <p:sp>
        <p:nvSpPr>
          <p:cNvPr id="38" name="Rectangle 37"/>
          <p:cNvSpPr/>
          <p:nvPr/>
        </p:nvSpPr>
        <p:spPr>
          <a:xfrm>
            <a:off x="13829385" y="3145536"/>
            <a:ext cx="1563623" cy="292608"/>
          </a:xfrm>
          <a:prstGeom prst="rect">
            <a:avLst/>
          </a:prstGeom>
          <a:solidFill>
            <a:srgbClr val="C7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466161" y="3090672"/>
            <a:ext cx="914400" cy="365760"/>
          </a:xfrm>
          <a:prstGeom prst="rect">
            <a:avLst/>
          </a:prstGeom>
          <a:noFill/>
        </p:spPr>
        <p:txBody>
          <a:bodyPr wrap="square" anchor="ctr" lIns="27432" rIns="27432" tIns="18288" bIns="18288">
            <a:noAutofit/>
          </a:bodyPr>
          <a:lstStyle/>
          <a:p>
            <a:pPr algn="l">
              <a:spcAft>
                <a:spcPts val="0"/>
              </a:spcAft>
            </a:pPr>
            <a:r>
              <a:rPr sz="1200" b="1" i="0">
                <a:solidFill>
                  <a:srgbClr val="C77C00"/>
                </a:solidFill>
                <a:latin typeface="Calibri"/>
              </a:rPr>
              <a:t>16 to 31</a:t>
            </a:r>
          </a:p>
        </p:txBody>
      </p:sp>
      <p:sp>
        <p:nvSpPr>
          <p:cNvPr id="40" name="TextBox 39"/>
          <p:cNvSpPr txBox="1"/>
          <p:nvPr/>
        </p:nvSpPr>
        <p:spPr>
          <a:xfrm>
            <a:off x="9464040" y="3593592"/>
            <a:ext cx="2103120" cy="365760"/>
          </a:xfrm>
          <a:prstGeom prst="rect">
            <a:avLst/>
          </a:prstGeom>
          <a:noFill/>
        </p:spPr>
        <p:txBody>
          <a:bodyPr wrap="square" anchor="ctr" lIns="27432" rIns="27432" tIns="18288" bIns="18288">
            <a:noAutofit/>
          </a:bodyPr>
          <a:lstStyle/>
          <a:p>
            <a:pPr algn="r">
              <a:spcAft>
                <a:spcPts val="0"/>
              </a:spcAft>
            </a:pPr>
            <a:r>
              <a:rPr sz="1300" b="0" i="0">
                <a:solidFill>
                  <a:srgbClr val="000000"/>
                </a:solidFill>
                <a:latin typeface="Calibri"/>
              </a:rPr>
              <a:t>Nearest wrong kit colour</a:t>
            </a:r>
          </a:p>
        </p:txBody>
      </p:sp>
      <p:sp>
        <p:nvSpPr>
          <p:cNvPr id="41" name="Rectangle 40"/>
          <p:cNvSpPr/>
          <p:nvPr/>
        </p:nvSpPr>
        <p:spPr>
          <a:xfrm>
            <a:off x="15705734" y="3648456"/>
            <a:ext cx="1459382" cy="29260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4745614" y="3593592"/>
            <a:ext cx="914400" cy="365760"/>
          </a:xfrm>
          <a:prstGeom prst="rect">
            <a:avLst/>
          </a:prstGeom>
          <a:noFill/>
        </p:spPr>
        <p:txBody>
          <a:bodyPr wrap="square" anchor="ctr" lIns="27432" rIns="27432" tIns="18288" bIns="18288">
            <a:noAutofit/>
          </a:bodyPr>
          <a:lstStyle/>
          <a:p>
            <a:pPr algn="r">
              <a:spcAft>
                <a:spcPts val="0"/>
              </a:spcAft>
            </a:pPr>
            <a:r>
              <a:rPr sz="1200" b="1" i="0">
                <a:solidFill>
                  <a:srgbClr val="C62828"/>
                </a:solidFill>
                <a:latin typeface="Calibri"/>
              </a:rPr>
              <a:t>34 to 48</a:t>
            </a:r>
          </a:p>
        </p:txBody>
      </p:sp>
      <p:cxnSp>
        <p:nvCxnSpPr>
          <p:cNvPr id="43" name="Connector 42"/>
          <p:cNvCxnSpPr/>
          <p:nvPr/>
        </p:nvCxnSpPr>
        <p:spPr>
          <a:xfrm>
            <a:off x="12161520" y="4160520"/>
            <a:ext cx="5212080" cy="0"/>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161520" y="4160520"/>
            <a:ext cx="0" cy="73152"/>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1887200" y="4233672"/>
            <a:ext cx="548640" cy="256032"/>
          </a:xfrm>
          <a:prstGeom prst="rect">
            <a:avLst/>
          </a:prstGeom>
          <a:noFill/>
        </p:spPr>
        <p:txBody>
          <a:bodyPr wrap="square" anchor="t" lIns="27432" rIns="27432" tIns="18288" bIns="18288">
            <a:noAutofit/>
          </a:bodyPr>
          <a:lstStyle/>
          <a:p>
            <a:pPr algn="ctr">
              <a:spcAft>
                <a:spcPts val="0"/>
              </a:spcAft>
            </a:pPr>
            <a:r>
              <a:rPr sz="1100" b="0" i="0">
                <a:solidFill>
                  <a:srgbClr val="555555"/>
                </a:solidFill>
                <a:latin typeface="Calibri"/>
              </a:rPr>
              <a:t>0</a:t>
            </a:r>
          </a:p>
        </p:txBody>
      </p:sp>
      <p:cxnSp>
        <p:nvCxnSpPr>
          <p:cNvPr id="46" name="Connector 45"/>
          <p:cNvCxnSpPr/>
          <p:nvPr/>
        </p:nvCxnSpPr>
        <p:spPr>
          <a:xfrm>
            <a:off x="13203936" y="4160520"/>
            <a:ext cx="0" cy="73152"/>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2929616" y="4233672"/>
            <a:ext cx="548640" cy="256032"/>
          </a:xfrm>
          <a:prstGeom prst="rect">
            <a:avLst/>
          </a:prstGeom>
          <a:noFill/>
        </p:spPr>
        <p:txBody>
          <a:bodyPr wrap="square" anchor="t" lIns="27432" rIns="27432" tIns="18288" bIns="18288">
            <a:noAutofit/>
          </a:bodyPr>
          <a:lstStyle/>
          <a:p>
            <a:pPr algn="ctr">
              <a:spcAft>
                <a:spcPts val="0"/>
              </a:spcAft>
            </a:pPr>
            <a:r>
              <a:rPr sz="1100" b="0" i="0">
                <a:solidFill>
                  <a:srgbClr val="555555"/>
                </a:solidFill>
                <a:latin typeface="Calibri"/>
              </a:rPr>
              <a:t>10</a:t>
            </a:r>
          </a:p>
        </p:txBody>
      </p:sp>
      <p:cxnSp>
        <p:nvCxnSpPr>
          <p:cNvPr id="48" name="Connector 47"/>
          <p:cNvCxnSpPr/>
          <p:nvPr/>
        </p:nvCxnSpPr>
        <p:spPr>
          <a:xfrm>
            <a:off x="14246352" y="4160520"/>
            <a:ext cx="0" cy="73152"/>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3972032" y="4233672"/>
            <a:ext cx="548640" cy="256032"/>
          </a:xfrm>
          <a:prstGeom prst="rect">
            <a:avLst/>
          </a:prstGeom>
          <a:noFill/>
        </p:spPr>
        <p:txBody>
          <a:bodyPr wrap="square" anchor="t" lIns="27432" rIns="27432" tIns="18288" bIns="18288">
            <a:noAutofit/>
          </a:bodyPr>
          <a:lstStyle/>
          <a:p>
            <a:pPr algn="ctr">
              <a:spcAft>
                <a:spcPts val="0"/>
              </a:spcAft>
            </a:pPr>
            <a:r>
              <a:rPr sz="1100" b="0" i="0">
                <a:solidFill>
                  <a:srgbClr val="555555"/>
                </a:solidFill>
                <a:latin typeface="Calibri"/>
              </a:rPr>
              <a:t>20</a:t>
            </a:r>
          </a:p>
        </p:txBody>
      </p:sp>
      <p:cxnSp>
        <p:nvCxnSpPr>
          <p:cNvPr id="50" name="Connector 49"/>
          <p:cNvCxnSpPr/>
          <p:nvPr/>
        </p:nvCxnSpPr>
        <p:spPr>
          <a:xfrm>
            <a:off x="15288767" y="4160520"/>
            <a:ext cx="0" cy="73152"/>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5014447" y="4233672"/>
            <a:ext cx="548640" cy="256032"/>
          </a:xfrm>
          <a:prstGeom prst="rect">
            <a:avLst/>
          </a:prstGeom>
          <a:noFill/>
        </p:spPr>
        <p:txBody>
          <a:bodyPr wrap="square" anchor="t" lIns="27432" rIns="27432" tIns="18288" bIns="18288">
            <a:noAutofit/>
          </a:bodyPr>
          <a:lstStyle/>
          <a:p>
            <a:pPr algn="ctr">
              <a:spcAft>
                <a:spcPts val="0"/>
              </a:spcAft>
            </a:pPr>
            <a:r>
              <a:rPr sz="1100" b="0" i="0">
                <a:solidFill>
                  <a:srgbClr val="555555"/>
                </a:solidFill>
                <a:latin typeface="Calibri"/>
              </a:rPr>
              <a:t>30</a:t>
            </a:r>
          </a:p>
        </p:txBody>
      </p:sp>
      <p:cxnSp>
        <p:nvCxnSpPr>
          <p:cNvPr id="52" name="Connector 51"/>
          <p:cNvCxnSpPr/>
          <p:nvPr/>
        </p:nvCxnSpPr>
        <p:spPr>
          <a:xfrm>
            <a:off x="16331184" y="4160520"/>
            <a:ext cx="0" cy="73152"/>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6056863" y="4233672"/>
            <a:ext cx="548640" cy="256032"/>
          </a:xfrm>
          <a:prstGeom prst="rect">
            <a:avLst/>
          </a:prstGeom>
          <a:noFill/>
        </p:spPr>
        <p:txBody>
          <a:bodyPr wrap="square" anchor="t" lIns="27432" rIns="27432" tIns="18288" bIns="18288">
            <a:noAutofit/>
          </a:bodyPr>
          <a:lstStyle/>
          <a:p>
            <a:pPr algn="ctr">
              <a:spcAft>
                <a:spcPts val="0"/>
              </a:spcAft>
            </a:pPr>
            <a:r>
              <a:rPr sz="1100" b="0" i="0">
                <a:solidFill>
                  <a:srgbClr val="555555"/>
                </a:solidFill>
                <a:latin typeface="Calibri"/>
              </a:rPr>
              <a:t>40</a:t>
            </a:r>
          </a:p>
        </p:txBody>
      </p:sp>
      <p:cxnSp>
        <p:nvCxnSpPr>
          <p:cNvPr id="54" name="Connector 53"/>
          <p:cNvCxnSpPr/>
          <p:nvPr/>
        </p:nvCxnSpPr>
        <p:spPr>
          <a:xfrm>
            <a:off x="17373600" y="4160520"/>
            <a:ext cx="0" cy="73152"/>
          </a:xfrm>
          <a:prstGeom prst="line">
            <a:avLst/>
          </a:prstGeom>
          <a:ln w="12700">
            <a:solidFill>
              <a:srgbClr val="55555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7099280" y="4233672"/>
            <a:ext cx="548640" cy="256032"/>
          </a:xfrm>
          <a:prstGeom prst="rect">
            <a:avLst/>
          </a:prstGeom>
          <a:noFill/>
        </p:spPr>
        <p:txBody>
          <a:bodyPr wrap="square" anchor="t" lIns="27432" rIns="27432" tIns="18288" bIns="18288">
            <a:noAutofit/>
          </a:bodyPr>
          <a:lstStyle/>
          <a:p>
            <a:pPr algn="ctr">
              <a:spcAft>
                <a:spcPts val="0"/>
              </a:spcAft>
            </a:pPr>
            <a:r>
              <a:rPr sz="1100" b="0" i="0">
                <a:solidFill>
                  <a:srgbClr val="555555"/>
                </a:solidFill>
                <a:latin typeface="Calibri"/>
              </a:rPr>
              <a:t>50</a:t>
            </a:r>
          </a:p>
        </p:txBody>
      </p:sp>
      <p:cxnSp>
        <p:nvCxnSpPr>
          <p:cNvPr id="56" name="Connector 55"/>
          <p:cNvCxnSpPr/>
          <p:nvPr/>
        </p:nvCxnSpPr>
        <p:spPr>
          <a:xfrm>
            <a:off x="13620902" y="2542032"/>
            <a:ext cx="0" cy="1618488"/>
          </a:xfrm>
          <a:prstGeom prst="line">
            <a:avLst/>
          </a:prstGeom>
          <a:ln w="22225">
            <a:solidFill>
              <a:srgbClr val="7A2F00"/>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3072262" y="2258568"/>
            <a:ext cx="1097280" cy="274320"/>
          </a:xfrm>
          <a:prstGeom prst="rect">
            <a:avLst/>
          </a:prstGeom>
          <a:noFill/>
        </p:spPr>
        <p:txBody>
          <a:bodyPr wrap="square" anchor="t" lIns="27432" rIns="27432" tIns="18288" bIns="18288">
            <a:noAutofit/>
          </a:bodyPr>
          <a:lstStyle/>
          <a:p>
            <a:pPr algn="ctr">
              <a:spcAft>
                <a:spcPts val="0"/>
              </a:spcAft>
            </a:pPr>
            <a:r>
              <a:rPr sz="1200" b="1" i="0">
                <a:solidFill>
                  <a:srgbClr val="7A2F00"/>
                </a:solidFill>
                <a:latin typeface="Calibri"/>
              </a:rPr>
              <a:t>limit 14</a:t>
            </a:r>
          </a:p>
        </p:txBody>
      </p:sp>
      <p:sp>
        <p:nvSpPr>
          <p:cNvPr id="58" name="TextBox 57"/>
          <p:cNvSpPr txBox="1"/>
          <p:nvPr/>
        </p:nvSpPr>
        <p:spPr>
          <a:xfrm>
            <a:off x="9966960" y="4553712"/>
            <a:ext cx="7680960" cy="1051560"/>
          </a:xfrm>
          <a:prstGeom prst="rect">
            <a:avLst/>
          </a:prstGeom>
          <a:noFill/>
        </p:spPr>
        <p:txBody>
          <a:bodyPr wrap="square" anchor="t" lIns="27432" rIns="27432" tIns="18288" bIns="18288">
            <a:noAutofit/>
          </a:bodyPr>
          <a:lstStyle/>
          <a:p>
            <a:pPr algn="l">
              <a:spcAft>
                <a:spcPts val="400"/>
              </a:spcAft>
            </a:pPr>
            <a:r>
              <a:rPr sz="1250" b="0" i="0">
                <a:solidFill>
                  <a:srgbClr val="000000"/>
                </a:solidFill>
                <a:latin typeface="Calibri"/>
              </a:rPr>
              <a:t>Right colours sat well under 14 and wrong kit colours far above it. The closest trick card was only about 2 points over the limit, so each real kit gets its own limit from FSL data.</a:t>
            </a:r>
          </a:p>
          <a:p>
            <a:pPr algn="l">
              <a:spcAft>
                <a:spcPts val="400"/>
              </a:spcAft>
            </a:pPr>
            <a:r>
              <a:rPr sz="1250" b="1" i="0">
                <a:solidFill>
                  <a:srgbClr val="000000"/>
                </a:solidFill>
                <a:latin typeface="Calibri"/>
              </a:rPr>
              <a:t>Card fit</a:t>
            </a:r>
            <a:r>
              <a:rPr sz="1250" b="0" i="0">
                <a:solidFill>
                  <a:srgbClr val="000000"/>
                </a:solidFill>
                <a:latin typeface="Calibri"/>
              </a:rPr>
              <a:t> (average error left on the 24 known colours after correction): 5.9 to 8.7 on real photos of a screen, limit 9. Under 1 on computer-made photos. Paper card test is next.</a:t>
            </a:r>
          </a:p>
        </p:txBody>
      </p:sp>
      <p:sp>
        <p:nvSpPr>
          <p:cNvPr id="59" name="TextBox 58"/>
          <p:cNvSpPr txBox="1"/>
          <p:nvPr/>
        </p:nvSpPr>
        <p:spPr>
          <a:xfrm>
            <a:off x="9966960" y="5715000"/>
            <a:ext cx="7680960" cy="457200"/>
          </a:xfrm>
          <a:prstGeom prst="rect">
            <a:avLst/>
          </a:prstGeom>
          <a:noFill/>
        </p:spPr>
        <p:txBody>
          <a:bodyPr wrap="square" anchor="t" lIns="27432" rIns="27432" tIns="18288" bIns="18288">
            <a:noAutofit/>
          </a:bodyPr>
          <a:lstStyle/>
          <a:p>
            <a:pPr algn="l">
              <a:spcAft>
                <a:spcPts val="0"/>
              </a:spcAft>
            </a:pPr>
            <a:r>
              <a:rPr sz="2100" b="1" i="0">
                <a:solidFill>
                  <a:srgbClr val="974826"/>
                </a:solidFill>
                <a:latin typeface="Calibri"/>
              </a:rPr>
              <a:t>Why the 29 Sep Scans Said NOT SURE</a:t>
            </a:r>
          </a:p>
        </p:txBody>
      </p:sp>
      <p:pic>
        <p:nvPicPr>
          <p:cNvPr id="60" name="Picture 59" descr="real_scans_tiles.png"/>
          <p:cNvPicPr>
            <a:picLocks noChangeAspect="1"/>
          </p:cNvPicPr>
          <p:nvPr/>
        </p:nvPicPr>
        <p:blipFill>
          <a:blip r:embed="rId10"/>
          <a:stretch>
            <a:fillRect/>
          </a:stretch>
        </p:blipFill>
        <p:spPr>
          <a:xfrm>
            <a:off x="9966960" y="6144768"/>
            <a:ext cx="5120640" cy="3173046"/>
          </a:xfrm>
          <a:prstGeom prst="rect">
            <a:avLst/>
          </a:prstGeom>
        </p:spPr>
      </p:pic>
      <p:sp>
        <p:nvSpPr>
          <p:cNvPr id="61" name="TextBox 60"/>
          <p:cNvSpPr txBox="1"/>
          <p:nvPr/>
        </p:nvSpPr>
        <p:spPr>
          <a:xfrm>
            <a:off x="15224759" y="6144768"/>
            <a:ext cx="2514600" cy="3291840"/>
          </a:xfrm>
          <a:prstGeom prst="rect">
            <a:avLst/>
          </a:prstGeom>
          <a:noFill/>
        </p:spPr>
        <p:txBody>
          <a:bodyPr wrap="square" anchor="t" lIns="27432" rIns="27432" tIns="18288" bIns="18288">
            <a:noAutofit/>
          </a:bodyPr>
          <a:lstStyle/>
          <a:p>
            <a:pPr algn="l" marL="201168" indent="-201168">
              <a:spcAft>
                <a:spcPts val="500"/>
              </a:spcAft>
              <a:buFont typeface="Arial"/>
              <a:buChar char="•"/>
            </a:pPr>
            <a:r>
              <a:rPr sz="1250" b="1" i="0">
                <a:solidFill>
                  <a:srgbClr val="000000"/>
                </a:solidFill>
                <a:latin typeface="Calibri"/>
              </a:rPr>
              <a:t>3 positive cards</a:t>
            </a:r>
            <a:r>
              <a:rPr sz="1250" b="0" i="0">
                <a:solidFill>
                  <a:srgbClr val="000000"/>
                </a:solidFill>
                <a:latin typeface="Calibri"/>
              </a:rPr>
              <a:t> - photo was blurry (records 13, 14, 20). The app asked for a retake.</a:t>
            </a:r>
          </a:p>
          <a:p>
            <a:pPr algn="l" marL="201168" indent="-201168">
              <a:spcAft>
                <a:spcPts val="500"/>
              </a:spcAft>
              <a:buFont typeface="Arial"/>
              <a:buChar char="•"/>
            </a:pPr>
            <a:r>
              <a:rPr sz="1250" b="1" i="0">
                <a:solidFill>
                  <a:srgbClr val="000000"/>
                </a:solidFill>
                <a:latin typeface="Calibri"/>
              </a:rPr>
              <a:t>7 trick cards</a:t>
            </a:r>
            <a:r>
              <a:rPr sz="1250" b="0" i="0">
                <a:solidFill>
                  <a:srgbClr val="000000"/>
                </a:solidFill>
                <a:latin typeface="Calibri"/>
              </a:rPr>
              <a:t> - 3 matched no kit colour, 4 were stopped earlier by photo checks (1 blurry, 2 card not found, 1 card fit).</a:t>
            </a:r>
          </a:p>
          <a:p>
            <a:pPr algn="l" marL="201168" indent="-201168">
              <a:spcAft>
                <a:spcPts val="500"/>
              </a:spcAft>
              <a:buFont typeface="Arial"/>
              <a:buChar char="•"/>
            </a:pPr>
            <a:r>
              <a:rPr sz="1250" b="0" i="0">
                <a:solidFill>
                  <a:srgbClr val="000000"/>
                </a:solidFill>
                <a:latin typeface="Calibri"/>
              </a:rPr>
              <a:t>Stress test: all 38 NOT SURE on real cards came from blurry photos.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SECURITY AND FSL TRIAL</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8</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26" name="TextBox 25"/>
          <p:cNvSpPr txBox="1"/>
          <p:nvPr/>
        </p:nvSpPr>
        <p:spPr>
          <a:xfrm>
            <a:off x="3657600" y="1261872"/>
            <a:ext cx="10424160" cy="329184"/>
          </a:xfrm>
          <a:prstGeom prst="rect">
            <a:avLst/>
          </a:prstGeom>
          <a:noFill/>
        </p:spPr>
        <p:txBody>
          <a:bodyPr wrap="square" anchor="t" lIns="27432" rIns="27432" tIns="18288" bIns="18288">
            <a:noAutofit/>
          </a:bodyPr>
          <a:lstStyle/>
          <a:p>
            <a:pPr algn="ctr">
              <a:spcAft>
                <a:spcPts val="0"/>
              </a:spcAft>
            </a:pPr>
            <a:r>
              <a:rPr sz="1400" b="0" i="1">
                <a:solidFill>
                  <a:srgbClr val="555555"/>
                </a:solidFill>
                <a:latin typeface="Calibri"/>
              </a:rPr>
              <a:t>Backup slide for judges’ questions</a:t>
            </a:r>
          </a:p>
        </p:txBody>
      </p:sp>
      <p:sp>
        <p:nvSpPr>
          <p:cNvPr id="27" name="TextBox 26"/>
          <p:cNvSpPr txBox="1"/>
          <p:nvPr/>
        </p:nvSpPr>
        <p:spPr>
          <a:xfrm>
            <a:off x="640080" y="1783080"/>
            <a:ext cx="9509760" cy="457200"/>
          </a:xfrm>
          <a:prstGeom prst="rect">
            <a:avLst/>
          </a:prstGeom>
          <a:noFill/>
        </p:spPr>
        <p:txBody>
          <a:bodyPr wrap="square" anchor="t" lIns="27432" rIns="27432" tIns="18288" bIns="18288">
            <a:noAutofit/>
          </a:bodyPr>
          <a:lstStyle/>
          <a:p>
            <a:pPr algn="l">
              <a:spcAft>
                <a:spcPts val="0"/>
              </a:spcAft>
            </a:pPr>
            <a:r>
              <a:rPr sz="2300" b="1" i="0">
                <a:solidFill>
                  <a:srgbClr val="974826"/>
                </a:solidFill>
                <a:latin typeface="Calibri"/>
              </a:rPr>
              <a:t>Threat Model (what is built, what is open)</a:t>
            </a:r>
          </a:p>
        </p:txBody>
      </p:sp>
      <p:graphicFrame>
        <p:nvGraphicFramePr>
          <p:cNvPr id="28" name="Table 27"/>
          <p:cNvGraphicFramePr>
            <a:graphicFrameLocks noGrp="1"/>
          </p:cNvGraphicFramePr>
          <p:nvPr/>
        </p:nvGraphicFramePr>
        <p:xfrm>
          <a:off x="640080" y="2240280"/>
          <a:ext cx="9418320" cy="5815584"/>
        </p:xfrm>
        <a:graphic>
          <a:graphicData uri="http://schemas.openxmlformats.org/drawingml/2006/table">
            <a:tbl>
              <a:tblPr firstRow="1" bandRow="0">
                <a:tableStyleId>{5C22544A-7EE6-4342-B048-85BDC9FD1C3A}</a:tableStyleId>
              </a:tblPr>
              <a:tblGrid>
                <a:gridCol w="2331720"/>
                <a:gridCol w="3017520"/>
                <a:gridCol w="2880360"/>
                <a:gridCol w="1188720"/>
              </a:tblGrid>
              <a:tr h="384048">
                <a:tc>
                  <a:txBody>
                    <a:bodyPr wrap="square"/>
                    <a:lstStyle/>
                    <a:p>
                      <a:pPr algn="l">
                        <a:spcAft>
                          <a:spcPts val="0"/>
                        </a:spcAft>
                      </a:pPr>
                      <a:r>
                        <a:rPr sz="1350" b="1" i="0">
                          <a:solidFill>
                            <a:srgbClr val="000000"/>
                          </a:solidFill>
                          <a:latin typeface="Calibri"/>
                        </a:rPr>
                        <a:t>Threat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50" b="1" i="0">
                          <a:solidFill>
                            <a:srgbClr val="000000"/>
                          </a:solidFill>
                          <a:latin typeface="Calibri"/>
                        </a:rPr>
                        <a:t>What stops it today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50" b="1" i="0">
                          <a:solidFill>
                            <a:srgbClr val="000000"/>
                          </a:solidFill>
                          <a:latin typeface="Calibri"/>
                        </a:rPr>
                        <a:t>Next step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c>
                  <a:txBody>
                    <a:bodyPr wrap="square"/>
                    <a:lstStyle/>
                    <a:p>
                      <a:pPr algn="l">
                        <a:spcAft>
                          <a:spcPts val="0"/>
                        </a:spcAft>
                      </a:pPr>
                      <a:r>
                        <a:rPr sz="1350" b="1" i="0">
                          <a:solidFill>
                            <a:srgbClr val="000000"/>
                          </a:solidFill>
                          <a:latin typeface="Calibri"/>
                        </a:rPr>
                        <a:t>Status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B2935B"/>
                    </a:solidFill>
                  </a:tcPr>
                </a:tc>
              </a:tr>
              <a:tr h="603504">
                <a:tc>
                  <a:txBody>
                    <a:bodyPr wrap="square"/>
                    <a:lstStyle/>
                    <a:p>
                      <a:pPr algn="l">
                        <a:spcAft>
                          <a:spcPts val="0"/>
                        </a:spcAft>
                      </a:pPr>
                      <a:r>
                        <a:rPr sz="1350" b="0" i="0">
                          <a:solidFill>
                            <a:srgbClr val="000000"/>
                          </a:solidFill>
                          <a:latin typeface="Calibri"/>
                        </a:rPr>
                        <a:t>Photo or record changed later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Photo SHA-256 on phone and server, signed record, chain, QR check</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Supervisor counter-seal, officer DSC</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2E7D32"/>
                          </a:solidFill>
                          <a:latin typeface="Calibri"/>
                        </a:rPr>
                        <a:t>Built, 4/4 caught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Photo of a screen or staged colour</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In-app camera only, no gallery upload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Screen-photo (moire) check, Play Integrity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C62828"/>
                          </a:solidFill>
                          <a:latin typeface="Calibri"/>
                        </a:rPr>
                        <a:t>Open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Fake GPS app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Android mock-location flag sealed in the record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Play Integrity device check</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8A5A00"/>
                          </a:solidFill>
                          <a:latin typeface="Calibri"/>
                        </a:rPr>
                        <a:t>Partly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Wrong phone clock</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Server takes internet time, phone time and the gap are also saved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Outside time-stamp (RFC 3161)</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2E7D32"/>
                          </a:solidFill>
                          <a:latin typeface="Calibri"/>
                        </a:rPr>
                        <a:t>Built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Insider with the server key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Key only on the server, public key is published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Key in a hardware box (HSM), chain head copied outside daily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C62828"/>
                          </a:solidFill>
                          <a:latin typeface="Calibri"/>
                        </a:rPr>
                        <a:t>Open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Server key file lost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Server makes a new key, old records then fail the check</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Stop and alert instead, keep a key backup</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8A5A00"/>
                          </a:solidFill>
                          <a:latin typeface="Calibri"/>
                        </a:rPr>
                        <a:t>Fix planned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Public QR page shows officer name and exact GPS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Page is verify only, nothing else is open</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Hide the name, round off GPS</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8A5A00"/>
                          </a:solidFill>
                          <a:latin typeface="Calibri"/>
                        </a:rPr>
                        <a:t>Fix planned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Test done with no network</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Not saved today</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Offline queue built together with phone chip signing</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8A5A00"/>
                          </a:solidFill>
                          <a:latin typeface="Calibri"/>
                        </a:rPr>
                        <a:t>Planned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r h="603504">
                <a:tc>
                  <a:txBody>
                    <a:bodyPr wrap="square"/>
                    <a:lstStyle/>
                    <a:p>
                      <a:pPr algn="l">
                        <a:spcAft>
                          <a:spcPts val="0"/>
                        </a:spcAft>
                      </a:pPr>
                      <a:r>
                        <a:rPr sz="1350" b="0" i="0">
                          <a:solidFill>
                            <a:srgbClr val="000000"/>
                          </a:solidFill>
                          <a:latin typeface="Calibri"/>
                        </a:rPr>
                        <a:t>One chain for a whole state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One chain today (prototype)</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0" i="0">
                          <a:solidFill>
                            <a:srgbClr val="000000"/>
                          </a:solidFill>
                          <a:latin typeface="Calibri"/>
                        </a:rPr>
                        <a:t>Chain per device or a daily batch root</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c>
                  <a:txBody>
                    <a:bodyPr wrap="square"/>
                    <a:lstStyle/>
                    <a:p>
                      <a:pPr algn="l">
                        <a:spcAft>
                          <a:spcPts val="0"/>
                        </a:spcAft>
                      </a:pPr>
                      <a:r>
                        <a:rPr sz="1350" b="1" i="0">
                          <a:solidFill>
                            <a:srgbClr val="8A5A00"/>
                          </a:solidFill>
                          <a:latin typeface="Calibri"/>
                        </a:rPr>
                        <a:t>Planned</a:t>
                      </a:r>
                    </a:p>
                  </a:txBody>
                  <a:tcPr marL="73152" marR="73152" marT="27432" marB="27432" anchor="ctr">
                    <a:lnL w="9525" cap="flat" cmpd="sng" algn="ctr">
                      <a:solidFill>
                        <a:srgbClr val="7A2F00"/>
                      </a:solidFill>
                      <a:prstDash val="solid"/>
                    </a:lnL>
                    <a:lnR w="9525" cap="flat" cmpd="sng" algn="ctr">
                      <a:solidFill>
                        <a:srgbClr val="7A2F00"/>
                      </a:solidFill>
                      <a:prstDash val="solid"/>
                    </a:lnR>
                    <a:lnT w="9525" cap="flat" cmpd="sng" algn="ctr">
                      <a:solidFill>
                        <a:srgbClr val="7A2F00"/>
                      </a:solidFill>
                      <a:prstDash val="solid"/>
                    </a:lnT>
                    <a:lnB w="9525" cap="flat" cmpd="sng" algn="ctr">
                      <a:solidFill>
                        <a:srgbClr val="7A2F00"/>
                      </a:solidFill>
                      <a:prstDash val="solid"/>
                    </a:lnB>
                    <a:solidFill>
                      <a:srgbClr val="FFFFFF"/>
                    </a:solidFill>
                  </a:tcPr>
                </a:tc>
              </a:tr>
            </a:tbl>
          </a:graphicData>
        </a:graphic>
      </p:graphicFrame>
      <p:sp>
        <p:nvSpPr>
          <p:cNvPr id="29" name="TextBox 28"/>
          <p:cNvSpPr txBox="1"/>
          <p:nvPr/>
        </p:nvSpPr>
        <p:spPr>
          <a:xfrm>
            <a:off x="10561320" y="1783080"/>
            <a:ext cx="7132320" cy="457200"/>
          </a:xfrm>
          <a:prstGeom prst="rect">
            <a:avLst/>
          </a:prstGeom>
          <a:noFill/>
        </p:spPr>
        <p:txBody>
          <a:bodyPr wrap="square" anchor="t" lIns="27432" rIns="27432" tIns="18288" bIns="18288">
            <a:noAutofit/>
          </a:bodyPr>
          <a:lstStyle/>
          <a:p>
            <a:pPr algn="l">
              <a:spcAft>
                <a:spcPts val="0"/>
              </a:spcAft>
            </a:pPr>
            <a:r>
              <a:rPr sz="2300" b="1" i="0">
                <a:solidFill>
                  <a:srgbClr val="974826"/>
                </a:solidFill>
                <a:latin typeface="Calibri"/>
              </a:rPr>
              <a:t>FSL Trial to Set Each Kit’s Limit</a:t>
            </a:r>
          </a:p>
        </p:txBody>
      </p:sp>
      <p:sp>
        <p:nvSpPr>
          <p:cNvPr id="30" name="Oval 29"/>
          <p:cNvSpPr/>
          <p:nvPr/>
        </p:nvSpPr>
        <p:spPr>
          <a:xfrm>
            <a:off x="10561320" y="2331720"/>
            <a:ext cx="502920" cy="502920"/>
          </a:xfrm>
          <a:prstGeom prst="ellipse">
            <a:avLst/>
          </a:prstGeom>
          <a:solidFill>
            <a:srgbClr val="7A2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600" b="1" i="0">
                <a:solidFill>
                  <a:srgbClr val="FFFFFF"/>
                </a:solidFill>
                <a:latin typeface="Calibri"/>
              </a:rPr>
              <a:t>1</a:t>
            </a:r>
          </a:p>
        </p:txBody>
      </p:sp>
      <p:sp>
        <p:nvSpPr>
          <p:cNvPr id="31" name="TextBox 30"/>
          <p:cNvSpPr txBox="1"/>
          <p:nvPr/>
        </p:nvSpPr>
        <p:spPr>
          <a:xfrm>
            <a:off x="11201400" y="2286000"/>
            <a:ext cx="6492240" cy="1005840"/>
          </a:xfrm>
          <a:prstGeom prst="rect">
            <a:avLst/>
          </a:prstGeom>
          <a:noFill/>
        </p:spPr>
        <p:txBody>
          <a:bodyPr wrap="square" anchor="t" lIns="27432" rIns="27432" tIns="18288" bIns="18288">
            <a:noAutofit/>
          </a:bodyPr>
          <a:lstStyle/>
          <a:p>
            <a:pPr algn="l">
              <a:spcAft>
                <a:spcPts val="100"/>
              </a:spcAft>
            </a:pPr>
            <a:r>
              <a:rPr sz="1500" b="1" i="0">
                <a:solidFill>
                  <a:srgbClr val="7A2F00"/>
                </a:solidFill>
                <a:latin typeface="Calibri"/>
              </a:rPr>
              <a:t>Real reagent</a:t>
            </a:r>
          </a:p>
          <a:p>
            <a:pPr algn="l">
              <a:spcAft>
                <a:spcPts val="0"/>
              </a:spcAft>
            </a:pPr>
            <a:r>
              <a:rPr sz="1400" b="0" i="0">
                <a:solidFill>
                  <a:srgbClr val="000000"/>
                </a:solidFill>
                <a:latin typeface="Calibri"/>
              </a:rPr>
              <a:t>FSL runs each kit on known samples, 3+ kit lots, photo at the kit’s read time and again later to see colour drift.</a:t>
            </a:r>
          </a:p>
        </p:txBody>
      </p:sp>
      <p:sp>
        <p:nvSpPr>
          <p:cNvPr id="32" name="Oval 31"/>
          <p:cNvSpPr/>
          <p:nvPr/>
        </p:nvSpPr>
        <p:spPr>
          <a:xfrm>
            <a:off x="10561320" y="3429000"/>
            <a:ext cx="502920" cy="502920"/>
          </a:xfrm>
          <a:prstGeom prst="ellipse">
            <a:avLst/>
          </a:prstGeom>
          <a:solidFill>
            <a:srgbClr val="7A2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600" b="1" i="0">
                <a:solidFill>
                  <a:srgbClr val="FFFFFF"/>
                </a:solidFill>
                <a:latin typeface="Calibri"/>
              </a:rPr>
              <a:t>2</a:t>
            </a:r>
          </a:p>
        </p:txBody>
      </p:sp>
      <p:sp>
        <p:nvSpPr>
          <p:cNvPr id="33" name="TextBox 32"/>
          <p:cNvSpPr txBox="1"/>
          <p:nvPr/>
        </p:nvSpPr>
        <p:spPr>
          <a:xfrm>
            <a:off x="11201400" y="3383280"/>
            <a:ext cx="6492240" cy="1005840"/>
          </a:xfrm>
          <a:prstGeom prst="rect">
            <a:avLst/>
          </a:prstGeom>
          <a:noFill/>
        </p:spPr>
        <p:txBody>
          <a:bodyPr wrap="square" anchor="t" lIns="27432" rIns="27432" tIns="18288" bIns="18288">
            <a:noAutofit/>
          </a:bodyPr>
          <a:lstStyle/>
          <a:p>
            <a:pPr algn="l">
              <a:spcAft>
                <a:spcPts val="100"/>
              </a:spcAft>
            </a:pPr>
            <a:r>
              <a:rPr sz="1500" b="1" i="0">
                <a:solidFill>
                  <a:srgbClr val="7A2F00"/>
                </a:solidFill>
                <a:latin typeface="Calibri"/>
              </a:rPr>
              <a:t>Phones and light</a:t>
            </a:r>
          </a:p>
          <a:p>
            <a:pPr algn="l">
              <a:spcAft>
                <a:spcPts val="0"/>
              </a:spcAft>
            </a:pPr>
            <a:r>
              <a:rPr sz="1400" b="0" i="0">
                <a:solidFill>
                  <a:srgbClr val="000000"/>
                </a:solidFill>
                <a:latin typeface="Calibri"/>
              </a:rPr>
              <a:t>Paper card, 3+ phones, daylight, yellow bulb, tube light and street lamp.</a:t>
            </a:r>
          </a:p>
        </p:txBody>
      </p:sp>
      <p:sp>
        <p:nvSpPr>
          <p:cNvPr id="34" name="Oval 33"/>
          <p:cNvSpPr/>
          <p:nvPr/>
        </p:nvSpPr>
        <p:spPr>
          <a:xfrm>
            <a:off x="10561320" y="4526280"/>
            <a:ext cx="502920" cy="502920"/>
          </a:xfrm>
          <a:prstGeom prst="ellipse">
            <a:avLst/>
          </a:prstGeom>
          <a:solidFill>
            <a:srgbClr val="7A2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600" b="1" i="0">
                <a:solidFill>
                  <a:srgbClr val="FFFFFF"/>
                </a:solidFill>
                <a:latin typeface="Calibri"/>
              </a:rPr>
              <a:t>3</a:t>
            </a:r>
          </a:p>
        </p:txBody>
      </p:sp>
      <p:sp>
        <p:nvSpPr>
          <p:cNvPr id="35" name="TextBox 34"/>
          <p:cNvSpPr txBox="1"/>
          <p:nvPr/>
        </p:nvSpPr>
        <p:spPr>
          <a:xfrm>
            <a:off x="11201400" y="4480560"/>
            <a:ext cx="6492240" cy="1005840"/>
          </a:xfrm>
          <a:prstGeom prst="rect">
            <a:avLst/>
          </a:prstGeom>
          <a:noFill/>
        </p:spPr>
        <p:txBody>
          <a:bodyPr wrap="square" anchor="t" lIns="27432" rIns="27432" tIns="18288" bIns="18288">
            <a:noAutofit/>
          </a:bodyPr>
          <a:lstStyle/>
          <a:p>
            <a:pPr algn="l">
              <a:spcAft>
                <a:spcPts val="100"/>
              </a:spcAft>
            </a:pPr>
            <a:r>
              <a:rPr sz="1500" b="1" i="0">
                <a:solidFill>
                  <a:srgbClr val="7A2F00"/>
                </a:solidFill>
                <a:latin typeface="Calibri"/>
              </a:rPr>
              <a:t>Measure</a:t>
            </a:r>
          </a:p>
          <a:p>
            <a:pPr algn="l">
              <a:spcAft>
                <a:spcPts val="0"/>
              </a:spcAft>
            </a:pPr>
            <a:r>
              <a:rPr sz="1400" b="0" i="0">
                <a:solidFill>
                  <a:srgbClr val="000000"/>
                </a:solidFill>
                <a:latin typeface="Calibri"/>
              </a:rPr>
              <a:t>Card fit on paper, spread of the right colour, distance to the nearest wrong colour.</a:t>
            </a:r>
          </a:p>
        </p:txBody>
      </p:sp>
      <p:sp>
        <p:nvSpPr>
          <p:cNvPr id="36" name="Oval 35"/>
          <p:cNvSpPr/>
          <p:nvPr/>
        </p:nvSpPr>
        <p:spPr>
          <a:xfrm>
            <a:off x="10561320" y="5623559"/>
            <a:ext cx="502920" cy="502920"/>
          </a:xfrm>
          <a:prstGeom prst="ellipse">
            <a:avLst/>
          </a:prstGeom>
          <a:solidFill>
            <a:srgbClr val="7A2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600" b="1" i="0">
                <a:solidFill>
                  <a:srgbClr val="FFFFFF"/>
                </a:solidFill>
                <a:latin typeface="Calibri"/>
              </a:rPr>
              <a:t>4</a:t>
            </a:r>
          </a:p>
        </p:txBody>
      </p:sp>
      <p:sp>
        <p:nvSpPr>
          <p:cNvPr id="37" name="TextBox 36"/>
          <p:cNvSpPr txBox="1"/>
          <p:nvPr/>
        </p:nvSpPr>
        <p:spPr>
          <a:xfrm>
            <a:off x="11201400" y="5577840"/>
            <a:ext cx="6492240" cy="1005840"/>
          </a:xfrm>
          <a:prstGeom prst="rect">
            <a:avLst/>
          </a:prstGeom>
          <a:noFill/>
        </p:spPr>
        <p:txBody>
          <a:bodyPr wrap="square" anchor="t" lIns="27432" rIns="27432" tIns="18288" bIns="18288">
            <a:noAutofit/>
          </a:bodyPr>
          <a:lstStyle/>
          <a:p>
            <a:pPr algn="l">
              <a:spcAft>
                <a:spcPts val="100"/>
              </a:spcAft>
            </a:pPr>
            <a:r>
              <a:rPr sz="1500" b="1" i="0">
                <a:solidFill>
                  <a:srgbClr val="7A2F00"/>
                </a:solidFill>
                <a:latin typeface="Calibri"/>
              </a:rPr>
              <a:t>Set limits</a:t>
            </a:r>
          </a:p>
          <a:p>
            <a:pPr algn="l">
              <a:spcAft>
                <a:spcPts val="0"/>
              </a:spcAft>
            </a:pPr>
            <a:r>
              <a:rPr sz="1400" b="0" i="0">
                <a:solidFill>
                  <a:srgbClr val="000000"/>
                </a:solidFill>
                <a:latin typeface="Calibri"/>
              </a:rPr>
              <a:t>ΔE limit and lead for each kit from that gap, with a NOT SURE band in between. Freeze them before testing.</a:t>
            </a:r>
          </a:p>
        </p:txBody>
      </p:sp>
      <p:sp>
        <p:nvSpPr>
          <p:cNvPr id="38" name="Oval 37"/>
          <p:cNvSpPr/>
          <p:nvPr/>
        </p:nvSpPr>
        <p:spPr>
          <a:xfrm>
            <a:off x="10561320" y="6720840"/>
            <a:ext cx="502920" cy="502920"/>
          </a:xfrm>
          <a:prstGeom prst="ellipse">
            <a:avLst/>
          </a:prstGeom>
          <a:solidFill>
            <a:srgbClr val="7A2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noAutofit/>
          </a:bodyPr>
          <a:lstStyle/>
          <a:p>
            <a:pPr algn="ctr">
              <a:spcAft>
                <a:spcPts val="0"/>
              </a:spcAft>
            </a:pPr>
            <a:r>
              <a:rPr sz="1600" b="1" i="0">
                <a:solidFill>
                  <a:srgbClr val="FFFFFF"/>
                </a:solidFill>
                <a:latin typeface="Calibri"/>
              </a:rPr>
              <a:t>5</a:t>
            </a:r>
          </a:p>
        </p:txBody>
      </p:sp>
      <p:sp>
        <p:nvSpPr>
          <p:cNvPr id="39" name="TextBox 38"/>
          <p:cNvSpPr txBox="1"/>
          <p:nvPr/>
        </p:nvSpPr>
        <p:spPr>
          <a:xfrm>
            <a:off x="11201400" y="6675120"/>
            <a:ext cx="6492240" cy="1005840"/>
          </a:xfrm>
          <a:prstGeom prst="rect">
            <a:avLst/>
          </a:prstGeom>
          <a:noFill/>
        </p:spPr>
        <p:txBody>
          <a:bodyPr wrap="square" anchor="t" lIns="27432" rIns="27432" tIns="18288" bIns="18288">
            <a:noAutofit/>
          </a:bodyPr>
          <a:lstStyle/>
          <a:p>
            <a:pPr algn="l">
              <a:spcAft>
                <a:spcPts val="100"/>
              </a:spcAft>
            </a:pPr>
            <a:r>
              <a:rPr sz="1500" b="1" i="0">
                <a:solidFill>
                  <a:srgbClr val="7A2F00"/>
                </a:solidFill>
                <a:latin typeface="Calibri"/>
              </a:rPr>
              <a:t>Test fresh samples</a:t>
            </a:r>
          </a:p>
          <a:p>
            <a:pPr algn="l">
              <a:spcAft>
                <a:spcPts val="0"/>
              </a:spcAft>
            </a:pPr>
            <a:r>
              <a:rPr sz="1400" b="0" i="0">
                <a:solidFill>
                  <a:srgbClr val="000000"/>
                </a:solidFill>
                <a:latin typeface="Calibri"/>
              </a:rPr>
              <a:t>Samples not used for tuning, compared with the FSL lab. Report agreement with a range, not one number.</a:t>
            </a:r>
          </a:p>
        </p:txBody>
      </p:sp>
      <p:sp>
        <p:nvSpPr>
          <p:cNvPr id="40" name="Rounded Rectangle 39"/>
          <p:cNvSpPr/>
          <p:nvPr/>
        </p:nvSpPr>
        <p:spPr>
          <a:xfrm>
            <a:off x="10561320" y="7863840"/>
            <a:ext cx="7132320" cy="1508760"/>
          </a:xfrm>
          <a:prstGeom prst="roundRect">
            <a:avLst>
              <a:gd name="adj" fmla="val 6000"/>
            </a:avLst>
          </a:prstGeom>
          <a:solidFill>
            <a:srgbClr val="FBF6EE"/>
          </a:solidFill>
          <a:ln w="12700">
            <a:solidFill>
              <a:srgbClr val="D9C4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7927848"/>
            <a:ext cx="6858000" cy="1417320"/>
          </a:xfrm>
          <a:prstGeom prst="rect">
            <a:avLst/>
          </a:prstGeom>
          <a:noFill/>
        </p:spPr>
        <p:txBody>
          <a:bodyPr wrap="square" anchor="t" lIns="27432" rIns="27432" tIns="18288" bIns="18288">
            <a:noAutofit/>
          </a:bodyPr>
          <a:lstStyle/>
          <a:p>
            <a:pPr algn="l">
              <a:spcAft>
                <a:spcPts val="300"/>
              </a:spcAft>
            </a:pPr>
            <a:r>
              <a:rPr sz="1500" b="1" i="0">
                <a:solidFill>
                  <a:srgbClr val="7A2F00"/>
                </a:solidFill>
                <a:latin typeface="Calibri"/>
              </a:rPr>
              <a:t>New kit, step by step</a:t>
            </a:r>
          </a:p>
          <a:p>
            <a:pPr algn="l">
              <a:spcAft>
                <a:spcPts val="300"/>
              </a:spcAft>
            </a:pPr>
            <a:r>
              <a:rPr sz="1500" b="0" i="0">
                <a:solidFill>
                  <a:srgbClr val="000000"/>
                </a:solidFill>
                <a:latin typeface="Calibri"/>
              </a:rPr>
              <a:t>FSL calibrates the kit, admin adds the kit profile (it gets a version number), a small field check, then officers can use it. Kit lot and expiry will be saved in each test record (planned).</a:t>
            </a:r>
          </a:p>
        </p:txBody>
      </p:sp>
      <p:sp>
        <p:nvSpPr>
          <p:cNvPr id="42" name="TextBox 41"/>
          <p:cNvSpPr txBox="1"/>
          <p:nvPr/>
        </p:nvSpPr>
        <p:spPr>
          <a:xfrm>
            <a:off x="640080" y="8641080"/>
            <a:ext cx="9418320" cy="731520"/>
          </a:xfrm>
          <a:prstGeom prst="rect">
            <a:avLst/>
          </a:prstGeom>
          <a:noFill/>
        </p:spPr>
        <p:txBody>
          <a:bodyPr wrap="square" anchor="t" lIns="27432" rIns="27432" tIns="18288" bIns="18288">
            <a:noAutofit/>
          </a:bodyPr>
          <a:lstStyle/>
          <a:p>
            <a:pPr algn="l">
              <a:spcAft>
                <a:spcPts val="0"/>
              </a:spcAft>
            </a:pPr>
            <a:r>
              <a:rPr sz="1250" b="1" i="0">
                <a:solidFill>
                  <a:srgbClr val="555555"/>
                </a:solidFill>
                <a:latin typeface="Calibri"/>
              </a:rPr>
              <a:t>Legal hooks:</a:t>
            </a:r>
            <a:r>
              <a:rPr sz="1250" b="0" i="0">
                <a:solidFill>
                  <a:srgbClr val="555555"/>
                </a:solidFill>
                <a:latin typeface="Calibri"/>
              </a:rPr>
              <a:t> BSA 2023 s.63 (certificate for electronic records, with hash), BNSS 2023 s.105 (recording of search and seizure), NDPS SSSD Rules 2022, DPDP Act 2023 s.8(5) (keep data safe).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
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svg" ContentType="image/svg+xml"/>
  <Override PartName="/ppt/media/image12.svg" ContentType="image/svg+xml"/>
  <Override PartName="/ppt/media/image19.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8"/>
  </p:notesMasterIdLst>
  <p:sldIdLst>
    <p:sldId id="256" r:id="rId2"/>
    <p:sldId id="257" r:id="rId3"/>
    <p:sldId id="258" r:id="rId4"/>
    <p:sldId id="259" r:id="rId5"/>
    <p:sldId id="260" r:id="rId6"/>
    <p:sldId id="261" r:id="rId7"/>
    <p:sldId id="262" r:id="rId16"/>
    <p:sldId id="263" r:id="rId17"/>
  </p:sldIdLst>
  <p:sldSz cx="18288000" cy="10287000"/>
  <p:notesSz cx="6858000" cy="9144000"/>
  <p:embeddedFontLst>
    <p:embeddedFont>
      <p:font typeface="Arimo" panose="020B0604020202020204" charset="0"/>
      <p:regular r:id="rId9"/>
    </p:embeddedFont>
    <p:embeddedFont>
      <p:font typeface="Times New Roman Bold" panose="02020803070505020304" pitchFamily="18" charset="0"/>
      <p:regular r:id="rId10"/>
      <p:bold r:id="rId1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6" d="100"/>
          <a:sy n="56" d="100"/>
        </p:scale>
        <p:origin x="61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font" Target="fonts/font1.fntdata"/><Relationship Id="rId10" Type="http://schemas.openxmlformats.org/officeDocument/2006/relationships/font" Target="fonts/font2.fntdata"/><Relationship Id="rId11" Type="http://schemas.openxmlformats.org/officeDocument/2006/relationships/font" Target="fonts/font3.fnt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7.xml"/><Relationship Id="rId17"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281464-4D67-430D-AE87-8B562290D65B}" type="datetimeFigureOut">
              <a:rPr lang="en-IN" smtClean="0"/>
              <a:t>29-09-2026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430427-9B06-49C5-890C-530BB4EB820D}" type="slidenum">
              <a:rPr lang="en-IN" smtClean="0"/>
              <a:t>‹#›</a:t>
            </a:fld>
            <a:endParaRPr lang="en-IN"/>
          </a:p>
        </p:txBody>
      </p:sp>
    </p:spTree>
    <p:extLst>
      <p:ext uri="{BB962C8B-B14F-4D97-AF65-F5344CB8AC3E}">
        <p14:creationId xmlns:p14="http://schemas.microsoft.com/office/powerpoint/2010/main" val="19821269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(35 s): Every test has time, place, officer and photo. Change even one byte of the photo, or the result in the database, and the check page says TAMPERED. We tried this on copies of our saved records.</a:t>
            </a:r>
          </a:p>
          <a:p>
            <a:r>
              <a:t>Each PDF has a filled BSA 2023 section 63 page. We say it SUPPORTS the certificate. The officer and an expert still sign, and the FSL report confirms. Never say 'court approved'.</a:t>
            </a:r>
          </a:p>
          <a:p/>
          <a:p>
            <a:r>
              <a:t>DEMO (90 s, in this order): 1) scan a positive card in normal light, then under a torch or dim light. 2) scan a trick card, show NOT SURE. 3) show a blurry photo asking for a retake. 4) open the PDF, let a judge scan the QR on their own phone (run backend/scripts/public_link.py first and re-download the PDF, the free link lasts 60 min). 5) change 1 byte of a saved copy and show TAMPERED. Keep a screen recording and a mobile hotspot as backup.</a:t>
            </a:r>
          </a:p>
          <a:p>
            <a:r>
              <a:t>IF ASKED 'Offline?': Designed, not built. We will build it together with phone chip signing so an offline test is signed on the phone before it syncs.</a:t>
            </a:r>
          </a:p>
          <a:p>
            <a:r>
              <a:t>IF ASKED 'e-Sakshya?': We have not contacted NIC yet. Our CSV already has time, GPS, officer, result, photo hash and check link.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(20 s): We are HexTech, problem statement 26231, Digital Companion for Field Drug Testing. Field drug tests are read by eye, under any light, with no standard reference and often no record anyone can check later. That makes the result easy to dispute. FieldProof reads the kit colour with a Rs 10 colour card, says NOT SURE when it cannot tell, and saves a record that anyone can check with a QR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(40 s): Officers judge the colour by eye. A yellow street lamp can make purple look brown. There is no standard colour and often no record anyone can check later.</a:t>
            </a:r>
          </a:p>
          <a:p>
            <a:r>
              <a:t>Our flow: pick the kit, the app runs the kit's read timer, the officer takes one photo of the kit next to our Rs 10 colour card, and the result comes on screen in about 16 seconds. The record is sealed and gets a QR.</a:t>
            </a:r>
          </a:p>
          <a:p>
            <a:r>
              <a:t>Novelty is not colour reading alone. Research has done that (refs 3, 4, 5). What we add is the full path from field to court: corrected colour, an honest NOT SURE, and a record anyone can check.</a:t>
            </a:r>
          </a:p>
          <a:p/>
          <a:p>
            <a:r>
              <a:t>IF ASKED 'Who decides a NOT SURE?': Nobody turns it into POSITIVE. The supervisor can only order a retest or confirm NOT SURE on the Review page, and the sample goes to FSL as it does today.</a:t>
            </a:r>
          </a:p>
          <a:p>
            <a:r>
              <a:t>IF ASKED 'Is this AI?': No AI model, on purpose. Classical colour maths, every result can be explained with numbers, and it needs no drug photos to train.</a:t>
            </a:r>
          </a:p>
          <a:p>
            <a:r>
              <a:t>Source for 1,20,010: NCRB Crime in India 2023 (also quoted in a PIB reply on NDPS cases). It is total NDPS cases, we do not know how many used a field kit.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(40 s): The card has 24 colours we already know. The app sees how the light changed those colours, removes that same change from the kit colour, and only then decides. It needs the closest kit colour within Delta E 14 and at least 4 points ahead of the next one, else it says NOT SURE.</a:t>
            </a:r>
          </a:p>
          <a:p>
            <a:r>
              <a:t>Results: 25 real phone scans (6 on 28 Sep, 19 on 29 Sep), 14 right, 11 NOT SURE, 0 wrong. 7 NOT SUREs were trick cards made to test this, 3 were blurry photos (records 13, 14, 20), 1 was a card-fit reject on 28 Sep.</a:t>
            </a:r>
          </a:p>
          <a:p>
            <a:r>
              <a:t>Be honest: printed swatches on a screen, 1 phone. The FSL trial with real kits is next.</a:t>
            </a:r>
          </a:p>
          <a:p/>
          <a:p>
            <a:r>
              <a:t>IF ASKED 'What does 76% sure mean?': It is a match score, not a probability. 99 x lead part x closeness part. Lead part = gap to the next colour / 12, capped at 1. Closeness part = 1 - half of (distance / 14). We will rename it 'match score' in the app.</a:t>
            </a:r>
          </a:p>
          <a:p>
            <a:r>
              <a:t>IF ASKED 'Why Delta E 14?': On real scans the right colour was 4.7 to 8.9 away, trick cards 16 to 31, other kit colours 34 or more. 14 sits in that gap. The margin to trick cards is thin, so each real kit gets its own limit from FSL data (backup slide 8).</a:t>
            </a:r>
          </a:p>
          <a:p>
            <a:r>
              <a:t>IF ASKED 'Residual error after correction?': That is our card fit number, the average Delta E of the 24 known colours after correction. 5.9 to 8.7 on real photos of a screen (limit 9), under 1 on computer-made photos. A paper card test is next.</a:t>
            </a:r>
          </a:p>
          <a:p>
            <a:r>
              <a:t>IF ASKED '2.5 s or 16 s?': 2.5 s is the server part (colour check about 0.16 s, most of the rest is the internet time lookup). 16 s is the whole test by one team member, photo to saved result.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(35 s): It works end to end today as a lab prototype. The pilot we propose is 1 district in Tamil Nadu, 20 officers, 3 months, with the nearest FSL. We measure 2 things apart: does the app read the kit the same way a trained expert does, and does the kit agree with the FSL lab. A kit false positive is the kit's error, not the app's.</a:t>
            </a:r>
          </a:p>
          <a:p>
            <a:r>
              <a:t>Every challenge in the table has a status. Built means it is in the code now. Planned means not yet.</a:t>
            </a:r>
          </a:p>
          <a:p/>
          <a:p>
            <a:r>
              <a:t>IF ASKED 'Why 60 tests?': Rule of three. With 0 errors in n tests, the true error rate is below 3/n with 95% confidence. 3/60 = 5%. For 1% we would need 300.</a:t>
            </a:r>
          </a:p>
          <a:p>
            <a:r>
              <a:t>IF ASKED 'What is not in Rs 9,200?': Kits (already bought today), officers' phones, FSL time, training, security audit and staff time. We need a quote from the department for those.</a:t>
            </a:r>
          </a:p>
          <a:p>
            <a:r>
              <a:t>IF ASKED 'Who owns it after the pilot?': State police IT cell runs the server, FSL owns the kit colour profiles. MoU is planned, not signed.</a:t>
            </a:r>
          </a:p>
          <a:p>
            <a:r>
              <a:t>IF ASKED 'Photo of a screen?': Honest answer, this is open. Our own tests used a screen, which proves the risk. Plan: screen-photo (moire) check plus Play Integrity. Until then the supervisor sees the photo and the FSL report is still the final word.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5 DOIs open. Reference 1 author: IEEE Xplore and PubMed list the name as 'Karisen', so we cite it as indexed (the author also publishes as Haakon Karlsen).</a:t>
            </a:r>
          </a:p>
          <a:p>
            <a:r>
              <a:t>SAY (20 s, closing): We do not just read a colour, we make the field result checkable. Corrected colour, honest NOT SURE, and a record anyone can check. Next step is the FSL trial with real kits.</a:t>
            </a:r>
          </a:p>
          <a:p>
            <a:r>
              <a:t>IF ASKED 'Why not a handheld Raman device?': Those identify the drug better but are costly and one per team. FieldProof is for the cheap colour kits officers already carry, and a Raman or lab result can still be added to the same record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if asked about numbers. One ledger: 6 scans on 28 Sep + 19 on 29 Sep = 25 real scans. Right answers 5 + 9 = 14. NOT SURE 1 + 10 = 11. Wrong 0.</a:t>
            </a:r>
          </a:p>
          <a:p>
            <a:r>
              <a:t>Round 1 NOT SURE (28 Sep, record 7) was a card-fit reject at 6.16 when the limit was lower. The limit was later raised to 9 after seeing real photos, so we quote the live result, not a re-run.</a:t>
            </a:r>
          </a:p>
          <a:p>
            <a:r>
              <a:t>Round 2 reasons come from the 'as taken' rows of stress_test.json (same engine, same day).</a:t>
            </a:r>
          </a:p>
          <a:p>
            <a:r>
              <a:t>The computer-made photos were also used to tune the rules, so 25/25 shows the engine works as designed, it is not an independent accuracy number.</a:t>
            </a:r>
          </a:p>
          <a:p>
            <a:r>
              <a:t>Stress test = computer-changed copies of the 19 real photos, so the 171 checks are not independent tests.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if asked about security or the real-kit plan.</a:t>
            </a:r>
          </a:p>
          <a:p>
            <a:r>
              <a:t>Insider question: today whoever holds the server key and the database could rewrite and re-sign the chain. That is why the key goes into a hardware box (HSM) and the chain head is copied outside every day, so a rewrite would not match the outside copy.</a:t>
            </a:r>
          </a:p>
          <a:p>
            <a:r>
              <a:t>Key loss: today the server makes a new key if the key file is missing, so old records would show TAMPERED. Fix: stop and alert instead, and keep a backup.</a:t>
            </a:r>
          </a:p>
          <a:p>
            <a:r>
              <a:t>Threshold question: our limit 14 came from printed swatches. With real reagents we measure the spread of the right colour and the nearest wrong colour for each kit, set the limit and lead in that gap, freeze them, then test on fresh samples against the FSL lab.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sv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hyperlink" Target="https://youtu.be/F1cuxlgMW2g" TargetMode="External"/><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svg"/><Relationship Id="rId13" Type="http://schemas.openxmlformats.org/officeDocument/2006/relationships/image" Target="../media/image23.png"/><Relationship Id="rId14"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svg"/><Relationship Id="rId4"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svg"/><Relationship Id="rId4"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26.png"/><Relationship Id="rId7"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3.png"/><Relationship Id="rId4" Type="http://schemas.openxmlformats.org/officeDocument/2006/relationships/image" Target="../media/image5.svg"/><Relationship Id="rId5" Type="http://schemas.openxmlformats.org/officeDocument/2006/relationships/image" Target="../media/image18.png"/><Relationship Id="rId6" Type="http://schemas.openxmlformats.org/officeDocument/2006/relationships/image" Target="../media/image19.svg"/><Relationship Id="rId7" Type="http://schemas.openxmlformats.org/officeDocument/2006/relationships/image" Target="../media/image20.jpeg"/><Relationship Id="rId8" Type="http://schemas.openxmlformats.org/officeDocument/2006/relationships/image" Target="../media/image3.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hyperlink" Target="https://drive.google.com/file/d/1NIR2OyYZRdmEM1R3cz9ghb7rZqyY1D1Z/view?usp=sharin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svg"/><Relationship Id="rId4" Type="http://schemas.openxmlformats.org/officeDocument/2006/relationships/hyperlink" Target="https://doi.org/10.1109/TPS-ISA62245.2024.00012" TargetMode="External"/><Relationship Id="rId5" Type="http://schemas.openxmlformats.org/officeDocument/2006/relationships/hyperlink" Target="https://doi.org/10.1016/j.forsciint.2013.11.018" TargetMode="External"/><Relationship Id="rId6" Type="http://schemas.openxmlformats.org/officeDocument/2006/relationships/hyperlink" Target="https://doi.org/10.1021/acs.analchem.6b01982" TargetMode="External"/><Relationship Id="rId7" Type="http://schemas.openxmlformats.org/officeDocument/2006/relationships/hyperlink" Target="https://doi.org/10.1039/D3DD00066D" TargetMode="External"/><Relationship Id="rId8" Type="http://schemas.openxmlformats.org/officeDocument/2006/relationships/notesSlide" Target="../notesSlides/notesSlide6.xml"/><Relationship Id="rId9" Type="http://schemas.openxmlformats.org/officeDocument/2006/relationships/image" Target="../media/image3.png"/><Relationship Id="rId10" Type="http://schemas.openxmlformats.org/officeDocument/2006/relationships/hyperlink" Target="https://doi.org/10.1109/EMBC.2016.759189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svg"/><Relationship Id="rId4" Type="http://schemas.openxmlformats.org/officeDocument/2006/relationships/hyperlink" Target="https://doi.org/10.1109/TPS-ISA62245.2024.00012" TargetMode="External"/><Relationship Id="rId5" Type="http://schemas.openxmlformats.org/officeDocument/2006/relationships/hyperlink" Target="https://doi.org/10.1016/j.forsciint.2013.11.018" TargetMode="External"/><Relationship Id="rId6" Type="http://schemas.openxmlformats.org/officeDocument/2006/relationships/hyperlink" Target="https://doi.org/10.1021/acs.analchem.6b01982" TargetMode="External"/><Relationship Id="rId7" Type="http://schemas.openxmlformats.org/officeDocument/2006/relationships/hyperlink" Target="https://doi.org/10.1039/D3DD00066D" TargetMode="External"/><Relationship Id="rId8" Type="http://schemas.openxmlformats.org/officeDocument/2006/relationships/image" Target="../media/image3.png"/><Relationship Id="rId9" Type="http://schemas.openxmlformats.org/officeDocument/2006/relationships/hyperlink" Target="https://doi.org/10.1109/EMBC.2016.7591895" TargetMode="External"/><Relationship Id="rId10" Type="http://schemas.openxmlformats.org/officeDocument/2006/relationships/image" Target="../media/image27.png"/><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svg"/><Relationship Id="rId4" Type="http://schemas.openxmlformats.org/officeDocument/2006/relationships/hyperlink" Target="https://doi.org/10.1109/TPS-ISA62245.2024.00012" TargetMode="External"/><Relationship Id="rId5" Type="http://schemas.openxmlformats.org/officeDocument/2006/relationships/hyperlink" Target="https://doi.org/10.1016/j.forsciint.2013.11.018" TargetMode="External"/><Relationship Id="rId6" Type="http://schemas.openxmlformats.org/officeDocument/2006/relationships/hyperlink" Target="https://doi.org/10.1021/acs.analchem.6b01982" TargetMode="External"/><Relationship Id="rId7" Type="http://schemas.openxmlformats.org/officeDocument/2006/relationships/hyperlink" Target="https://doi.org/10.1039/D3DD00066D" TargetMode="External"/><Relationship Id="rId8" Type="http://schemas.openxmlformats.org/officeDocument/2006/relationships/image" Target="../media/image3.png"/><Relationship Id="rId9" Type="http://schemas.openxmlformats.org/officeDocument/2006/relationships/hyperlink" Target="https://doi.org/10.1109/EMBC.2016.7591895" TargetMode="External"/><Relationship Id="rId10"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8485632" y="1277874"/>
            <a:ext cx="6958965" cy="7731443"/>
          </a:xfrm>
          <a:custGeom>
            <a:avLst/>
            <a:gdLst/>
            <a:ahLst/>
            <a:cxnLst/>
            <a:rect l="l" t="t" r="r" b="b"/>
            <a:pathLst>
              <a:path w="6958965" h="7731443">
                <a:moveTo>
                  <a:pt x="0" y="0"/>
                </a:moveTo>
                <a:lnTo>
                  <a:pt x="6958965" y="0"/>
                </a:lnTo>
                <a:lnTo>
                  <a:pt x="6958965" y="7731443"/>
                </a:lnTo>
                <a:lnTo>
                  <a:pt x="0" y="7731443"/>
                </a:lnTo>
                <a:lnTo>
                  <a:pt x="0" y="0"/>
                </a:lnTo>
                <a:close/>
              </a:path>
            </a:pathLst>
          </a:custGeom>
          <a:blipFill>
            <a:blip>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10728198" y="2119122"/>
            <a:ext cx="4805172" cy="5138928"/>
            <a:chOff x="0" y="0"/>
            <a:chExt cx="6406896" cy="6851904"/>
          </a:xfrm>
        </p:grpSpPr>
        <p:sp>
          <p:nvSpPr>
            <p:cNvPr id="4" name="Freeform 4"/>
            <p:cNvSpPr/>
            <p:nvPr/>
          </p:nvSpPr>
          <p:spPr>
            <a:xfrm>
              <a:off x="0" y="0"/>
              <a:ext cx="6406896" cy="6851904"/>
            </a:xfrm>
            <a:custGeom>
              <a:avLst/>
              <a:gdLst/>
              <a:ahLst/>
              <a:cxnLst/>
              <a:rect l="l" t="t" r="r" b="b"/>
              <a:pathLst>
                <a:path w="6406896" h="6851904">
                  <a:moveTo>
                    <a:pt x="0" y="0"/>
                  </a:moveTo>
                  <a:lnTo>
                    <a:pt x="6406896" y="0"/>
                  </a:lnTo>
                  <a:lnTo>
                    <a:pt x="6406896" y="6851904"/>
                  </a:lnTo>
                  <a:lnTo>
                    <a:pt x="0" y="6851904"/>
                  </a:lnTo>
                  <a:lnTo>
                    <a:pt x="0" y="0"/>
                  </a:lnTo>
                  <a:close/>
                </a:path>
              </a:pathLst>
            </a:custGeom>
            <a:blipFill>
              <a:blip r:embed="rId3"/>
              <a:stretch>
                <a:fillRect l="-46" r="-47"/>
              </a:stretch>
            </a:blipFill>
          </p:spPr>
        </p:sp>
      </p:grpSp>
      <p:sp>
        <p:nvSpPr>
          <p:cNvPr id="5" name="TextBox 5" descr="$PPTXTitle"/>
          <p:cNvSpPr txBox="1"/>
          <p:nvPr/>
        </p:nvSpPr>
        <p:spPr>
          <a:xfrm>
            <a:off x="1856872" y="290741"/>
            <a:ext cx="12130088" cy="978532"/>
          </a:xfrm>
          <a:prstGeom prst="rect">
            <a:avLst/>
          </a:prstGeom>
        </p:spPr>
        <p:txBody>
          <a:bodyPr lIns="0" tIns="0" rIns="0" bIns="0" rtlCol="0" anchor="t">
            <a:spAutoFit/>
          </a:bodyPr>
          <a:lstStyle/>
          <a:p>
            <a:pPr algn="l">
              <a:lnSpc>
                <a:spcPts val="7200"/>
              </a:lnSpc>
            </a:pPr>
            <a:r>
              <a:rPr lang="en-US" sz="6000" b="1" spc="-15">
                <a:solidFill>
                  <a:srgbClr val="1F477B"/>
                </a:solidFill>
                <a:latin typeface="Times New Roman Bold"/>
                <a:ea typeface="Times New Roman Bold"/>
                <a:cs typeface="Times New Roman Bold"/>
                <a:sym typeface="Times New Roman Bold"/>
              </a:rPr>
              <a:t>SMART INDIA HACKATHON 2026</a:t>
            </a:r>
          </a:p>
        </p:txBody>
      </p:sp>
      <p:sp>
        <p:nvSpPr>
          <p:cNvPr id="6" name="TextBox 6"/>
          <p:cNvSpPr txBox="1"/>
          <p:nvPr/>
        </p:nvSpPr>
        <p:spPr>
          <a:xfrm>
            <a:off x="1615908" y="2734335"/>
            <a:ext cx="8392108" cy="4947420"/>
          </a:xfrm>
          <a:prstGeom prst="rect">
            <a:avLst/>
          </a:prstGeom>
        </p:spPr>
        <p:txBody>
          <a:bodyPr lIns="0" tIns="0" rIns="0" bIns="0" rtlCol="0" anchor="t">
            <a:spAutoFit/>
          </a:bodyPr>
          <a:lstStyle/>
          <a:p>
            <a:pPr algn="just">
              <a:lnSpc>
                <a:spcPts val="5668"/>
              </a:lnSpc>
            </a:pPr>
            <a:r>
              <a:rPr lang="en-US" sz="2936" b="1">
                <a:solidFill>
                  <a:srgbClr val="0D0D0D"/>
                </a:solidFill>
                <a:latin typeface="Times New Roman Bold"/>
                <a:ea typeface="Times New Roman Bold"/>
                <a:cs typeface="Times New Roman Bold"/>
                <a:sym typeface="Times New Roman Bold"/>
              </a:rPr>
              <a:t>Problem Statement ID - </a:t>
            </a:r>
            <a:r>
              <a:rPr lang="en-US" sz="2936">
                <a:solidFill>
                  <a:srgbClr val="0D0D0D"/>
                </a:solidFill>
                <a:latin typeface="Times New Roman"/>
                <a:ea typeface="Times New Roman"/>
                <a:cs typeface="Times New Roman"/>
                <a:sym typeface="Times New Roman"/>
              </a:rPr>
              <a:t>26231</a:t>
            </a:r>
          </a:p>
          <a:p>
            <a:pPr algn="just">
              <a:lnSpc>
                <a:spcPts val="5661"/>
              </a:lnSpc>
            </a:pPr>
            <a:r>
              <a:rPr lang="en-US" sz="2933" b="1">
                <a:solidFill>
                  <a:srgbClr val="0D0D0D"/>
                </a:solidFill>
                <a:latin typeface="Times New Roman Bold"/>
                <a:ea typeface="Times New Roman Bold"/>
                <a:cs typeface="Times New Roman Bold"/>
                <a:sym typeface="Times New Roman Bold"/>
              </a:rPr>
              <a:t>Problem Statement Title -</a:t>
            </a:r>
            <a:r>
              <a:rPr lang="en-US" sz="2933">
                <a:solidFill>
                  <a:srgbClr val="0D0D0D"/>
                </a:solidFill>
                <a:latin typeface="Times New Roman"/>
                <a:ea typeface="Times New Roman"/>
                <a:cs typeface="Times New Roman"/>
                <a:sym typeface="Times New Roman"/>
              </a:rPr>
              <a:t>Digital Companion for Field Drug Testing</a:t>
            </a:r>
          </a:p>
          <a:p>
            <a:pPr algn="just">
              <a:lnSpc>
                <a:spcPts val="5668"/>
              </a:lnSpc>
            </a:pPr>
            <a:r>
              <a:rPr lang="en-US" sz="2936" b="1" spc="-14">
                <a:solidFill>
                  <a:srgbClr val="0D0D0D"/>
                </a:solidFill>
                <a:latin typeface="Times New Roman Bold"/>
                <a:ea typeface="Times New Roman Bold"/>
                <a:cs typeface="Times New Roman Bold"/>
                <a:sym typeface="Times New Roman Bold"/>
              </a:rPr>
              <a:t>Theme - </a:t>
            </a:r>
            <a:r>
              <a:rPr lang="en-US" sz="2936" spc="-14">
                <a:solidFill>
                  <a:srgbClr val="0D0D0D"/>
                </a:solidFill>
                <a:latin typeface="Times New Roman"/>
                <a:ea typeface="Times New Roman"/>
                <a:cs typeface="Times New Roman"/>
                <a:sym typeface="Times New Roman"/>
              </a:rPr>
              <a:t>MedTech / BioTech / HealthTech</a:t>
            </a:r>
          </a:p>
          <a:p>
            <a:pPr algn="just">
              <a:lnSpc>
                <a:spcPts val="5668"/>
              </a:lnSpc>
            </a:pPr>
            <a:r>
              <a:rPr lang="en-US" sz="2936" b="1" spc="-14">
                <a:solidFill>
                  <a:srgbClr val="0D0D0D"/>
                </a:solidFill>
                <a:latin typeface="Times New Roman Bold"/>
                <a:ea typeface="Times New Roman Bold"/>
                <a:cs typeface="Times New Roman Bold"/>
                <a:sym typeface="Times New Roman Bold"/>
              </a:rPr>
              <a:t>PS Category - </a:t>
            </a:r>
            <a:r>
              <a:rPr lang="en-US" sz="2936" spc="-14">
                <a:solidFill>
                  <a:srgbClr val="0D0D0D"/>
                </a:solidFill>
                <a:latin typeface="Times New Roman"/>
                <a:ea typeface="Times New Roman"/>
                <a:cs typeface="Times New Roman"/>
                <a:sym typeface="Times New Roman"/>
              </a:rPr>
              <a:t>Software</a:t>
            </a:r>
          </a:p>
          <a:p>
            <a:pPr algn="just">
              <a:lnSpc>
                <a:spcPts val="5668"/>
              </a:lnSpc>
            </a:pPr>
            <a:r>
              <a:rPr lang="en-US" sz="2936" b="1" spc="-44">
                <a:solidFill>
                  <a:srgbClr val="0D0D0D"/>
                </a:solidFill>
                <a:latin typeface="Times New Roman Bold"/>
                <a:ea typeface="Times New Roman Bold"/>
                <a:cs typeface="Times New Roman Bold"/>
                <a:sym typeface="Times New Roman Bold"/>
              </a:rPr>
              <a:t>Team ID - </a:t>
            </a:r>
            <a:r>
              <a:rPr lang="en-US" sz="2936" spc="-44">
                <a:solidFill>
                  <a:srgbClr val="0D0D0D"/>
                </a:solidFill>
                <a:latin typeface="Times New Roman"/>
                <a:ea typeface="Times New Roman"/>
                <a:cs typeface="Times New Roman"/>
                <a:sym typeface="Times New Roman"/>
              </a:rPr>
              <a:t>K26234</a:t>
            </a:r>
          </a:p>
          <a:p>
            <a:pPr algn="just">
              <a:lnSpc>
                <a:spcPts val="5668"/>
              </a:lnSpc>
            </a:pPr>
            <a:r>
              <a:rPr lang="en-US" sz="2936" b="1" spc="-44">
                <a:solidFill>
                  <a:srgbClr val="0D0D0D"/>
                </a:solidFill>
                <a:latin typeface="Times New Roman Bold"/>
                <a:ea typeface="Times New Roman Bold"/>
                <a:cs typeface="Times New Roman Bold"/>
                <a:sym typeface="Times New Roman Bold"/>
              </a:rPr>
              <a:t>Team Name - </a:t>
            </a:r>
            <a:r>
              <a:rPr lang="en-US" sz="2936" spc="-44">
                <a:solidFill>
                  <a:srgbClr val="0D0D0D"/>
                </a:solidFill>
                <a:latin typeface="Times New Roman"/>
                <a:ea typeface="Times New Roman"/>
                <a:cs typeface="Times New Roman"/>
                <a:sym typeface="Times New Roman"/>
              </a:rPr>
              <a:t>HexTech</a:t>
            </a:r>
          </a:p>
        </p:txBody>
      </p:sp>
      <p:grpSp>
        <p:nvGrpSpPr>
          <p:cNvPr id="7" name="Group 7"/>
          <p:cNvGrpSpPr/>
          <p:nvPr/>
        </p:nvGrpSpPr>
        <p:grpSpPr>
          <a:xfrm>
            <a:off x="14720116" y="33423"/>
            <a:ext cx="3287373" cy="1531268"/>
            <a:chOff x="0" y="0"/>
            <a:chExt cx="4383164" cy="2041690"/>
          </a:xfrm>
        </p:grpSpPr>
        <p:sp>
          <p:nvSpPr>
            <p:cNvPr id="8" name="Freeform 8"/>
            <p:cNvSpPr/>
            <p:nvPr/>
          </p:nvSpPr>
          <p:spPr>
            <a:xfrm>
              <a:off x="0" y="0"/>
              <a:ext cx="4383151" cy="2041652"/>
            </a:xfrm>
            <a:custGeom>
              <a:avLst/>
              <a:gdLst/>
              <a:ahLst/>
              <a:cxnLst/>
              <a:rect l="l" t="t" r="r" b="b"/>
              <a:pathLst>
                <a:path w="4383151" h="2041652">
                  <a:moveTo>
                    <a:pt x="0" y="0"/>
                  </a:moveTo>
                  <a:lnTo>
                    <a:pt x="4383151" y="0"/>
                  </a:lnTo>
                  <a:lnTo>
                    <a:pt x="4383151" y="2041652"/>
                  </a:lnTo>
                  <a:lnTo>
                    <a:pt x="0" y="2041652"/>
                  </a:lnTo>
                  <a:lnTo>
                    <a:pt x="0" y="0"/>
                  </a:lnTo>
                  <a:close/>
                </a:path>
              </a:pathLst>
            </a:custGeom>
            <a:blipFill>
              <a:blip r:embed="rId4"/>
              <a:stretch>
                <a:fillRect t="-106" b="-108"/>
              </a:stretch>
            </a:blipFill>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564624"/>
            <a:ext cx="18284571" cy="718937"/>
            <a:chOff x="0" y="0"/>
            <a:chExt cx="24379428" cy="958583"/>
          </a:xfrm>
        </p:grpSpPr>
        <p:sp>
          <p:nvSpPr>
            <p:cNvPr id="3" name="Freeform 3"/>
            <p:cNvSpPr/>
            <p:nvPr/>
          </p:nvSpPr>
          <p:spPr>
            <a:xfrm>
              <a:off x="0" y="0"/>
              <a:ext cx="24379428" cy="958596"/>
            </a:xfrm>
            <a:custGeom>
              <a:avLst/>
              <a:gdLst/>
              <a:ahLst/>
              <a:cxnLst/>
              <a:rect l="l" t="t" r="r" b="b"/>
              <a:pathLst>
                <a:path w="24379428" h="958596">
                  <a:moveTo>
                    <a:pt x="0" y="0"/>
                  </a:moveTo>
                  <a:lnTo>
                    <a:pt x="24379428" y="0"/>
                  </a:lnTo>
                  <a:lnTo>
                    <a:pt x="24379428" y="958596"/>
                  </a:lnTo>
                  <a:lnTo>
                    <a:pt x="0" y="958596"/>
                  </a:lnTo>
                  <a:lnTo>
                    <a:pt x="0" y="0"/>
                  </a:lnTo>
                  <a:close/>
                </a:path>
              </a:pathLst>
            </a:custGeom>
            <a:blipFill>
              <a:blip r:embed="rId2"/>
              <a:stretch>
                <a:fillRect t="-64" b="-62"/>
              </a:stretch>
            </a:blipFill>
          </p:spPr>
        </p:sp>
      </p:grpSp>
      <p:grpSp>
        <p:nvGrpSpPr>
          <p:cNvPr id="4" name="Group 4"/>
          <p:cNvGrpSpPr/>
          <p:nvPr/>
        </p:nvGrpSpPr>
        <p:grpSpPr>
          <a:xfrm>
            <a:off x="0" y="9532144"/>
            <a:ext cx="18288000" cy="755332"/>
            <a:chOff x="0" y="0"/>
            <a:chExt cx="24384000" cy="1007110"/>
          </a:xfrm>
        </p:grpSpPr>
        <p:sp>
          <p:nvSpPr>
            <p:cNvPr id="5" name="Freeform 5"/>
            <p:cNvSpPr/>
            <p:nvPr/>
          </p:nvSpPr>
          <p:spPr>
            <a:xfrm>
              <a:off x="0" y="0"/>
              <a:ext cx="24384000" cy="1006475"/>
            </a:xfrm>
            <a:custGeom>
              <a:avLst/>
              <a:gdLst/>
              <a:ahLst/>
              <a:cxnLst/>
              <a:rect l="l" t="t" r="r" b="b"/>
              <a:pathLst>
                <a:path w="24384000" h="1006475">
                  <a:moveTo>
                    <a:pt x="24384000" y="0"/>
                  </a:moveTo>
                  <a:lnTo>
                    <a:pt x="0" y="0"/>
                  </a:lnTo>
                  <a:lnTo>
                    <a:pt x="0" y="1006475"/>
                  </a:lnTo>
                  <a:lnTo>
                    <a:pt x="24384000" y="1006475"/>
                  </a:lnTo>
                  <a:lnTo>
                    <a:pt x="24384000" y="0"/>
                  </a:lnTo>
                  <a:close/>
                </a:path>
              </a:pathLst>
            </a:custGeom>
            <a:solidFill>
              <a:srgbClr val="006FC0"/>
            </a:solidFill>
          </p:spPr>
        </p:sp>
      </p:grpSp>
      <p:sp>
        <p:nvSpPr>
          <p:cNvPr id="6" name="Freeform 6"/>
          <p:cNvSpPr/>
          <p:nvPr/>
        </p:nvSpPr>
        <p:spPr>
          <a:xfrm>
            <a:off x="391335" y="315011"/>
            <a:ext cx="2629852" cy="1249680"/>
          </a:xfrm>
          <a:custGeom>
            <a:avLst/>
            <a:gdLst/>
            <a:ahLst/>
            <a:cxnLst/>
            <a:rect l="l" t="t" r="r" b="b"/>
            <a:pathLst>
              <a:path w="2629852" h="1249680">
                <a:moveTo>
                  <a:pt x="0" y="0"/>
                </a:moveTo>
                <a:lnTo>
                  <a:pt x="2629852" y="0"/>
                </a:lnTo>
                <a:lnTo>
                  <a:pt x="2629852" y="1249680"/>
                </a:lnTo>
                <a:lnTo>
                  <a:pt x="0" y="124968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grpSp>
        <p:nvGrpSpPr>
          <p:cNvPr id="7" name="Group 7"/>
          <p:cNvGrpSpPr/>
          <p:nvPr/>
        </p:nvGrpSpPr>
        <p:grpSpPr>
          <a:xfrm>
            <a:off x="14720116" y="33423"/>
            <a:ext cx="3287373" cy="1531268"/>
            <a:chOff x="0" y="0"/>
            <a:chExt cx="4383164" cy="2041690"/>
          </a:xfrm>
        </p:grpSpPr>
        <p:sp>
          <p:nvSpPr>
            <p:cNvPr id="8" name="Freeform 8"/>
            <p:cNvSpPr/>
            <p:nvPr/>
          </p:nvSpPr>
          <p:spPr>
            <a:xfrm>
              <a:off x="0" y="0"/>
              <a:ext cx="4383151" cy="2041652"/>
            </a:xfrm>
            <a:custGeom>
              <a:avLst/>
              <a:gdLst/>
              <a:ahLst/>
              <a:cxnLst/>
              <a:rect l="l" t="t" r="r" b="b"/>
              <a:pathLst>
                <a:path w="4383151" h="2041652">
                  <a:moveTo>
                    <a:pt x="0" y="0"/>
                  </a:moveTo>
                  <a:lnTo>
                    <a:pt x="4383151" y="0"/>
                  </a:lnTo>
                  <a:lnTo>
                    <a:pt x="4383151" y="2041652"/>
                  </a:lnTo>
                  <a:lnTo>
                    <a:pt x="0" y="2041652"/>
                  </a:lnTo>
                  <a:lnTo>
                    <a:pt x="0" y="0"/>
                  </a:lnTo>
                  <a:close/>
                </a:path>
              </a:pathLst>
            </a:custGeom>
            <a:blipFill>
              <a:blip r:embed="rId4"/>
              <a:stretch>
                <a:fillRect t="-106" b="-108"/>
              </a:stretch>
            </a:blipFill>
          </p:spPr>
        </p:sp>
      </p:grpSp>
      <p:sp>
        <p:nvSpPr>
          <p:cNvPr id="9" name="AutoShape 9"/>
          <p:cNvSpPr/>
          <p:nvPr/>
        </p:nvSpPr>
        <p:spPr>
          <a:xfrm>
            <a:off x="8226619" y="1770996"/>
            <a:ext cx="0" cy="7384231"/>
          </a:xfrm>
          <a:prstGeom prst="line">
            <a:avLst/>
          </a:prstGeom>
          <a:ln w="19050" cap="flat">
            <a:solidFill>
              <a:srgbClr val="B2935B"/>
            </a:solidFill>
            <a:prstDash val="solid"/>
            <a:headEnd type="none" w="sm" len="sm"/>
            <a:tailEnd type="none" w="sm" len="sm"/>
          </a:ln>
        </p:spPr>
        <p:txBody>
          <a:bodyPr/>
          <a:lstStyle/>
          <a:p>
            <a:endParaRPr/>
          </a:p>
        </p:txBody>
      </p:sp>
      <p:sp>
        <p:nvSpPr>
          <p:cNvPr id="13" name="Freeform 13"/>
          <p:cNvSpPr/>
          <p:nvPr/>
        </p:nvSpPr>
        <p:spPr>
          <a:xfrm>
            <a:off x="914400" y="7296912"/>
            <a:ext cx="7406640" cy="667866"/>
          </a:xfrm>
          <a:custGeom>
            <a:avLst/>
            <a:gdLst/>
            <a:ahLst/>
            <a:cxnLst/>
            <a:rect l="l" t="t" r="r" b="b"/>
            <a:pathLst>
              <a:path w="9228727" h="830419">
                <a:moveTo>
                  <a:pt x="0" y="0"/>
                </a:moveTo>
                <a:lnTo>
                  <a:pt x="9228727" y="0"/>
                </a:lnTo>
                <a:lnTo>
                  <a:pt x="9228727" y="830419"/>
                </a:lnTo>
                <a:lnTo>
                  <a:pt x="0" y="830419"/>
                </a:lnTo>
                <a:lnTo>
                  <a:pt x="0" y="0"/>
                </a:lnTo>
                <a:close/>
              </a:path>
            </a:pathLst>
          </a:custGeom>
          <a:blipFill>
            <a:blip r:embed="rId5"/>
            <a:stretch>
              <a:fillRect l="-21656" t="-554195" r="-92275" b="-1128926"/>
            </a:stretch>
          </a:blipFill>
        </p:spPr>
        <p:txBody>
          <a:bodyPr/>
          <a:lstStyle/>
          <a:p>
            <a:endParaRPr/>
          </a:p>
        </p:txBody>
      </p:sp>
      <p:sp>
        <p:nvSpPr>
          <p:cNvPr id="14" name="AutoShape 14"/>
          <p:cNvSpPr/>
          <p:nvPr/>
        </p:nvSpPr>
        <p:spPr>
          <a:xfrm flipV="1">
            <a:off x="1069848" y="4261104"/>
            <a:ext cx="7159752" cy="0"/>
          </a:xfrm>
          <a:prstGeom prst="line">
            <a:avLst/>
          </a:prstGeom>
          <a:ln w="19050" cap="flat">
            <a:solidFill>
              <a:srgbClr val="B2935B"/>
            </a:solidFill>
            <a:prstDash val="solid"/>
            <a:headEnd type="none" w="sm" len="sm"/>
            <a:tailEnd type="none" w="sm" len="sm"/>
          </a:ln>
        </p:spPr>
        <p:txBody>
          <a:bodyPr/>
          <a:lstStyle/>
          <a:p>
            <a:endParaRPr/>
          </a:p>
        </p:txBody>
      </p:sp>
      <p:sp>
        <p:nvSpPr>
          <p:cNvPr id="15" name="TextBox 15"/>
          <p:cNvSpPr txBox="1"/>
          <p:nvPr/>
        </p:nvSpPr>
        <p:spPr>
          <a:xfrm>
            <a:off x="5093704" y="360907"/>
            <a:ext cx="7553895" cy="847725"/>
          </a:xfrm>
          <a:prstGeom prst="rect">
            <a:avLst/>
          </a:prstGeom>
        </p:spPr>
        <p:txBody>
          <a:bodyPr lIns="0" tIns="0" rIns="0" bIns="0" rtlCol="0" anchor="t">
            <a:spAutoFit/>
          </a:bodyPr>
          <a:lstStyle/>
          <a:p>
            <a:pPr algn="ctr">
              <a:lnSpc>
                <a:spcPts val="6479"/>
              </a:lnSpc>
            </a:pPr>
            <a:r>
              <a:rPr lang="en-US" sz="5399" b="1">
                <a:solidFill>
                  <a:srgbClr val="7A2F00"/>
                </a:solidFill>
                <a:latin typeface="Times New Roman Bold"/>
                <a:ea typeface="Times New Roman Bold"/>
                <a:cs typeface="Times New Roman Bold"/>
                <a:sym typeface="Times New Roman Bold"/>
              </a:rPr>
              <a:t>PROPOSED SOLUTION</a:t>
            </a:r>
          </a:p>
        </p:txBody>
      </p:sp>
      <p:sp>
        <p:nvSpPr>
          <p:cNvPr id="16" name="TextBox 16" descr="$PPTXTitle"/>
          <p:cNvSpPr txBox="1"/>
          <p:nvPr/>
        </p:nvSpPr>
        <p:spPr>
          <a:xfrm>
            <a:off x="1074372" y="677913"/>
            <a:ext cx="1461403" cy="466725"/>
          </a:xfrm>
          <a:prstGeom prst="rect">
            <a:avLst/>
          </a:prstGeom>
        </p:spPr>
        <p:txBody>
          <a:bodyPr lIns="0" tIns="0" rIns="0" bIns="0" rtlCol="0" anchor="t">
            <a:spAutoFit/>
          </a:bodyPr>
          <a:lstStyle/>
          <a:p>
            <a:pPr algn="l">
              <a:lnSpc>
                <a:spcPts val="3240"/>
              </a:lnSpc>
            </a:pPr>
            <a:r>
              <a:rPr lang="en-US" sz="2700" b="1" spc="-29">
                <a:solidFill>
                  <a:srgbClr val="7A2F00"/>
                </a:solidFill>
                <a:latin typeface="Calibri"/>
                <a:ea typeface="Calibri"/>
                <a:cs typeface="Calibri"/>
                <a:sym typeface="Calibri"/>
              </a:rPr>
              <a:t>HexTech</a:t>
            </a:r>
          </a:p>
        </p:txBody>
      </p:sp>
      <p:sp>
        <p:nvSpPr>
          <p:cNvPr id="18" name="TextBox 18"/>
          <p:cNvSpPr txBox="1"/>
          <p:nvPr/>
        </p:nvSpPr>
        <p:spPr>
          <a:xfrm>
            <a:off x="17063656" y="9649673"/>
            <a:ext cx="104775" cy="288608"/>
          </a:xfrm>
          <a:prstGeom prst="rect">
            <a:avLst/>
          </a:prstGeom>
        </p:spPr>
        <p:txBody>
          <a:bodyPr lIns="0" tIns="0" rIns="0" bIns="0" rtlCol="0" anchor="t">
            <a:spAutoFit/>
          </a:bodyPr>
          <a:lstStyle/>
          <a:p>
            <a:pPr algn="l">
              <a:lnSpc>
                <a:spcPts val="2137"/>
              </a:lnSpc>
            </a:pPr>
            <a:r>
              <a:rPr lang="en-US" sz="1800" b="1" spc="-75">
                <a:solidFill>
                  <a:srgbClr val="FFFFFF"/>
                </a:solidFill>
                <a:latin typeface="Times New Roman Bold"/>
                <a:ea typeface="Times New Roman Bold"/>
                <a:cs typeface="Times New Roman Bold"/>
                <a:sym typeface="Times New Roman Bold"/>
              </a:rPr>
              <a:t>2</a:t>
            </a:r>
          </a:p>
        </p:txBody>
      </p:sp>
      <p:sp>
        <p:nvSpPr>
          <p:cNvPr id="25" name="Freeform 25"/>
          <p:cNvSpPr/>
          <p:nvPr/>
        </p:nvSpPr>
        <p:spPr>
          <a:xfrm>
            <a:off x="6583680" y="8302752"/>
            <a:ext cx="1060704" cy="1060704"/>
          </a:xfrm>
          <a:custGeom>
            <a:avLst/>
            <a:gdLst/>
            <a:ahLst/>
            <a:cxnLst/>
            <a:rect l="l" t="t" r="r" b="b"/>
            <a:pathLst>
              <a:path w="1320330" h="1320330">
                <a:moveTo>
                  <a:pt x="0" y="0"/>
                </a:moveTo>
                <a:lnTo>
                  <a:pt x="1320330" y="0"/>
                </a:lnTo>
                <a:lnTo>
                  <a:pt x="1320330" y="1320330"/>
                </a:lnTo>
                <a:lnTo>
                  <a:pt x="0" y="1320330"/>
                </a:lnTo>
                <a:lnTo>
                  <a:pt x="0" y="0"/>
                </a:lnTo>
                <a:close/>
              </a:path>
            </a:pathLst>
          </a:custGeom>
          <a:blipFill>
            <a:blip r:embed="rId6"/>
            <a:stretch>
              <a:fillRect/>
            </a:stretch>
          </a:blipFill>
        </p:spPr>
        <p:txBody>
          <a:bodyPr/>
          <a:lstStyle/>
          <a:p>
            <a:endParaRPr/>
          </a:p>
        </p:txBody>
      </p:sp>
      <p:sp>
        <p:nvSpPr>
          <p:cNvPr id="26" name="TextBox 26"/>
          <p:cNvSpPr txBox="1"/>
          <p:nvPr/>
        </p:nvSpPr>
        <p:spPr>
          <a:xfrm>
            <a:off x="1097280" y="8641080"/>
            <a:ext cx="3063240" cy="393192"/>
          </a:xfrm>
          <a:prstGeom prst="rect">
            <a:avLst/>
          </a:prstGeom>
        </p:spPr>
        <p:txBody>
          <a:bodyPr wrap="none" lIns="0" tIns="0" rIns="0" bIns="0" rtlCol="0" anchor="t">
            <a:noAutofit/>
          </a:bodyPr>
          <a:lstStyle/>
          <a:p>
            <a:pPr algn="ctr">
              <a:lnSpc>
                <a:spcPts val="2760"/>
              </a:lnSpc>
              <a:spcBef>
                <a:spcPct val="0"/>
              </a:spcBef>
            </a:pPr>
            <a:r>
              <a:rPr lang="en-US" sz="2300" b="1" spc="-25">
                <a:solidFill>
                  <a:srgbClr val="7A2F00"/>
                </a:solidFill>
                <a:latin typeface="Calibri"/>
                <a:ea typeface="Calibri"/>
                <a:cs typeface="Calibri"/>
                <a:sym typeface="Calibri"/>
              </a:rPr>
              <a:t>Prototype Demo Video:</a:t>
            </a:r>
          </a:p>
        </p:txBody>
      </p:sp>
      <p:sp>
        <p:nvSpPr>
          <p:cNvPr id="27" name="TextBox 27"/>
          <p:cNvSpPr txBox="1"/>
          <p:nvPr/>
        </p:nvSpPr>
        <p:spPr>
          <a:xfrm>
            <a:off x="4224528" y="8659368"/>
            <a:ext cx="2103120" cy="365760"/>
          </a:xfrm>
          <a:prstGeom prst="rect">
            <a:avLst/>
          </a:prstGeom>
        </p:spPr>
        <p:txBody>
          <a:bodyPr wrap="none" lIns="0" tIns="0" rIns="0" bIns="0" rtlCol="0" anchor="t">
            <a:noAutofit/>
          </a:bodyPr>
          <a:lstStyle/>
          <a:p>
            <a:pPr algn="ctr">
              <a:lnSpc>
                <a:spcPts val="2520"/>
              </a:lnSpc>
            </a:pPr>
            <a:r>
              <a:rPr lang="en-US" sz="2100" u="sng" spc="-23">
                <a:solidFill>
                  <a:srgbClr val="006EC0"/>
                </a:solidFill>
                <a:latin typeface="Calibri"/>
                <a:ea typeface="Calibri"/>
                <a:cs typeface="Calibri"/>
                <a:sym typeface="Calibri"/>
                <a:hlinkClick r:id="rId7" tooltip="https://youtu.be/F1cuxlgMW2g"/>
              </a:rPr>
              <a:t>Prototype Video Link</a:t>
            </a:r>
          </a:p>
        </p:txBody>
      </p:sp>
      <p:sp>
        <p:nvSpPr>
          <p:cNvPr id="28" name="Video link click area">
            <a:hlinkClick r:id="rId7"/>
          </p:cNvPr>
          <p:cNvSpPr/>
          <p:nvPr/>
        </p:nvSpPr>
        <p:spPr>
          <a:xfrm>
            <a:off x="4224528" y="8613648"/>
            <a:ext cx="2103120" cy="45720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Video QR click area">
            <a:hlinkClick r:id="rId7"/>
          </p:cNvPr>
          <p:cNvSpPr/>
          <p:nvPr/>
        </p:nvSpPr>
        <p:spPr>
          <a:xfrm>
            <a:off x="6583680" y="8302752"/>
            <a:ext cx="1060704" cy="1060704"/>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3"/>
          <p:cNvSpPr txBox="1"/>
          <p:nvPr/>
        </p:nvSpPr>
        <p:spPr>
          <a:xfrm>
            <a:off x="8577072" y="5989320"/>
            <a:ext cx="9052560" cy="381000"/>
          </a:xfrm>
          <a:prstGeom prst="rect">
            <a:avLst/>
          </a:prstGeom>
        </p:spPr>
        <p:txBody>
          <a:bodyPr wrap="none" lIns="0" tIns="0" rIns="0" bIns="0" rtlCol="0" anchor="t">
            <a:noAutofit/>
          </a:bodyPr>
          <a:lstStyle/>
          <a:p>
            <a:pPr algn="l">
              <a:lnSpc>
                <a:spcPts val="2640"/>
              </a:lnSpc>
            </a:pPr>
            <a:r>
              <a:rPr lang="en-US" sz="2200" b="1">
                <a:solidFill>
                  <a:srgbClr val="7A2F00"/>
                </a:solidFill>
                <a:latin typeface="Calibri"/>
                <a:ea typeface="Calibri"/>
                <a:cs typeface="Calibri"/>
                <a:sym typeface="Calibri"/>
              </a:rPr>
              <a:t>Prototype Flow - </a:t>
            </a:r>
            <a:r>
              <a:rPr lang="en-US" sz="2200">
                <a:solidFill>
                  <a:srgbClr val="202020"/>
                </a:solidFill>
                <a:latin typeface="Calibri"/>
                <a:ea typeface="Calibri"/>
                <a:cs typeface="Calibri"/>
                <a:sym typeface="Calibri"/>
              </a:rPr>
              <a:t>real screenshots of our working prototype</a:t>
            </a:r>
          </a:p>
        </p:txBody>
      </p:sp>
      <p:sp>
        <p:nvSpPr>
          <p:cNvPr id="35" name="Freeform 12"/>
          <p:cNvSpPr/>
          <p:nvPr/>
        </p:nvSpPr>
        <p:spPr>
          <a:xfrm>
            <a:off x="10574620" y="7795260"/>
            <a:ext cx="320040" cy="210312"/>
          </a:xfrm>
          <a:custGeom>
            <a:avLst/>
            <a:gdLst/>
            <a:ahLst/>
            <a:cxnLst/>
            <a:rect l="l" t="t" r="r" b="b"/>
            <a:pathLst>
              <a:path w="451106" h="295474">
                <a:moveTo>
                  <a:pt x="0" y="0"/>
                </a:moveTo>
                <a:lnTo>
                  <a:pt x="451106" y="0"/>
                </a:lnTo>
                <a:lnTo>
                  <a:pt x="451106" y="295475"/>
                </a:lnTo>
                <a:lnTo>
                  <a:pt x="0" y="295475"/>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a:p>
        </p:txBody>
      </p:sp>
      <p:sp>
        <p:nvSpPr>
          <p:cNvPr id="36" name="Freeform 14"/>
          <p:cNvSpPr/>
          <p:nvPr/>
        </p:nvSpPr>
        <p:spPr>
          <a:xfrm>
            <a:off x="12213682" y="7795260"/>
            <a:ext cx="320040" cy="210312"/>
          </a:xfrm>
          <a:custGeom>
            <a:avLst/>
            <a:gdLst/>
            <a:ahLst/>
            <a:cxnLst/>
            <a:rect l="l" t="t" r="r" b="b"/>
            <a:pathLst>
              <a:path w="451106" h="295474">
                <a:moveTo>
                  <a:pt x="0" y="0"/>
                </a:moveTo>
                <a:lnTo>
                  <a:pt x="451106" y="0"/>
                </a:lnTo>
                <a:lnTo>
                  <a:pt x="451106" y="295475"/>
                </a:lnTo>
                <a:lnTo>
                  <a:pt x="0" y="295475"/>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a:p>
        </p:txBody>
      </p:sp>
      <p:sp>
        <p:nvSpPr>
          <p:cNvPr id="37" name="Freeform 12"/>
          <p:cNvSpPr/>
          <p:nvPr/>
        </p:nvSpPr>
        <p:spPr>
          <a:xfrm>
            <a:off x="14128234" y="7795260"/>
            <a:ext cx="320040" cy="210312"/>
          </a:xfrm>
          <a:custGeom>
            <a:avLst/>
            <a:gdLst/>
            <a:ahLst/>
            <a:cxnLst/>
            <a:rect l="l" t="t" r="r" b="b"/>
            <a:pathLst>
              <a:path w="451106" h="295474">
                <a:moveTo>
                  <a:pt x="0" y="0"/>
                </a:moveTo>
                <a:lnTo>
                  <a:pt x="451106" y="0"/>
                </a:lnTo>
                <a:lnTo>
                  <a:pt x="451106" y="295475"/>
                </a:lnTo>
                <a:lnTo>
                  <a:pt x="0" y="295475"/>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a:p>
        </p:txBody>
      </p:sp>
      <p:sp>
        <p:nvSpPr>
          <p:cNvPr id="38" name="TextBox 37"/>
          <p:cNvSpPr txBox="1"/>
          <p:nvPr/>
        </p:nvSpPr>
        <p:spPr>
          <a:xfrm>
            <a:off x="1097280" y="1783080"/>
            <a:ext cx="1463040" cy="457200"/>
          </a:xfrm>
          <a:prstGeom prst="rect">
            <a:avLst/>
          </a:prstGeom>
          <a:noFill/>
        </p:spPr>
        <p:txBody>
          <a:bodyPr wrap="square" anchor="t" lIns="27432" rIns="27432" tIns="18288" bIns="18288">
            <a:noAutofit/>
          </a:bodyPr>
          <a:lstStyle/>
          <a:p>
            <a:pPr algn="l">
              <a:spcAft>
                <a:spcPts val="0"/>
              </a:spcAft>
            </a:pPr>
            <a:r>
              <a:rPr sz="2500" b="1" i="0">
                <a:solidFill>
                  <a:srgbClr val="974826"/>
                </a:solidFill>
                <a:latin typeface="Calibri"/>
              </a:rPr>
              <a:t>Problem</a:t>
            </a:r>
          </a:p>
        </p:txBody>
      </p:sp>
      <p:sp>
        <p:nvSpPr>
          <p:cNvPr id="39" name="TextBox 38"/>
          <p:cNvSpPr txBox="1"/>
          <p:nvPr/>
        </p:nvSpPr>
        <p:spPr>
          <a:xfrm>
            <a:off x="2377440" y="1901952"/>
            <a:ext cx="5852160" cy="292608"/>
          </a:xfrm>
          <a:prstGeom prst="rect">
            <a:avLst/>
          </a:prstGeom>
          <a:noFill/>
        </p:spPr>
        <p:txBody>
          <a:bodyPr wrap="square" anchor="t" lIns="27432" rIns="27432" tIns="18288" bIns="18288">
            <a:noAutofit/>
          </a:bodyPr>
          <a:lstStyle/>
          <a:p>
            <a:pPr algn="l">
              <a:spcAft>
                <a:spcPts val="400"/>
              </a:spcAft>
            </a:pPr>
            <a:r>
              <a:rPr sz="1200" b="0" i="0">
                <a:solidFill>
                  <a:srgbClr val="555555"/>
                </a:solidFill>
                <a:latin typeface="Calibri"/>
              </a:rPr>
              <a:t>India: 1,20,010 NDPS cases registered in 2023 (NCRB, Crime in India 2023)</a:t>
            </a:r>
          </a:p>
        </p:txBody>
      </p:sp>
      <p:sp>
        <p:nvSpPr>
          <p:cNvPr id="40" name="TextBox 39"/>
          <p:cNvSpPr txBox="1"/>
          <p:nvPr/>
        </p:nvSpPr>
        <p:spPr>
          <a:xfrm>
            <a:off x="1097280" y="2212848"/>
            <a:ext cx="7178040" cy="1965960"/>
          </a:xfrm>
          <a:prstGeom prst="rect">
            <a:avLst/>
          </a:prstGeom>
          <a:noFill/>
        </p:spPr>
        <p:txBody>
          <a:bodyPr wrap="square" anchor="t" lIns="27432" rIns="27432" tIns="18288" bIns="18288">
            <a:noAutofit/>
          </a:bodyPr>
          <a:lstStyle/>
          <a:p>
            <a:pPr algn="l" marL="201168" indent="-201168">
              <a:spcAft>
                <a:spcPts val="200"/>
              </a:spcAft>
              <a:buFont typeface="Arial"/>
              <a:buChar char="•"/>
            </a:pPr>
            <a:r>
              <a:rPr sz="2000" b="0" i="0">
                <a:solidFill>
                  <a:srgbClr val="000000"/>
                </a:solidFill>
                <a:latin typeface="Calibri"/>
              </a:rPr>
              <a:t>Officers mainly judge the kit's colour change by looking at it, so lighting and personal judgement can affect the result.</a:t>
            </a:r>
          </a:p>
          <a:p>
            <a:pPr algn="l" marL="201168" indent="-201168">
              <a:spcAft>
                <a:spcPts val="200"/>
              </a:spcAft>
              <a:buFont typeface="Arial"/>
              <a:buChar char="•"/>
            </a:pPr>
            <a:r>
              <a:rPr sz="2000" b="0" i="0">
                <a:solidFill>
                  <a:srgbClr val="000000"/>
                </a:solidFill>
                <a:latin typeface="Calibri"/>
              </a:rPr>
              <a:t>There is no standard colour value to compare the test result with.</a:t>
            </a:r>
          </a:p>
          <a:p>
            <a:pPr algn="l" marL="201168" indent="-201168">
              <a:spcAft>
                <a:spcPts val="200"/>
              </a:spcAft>
              <a:buFont typeface="Arial"/>
              <a:buChar char="•"/>
            </a:pPr>
            <a:r>
              <a:rPr sz="2000" b="0" i="0">
                <a:solidFill>
                  <a:srgbClr val="000000"/>
                </a:solidFill>
                <a:latin typeface="Calibri"/>
              </a:rPr>
              <a:t>The test does not always leave a clear digital record of who performed it, where, and when, making it harder to verify later.</a:t>
            </a:r>
          </a:p>
        </p:txBody>
      </p:sp>
      <p:sp>
        <p:nvSpPr>
          <p:cNvPr id="41" name="TextBox 40"/>
          <p:cNvSpPr txBox="1"/>
          <p:nvPr/>
        </p:nvSpPr>
        <p:spPr>
          <a:xfrm>
            <a:off x="1097280" y="4352544"/>
            <a:ext cx="2743200" cy="457200"/>
          </a:xfrm>
          <a:prstGeom prst="rect">
            <a:avLst/>
          </a:prstGeom>
          <a:noFill/>
        </p:spPr>
        <p:txBody>
          <a:bodyPr wrap="square" anchor="t" lIns="27432" rIns="27432" tIns="18288" bIns="18288">
            <a:noAutofit/>
          </a:bodyPr>
          <a:lstStyle/>
          <a:p>
            <a:pPr algn="l">
              <a:spcAft>
                <a:spcPts val="0"/>
              </a:spcAft>
            </a:pPr>
            <a:r>
              <a:rPr sz="2500" b="1" i="0">
                <a:solidFill>
                  <a:srgbClr val="974826"/>
                </a:solidFill>
                <a:latin typeface="Calibri"/>
              </a:rPr>
              <a:t>Solution</a:t>
            </a:r>
          </a:p>
        </p:txBody>
      </p:sp>
      <p:sp>
        <p:nvSpPr>
          <p:cNvPr id="42" name="TextBox 41"/>
          <p:cNvSpPr txBox="1"/>
          <p:nvPr/>
        </p:nvSpPr>
        <p:spPr>
          <a:xfrm>
            <a:off x="1097280" y="4754880"/>
            <a:ext cx="7178040" cy="2423160"/>
          </a:xfrm>
          <a:prstGeom prst="rect">
            <a:avLst/>
          </a:prstGeom>
          <a:noFill/>
        </p:spPr>
        <p:txBody>
          <a:bodyPr wrap="square" anchor="t" lIns="27432" rIns="27432" tIns="18288" bIns="18288">
            <a:noAutofit/>
          </a:bodyPr>
          <a:lstStyle/>
          <a:p>
            <a:pPr algn="l" marL="201168" indent="-201168">
              <a:spcAft>
                <a:spcPts val="200"/>
              </a:spcAft>
              <a:buFont typeface="Arial"/>
              <a:buChar char="•"/>
            </a:pPr>
            <a:r>
              <a:rPr sz="2000" b="1" i="0">
                <a:solidFill>
                  <a:srgbClr val="000000"/>
                </a:solidFill>
                <a:latin typeface="Calibri"/>
              </a:rPr>
              <a:t>Check the Test</a:t>
            </a:r>
            <a:r>
              <a:rPr sz="2000" b="0" i="0">
                <a:solidFill>
                  <a:srgbClr val="000000"/>
                </a:solidFill>
                <a:latin typeface="Calibri"/>
              </a:rPr>
              <a:t> - The app photographs the kit next to a ₹10 colour card and says POSITIVE, NEGATIVE or NOT SURE.</a:t>
            </a:r>
          </a:p>
          <a:p>
            <a:pPr algn="l" marL="201168" indent="-201168">
              <a:spcAft>
                <a:spcPts val="200"/>
              </a:spcAft>
              <a:buFont typeface="Arial"/>
              <a:buChar char="•"/>
            </a:pPr>
            <a:r>
              <a:rPr sz="2000" b="1" i="0">
                <a:solidFill>
                  <a:srgbClr val="000000"/>
                </a:solidFill>
                <a:latin typeface="Calibri"/>
              </a:rPr>
              <a:t>Record the Test</a:t>
            </a:r>
            <a:r>
              <a:rPr sz="2000" b="0" i="0">
                <a:solidFill>
                  <a:srgbClr val="000000"/>
                </a:solidFill>
                <a:latin typeface="Calibri"/>
              </a:rPr>
              <a:t> - Saves the result with the photo fingerprint, time, GPS and Inspector ID, signed for a QR check.</a:t>
            </a:r>
          </a:p>
          <a:p>
            <a:pPr algn="l" marL="201168" indent="-201168">
              <a:spcAft>
                <a:spcPts val="200"/>
              </a:spcAft>
              <a:buFont typeface="Arial"/>
              <a:buChar char="•"/>
            </a:pPr>
            <a:r>
              <a:rPr sz="2000" b="1" i="0">
                <a:solidFill>
                  <a:srgbClr val="000000"/>
                </a:solidFill>
                <a:latin typeface="Calibri"/>
              </a:rPr>
              <a:t>Manage the Records</a:t>
            </a:r>
            <a:r>
              <a:rPr sz="2000" b="0" i="0">
                <a:solidFill>
                  <a:srgbClr val="000000"/>
                </a:solidFill>
                <a:latin typeface="Calibri"/>
              </a:rPr>
              <a:t> - The admin dashboard manages Inspectors, test records, NOT SURE reviews and reports.</a:t>
            </a:r>
          </a:p>
        </p:txBody>
      </p:sp>
      <p:sp>
        <p:nvSpPr>
          <p:cNvPr id="43" name="Rounded Rectangle 42"/>
          <p:cNvSpPr/>
          <p:nvPr/>
        </p:nvSpPr>
        <p:spPr>
          <a:xfrm>
            <a:off x="9144000" y="1709928"/>
            <a:ext cx="7086600" cy="4160520"/>
          </a:xfrm>
          <a:prstGeom prst="roundRect">
            <a:avLst>
              <a:gd name="adj" fmla="val 4000"/>
            </a:avLst>
          </a:prstGeom>
          <a:noFill/>
          <a:ln w="28575">
            <a:solidFill>
              <a:srgbClr val="7A2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0" y="1810512"/>
            <a:ext cx="1463040" cy="457200"/>
          </a:xfrm>
          <a:prstGeom prst="rect">
            <a:avLst/>
          </a:prstGeom>
          <a:noFill/>
        </p:spPr>
        <p:txBody>
          <a:bodyPr wrap="square" anchor="t" lIns="27432" rIns="27432" tIns="18288" bIns="18288">
            <a:noAutofit/>
          </a:bodyPr>
          <a:lstStyle/>
          <a:p>
            <a:pPr algn="l">
              <a:spcAft>
                <a:spcPts val="0"/>
              </a:spcAft>
            </a:pPr>
            <a:r>
              <a:rPr sz="2300" b="1" i="0">
                <a:solidFill>
                  <a:srgbClr val="974826"/>
                </a:solidFill>
                <a:latin typeface="Calibri"/>
              </a:rPr>
              <a:t>Novelty</a:t>
            </a:r>
          </a:p>
        </p:txBody>
      </p:sp>
      <p:sp>
        <p:nvSpPr>
          <p:cNvPr id="45" name="TextBox 44"/>
          <p:cNvSpPr txBox="1"/>
          <p:nvPr/>
        </p:nvSpPr>
        <p:spPr>
          <a:xfrm>
            <a:off x="10607040" y="1920240"/>
            <a:ext cx="5486400" cy="292608"/>
          </a:xfrm>
          <a:prstGeom prst="rect">
            <a:avLst/>
          </a:prstGeom>
          <a:noFill/>
        </p:spPr>
        <p:txBody>
          <a:bodyPr wrap="square" anchor="t" lIns="27432" rIns="27432" tIns="18288" bIns="18288">
            <a:noAutofit/>
          </a:bodyPr>
          <a:lstStyle/>
          <a:p>
            <a:pPr algn="l">
              <a:spcAft>
                <a:spcPts val="0"/>
              </a:spcAft>
            </a:pPr>
            <a:r>
              <a:rPr sz="1300" b="1" i="0">
                <a:solidFill>
                  <a:srgbClr val="555555"/>
                </a:solidFill>
                <a:latin typeface="Calibri"/>
              </a:rPr>
              <a:t>Not just a colour reader. A field result anyone can check later.</a:t>
            </a:r>
          </a:p>
        </p:txBody>
      </p:sp>
      <p:sp>
        <p:nvSpPr>
          <p:cNvPr id="46" name="TextBox 45"/>
          <p:cNvSpPr txBox="1"/>
          <p:nvPr/>
        </p:nvSpPr>
        <p:spPr>
          <a:xfrm>
            <a:off x="9418320" y="2331720"/>
            <a:ext cx="6675120" cy="3474720"/>
          </a:xfrm>
          <a:prstGeom prst="rect">
            <a:avLst/>
          </a:prstGeom>
          <a:noFill/>
        </p:spPr>
        <p:txBody>
          <a:bodyPr wrap="square" anchor="t" lIns="27432" rIns="27432" tIns="18288" bIns="18288">
            <a:noAutofit/>
          </a:bodyPr>
          <a:lstStyle/>
          <a:p>
            <a:pPr algn="l" marL="201168" indent="-201168">
              <a:spcAft>
                <a:spcPts val="600"/>
              </a:spcAft>
              <a:buFont typeface="Arial"/>
              <a:buChar char="•"/>
            </a:pPr>
            <a:r>
              <a:rPr sz="1900" b="1" i="0">
                <a:solidFill>
                  <a:srgbClr val="000000"/>
                </a:solidFill>
                <a:latin typeface="Calibri"/>
              </a:rPr>
              <a:t>Handles Lighting Variations</a:t>
            </a:r>
            <a:r>
              <a:rPr sz="1900" b="0" i="0">
                <a:solidFill>
                  <a:srgbClr val="000000"/>
                </a:solidFill>
                <a:latin typeface="Calibri"/>
              </a:rPr>
              <a:t> - 24 known colours on a ₹10 card correct the light before the kit colour is read.</a:t>
            </a:r>
          </a:p>
          <a:p>
            <a:pPr algn="l" marL="201168" indent="-201168">
              <a:spcAft>
                <a:spcPts val="600"/>
              </a:spcAft>
              <a:buFont typeface="Arial"/>
              <a:buChar char="•"/>
            </a:pPr>
            <a:r>
              <a:rPr sz="1900" b="1" i="0">
                <a:solidFill>
                  <a:srgbClr val="000000"/>
                </a:solidFill>
                <a:latin typeface="Calibri"/>
              </a:rPr>
              <a:t>Handles Unclear Results</a:t>
            </a:r>
            <a:r>
              <a:rPr sz="1900" b="0" i="0">
                <a:solidFill>
                  <a:srgbClr val="000000"/>
                </a:solidFill>
                <a:latin typeface="Calibri"/>
              </a:rPr>
              <a:t> - Blurry, shiny or in-between photos get NOT SURE with the reason, never a guess.</a:t>
            </a:r>
          </a:p>
          <a:p>
            <a:pPr algn="l" marL="201168" indent="-201168">
              <a:spcAft>
                <a:spcPts val="600"/>
              </a:spcAft>
              <a:buFont typeface="Arial"/>
              <a:buChar char="•"/>
            </a:pPr>
            <a:r>
              <a:rPr sz="1900" b="1" i="0">
                <a:solidFill>
                  <a:srgbClr val="000000"/>
                </a:solidFill>
                <a:latin typeface="Calibri"/>
              </a:rPr>
              <a:t>Creates Verifiable Evidence</a:t>
            </a:r>
            <a:r>
              <a:rPr sz="1900" b="0" i="0">
                <a:solidFill>
                  <a:srgbClr val="000000"/>
                </a:solidFill>
                <a:latin typeface="Calibri"/>
              </a:rPr>
              <a:t> - Photo fingerprint, GPS, internet time and Inspector ID are signed and checked by QR.</a:t>
            </a:r>
          </a:p>
          <a:p>
            <a:pPr algn="l" marL="201168" indent="-201168">
              <a:spcAft>
                <a:spcPts val="600"/>
              </a:spcAft>
              <a:buFont typeface="Arial"/>
              <a:buChar char="•"/>
            </a:pPr>
            <a:r>
              <a:rPr sz="1900" b="1" i="0">
                <a:solidFill>
                  <a:srgbClr val="000000"/>
                </a:solidFill>
                <a:latin typeface="Calibri"/>
              </a:rPr>
              <a:t>Supports Multiple Kits</a:t>
            </a:r>
            <a:r>
              <a:rPr sz="1900" b="0" i="0">
                <a:solidFill>
                  <a:srgbClr val="000000"/>
                </a:solidFill>
                <a:latin typeface="Calibri"/>
              </a:rPr>
              <a:t> - New kit colour profiles are added from the Admin website without changing the app.</a:t>
            </a:r>
          </a:p>
          <a:p>
            <a:pPr algn="l" marL="201168" indent="-201168">
              <a:spcAft>
                <a:spcPts val="600"/>
              </a:spcAft>
              <a:buFont typeface="Arial"/>
              <a:buChar char="•"/>
            </a:pPr>
            <a:r>
              <a:rPr sz="1900" b="1" i="0">
                <a:solidFill>
                  <a:srgbClr val="000000"/>
                </a:solidFill>
                <a:latin typeface="Calibri"/>
              </a:rPr>
              <a:t>Local Language Support</a:t>
            </a:r>
            <a:r>
              <a:rPr sz="1900" b="0" i="0">
                <a:solidFill>
                  <a:srgbClr val="000000"/>
                </a:solidFill>
                <a:latin typeface="Calibri"/>
              </a:rPr>
              <a:t> - Officers can use the app in Tamil.</a:t>
            </a:r>
          </a:p>
        </p:txBody>
      </p:sp>
      <p:pic>
        <p:nvPicPr>
          <p:cNvPr id="47" name="Picture 46" descr="image.png"/>
          <p:cNvPicPr>
            <a:picLocks noChangeAspect="1"/>
          </p:cNvPicPr>
          <p:nvPr/>
        </p:nvPicPr>
        <p:blipFill>
          <a:blip r:embed="rId8"/>
          <a:srcRect b="34000"/>
          <a:stretch>
            <a:fillRect/>
          </a:stretch>
        </p:blipFill>
        <p:spPr>
          <a:xfrm>
            <a:off x="8641080" y="6510528"/>
            <a:ext cx="1901536" cy="2788920"/>
          </a:xfrm>
          <a:prstGeom prst="rect">
            <a:avLst/>
          </a:prstGeom>
          <a:ln w="9525">
            <a:solidFill>
              <a:srgbClr val="D0D0D0"/>
            </a:solidFill>
          </a:ln>
        </p:spPr>
      </p:pic>
      <p:pic>
        <p:nvPicPr>
          <p:cNvPr id="48" name="Picture 47" descr="image.png"/>
          <p:cNvPicPr>
            <a:picLocks noChangeAspect="1"/>
          </p:cNvPicPr>
          <p:nvPr/>
        </p:nvPicPr>
        <p:blipFill>
          <a:blip r:embed="rId9"/>
          <a:srcRect/>
          <a:stretch>
            <a:fillRect/>
          </a:stretch>
        </p:blipFill>
        <p:spPr>
          <a:xfrm>
            <a:off x="10926663" y="6510528"/>
            <a:ext cx="1255014" cy="2788920"/>
          </a:xfrm>
          <a:prstGeom prst="rect">
            <a:avLst/>
          </a:prstGeom>
          <a:ln w="9525">
            <a:solidFill>
              <a:srgbClr val="D0D0D0"/>
            </a:solidFill>
          </a:ln>
        </p:spPr>
      </p:pic>
      <p:pic>
        <p:nvPicPr>
          <p:cNvPr id="49" name="Picture 48" descr="image.png"/>
          <p:cNvPicPr>
            <a:picLocks noChangeAspect="1"/>
          </p:cNvPicPr>
          <p:nvPr/>
        </p:nvPicPr>
        <p:blipFill>
          <a:blip r:embed="rId10"/>
          <a:srcRect b="18000"/>
          <a:stretch>
            <a:fillRect/>
          </a:stretch>
        </p:blipFill>
        <p:spPr>
          <a:xfrm>
            <a:off x="12565726" y="6510528"/>
            <a:ext cx="1530504" cy="2788920"/>
          </a:xfrm>
          <a:prstGeom prst="rect">
            <a:avLst/>
          </a:prstGeom>
          <a:ln w="9525">
            <a:solidFill>
              <a:srgbClr val="D0D0D0"/>
            </a:solidFill>
          </a:ln>
        </p:spPr>
      </p:pic>
      <p:pic>
        <p:nvPicPr>
          <p:cNvPr id="50" name="Picture 49" descr="image.png"/>
          <p:cNvPicPr>
            <a:picLocks noChangeAspect="1"/>
          </p:cNvPicPr>
          <p:nvPr/>
        </p:nvPicPr>
        <p:blipFill>
          <a:blip r:embed="rId11"/>
          <a:srcRect r="38000"/>
          <a:stretch>
            <a:fillRect/>
          </a:stretch>
        </p:blipFill>
        <p:spPr>
          <a:xfrm>
            <a:off x="14480278" y="6510528"/>
            <a:ext cx="3137930" cy="2788920"/>
          </a:xfrm>
          <a:prstGeom prst="rect">
            <a:avLst/>
          </a:prstGeom>
          <a:ln w="9525">
            <a:solidFill>
              <a:srgbClr val="D0D0D0"/>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564624"/>
            <a:ext cx="18280761" cy="715289"/>
            <a:chOff x="0" y="0"/>
            <a:chExt cx="24374348" cy="953719"/>
          </a:xfrm>
        </p:grpSpPr>
        <p:sp>
          <p:nvSpPr>
            <p:cNvPr id="3" name="Freeform 3"/>
            <p:cNvSpPr/>
            <p:nvPr/>
          </p:nvSpPr>
          <p:spPr>
            <a:xfrm>
              <a:off x="0" y="0"/>
              <a:ext cx="24374348" cy="953770"/>
            </a:xfrm>
            <a:custGeom>
              <a:avLst/>
              <a:gdLst/>
              <a:ahLst/>
              <a:cxnLst/>
              <a:rect l="l" t="t" r="r" b="b"/>
              <a:pathLst>
                <a:path w="24374348" h="953770">
                  <a:moveTo>
                    <a:pt x="0" y="0"/>
                  </a:moveTo>
                  <a:lnTo>
                    <a:pt x="24374348" y="0"/>
                  </a:lnTo>
                  <a:lnTo>
                    <a:pt x="24374348" y="953770"/>
                  </a:lnTo>
                  <a:lnTo>
                    <a:pt x="0" y="953770"/>
                  </a:lnTo>
                  <a:lnTo>
                    <a:pt x="0" y="0"/>
                  </a:lnTo>
                  <a:close/>
                </a:path>
              </a:pathLst>
            </a:custGeom>
            <a:blipFill>
              <a:blip r:embed="rId2"/>
              <a:stretch>
                <a:fillRect t="-914" b="-909"/>
              </a:stretch>
            </a:blipFill>
          </p:spPr>
        </p:sp>
      </p:grpSp>
      <p:grpSp>
        <p:nvGrpSpPr>
          <p:cNvPr id="4" name="Group 4"/>
          <p:cNvGrpSpPr/>
          <p:nvPr/>
        </p:nvGrpSpPr>
        <p:grpSpPr>
          <a:xfrm>
            <a:off x="0" y="9532620"/>
            <a:ext cx="18288000" cy="754380"/>
            <a:chOff x="0" y="0"/>
            <a:chExt cx="24384000" cy="1005840"/>
          </a:xfrm>
        </p:grpSpPr>
        <p:sp>
          <p:nvSpPr>
            <p:cNvPr id="5" name="Freeform 5"/>
            <p:cNvSpPr/>
            <p:nvPr/>
          </p:nvSpPr>
          <p:spPr>
            <a:xfrm>
              <a:off x="0" y="0"/>
              <a:ext cx="24384000" cy="1005840"/>
            </a:xfrm>
            <a:custGeom>
              <a:avLst/>
              <a:gdLst/>
              <a:ahLst/>
              <a:cxnLst/>
              <a:rect l="l" t="t" r="r" b="b"/>
              <a:pathLst>
                <a:path w="24384000" h="1005840">
                  <a:moveTo>
                    <a:pt x="24384000" y="0"/>
                  </a:moveTo>
                  <a:lnTo>
                    <a:pt x="0" y="0"/>
                  </a:lnTo>
                  <a:lnTo>
                    <a:pt x="0" y="1005840"/>
                  </a:lnTo>
                  <a:lnTo>
                    <a:pt x="24384000" y="1005840"/>
                  </a:lnTo>
                  <a:lnTo>
                    <a:pt x="24384000" y="0"/>
                  </a:lnTo>
                  <a:close/>
                </a:path>
              </a:pathLst>
            </a:custGeom>
            <a:solidFill>
              <a:srgbClr val="006EC0"/>
            </a:solidFill>
          </p:spPr>
        </p:sp>
      </p:grpSp>
      <p:sp>
        <p:nvSpPr>
          <p:cNvPr id="6" name="Freeform 6"/>
          <p:cNvSpPr/>
          <p:nvPr/>
        </p:nvSpPr>
        <p:spPr>
          <a:xfrm>
            <a:off x="391335" y="315011"/>
            <a:ext cx="2629852" cy="1249680"/>
          </a:xfrm>
          <a:custGeom>
            <a:avLst/>
            <a:gdLst/>
            <a:ahLst/>
            <a:cxnLst/>
            <a:rect l="l" t="t" r="r" b="b"/>
            <a:pathLst>
              <a:path w="2629852" h="1249680">
                <a:moveTo>
                  <a:pt x="0" y="0"/>
                </a:moveTo>
                <a:lnTo>
                  <a:pt x="2629852" y="0"/>
                </a:lnTo>
                <a:lnTo>
                  <a:pt x="2629852" y="1249680"/>
                </a:lnTo>
                <a:lnTo>
                  <a:pt x="0" y="124968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7" name="AutoShape 7"/>
          <p:cNvSpPr/>
          <p:nvPr/>
        </p:nvSpPr>
        <p:spPr>
          <a:xfrm flipV="1">
            <a:off x="9120273" y="2317442"/>
            <a:ext cx="0" cy="6940858"/>
          </a:xfrm>
          <a:prstGeom prst="line">
            <a:avLst/>
          </a:prstGeom>
          <a:ln w="19050" cap="flat">
            <a:solidFill>
              <a:srgbClr val="B2935B"/>
            </a:solidFill>
            <a:prstDash val="solid"/>
            <a:headEnd type="none" w="sm" len="sm"/>
            <a:tailEnd type="none" w="sm" len="sm"/>
          </a:ln>
        </p:spPr>
        <p:txBody>
          <a:bodyPr/>
          <a:lstStyle/>
          <a:p>
            <a:endParaRPr/>
          </a:p>
        </p:txBody>
      </p:sp>
      <p:grpSp>
        <p:nvGrpSpPr>
          <p:cNvPr id="9" name="Group 9"/>
          <p:cNvGrpSpPr/>
          <p:nvPr/>
        </p:nvGrpSpPr>
        <p:grpSpPr>
          <a:xfrm>
            <a:off x="14720116" y="33423"/>
            <a:ext cx="3287373" cy="1531268"/>
            <a:chOff x="0" y="0"/>
            <a:chExt cx="4383164" cy="2041690"/>
          </a:xfrm>
        </p:grpSpPr>
        <p:sp>
          <p:nvSpPr>
            <p:cNvPr id="10" name="Freeform 10"/>
            <p:cNvSpPr/>
            <p:nvPr/>
          </p:nvSpPr>
          <p:spPr>
            <a:xfrm>
              <a:off x="0" y="0"/>
              <a:ext cx="4383151" cy="2041652"/>
            </a:xfrm>
            <a:custGeom>
              <a:avLst/>
              <a:gdLst/>
              <a:ahLst/>
              <a:cxnLst/>
              <a:rect l="l" t="t" r="r" b="b"/>
              <a:pathLst>
                <a:path w="4383151" h="2041652">
                  <a:moveTo>
                    <a:pt x="0" y="0"/>
                  </a:moveTo>
                  <a:lnTo>
                    <a:pt x="4383151" y="0"/>
                  </a:lnTo>
                  <a:lnTo>
                    <a:pt x="4383151" y="2041652"/>
                  </a:lnTo>
                  <a:lnTo>
                    <a:pt x="0" y="2041652"/>
                  </a:lnTo>
                  <a:lnTo>
                    <a:pt x="0" y="0"/>
                  </a:lnTo>
                  <a:close/>
                </a:path>
              </a:pathLst>
            </a:custGeom>
            <a:blipFill>
              <a:blip r:embed="rId5"/>
              <a:stretch>
                <a:fillRect t="-106" b="-108"/>
              </a:stretch>
            </a:blipFill>
          </p:spPr>
        </p:sp>
      </p:grpSp>
      <p:sp>
        <p:nvSpPr>
          <p:cNvPr id="11" name="Freeform 11"/>
          <p:cNvSpPr/>
          <p:nvPr/>
        </p:nvSpPr>
        <p:spPr>
          <a:xfrm>
            <a:off x="15633393" y="3206103"/>
            <a:ext cx="2374096" cy="5123386"/>
          </a:xfrm>
          <a:custGeom>
            <a:avLst/>
            <a:gdLst/>
            <a:ahLst/>
            <a:cxnLst/>
            <a:rect l="l" t="t" r="r" b="b"/>
            <a:pathLst>
              <a:path w="2374096" h="5123386">
                <a:moveTo>
                  <a:pt x="0" y="0"/>
                </a:moveTo>
                <a:lnTo>
                  <a:pt x="2374096" y="0"/>
                </a:lnTo>
                <a:lnTo>
                  <a:pt x="2374096" y="5123386"/>
                </a:lnTo>
                <a:lnTo>
                  <a:pt x="0" y="5123386"/>
                </a:lnTo>
                <a:lnTo>
                  <a:pt x="0" y="0"/>
                </a:lnTo>
                <a:close/>
              </a:path>
            </a:pathLst>
          </a:custGeom>
          <a:blipFill>
            <a:blip r:embed="rId6"/>
            <a:stretch>
              <a:fillRect l="-32659" t="-5244" r="-32335" b="-9439"/>
            </a:stretch>
          </a:blipFill>
        </p:spPr>
        <p:txBody>
          <a:bodyPr/>
          <a:lstStyle/>
          <a:p>
            <a:endParaRPr/>
          </a:p>
        </p:txBody>
      </p:sp>
      <p:sp>
        <p:nvSpPr>
          <p:cNvPr id="12" name="AutoShape 12"/>
          <p:cNvSpPr/>
          <p:nvPr/>
        </p:nvSpPr>
        <p:spPr>
          <a:xfrm flipV="1">
            <a:off x="15376592" y="2280181"/>
            <a:ext cx="0" cy="6940858"/>
          </a:xfrm>
          <a:prstGeom prst="line">
            <a:avLst/>
          </a:prstGeom>
          <a:ln w="19050" cap="flat">
            <a:solidFill>
              <a:srgbClr val="B2935B"/>
            </a:solidFill>
            <a:prstDash val="solid"/>
            <a:headEnd type="none" w="sm" len="sm"/>
            <a:tailEnd type="none" w="sm" len="sm"/>
          </a:ln>
        </p:spPr>
        <p:txBody>
          <a:bodyPr/>
          <a:lstStyle/>
          <a:p>
            <a:endParaRPr/>
          </a:p>
        </p:txBody>
      </p:sp>
      <p:sp>
        <p:nvSpPr>
          <p:cNvPr id="14" name="TextBox 14" descr="$PPTXTitle"/>
          <p:cNvSpPr txBox="1"/>
          <p:nvPr/>
        </p:nvSpPr>
        <p:spPr>
          <a:xfrm>
            <a:off x="4732364" y="360750"/>
            <a:ext cx="8268583" cy="847725"/>
          </a:xfrm>
          <a:prstGeom prst="rect">
            <a:avLst/>
          </a:prstGeom>
        </p:spPr>
        <p:txBody>
          <a:bodyPr lIns="0" tIns="0" rIns="0" bIns="0" rtlCol="0" anchor="t">
            <a:spAutoFit/>
          </a:bodyPr>
          <a:lstStyle/>
          <a:p>
            <a:pPr algn="l">
              <a:lnSpc>
                <a:spcPts val="6480"/>
              </a:lnSpc>
            </a:pPr>
            <a:r>
              <a:rPr lang="en-US" sz="5400" b="1" spc="-15">
                <a:solidFill>
                  <a:srgbClr val="7A2F00"/>
                </a:solidFill>
                <a:latin typeface="Times New Roman Bold"/>
                <a:ea typeface="Times New Roman Bold"/>
                <a:cs typeface="Times New Roman Bold"/>
                <a:sym typeface="Times New Roman Bold"/>
              </a:rPr>
              <a:t>TECHNICAL APPROACH</a:t>
            </a:r>
          </a:p>
        </p:txBody>
      </p:sp>
      <p:sp>
        <p:nvSpPr>
          <p:cNvPr id="15" name="TextBox 15"/>
          <p:cNvSpPr txBox="1"/>
          <p:nvPr/>
        </p:nvSpPr>
        <p:spPr>
          <a:xfrm>
            <a:off x="17063656" y="9649673"/>
            <a:ext cx="104775" cy="288608"/>
          </a:xfrm>
          <a:prstGeom prst="rect">
            <a:avLst/>
          </a:prstGeom>
        </p:spPr>
        <p:txBody>
          <a:bodyPr lIns="0" tIns="0" rIns="0" bIns="0" rtlCol="0" anchor="t">
            <a:spAutoFit/>
          </a:bodyPr>
          <a:lstStyle/>
          <a:p>
            <a:pPr algn="l">
              <a:lnSpc>
                <a:spcPts val="2137"/>
              </a:lnSpc>
            </a:pPr>
            <a:r>
              <a:rPr lang="en-US" sz="1800" b="1" spc="-75">
                <a:solidFill>
                  <a:srgbClr val="FFFFFF"/>
                </a:solidFill>
                <a:latin typeface="Times New Roman Bold"/>
                <a:ea typeface="Times New Roman Bold"/>
                <a:cs typeface="Times New Roman Bold"/>
                <a:sym typeface="Times New Roman Bold"/>
              </a:rPr>
              <a:t>3</a:t>
            </a:r>
          </a:p>
        </p:txBody>
      </p:sp>
      <p:sp>
        <p:nvSpPr>
          <p:cNvPr id="16" name="TextBox 16" descr="$PPTXTitle"/>
          <p:cNvSpPr txBox="1"/>
          <p:nvPr/>
        </p:nvSpPr>
        <p:spPr>
          <a:xfrm>
            <a:off x="1074372" y="677913"/>
            <a:ext cx="1461403" cy="466725"/>
          </a:xfrm>
          <a:prstGeom prst="rect">
            <a:avLst/>
          </a:prstGeom>
        </p:spPr>
        <p:txBody>
          <a:bodyPr lIns="0" tIns="0" rIns="0" bIns="0" rtlCol="0" anchor="t">
            <a:spAutoFit/>
          </a:bodyPr>
          <a:lstStyle/>
          <a:p>
            <a:pPr algn="l">
              <a:lnSpc>
                <a:spcPts val="3240"/>
              </a:lnSpc>
            </a:pPr>
            <a:r>
              <a:rPr lang="en-US" sz="2700" b="1" spc="-29">
                <a:solidFill>
                  <a:srgbClr val="7A2F00"/>
                </a:solidFill>
                <a:latin typeface="Calibri"/>
                <a:ea typeface="Calibri"/>
                <a:cs typeface="Calibri"/>
                <a:sym typeface="Calibri"/>
              </a:rPr>
              <a:t>HexTech</a:t>
            </a:r>
          </a:p>
        </p:txBody>
      </p:sp>
      <p:sp>
        <p:nvSpPr>
          <p:cNvPr id="17" name="TextBox 17"/>
          <p:cNvSpPr txBox="1"/>
          <p:nvPr/>
        </p:nvSpPr>
        <p:spPr>
          <a:xfrm>
            <a:off x="15414563" y="2563902"/>
            <a:ext cx="2592926" cy="438150"/>
          </a:xfrm>
          <a:prstGeom prst="rect">
            <a:avLst/>
          </a:prstGeom>
        </p:spPr>
        <p:txBody>
          <a:bodyPr lIns="0" tIns="0" rIns="0" bIns="0" rtlCol="0" anchor="t">
            <a:spAutoFit/>
          </a:bodyPr>
          <a:lstStyle/>
          <a:p>
            <a:pPr algn="ctr">
              <a:lnSpc>
                <a:spcPts val="3000"/>
              </a:lnSpc>
              <a:spcBef>
                <a:spcPct val="0"/>
              </a:spcBef>
            </a:pPr>
            <a:r>
              <a:rPr lang="en-US" sz="2500" b="1" spc="-27">
                <a:solidFill>
                  <a:srgbClr val="7A2F00"/>
                </a:solidFill>
                <a:latin typeface="Calibri"/>
                <a:ea typeface="Calibri"/>
                <a:cs typeface="Calibri"/>
                <a:sym typeface="Calibri"/>
              </a:rPr>
              <a:t>Technology Stack</a:t>
            </a:r>
          </a:p>
        </p:txBody>
      </p:sp>
      <p:sp>
        <p:nvSpPr>
          <p:cNvPr id="18" name="TextBox 18"/>
          <p:cNvSpPr txBox="1"/>
          <p:nvPr/>
        </p:nvSpPr>
        <p:spPr>
          <a:xfrm>
            <a:off x="714375" y="1842031"/>
            <a:ext cx="2592926" cy="438150"/>
          </a:xfrm>
          <a:prstGeom prst="rect">
            <a:avLst/>
          </a:prstGeom>
        </p:spPr>
        <p:txBody>
          <a:bodyPr lIns="0" tIns="0" rIns="0" bIns="0" rtlCol="0" anchor="t">
            <a:spAutoFit/>
          </a:bodyPr>
          <a:lstStyle/>
          <a:p>
            <a:pPr algn="ctr">
              <a:lnSpc>
                <a:spcPts val="3000"/>
              </a:lnSpc>
              <a:spcBef>
                <a:spcPct val="0"/>
              </a:spcBef>
            </a:pPr>
            <a:r>
              <a:rPr lang="en-US" sz="2500" b="1" spc="-27">
                <a:solidFill>
                  <a:srgbClr val="7A2F00"/>
                </a:solidFill>
                <a:latin typeface="Calibri"/>
                <a:ea typeface="Calibri"/>
                <a:cs typeface="Calibri"/>
                <a:sym typeface="Calibri"/>
              </a:rPr>
              <a:t>System Architecture</a:t>
            </a:r>
          </a:p>
        </p:txBody>
      </p:sp>
      <p:sp>
        <p:nvSpPr>
          <p:cNvPr id="19" name="Rounded Rectangle 18"/>
          <p:cNvSpPr/>
          <p:nvPr/>
        </p:nvSpPr>
        <p:spPr>
          <a:xfrm>
            <a:off x="640080" y="2331720"/>
            <a:ext cx="8321040" cy="877824"/>
          </a:xfrm>
          <a:prstGeom prst="roundRect">
            <a:avLst>
              <a:gd name="adj" fmla="val 8000"/>
            </a:avLst>
          </a:prstGeom>
          <a:solidFill>
            <a:srgbClr val="FBF6EE"/>
          </a:solidFill>
          <a:ln w="12700">
            <a:solidFill>
              <a:srgbClr val="D9C4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331720"/>
            <a:ext cx="1234439" cy="877824"/>
          </a:xfrm>
          <a:prstGeom prst="rect">
            <a:avLst/>
          </a:prstGeom>
          <a:noFill/>
        </p:spPr>
        <p:txBody>
          <a:bodyPr wrap="square" anchor="ctr" lIns="27432" rIns="27432" tIns="18288" bIns="18288">
            <a:noAutofit/>
          </a:bodyPr>
          <a:lstStyle/>
          <a:p>
            <a:pPr algn="ctr">
              <a:spcAft>
                <a:spcPts val="0"/>
              </a:spcAft>
            </a:pPr>
            <a:r>
              <a:rPr sz="1300" b="1" i="0">
                <a:solidFill>
                  <a:srgbClr val="7A2F00"/>
                </a:solidFill>
                <a:latin typeface="Calibri"/>
              </a:rPr>
              <a:t>Officer's phone</a:t>
            </a:r>
          </a:p>
          <a:p>
            <a:pPr algn="ctr">
              <a:spcAft>
                <a:spcPts val="0"/>
              </a:spcAft>
            </a:pPr>
            <a:r>
              <a:rPr sz="1300" b="1" i="0">
                <a:solidFill>
                  <a:srgbClr val="7A2F00"/>
                </a:solidFill>
                <a:latin typeface="Calibri"/>
              </a:rPr>
              <a:t>(Flutter app)</a:t>
            </a:r>
          </a:p>
        </p:txBody>
      </p:sp>
      <p:sp>
        <p:nvSpPr>
          <p:cNvPr id="21" name="Rounded Rectangle 20"/>
          <p:cNvSpPr/>
          <p:nvPr/>
        </p:nvSpPr>
        <p:spPr>
          <a:xfrm>
            <a:off x="1965959" y="2441448"/>
            <a:ext cx="1074420"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Login and</a:t>
            </a:r>
          </a:p>
          <a:p>
            <a:pPr algn="ctr">
              <a:spcAft>
                <a:spcPts val="0"/>
              </a:spcAft>
            </a:pPr>
            <a:r>
              <a:rPr sz="1200" b="0" i="0">
                <a:solidFill>
                  <a:srgbClr val="000000"/>
                </a:solidFill>
                <a:latin typeface="Calibri"/>
              </a:rPr>
              <a:t>pick kit</a:t>
            </a:r>
          </a:p>
        </p:txBody>
      </p:sp>
      <p:sp>
        <p:nvSpPr>
          <p:cNvPr id="22" name="Rounded Rectangle 21"/>
          <p:cNvSpPr/>
          <p:nvPr/>
        </p:nvSpPr>
        <p:spPr>
          <a:xfrm>
            <a:off x="3131820" y="2441448"/>
            <a:ext cx="1074420"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Kit read</a:t>
            </a:r>
          </a:p>
          <a:p>
            <a:pPr algn="ctr">
              <a:spcAft>
                <a:spcPts val="0"/>
              </a:spcAft>
            </a:pPr>
            <a:r>
              <a:rPr sz="1200" b="0" i="0">
                <a:solidFill>
                  <a:srgbClr val="000000"/>
                </a:solidFill>
                <a:latin typeface="Calibri"/>
              </a:rPr>
              <a:t>timer</a:t>
            </a:r>
          </a:p>
        </p:txBody>
      </p:sp>
      <p:sp>
        <p:nvSpPr>
          <p:cNvPr id="23" name="Rounded Rectangle 22"/>
          <p:cNvSpPr/>
          <p:nvPr/>
        </p:nvSpPr>
        <p:spPr>
          <a:xfrm>
            <a:off x="4297679" y="2441448"/>
            <a:ext cx="1074420"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Camera with</a:t>
            </a:r>
          </a:p>
          <a:p>
            <a:pPr algn="ctr">
              <a:spcAft>
                <a:spcPts val="0"/>
              </a:spcAft>
            </a:pPr>
            <a:r>
              <a:rPr sz="1200" b="0" i="0">
                <a:solidFill>
                  <a:srgbClr val="000000"/>
                </a:solidFill>
                <a:latin typeface="Calibri"/>
              </a:rPr>
              <a:t>card guide</a:t>
            </a:r>
          </a:p>
        </p:txBody>
      </p:sp>
      <p:sp>
        <p:nvSpPr>
          <p:cNvPr id="24" name="Rounded Rectangle 23"/>
          <p:cNvSpPr/>
          <p:nvPr/>
        </p:nvSpPr>
        <p:spPr>
          <a:xfrm>
            <a:off x="5463540" y="2441448"/>
            <a:ext cx="1074420"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Blur check</a:t>
            </a:r>
          </a:p>
          <a:p>
            <a:pPr algn="ctr">
              <a:spcAft>
                <a:spcPts val="0"/>
              </a:spcAft>
            </a:pPr>
            <a:r>
              <a:rPr sz="1200" b="0" i="0">
                <a:solidFill>
                  <a:srgbClr val="000000"/>
                </a:solidFill>
                <a:latin typeface="Calibri"/>
              </a:rPr>
              <a:t>on phone</a:t>
            </a:r>
          </a:p>
        </p:txBody>
      </p:sp>
      <p:sp>
        <p:nvSpPr>
          <p:cNvPr id="25" name="Rounded Rectangle 24"/>
          <p:cNvSpPr/>
          <p:nvPr/>
        </p:nvSpPr>
        <p:spPr>
          <a:xfrm>
            <a:off x="6629400" y="2441448"/>
            <a:ext cx="1074420"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GPS and</a:t>
            </a:r>
          </a:p>
          <a:p>
            <a:pPr algn="ctr">
              <a:spcAft>
                <a:spcPts val="0"/>
              </a:spcAft>
            </a:pPr>
            <a:r>
              <a:rPr sz="1200" b="0" i="0">
                <a:solidFill>
                  <a:srgbClr val="000000"/>
                </a:solidFill>
                <a:latin typeface="Calibri"/>
              </a:rPr>
              <a:t>mock flag</a:t>
            </a:r>
          </a:p>
        </p:txBody>
      </p:sp>
      <p:sp>
        <p:nvSpPr>
          <p:cNvPr id="26" name="Rounded Rectangle 25"/>
          <p:cNvSpPr/>
          <p:nvPr/>
        </p:nvSpPr>
        <p:spPr>
          <a:xfrm>
            <a:off x="7795260" y="2441448"/>
            <a:ext cx="1074420"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Photo</a:t>
            </a:r>
          </a:p>
          <a:p>
            <a:pPr algn="ctr">
              <a:spcAft>
                <a:spcPts val="0"/>
              </a:spcAft>
            </a:pPr>
            <a:r>
              <a:rPr sz="1200" b="0" i="0">
                <a:solidFill>
                  <a:srgbClr val="000000"/>
                </a:solidFill>
                <a:latin typeface="Calibri"/>
              </a:rPr>
              <a:t>SHA-256</a:t>
            </a:r>
          </a:p>
        </p:txBody>
      </p:sp>
      <p:sp>
        <p:nvSpPr>
          <p:cNvPr id="27" name="Down Arrow 26"/>
          <p:cNvSpPr/>
          <p:nvPr/>
        </p:nvSpPr>
        <p:spPr>
          <a:xfrm>
            <a:off x="5262371" y="3236976"/>
            <a:ext cx="310896" cy="237744"/>
          </a:xfrm>
          <a:prstGeom prst="downArrow">
            <a:avLst/>
          </a:prstGeom>
          <a:solidFill>
            <a:srgbClr val="B293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0080" y="3520439"/>
            <a:ext cx="8321040" cy="1335024"/>
          </a:xfrm>
          <a:prstGeom prst="roundRect">
            <a:avLst>
              <a:gd name="adj" fmla="val 8000"/>
            </a:avLst>
          </a:prstGeom>
          <a:solidFill>
            <a:srgbClr val="FBF6EE"/>
          </a:solidFill>
          <a:ln w="12700">
            <a:solidFill>
              <a:srgbClr val="D9C4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3520439"/>
            <a:ext cx="1234439" cy="1335024"/>
          </a:xfrm>
          <a:prstGeom prst="rect">
            <a:avLst/>
          </a:prstGeom>
          <a:noFill/>
        </p:spPr>
        <p:txBody>
          <a:bodyPr wrap="square" anchor="ctr" lIns="27432" rIns="27432" tIns="18288" bIns="18288">
            <a:noAutofit/>
          </a:bodyPr>
          <a:lstStyle/>
          <a:p>
            <a:pPr algn="ctr">
              <a:spcAft>
                <a:spcPts val="0"/>
              </a:spcAft>
            </a:pPr>
            <a:r>
              <a:rPr sz="1300" b="1" i="0">
                <a:solidFill>
                  <a:srgbClr val="7A2F00"/>
                </a:solidFill>
                <a:latin typeface="Calibri"/>
              </a:rPr>
              <a:t>Colour engine</a:t>
            </a:r>
          </a:p>
          <a:p>
            <a:pPr algn="ctr">
              <a:spcAft>
                <a:spcPts val="0"/>
              </a:spcAft>
            </a:pPr>
            <a:r>
              <a:rPr sz="1300" b="1" i="0">
                <a:solidFill>
                  <a:srgbClr val="7A2F00"/>
                </a:solidFill>
                <a:latin typeface="Calibri"/>
              </a:rPr>
              <a:t>(server, OpenCV)</a:t>
            </a:r>
          </a:p>
        </p:txBody>
      </p:sp>
      <p:sp>
        <p:nvSpPr>
          <p:cNvPr id="30" name="Rounded Rectangle 29"/>
          <p:cNvSpPr/>
          <p:nvPr/>
        </p:nvSpPr>
        <p:spPr>
          <a:xfrm>
            <a:off x="1965959" y="3630168"/>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Find card</a:t>
            </a:r>
          </a:p>
          <a:p>
            <a:pPr algn="ctr">
              <a:spcAft>
                <a:spcPts val="0"/>
              </a:spcAft>
            </a:pPr>
            <a:r>
              <a:rPr sz="1200" b="0" i="0">
                <a:solidFill>
                  <a:srgbClr val="000000"/>
                </a:solidFill>
                <a:latin typeface="Calibri"/>
              </a:rPr>
              <a:t>(4 corners)</a:t>
            </a:r>
          </a:p>
        </p:txBody>
      </p:sp>
      <p:sp>
        <p:nvSpPr>
          <p:cNvPr id="31" name="Rounded Rectangle 30"/>
          <p:cNvSpPr/>
          <p:nvPr/>
        </p:nvSpPr>
        <p:spPr>
          <a:xfrm>
            <a:off x="3364991" y="3630168"/>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Blur and</a:t>
            </a:r>
          </a:p>
          <a:p>
            <a:pPr algn="ctr">
              <a:spcAft>
                <a:spcPts val="0"/>
              </a:spcAft>
            </a:pPr>
            <a:r>
              <a:rPr sz="1200" b="0" i="0">
                <a:solidFill>
                  <a:srgbClr val="000000"/>
                </a:solidFill>
                <a:latin typeface="Calibri"/>
              </a:rPr>
              <a:t>glare check</a:t>
            </a:r>
          </a:p>
        </p:txBody>
      </p:sp>
      <p:sp>
        <p:nvSpPr>
          <p:cNvPr id="32" name="Rounded Rectangle 31"/>
          <p:cNvSpPr/>
          <p:nvPr/>
        </p:nvSpPr>
        <p:spPr>
          <a:xfrm>
            <a:off x="4764023" y="3630168"/>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Fix colours</a:t>
            </a:r>
          </a:p>
          <a:p>
            <a:pPr algn="ctr">
              <a:spcAft>
                <a:spcPts val="0"/>
              </a:spcAft>
            </a:pPr>
            <a:r>
              <a:rPr sz="1200" b="0" i="0">
                <a:solidFill>
                  <a:srgbClr val="000000"/>
                </a:solidFill>
                <a:latin typeface="Calibri"/>
              </a:rPr>
              <a:t>(24 known)</a:t>
            </a:r>
          </a:p>
        </p:txBody>
      </p:sp>
      <p:sp>
        <p:nvSpPr>
          <p:cNvPr id="33" name="Rounded Rectangle 32"/>
          <p:cNvSpPr/>
          <p:nvPr/>
        </p:nvSpPr>
        <p:spPr>
          <a:xfrm>
            <a:off x="6163055" y="3630168"/>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CIELAB and</a:t>
            </a:r>
          </a:p>
          <a:p>
            <a:pPr algn="ctr">
              <a:spcAft>
                <a:spcPts val="0"/>
              </a:spcAft>
            </a:pPr>
            <a:r>
              <a:rPr sz="1200" b="0" i="0">
                <a:solidFill>
                  <a:srgbClr val="000000"/>
                </a:solidFill>
                <a:latin typeface="Calibri"/>
              </a:rPr>
              <a:t>ΔE 2000</a:t>
            </a:r>
          </a:p>
        </p:txBody>
      </p:sp>
      <p:sp>
        <p:nvSpPr>
          <p:cNvPr id="34" name="Rounded Rectangle 33"/>
          <p:cNvSpPr/>
          <p:nvPr/>
        </p:nvSpPr>
        <p:spPr>
          <a:xfrm>
            <a:off x="7562088" y="3630168"/>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Pick closest</a:t>
            </a:r>
          </a:p>
          <a:p>
            <a:pPr algn="ctr">
              <a:spcAft>
                <a:spcPts val="0"/>
              </a:spcAft>
            </a:pPr>
            <a:r>
              <a:rPr sz="1200" b="0" i="0">
                <a:solidFill>
                  <a:srgbClr val="000000"/>
                </a:solidFill>
                <a:latin typeface="Calibri"/>
              </a:rPr>
              <a:t>kit colour</a:t>
            </a:r>
          </a:p>
        </p:txBody>
      </p:sp>
      <p:sp>
        <p:nvSpPr>
          <p:cNvPr id="35" name="Rounded Rectangle 34"/>
          <p:cNvSpPr/>
          <p:nvPr/>
        </p:nvSpPr>
        <p:spPr>
          <a:xfrm>
            <a:off x="1965959" y="4389120"/>
            <a:ext cx="2240279" cy="347472"/>
          </a:xfrm>
          <a:prstGeom prst="roundRect">
            <a:avLst>
              <a:gd name="adj" fmla="val 3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1" i="0">
                <a:solidFill>
                  <a:srgbClr val="FFFFFF"/>
                </a:solidFill>
                <a:latin typeface="Calibri"/>
              </a:rPr>
              <a:t>POSITIVE</a:t>
            </a:r>
          </a:p>
        </p:txBody>
      </p:sp>
      <p:sp>
        <p:nvSpPr>
          <p:cNvPr id="36" name="Rounded Rectangle 35"/>
          <p:cNvSpPr/>
          <p:nvPr/>
        </p:nvSpPr>
        <p:spPr>
          <a:xfrm>
            <a:off x="4297679" y="4389120"/>
            <a:ext cx="2240279" cy="347472"/>
          </a:xfrm>
          <a:prstGeom prst="roundRect">
            <a:avLst>
              <a:gd name="adj" fmla="val 3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1" i="0">
                <a:solidFill>
                  <a:srgbClr val="FFFFFF"/>
                </a:solidFill>
                <a:latin typeface="Calibri"/>
              </a:rPr>
              <a:t>NEGATIVE</a:t>
            </a:r>
          </a:p>
        </p:txBody>
      </p:sp>
      <p:sp>
        <p:nvSpPr>
          <p:cNvPr id="37" name="Rounded Rectangle 36"/>
          <p:cNvSpPr/>
          <p:nvPr/>
        </p:nvSpPr>
        <p:spPr>
          <a:xfrm>
            <a:off x="6629399" y="4389120"/>
            <a:ext cx="2240279" cy="347472"/>
          </a:xfrm>
          <a:prstGeom prst="roundRect">
            <a:avLst>
              <a:gd name="adj" fmla="val 30000"/>
            </a:avLst>
          </a:prstGeom>
          <a:solidFill>
            <a:srgbClr val="6A1B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1" i="0">
                <a:solidFill>
                  <a:srgbClr val="FFFFFF"/>
                </a:solidFill>
                <a:latin typeface="Calibri"/>
              </a:rPr>
              <a:t>NOT SURE + reason</a:t>
            </a:r>
          </a:p>
        </p:txBody>
      </p:sp>
      <p:sp>
        <p:nvSpPr>
          <p:cNvPr id="38" name="Down Arrow 37"/>
          <p:cNvSpPr/>
          <p:nvPr/>
        </p:nvSpPr>
        <p:spPr>
          <a:xfrm>
            <a:off x="5262371" y="4882896"/>
            <a:ext cx="310896" cy="237744"/>
          </a:xfrm>
          <a:prstGeom prst="downArrow">
            <a:avLst/>
          </a:prstGeom>
          <a:solidFill>
            <a:srgbClr val="B293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40080" y="5166359"/>
            <a:ext cx="8321040" cy="877824"/>
          </a:xfrm>
          <a:prstGeom prst="roundRect">
            <a:avLst>
              <a:gd name="adj" fmla="val 8000"/>
            </a:avLst>
          </a:prstGeom>
          <a:solidFill>
            <a:srgbClr val="FBF6EE"/>
          </a:solidFill>
          <a:ln w="12700">
            <a:solidFill>
              <a:srgbClr val="D9C4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5166359"/>
            <a:ext cx="1234439" cy="877824"/>
          </a:xfrm>
          <a:prstGeom prst="rect">
            <a:avLst/>
          </a:prstGeom>
          <a:noFill/>
        </p:spPr>
        <p:txBody>
          <a:bodyPr wrap="square" anchor="ctr" lIns="27432" rIns="27432" tIns="18288" bIns="18288">
            <a:noAutofit/>
          </a:bodyPr>
          <a:lstStyle/>
          <a:p>
            <a:pPr algn="ctr">
              <a:spcAft>
                <a:spcPts val="0"/>
              </a:spcAft>
            </a:pPr>
            <a:r>
              <a:rPr sz="1300" b="1" i="0">
                <a:solidFill>
                  <a:srgbClr val="7A2F00"/>
                </a:solidFill>
                <a:latin typeface="Calibri"/>
              </a:rPr>
              <a:t>Sealed record</a:t>
            </a:r>
          </a:p>
          <a:p>
            <a:pPr algn="ctr">
              <a:spcAft>
                <a:spcPts val="0"/>
              </a:spcAft>
            </a:pPr>
            <a:r>
              <a:rPr sz="1300" b="1" i="0">
                <a:solidFill>
                  <a:srgbClr val="7A2F00"/>
                </a:solidFill>
                <a:latin typeface="Calibri"/>
              </a:rPr>
              <a:t>(server)</a:t>
            </a:r>
          </a:p>
        </p:txBody>
      </p:sp>
      <p:sp>
        <p:nvSpPr>
          <p:cNvPr id="41" name="Rounded Rectangle 40"/>
          <p:cNvSpPr/>
          <p:nvPr/>
        </p:nvSpPr>
        <p:spPr>
          <a:xfrm>
            <a:off x="1965959" y="5276088"/>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Internet time</a:t>
            </a:r>
          </a:p>
          <a:p>
            <a:pPr algn="ctr">
              <a:spcAft>
                <a:spcPts val="0"/>
              </a:spcAft>
            </a:pPr>
            <a:r>
              <a:rPr sz="1200" b="0" i="0">
                <a:solidFill>
                  <a:srgbClr val="000000"/>
                </a:solidFill>
                <a:latin typeface="Calibri"/>
              </a:rPr>
              <a:t>(NTP, HTTPS)</a:t>
            </a:r>
          </a:p>
        </p:txBody>
      </p:sp>
      <p:sp>
        <p:nvSpPr>
          <p:cNvPr id="42" name="Rounded Rectangle 41"/>
          <p:cNvSpPr/>
          <p:nvPr/>
        </p:nvSpPr>
        <p:spPr>
          <a:xfrm>
            <a:off x="3364991" y="5276088"/>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22 fields</a:t>
            </a:r>
          </a:p>
          <a:p>
            <a:pPr algn="ctr">
              <a:spcAft>
                <a:spcPts val="0"/>
              </a:spcAft>
            </a:pPr>
            <a:r>
              <a:rPr sz="1200" b="0" i="0">
                <a:solidFill>
                  <a:srgbClr val="000000"/>
                </a:solidFill>
                <a:latin typeface="Calibri"/>
              </a:rPr>
              <a:t>sealed</a:t>
            </a:r>
          </a:p>
        </p:txBody>
      </p:sp>
      <p:sp>
        <p:nvSpPr>
          <p:cNvPr id="43" name="Rounded Rectangle 42"/>
          <p:cNvSpPr/>
          <p:nvPr/>
        </p:nvSpPr>
        <p:spPr>
          <a:xfrm>
            <a:off x="4764023" y="5276088"/>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SHA-256</a:t>
            </a:r>
          </a:p>
          <a:p>
            <a:pPr algn="ctr">
              <a:spcAft>
                <a:spcPts val="0"/>
              </a:spcAft>
            </a:pPr>
            <a:r>
              <a:rPr sz="1200" b="0" i="0">
                <a:solidFill>
                  <a:srgbClr val="000000"/>
                </a:solidFill>
                <a:latin typeface="Calibri"/>
              </a:rPr>
              <a:t>record hash</a:t>
            </a:r>
          </a:p>
        </p:txBody>
      </p:sp>
      <p:sp>
        <p:nvSpPr>
          <p:cNvPr id="44" name="Rounded Rectangle 43"/>
          <p:cNvSpPr/>
          <p:nvPr/>
        </p:nvSpPr>
        <p:spPr>
          <a:xfrm>
            <a:off x="6163055" y="5276088"/>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Ed25519</a:t>
            </a:r>
          </a:p>
          <a:p>
            <a:pPr algn="ctr">
              <a:spcAft>
                <a:spcPts val="0"/>
              </a:spcAft>
            </a:pPr>
            <a:r>
              <a:rPr sz="1200" b="0" i="0">
                <a:solidFill>
                  <a:srgbClr val="000000"/>
                </a:solidFill>
                <a:latin typeface="Calibri"/>
              </a:rPr>
              <a:t>signature</a:t>
            </a:r>
          </a:p>
        </p:txBody>
      </p:sp>
      <p:sp>
        <p:nvSpPr>
          <p:cNvPr id="45" name="Rounded Rectangle 44"/>
          <p:cNvSpPr/>
          <p:nvPr/>
        </p:nvSpPr>
        <p:spPr>
          <a:xfrm>
            <a:off x="7562088" y="5276088"/>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Chain to last</a:t>
            </a:r>
          </a:p>
          <a:p>
            <a:pPr algn="ctr">
              <a:spcAft>
                <a:spcPts val="0"/>
              </a:spcAft>
            </a:pPr>
            <a:r>
              <a:rPr sz="1200" b="0" i="0">
                <a:solidFill>
                  <a:srgbClr val="000000"/>
                </a:solidFill>
                <a:latin typeface="Calibri"/>
              </a:rPr>
              <a:t>record</a:t>
            </a:r>
          </a:p>
        </p:txBody>
      </p:sp>
      <p:sp>
        <p:nvSpPr>
          <p:cNvPr id="46" name="Down Arrow 45"/>
          <p:cNvSpPr/>
          <p:nvPr/>
        </p:nvSpPr>
        <p:spPr>
          <a:xfrm>
            <a:off x="5262371" y="6071616"/>
            <a:ext cx="310896" cy="237744"/>
          </a:xfrm>
          <a:prstGeom prst="downArrow">
            <a:avLst/>
          </a:prstGeom>
          <a:solidFill>
            <a:srgbClr val="B293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40080" y="6355079"/>
            <a:ext cx="8321040" cy="877824"/>
          </a:xfrm>
          <a:prstGeom prst="roundRect">
            <a:avLst>
              <a:gd name="adj" fmla="val 8000"/>
            </a:avLst>
          </a:prstGeom>
          <a:solidFill>
            <a:srgbClr val="FBF6EE"/>
          </a:solidFill>
          <a:ln w="12700">
            <a:solidFill>
              <a:srgbClr val="D9C4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6355079"/>
            <a:ext cx="1234439" cy="877824"/>
          </a:xfrm>
          <a:prstGeom prst="rect">
            <a:avLst/>
          </a:prstGeom>
          <a:noFill/>
        </p:spPr>
        <p:txBody>
          <a:bodyPr wrap="square" anchor="ctr" lIns="27432" rIns="27432" tIns="18288" bIns="18288">
            <a:noAutofit/>
          </a:bodyPr>
          <a:lstStyle/>
          <a:p>
            <a:pPr algn="ctr">
              <a:spcAft>
                <a:spcPts val="0"/>
              </a:spcAft>
            </a:pPr>
            <a:r>
              <a:rPr sz="1300" b="1" i="0">
                <a:solidFill>
                  <a:srgbClr val="7A2F00"/>
                </a:solidFill>
                <a:latin typeface="Calibri"/>
              </a:rPr>
              <a:t>Storage</a:t>
            </a:r>
          </a:p>
        </p:txBody>
      </p:sp>
      <p:sp>
        <p:nvSpPr>
          <p:cNvPr id="49" name="Rounded Rectangle 48"/>
          <p:cNvSpPr/>
          <p:nvPr/>
        </p:nvSpPr>
        <p:spPr>
          <a:xfrm>
            <a:off x="1965959" y="6464807"/>
            <a:ext cx="3406140"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PostgreSQL: users, tests,</a:t>
            </a:r>
          </a:p>
          <a:p>
            <a:pPr algn="ctr">
              <a:spcAft>
                <a:spcPts val="0"/>
              </a:spcAft>
            </a:pPr>
            <a:r>
              <a:rPr sz="1200" b="0" i="0">
                <a:solidFill>
                  <a:srgbClr val="000000"/>
                </a:solidFill>
                <a:latin typeface="Calibri"/>
              </a:rPr>
              <a:t>kit profiles, reviews</a:t>
            </a:r>
          </a:p>
        </p:txBody>
      </p:sp>
      <p:sp>
        <p:nvSpPr>
          <p:cNvPr id="50" name="Rounded Rectangle 49"/>
          <p:cNvSpPr/>
          <p:nvPr/>
        </p:nvSpPr>
        <p:spPr>
          <a:xfrm>
            <a:off x="5463540" y="6464807"/>
            <a:ext cx="3406140"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Photo store, PDF with QR</a:t>
            </a:r>
          </a:p>
          <a:p>
            <a:pPr algn="ctr">
              <a:spcAft>
                <a:spcPts val="0"/>
              </a:spcAft>
            </a:pPr>
            <a:r>
              <a:rPr sz="1200" b="0" i="0">
                <a:solidFill>
                  <a:srgbClr val="000000"/>
                </a:solidFill>
                <a:latin typeface="Calibri"/>
              </a:rPr>
              <a:t>and BSA s.63 page</a:t>
            </a:r>
          </a:p>
        </p:txBody>
      </p:sp>
      <p:sp>
        <p:nvSpPr>
          <p:cNvPr id="51" name="Down Arrow 50"/>
          <p:cNvSpPr/>
          <p:nvPr/>
        </p:nvSpPr>
        <p:spPr>
          <a:xfrm>
            <a:off x="5262371" y="7260336"/>
            <a:ext cx="310896" cy="237744"/>
          </a:xfrm>
          <a:prstGeom prst="downArrow">
            <a:avLst/>
          </a:prstGeom>
          <a:solidFill>
            <a:srgbClr val="B293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40080" y="7543800"/>
            <a:ext cx="8321040" cy="877824"/>
          </a:xfrm>
          <a:prstGeom prst="roundRect">
            <a:avLst>
              <a:gd name="adj" fmla="val 8000"/>
            </a:avLst>
          </a:prstGeom>
          <a:solidFill>
            <a:srgbClr val="FBF6EE"/>
          </a:solidFill>
          <a:ln w="12700">
            <a:solidFill>
              <a:srgbClr val="D9C4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 y="7543800"/>
            <a:ext cx="1234439" cy="877824"/>
          </a:xfrm>
          <a:prstGeom prst="rect">
            <a:avLst/>
          </a:prstGeom>
          <a:noFill/>
        </p:spPr>
        <p:txBody>
          <a:bodyPr wrap="square" anchor="ctr" lIns="27432" rIns="27432" tIns="18288" bIns="18288">
            <a:noAutofit/>
          </a:bodyPr>
          <a:lstStyle/>
          <a:p>
            <a:pPr algn="ctr">
              <a:spcAft>
                <a:spcPts val="0"/>
              </a:spcAft>
            </a:pPr>
            <a:r>
              <a:rPr sz="1300" b="1" i="0">
                <a:solidFill>
                  <a:srgbClr val="7A2F00"/>
                </a:solidFill>
                <a:latin typeface="Calibri"/>
              </a:rPr>
              <a:t>Admin</a:t>
            </a:r>
          </a:p>
          <a:p>
            <a:pPr algn="ctr">
              <a:spcAft>
                <a:spcPts val="0"/>
              </a:spcAft>
            </a:pPr>
            <a:r>
              <a:rPr sz="1300" b="1" i="0">
                <a:solidFill>
                  <a:srgbClr val="7A2F00"/>
                </a:solidFill>
                <a:latin typeface="Calibri"/>
              </a:rPr>
              <a:t>Dashboard</a:t>
            </a:r>
          </a:p>
        </p:txBody>
      </p:sp>
      <p:sp>
        <p:nvSpPr>
          <p:cNvPr id="54" name="Rounded Rectangle 53"/>
          <p:cNvSpPr/>
          <p:nvPr/>
        </p:nvSpPr>
        <p:spPr>
          <a:xfrm>
            <a:off x="1965959" y="7653527"/>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Test log</a:t>
            </a:r>
          </a:p>
          <a:p>
            <a:pPr algn="ctr">
              <a:spcAft>
                <a:spcPts val="0"/>
              </a:spcAft>
            </a:pPr>
            <a:r>
              <a:rPr sz="1200" b="0" i="0">
                <a:solidFill>
                  <a:srgbClr val="000000"/>
                </a:solidFill>
                <a:latin typeface="Calibri"/>
              </a:rPr>
              <a:t>and CSV</a:t>
            </a:r>
          </a:p>
        </p:txBody>
      </p:sp>
      <p:sp>
        <p:nvSpPr>
          <p:cNvPr id="55" name="Rounded Rectangle 54"/>
          <p:cNvSpPr/>
          <p:nvPr/>
        </p:nvSpPr>
        <p:spPr>
          <a:xfrm>
            <a:off x="3364991" y="7653527"/>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Map</a:t>
            </a:r>
          </a:p>
        </p:txBody>
      </p:sp>
      <p:sp>
        <p:nvSpPr>
          <p:cNvPr id="56" name="Rounded Rectangle 55"/>
          <p:cNvSpPr/>
          <p:nvPr/>
        </p:nvSpPr>
        <p:spPr>
          <a:xfrm>
            <a:off x="4764023" y="7653527"/>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Kit editor</a:t>
            </a:r>
          </a:p>
        </p:txBody>
      </p:sp>
      <p:sp>
        <p:nvSpPr>
          <p:cNvPr id="57" name="Rounded Rectangle 56"/>
          <p:cNvSpPr/>
          <p:nvPr/>
        </p:nvSpPr>
        <p:spPr>
          <a:xfrm>
            <a:off x="6163055" y="7653527"/>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NOT SURE</a:t>
            </a:r>
          </a:p>
          <a:p>
            <a:pPr algn="ctr">
              <a:spcAft>
                <a:spcPts val="0"/>
              </a:spcAft>
            </a:pPr>
            <a:r>
              <a:rPr sz="1200" b="0" i="0">
                <a:solidFill>
                  <a:srgbClr val="000000"/>
                </a:solidFill>
                <a:latin typeface="Calibri"/>
              </a:rPr>
              <a:t>review</a:t>
            </a:r>
          </a:p>
        </p:txBody>
      </p:sp>
      <p:sp>
        <p:nvSpPr>
          <p:cNvPr id="58" name="Rounded Rectangle 57"/>
          <p:cNvSpPr/>
          <p:nvPr/>
        </p:nvSpPr>
        <p:spPr>
          <a:xfrm>
            <a:off x="7562088" y="7653527"/>
            <a:ext cx="1307592" cy="658368"/>
          </a:xfrm>
          <a:prstGeom prst="roundRect">
            <a:avLst>
              <a:gd name="adj" fmla="val 12000"/>
            </a:avLst>
          </a:prstGeom>
          <a:solidFill>
            <a:srgbClr val="FFFFFF"/>
          </a:solidFill>
          <a:ln w="12700">
            <a:solidFill>
              <a:srgbClr val="B2935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200" b="0" i="0">
                <a:solidFill>
                  <a:srgbClr val="000000"/>
                </a:solidFill>
                <a:latin typeface="Calibri"/>
              </a:rPr>
              <a:t>QR check</a:t>
            </a:r>
          </a:p>
          <a:p>
            <a:pPr algn="ctr">
              <a:spcAft>
                <a:spcPts val="0"/>
              </a:spcAft>
            </a:pPr>
            <a:r>
              <a:rPr sz="1200" b="0" i="0">
                <a:solidFill>
                  <a:srgbClr val="000000"/>
                </a:solidFill>
                <a:latin typeface="Calibri"/>
              </a:rPr>
              <a:t>page</a:t>
            </a:r>
          </a:p>
        </p:txBody>
      </p:sp>
      <p:sp>
        <p:nvSpPr>
          <p:cNvPr id="59" name="TextBox 58"/>
          <p:cNvSpPr txBox="1"/>
          <p:nvPr/>
        </p:nvSpPr>
        <p:spPr>
          <a:xfrm>
            <a:off x="640080" y="8458200"/>
            <a:ext cx="8321040" cy="274320"/>
          </a:xfrm>
          <a:prstGeom prst="rect">
            <a:avLst/>
          </a:prstGeom>
          <a:noFill/>
        </p:spPr>
        <p:txBody>
          <a:bodyPr wrap="square" anchor="t" lIns="27432" rIns="27432" tIns="18288" bIns="18288">
            <a:noAutofit/>
          </a:bodyPr>
          <a:lstStyle/>
          <a:p>
            <a:pPr algn="l">
              <a:spcAft>
                <a:spcPts val="0"/>
              </a:spcAft>
            </a:pPr>
            <a:r>
              <a:rPr sz="1200" b="0" i="1">
                <a:solidFill>
                  <a:srgbClr val="555555"/>
                </a:solidFill>
                <a:latin typeface="Calibri"/>
              </a:rPr>
              <a:t>Everything shown is built. No AI model, on purpose: colour maths that can be explained with numbers.</a:t>
            </a:r>
          </a:p>
        </p:txBody>
      </p:sp>
      <p:sp>
        <p:nvSpPr>
          <p:cNvPr id="60" name="TextBox 59"/>
          <p:cNvSpPr txBox="1"/>
          <p:nvPr/>
        </p:nvSpPr>
        <p:spPr>
          <a:xfrm>
            <a:off x="9299448" y="1847088"/>
            <a:ext cx="5852160" cy="457200"/>
          </a:xfrm>
          <a:prstGeom prst="rect">
            <a:avLst/>
          </a:prstGeom>
          <a:noFill/>
        </p:spPr>
        <p:txBody>
          <a:bodyPr wrap="square" anchor="t" lIns="27432" rIns="27432" tIns="18288" bIns="18288">
            <a:noAutofit/>
          </a:bodyPr>
          <a:lstStyle/>
          <a:p>
            <a:pPr algn="l">
              <a:spcAft>
                <a:spcPts val="0"/>
              </a:spcAft>
            </a:pPr>
            <a:r>
              <a:rPr sz="2500" b="1" i="0">
                <a:solidFill>
                  <a:srgbClr val="974826"/>
                </a:solidFill>
                <a:latin typeface="Calibri"/>
              </a:rPr>
              <a:t>Measured Results</a:t>
            </a:r>
          </a:p>
        </p:txBody>
      </p:sp>
      <p:sp>
        <p:nvSpPr>
          <p:cNvPr id="61" name="TextBox 60"/>
          <p:cNvSpPr txBox="1"/>
          <p:nvPr/>
        </p:nvSpPr>
        <p:spPr>
          <a:xfrm>
            <a:off x="9326880" y="2286000"/>
            <a:ext cx="5897880" cy="3310128"/>
          </a:xfrm>
          <a:prstGeom prst="rect">
            <a:avLst/>
          </a:prstGeom>
          <a:noFill/>
        </p:spPr>
        <p:txBody>
          <a:bodyPr wrap="square" anchor="t" lIns="27432" rIns="27432" tIns="18288" bIns="18288">
            <a:noAutofit/>
          </a:bodyPr>
          <a:lstStyle/>
          <a:p>
            <a:pPr algn="l" marL="201168" indent="-201168">
              <a:spcAft>
                <a:spcPts val="800"/>
              </a:spcAft>
              <a:buFont typeface="Arial"/>
              <a:buChar char="•"/>
            </a:pPr>
            <a:r>
              <a:rPr sz="1700" b="1" i="0">
                <a:solidFill>
                  <a:srgbClr val="000000"/>
                </a:solidFill>
                <a:latin typeface="Calibri"/>
              </a:rPr>
              <a:t>Testing</a:t>
            </a:r>
            <a:r>
              <a:rPr sz="1700" b="0" i="0">
                <a:solidFill>
                  <a:srgbClr val="000000"/>
                </a:solidFill>
                <a:latin typeface="Calibri"/>
              </a:rPr>
              <a:t> - 37 computer-made photos in 5 lights and 25 real phone scans.</a:t>
            </a:r>
          </a:p>
          <a:p>
            <a:pPr algn="l" marL="201168" indent="-201168">
              <a:spcAft>
                <a:spcPts val="800"/>
              </a:spcAft>
              <a:buFont typeface="Arial"/>
              <a:buChar char="•"/>
            </a:pPr>
            <a:r>
              <a:rPr sz="1700" b="1" i="0">
                <a:solidFill>
                  <a:srgbClr val="000000"/>
                </a:solidFill>
                <a:latin typeface="Calibri"/>
              </a:rPr>
              <a:t>Accuracy</a:t>
            </a:r>
            <a:r>
              <a:rPr sz="1700" b="0" i="0">
                <a:solidFill>
                  <a:srgbClr val="000000"/>
                </a:solidFill>
                <a:latin typeface="Calibri"/>
              </a:rPr>
              <a:t> - 25/25 computer photos right. Real scans: 14 right, 11 NOT SURE, 0 wrong.</a:t>
            </a:r>
          </a:p>
          <a:p>
            <a:pPr algn="l" marL="201168" indent="-201168">
              <a:spcAft>
                <a:spcPts val="800"/>
              </a:spcAft>
              <a:buFont typeface="Arial"/>
              <a:buChar char="•"/>
            </a:pPr>
            <a:r>
              <a:rPr sz="1700" b="1" i="0">
                <a:solidFill>
                  <a:srgbClr val="000000"/>
                </a:solidFill>
                <a:latin typeface="Calibri"/>
              </a:rPr>
              <a:t>Colour Check</a:t>
            </a:r>
            <a:r>
              <a:rPr sz="1700" b="0" i="0">
                <a:solidFill>
                  <a:srgbClr val="000000"/>
                </a:solidFill>
                <a:latin typeface="Calibri"/>
              </a:rPr>
              <a:t> - ΔE ≤ 14 and a 4-point lead, else NOT SURE. The % shown is a match score, not a probability.</a:t>
            </a:r>
          </a:p>
          <a:p>
            <a:pPr algn="l" marL="201168" indent="-201168">
              <a:spcAft>
                <a:spcPts val="800"/>
              </a:spcAft>
              <a:buFont typeface="Arial"/>
              <a:buChar char="•"/>
            </a:pPr>
            <a:r>
              <a:rPr sz="1700" b="1" i="0">
                <a:solidFill>
                  <a:srgbClr val="000000"/>
                </a:solidFill>
                <a:latin typeface="Calibri"/>
              </a:rPr>
              <a:t>Speed</a:t>
            </a:r>
            <a:r>
              <a:rPr sz="1700" b="0" i="0">
                <a:solidFill>
                  <a:srgbClr val="000000"/>
                </a:solidFill>
                <a:latin typeface="Calibri"/>
              </a:rPr>
              <a:t> - Server check 2.5 s (5 s max). Whole test about 16 seconds.</a:t>
            </a:r>
          </a:p>
          <a:p>
            <a:pPr algn="l" marL="201168" indent="-201168">
              <a:spcAft>
                <a:spcPts val="800"/>
              </a:spcAft>
              <a:buFont typeface="Arial"/>
              <a:buChar char="•"/>
            </a:pPr>
            <a:r>
              <a:rPr sz="1700" b="1" i="0">
                <a:solidFill>
                  <a:srgbClr val="000000"/>
                </a:solidFill>
                <a:latin typeface="Calibri"/>
              </a:rPr>
              <a:t>Tamper Test</a:t>
            </a:r>
            <a:r>
              <a:rPr sz="1700" b="0" i="0">
                <a:solidFill>
                  <a:srgbClr val="000000"/>
                </a:solidFill>
                <a:latin typeface="Calibri"/>
              </a:rPr>
              <a:t> - All 4/4 changed records were caught.</a:t>
            </a:r>
          </a:p>
        </p:txBody>
      </p:sp>
      <p:sp>
        <p:nvSpPr>
          <p:cNvPr id="62" name="TextBox 61"/>
          <p:cNvSpPr txBox="1"/>
          <p:nvPr/>
        </p:nvSpPr>
        <p:spPr>
          <a:xfrm>
            <a:off x="9326880" y="5230368"/>
            <a:ext cx="5897880" cy="566928"/>
          </a:xfrm>
          <a:prstGeom prst="rect">
            <a:avLst/>
          </a:prstGeom>
          <a:noFill/>
        </p:spPr>
        <p:txBody>
          <a:bodyPr wrap="square" anchor="t" lIns="27432" rIns="27432" tIns="18288" bIns="18288">
            <a:noAutofit/>
          </a:bodyPr>
          <a:lstStyle/>
          <a:p>
            <a:pPr algn="ctr">
              <a:spcAft>
                <a:spcPts val="0"/>
              </a:spcAft>
            </a:pPr>
            <a:r>
              <a:rPr sz="1550" b="0" i="1">
                <a:solidFill>
                  <a:srgbClr val="000000"/>
                </a:solidFill>
                <a:latin typeface="Calibri"/>
              </a:rPr>
              <a:t>Kit colours are printed swatches on a screen, 1 phone. Small test, not proof. Real kits need an FSL trial (TRL 4).</a:t>
            </a:r>
          </a:p>
        </p:txBody>
      </p:sp>
      <p:cxnSp>
        <p:nvCxnSpPr>
          <p:cNvPr id="63" name="Connector 62"/>
          <p:cNvCxnSpPr/>
          <p:nvPr/>
        </p:nvCxnSpPr>
        <p:spPr>
          <a:xfrm>
            <a:off x="9299448" y="5870448"/>
            <a:ext cx="5833872" cy="0"/>
          </a:xfrm>
          <a:prstGeom prst="line">
            <a:avLst/>
          </a:prstGeom>
          <a:ln w="15875">
            <a:solidFill>
              <a:srgbClr val="B2935B"/>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9299448" y="5943600"/>
            <a:ext cx="5897880" cy="310896"/>
          </a:xfrm>
          <a:prstGeom prst="rect">
            <a:avLst/>
          </a:prstGeom>
          <a:noFill/>
        </p:spPr>
        <p:txBody>
          <a:bodyPr wrap="square" anchor="t" lIns="27432" rIns="27432" tIns="18288" bIns="18288">
            <a:noAutofit/>
          </a:bodyPr>
          <a:lstStyle/>
          <a:p>
            <a:pPr algn="l">
              <a:spcAft>
                <a:spcPts val="0"/>
              </a:spcAft>
            </a:pPr>
            <a:r>
              <a:rPr sz="1700" b="1" i="0">
                <a:solidFill>
                  <a:srgbClr val="7A2F00"/>
                </a:solidFill>
                <a:latin typeface="Calibri"/>
              </a:rPr>
              <a:t>Prototype Validation Using Real Phone Scans (29 Sep)</a:t>
            </a:r>
          </a:p>
        </p:txBody>
      </p:sp>
      <p:pic>
        <p:nvPicPr>
          <p:cNvPr id="65" name="Picture 64" descr="real_scans_tiles.png"/>
          <p:cNvPicPr>
            <a:picLocks noChangeAspect="1"/>
          </p:cNvPicPr>
          <p:nvPr/>
        </p:nvPicPr>
        <p:blipFill>
          <a:blip r:embed="rId9"/>
          <a:srcRect/>
          <a:stretch>
            <a:fillRect/>
          </a:stretch>
        </p:blipFill>
        <p:spPr>
          <a:xfrm>
            <a:off x="9299448" y="6355080"/>
            <a:ext cx="3291840" cy="2039815"/>
          </a:xfrm>
          <a:prstGeom prst="rect">
            <a:avLst/>
          </a:prstGeom>
        </p:spPr>
      </p:pic>
      <p:sp>
        <p:nvSpPr>
          <p:cNvPr id="66" name="TextBox 65"/>
          <p:cNvSpPr txBox="1"/>
          <p:nvPr/>
        </p:nvSpPr>
        <p:spPr>
          <a:xfrm>
            <a:off x="9299448" y="8458200"/>
            <a:ext cx="3291840" cy="685800"/>
          </a:xfrm>
          <a:prstGeom prst="rect">
            <a:avLst/>
          </a:prstGeom>
          <a:noFill/>
        </p:spPr>
        <p:txBody>
          <a:bodyPr wrap="square" anchor="t" lIns="27432" rIns="27432" tIns="18288" bIns="18288">
            <a:noAutofit/>
          </a:bodyPr>
          <a:lstStyle/>
          <a:p>
            <a:pPr algn="l">
              <a:spcAft>
                <a:spcPts val="0"/>
              </a:spcAft>
            </a:pPr>
            <a:r>
              <a:rPr sz="1200" b="0" i="0">
                <a:solidFill>
                  <a:srgbClr val="555555"/>
                </a:solidFill>
                <a:latin typeface="Calibri"/>
              </a:rPr>
              <a:t>1 phone, 1 room, card on a laptop screen. We checked each card by eye.</a:t>
            </a:r>
          </a:p>
        </p:txBody>
      </p:sp>
      <p:sp>
        <p:nvSpPr>
          <p:cNvPr id="67" name="TextBox 66"/>
          <p:cNvSpPr txBox="1"/>
          <p:nvPr/>
        </p:nvSpPr>
        <p:spPr>
          <a:xfrm>
            <a:off x="12710160" y="6327648"/>
            <a:ext cx="2514600" cy="310896"/>
          </a:xfrm>
          <a:prstGeom prst="rect">
            <a:avLst/>
          </a:prstGeom>
          <a:noFill/>
        </p:spPr>
        <p:txBody>
          <a:bodyPr wrap="square" anchor="t" lIns="27432" rIns="27432" tIns="18288" bIns="18288">
            <a:noAutofit/>
          </a:bodyPr>
          <a:lstStyle/>
          <a:p>
            <a:pPr algn="l">
              <a:spcAft>
                <a:spcPts val="0"/>
              </a:spcAft>
            </a:pPr>
            <a:r>
              <a:rPr sz="1500" b="1" i="0">
                <a:solidFill>
                  <a:srgbClr val="7A2F00"/>
                </a:solidFill>
                <a:latin typeface="Calibri"/>
              </a:rPr>
              <a:t>All 19 real scans</a:t>
            </a:r>
          </a:p>
        </p:txBody>
      </p:sp>
      <p:graphicFrame>
        <p:nvGraphicFramePr>
          <p:cNvPr id="68" name="Table 67"/>
          <p:cNvGraphicFramePr>
            <a:graphicFrameLocks noGrp="1"/>
          </p:cNvGraphicFramePr>
          <p:nvPr/>
        </p:nvGraphicFramePr>
        <p:xfrm>
          <a:off x="12710160" y="6675120"/>
          <a:ext cx="2514600" cy="1243584"/>
        </p:xfrm>
        <a:graphic>
          <a:graphicData uri="http://schemas.openxmlformats.org/drawingml/2006/table">
            <a:tbl>
              <a:tblPr firstRow="1" bandRow="0">
                <a:tableStyleId>{5C22544A-7EE6-4342-B048-85BDC9FD1C3A}</a:tableStyleId>
              </a:tblPr>
              <a:tblGrid>
                <a:gridCol w="960120"/>
                <a:gridCol w="457200"/>
                <a:gridCol w="457200"/>
                <a:gridCol w="640080"/>
              </a:tblGrid>
              <a:tr h="310896">
                <a:tc>
                  <a:txBody>
                    <a:bodyPr wrap="square"/>
                    <a:lstStyle/>
                    <a:p>
                      <a:pPr algn="l">
                        <a:spcAft>
                          <a:spcPts val="0"/>
                        </a:spcAft>
                      </a:pPr>
                      <a:r>
                        <a:rPr sz="1200" b="1" i="0">
                          <a:solidFill>
                            <a:srgbClr val="000000"/>
                          </a:solidFill>
                          <a:latin typeface="Calibri"/>
                        </a:rPr>
                        <a:t>Card</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2EBDD"/>
                    </a:solidFill>
                  </a:tcPr>
                </a:tc>
                <a:tc>
                  <a:txBody>
                    <a:bodyPr wrap="square"/>
                    <a:lstStyle/>
                    <a:p>
                      <a:pPr algn="ctr">
                        <a:spcAft>
                          <a:spcPts val="0"/>
                        </a:spcAft>
                      </a:pPr>
                      <a:r>
                        <a:rPr sz="1200" b="1" i="0">
                          <a:solidFill>
                            <a:srgbClr val="000000"/>
                          </a:solidFill>
                          <a:latin typeface="Calibri"/>
                        </a:rPr>
                        <a:t>POS</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2EBDD"/>
                    </a:solidFill>
                  </a:tcPr>
                </a:tc>
                <a:tc>
                  <a:txBody>
                    <a:bodyPr wrap="square"/>
                    <a:lstStyle/>
                    <a:p>
                      <a:pPr algn="ctr">
                        <a:spcAft>
                          <a:spcPts val="0"/>
                        </a:spcAft>
                      </a:pPr>
                      <a:r>
                        <a:rPr sz="1200" b="1" i="0">
                          <a:solidFill>
                            <a:srgbClr val="000000"/>
                          </a:solidFill>
                          <a:latin typeface="Calibri"/>
                        </a:rPr>
                        <a:t>NEG</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2EBDD"/>
                    </a:solidFill>
                  </a:tcPr>
                </a:tc>
                <a:tc>
                  <a:txBody>
                    <a:bodyPr wrap="square"/>
                    <a:lstStyle/>
                    <a:p>
                      <a:pPr algn="ctr">
                        <a:spcAft>
                          <a:spcPts val="0"/>
                        </a:spcAft>
                      </a:pPr>
                      <a:r>
                        <a:rPr sz="1200" b="1" i="0">
                          <a:solidFill>
                            <a:srgbClr val="000000"/>
                          </a:solidFill>
                          <a:latin typeface="Calibri"/>
                        </a:rPr>
                        <a:t>NOT SURE</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2EBDD"/>
                    </a:solidFill>
                  </a:tcPr>
                </a:tc>
              </a:tr>
              <a:tr h="310896">
                <a:tc>
                  <a:txBody>
                    <a:bodyPr wrap="square"/>
                    <a:lstStyle/>
                    <a:p>
                      <a:pPr algn="l">
                        <a:spcAft>
                          <a:spcPts val="0"/>
                        </a:spcAft>
                      </a:pPr>
                      <a:r>
                        <a:rPr sz="1200" b="0" i="0">
                          <a:solidFill>
                            <a:srgbClr val="000000"/>
                          </a:solidFill>
                          <a:latin typeface="Calibri"/>
                        </a:rPr>
                        <a:t>Positive (8)</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FFFFF"/>
                    </a:solidFill>
                  </a:tcPr>
                </a:tc>
                <a:tc>
                  <a:txBody>
                    <a:bodyPr wrap="square"/>
                    <a:lstStyle/>
                    <a:p>
                      <a:pPr algn="ctr">
                        <a:spcAft>
                          <a:spcPts val="0"/>
                        </a:spcAft>
                      </a:pPr>
                      <a:r>
                        <a:rPr sz="1200" b="1" i="0">
                          <a:solidFill>
                            <a:srgbClr val="2E7D32"/>
                          </a:solidFill>
                          <a:latin typeface="Calibri"/>
                        </a:rPr>
                        <a:t>5</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E8F5E9"/>
                    </a:solidFill>
                  </a:tcPr>
                </a:tc>
                <a:tc>
                  <a:txBody>
                    <a:bodyPr wrap="square"/>
                    <a:lstStyle/>
                    <a:p>
                      <a:pPr algn="ctr">
                        <a:spcAft>
                          <a:spcPts val="0"/>
                        </a:spcAft>
                      </a:pPr>
                      <a:r>
                        <a:rPr sz="1200" b="0" i="0">
                          <a:solidFill>
                            <a:srgbClr val="B0B0B0"/>
                          </a:solidFill>
                          <a:latin typeface="Calibri"/>
                        </a:rPr>
                        <a:t>0</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FFFFF"/>
                    </a:solidFill>
                  </a:tcPr>
                </a:tc>
                <a:tc>
                  <a:txBody>
                    <a:bodyPr wrap="square"/>
                    <a:lstStyle/>
                    <a:p>
                      <a:pPr algn="ctr">
                        <a:spcAft>
                          <a:spcPts val="0"/>
                        </a:spcAft>
                      </a:pPr>
                      <a:r>
                        <a:rPr sz="1200" b="0" i="0">
                          <a:solidFill>
                            <a:srgbClr val="000000"/>
                          </a:solidFill>
                          <a:latin typeface="Calibri"/>
                        </a:rPr>
                        <a:t>3</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FFFFF"/>
                    </a:solidFill>
                  </a:tcPr>
                </a:tc>
              </a:tr>
              <a:tr h="310896">
                <a:tc>
                  <a:txBody>
                    <a:bodyPr wrap="square"/>
                    <a:lstStyle/>
                    <a:p>
                      <a:pPr algn="l">
                        <a:spcAft>
                          <a:spcPts val="0"/>
                        </a:spcAft>
                      </a:pPr>
                      <a:r>
                        <a:rPr sz="1200" b="0" i="0">
                          <a:solidFill>
                            <a:srgbClr val="000000"/>
                          </a:solidFill>
                          <a:latin typeface="Calibri"/>
                        </a:rPr>
                        <a:t>Plain (4)</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FFFFF"/>
                    </a:solidFill>
                  </a:tcPr>
                </a:tc>
                <a:tc>
                  <a:txBody>
                    <a:bodyPr wrap="square"/>
                    <a:lstStyle/>
                    <a:p>
                      <a:pPr algn="ctr">
                        <a:spcAft>
                          <a:spcPts val="0"/>
                        </a:spcAft>
                      </a:pPr>
                      <a:r>
                        <a:rPr sz="1200" b="0" i="0">
                          <a:solidFill>
                            <a:srgbClr val="B0B0B0"/>
                          </a:solidFill>
                          <a:latin typeface="Calibri"/>
                        </a:rPr>
                        <a:t>0</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FFFFF"/>
                    </a:solidFill>
                  </a:tcPr>
                </a:tc>
                <a:tc>
                  <a:txBody>
                    <a:bodyPr wrap="square"/>
                    <a:lstStyle/>
                    <a:p>
                      <a:pPr algn="ctr">
                        <a:spcAft>
                          <a:spcPts val="0"/>
                        </a:spcAft>
                      </a:pPr>
                      <a:r>
                        <a:rPr sz="1200" b="1" i="0">
                          <a:solidFill>
                            <a:srgbClr val="2E7D32"/>
                          </a:solidFill>
                          <a:latin typeface="Calibri"/>
                        </a:rPr>
                        <a:t>4</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E8F5E9"/>
                    </a:solidFill>
                  </a:tcPr>
                </a:tc>
                <a:tc>
                  <a:txBody>
                    <a:bodyPr wrap="square"/>
                    <a:lstStyle/>
                    <a:p>
                      <a:pPr algn="ctr">
                        <a:spcAft>
                          <a:spcPts val="0"/>
                        </a:spcAft>
                      </a:pPr>
                      <a:r>
                        <a:rPr sz="1200" b="0" i="0">
                          <a:solidFill>
                            <a:srgbClr val="B0B0B0"/>
                          </a:solidFill>
                          <a:latin typeface="Calibri"/>
                        </a:rPr>
                        <a:t>0</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FFFFF"/>
                    </a:solidFill>
                  </a:tcPr>
                </a:tc>
              </a:tr>
              <a:tr h="310896">
                <a:tc>
                  <a:txBody>
                    <a:bodyPr wrap="square"/>
                    <a:lstStyle/>
                    <a:p>
                      <a:pPr algn="l">
                        <a:spcAft>
                          <a:spcPts val="0"/>
                        </a:spcAft>
                      </a:pPr>
                      <a:r>
                        <a:rPr sz="1200" b="0" i="0">
                          <a:solidFill>
                            <a:srgbClr val="000000"/>
                          </a:solidFill>
                          <a:latin typeface="Calibri"/>
                        </a:rPr>
                        <a:t>Trick (7)</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FFFFF"/>
                    </a:solidFill>
                  </a:tcPr>
                </a:tc>
                <a:tc>
                  <a:txBody>
                    <a:bodyPr wrap="square"/>
                    <a:lstStyle/>
                    <a:p>
                      <a:pPr algn="ctr">
                        <a:spcAft>
                          <a:spcPts val="0"/>
                        </a:spcAft>
                      </a:pPr>
                      <a:r>
                        <a:rPr sz="1200" b="0" i="0">
                          <a:solidFill>
                            <a:srgbClr val="B0B0B0"/>
                          </a:solidFill>
                          <a:latin typeface="Calibri"/>
                        </a:rPr>
                        <a:t>0</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FFFFF"/>
                    </a:solidFill>
                  </a:tcPr>
                </a:tc>
                <a:tc>
                  <a:txBody>
                    <a:bodyPr wrap="square"/>
                    <a:lstStyle/>
                    <a:p>
                      <a:pPr algn="ctr">
                        <a:spcAft>
                          <a:spcPts val="0"/>
                        </a:spcAft>
                      </a:pPr>
                      <a:r>
                        <a:rPr sz="1200" b="0" i="0">
                          <a:solidFill>
                            <a:srgbClr val="B0B0B0"/>
                          </a:solidFill>
                          <a:latin typeface="Calibri"/>
                        </a:rPr>
                        <a:t>0</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FFFFFF"/>
                    </a:solidFill>
                  </a:tcPr>
                </a:tc>
                <a:tc>
                  <a:txBody>
                    <a:bodyPr wrap="square"/>
                    <a:lstStyle/>
                    <a:p>
                      <a:pPr algn="ctr">
                        <a:spcAft>
                          <a:spcPts val="0"/>
                        </a:spcAft>
                      </a:pPr>
                      <a:r>
                        <a:rPr sz="1200" b="1" i="0">
                          <a:solidFill>
                            <a:srgbClr val="2E7D32"/>
                          </a:solidFill>
                          <a:latin typeface="Calibri"/>
                        </a:rPr>
                        <a:t>7</a:t>
                      </a:r>
                    </a:p>
                  </a:txBody>
                  <a:tcPr marL="73152" marR="73152" marT="27432" marB="27432" anchor="ctr">
                    <a:lnL w="9525" cap="flat" cmpd="sng" algn="ctr">
                      <a:solidFill>
                        <a:srgbClr val="D9C4A0"/>
                      </a:solidFill>
                      <a:prstDash val="solid"/>
                    </a:lnL>
                    <a:lnR w="9525" cap="flat" cmpd="sng" algn="ctr">
                      <a:solidFill>
                        <a:srgbClr val="D9C4A0"/>
                      </a:solidFill>
                      <a:prstDash val="solid"/>
                    </a:lnR>
                    <a:lnT w="9525" cap="flat" cmpd="sng" algn="ctr">
                      <a:solidFill>
                        <a:srgbClr val="D9C4A0"/>
                      </a:solidFill>
                      <a:prstDash val="solid"/>
                    </a:lnT>
                    <a:lnB w="9525" cap="flat" cmpd="sng" algn="ctr">
                      <a:solidFill>
                        <a:srgbClr val="D9C4A0"/>
                      </a:solidFill>
                      <a:prstDash val="solid"/>
                    </a:lnB>
                    <a:solidFill>
                      <a:srgbClr val="E8F5E9"/>
                    </a:solidFill>
                  </a:tcPr>
                </a:tc>
              </a:tr>
            </a:tbl>
          </a:graphicData>
        </a:graphic>
      </p:graphicFrame>
      <p:sp>
        <p:nvSpPr>
          <p:cNvPr id="69" name="TextBox 68"/>
          <p:cNvSpPr txBox="1"/>
          <p:nvPr/>
        </p:nvSpPr>
        <p:spPr>
          <a:xfrm>
            <a:off x="12710160" y="8092440"/>
            <a:ext cx="2514600" cy="1280160"/>
          </a:xfrm>
          <a:prstGeom prst="rect">
            <a:avLst/>
          </a:prstGeom>
          <a:noFill/>
        </p:spPr>
        <p:txBody>
          <a:bodyPr wrap="square" anchor="t" lIns="27432" rIns="27432" tIns="18288" bIns="18288">
            <a:noAutofit/>
          </a:bodyPr>
          <a:lstStyle/>
          <a:p>
            <a:pPr algn="l">
              <a:spcAft>
                <a:spcPts val="100"/>
              </a:spcAft>
            </a:pPr>
            <a:r>
              <a:rPr sz="1300" b="1" i="0">
                <a:solidFill>
                  <a:srgbClr val="7A2F00"/>
                </a:solidFill>
                <a:latin typeface="Calibri"/>
              </a:rPr>
              <a:t>0 wrong answers</a:t>
            </a:r>
          </a:p>
          <a:p>
            <a:pPr algn="l">
              <a:spcAft>
                <a:spcPts val="100"/>
              </a:spcAft>
            </a:pPr>
            <a:r>
              <a:rPr sz="1250" b="0" i="0">
                <a:solidFill>
                  <a:srgbClr val="000000"/>
                </a:solidFill>
                <a:latin typeface="Calibri"/>
              </a:rPr>
              <a:t>All 9 clear scans correct</a:t>
            </a:r>
          </a:p>
          <a:p>
            <a:pPr algn="l">
              <a:spcAft>
                <a:spcPts val="100"/>
              </a:spcAft>
            </a:pPr>
            <a:r>
              <a:rPr sz="1250" b="0" i="0">
                <a:solidFill>
                  <a:srgbClr val="000000"/>
                </a:solidFill>
                <a:latin typeface="Calibri"/>
              </a:rPr>
              <a:t>All 7 trick cards said NOT SURE</a:t>
            </a:r>
          </a:p>
          <a:p>
            <a:pPr algn="l">
              <a:spcAft>
                <a:spcPts val="100"/>
              </a:spcAft>
            </a:pPr>
            <a:r>
              <a:rPr sz="1250" b="0" i="0">
                <a:solidFill>
                  <a:srgbClr val="000000"/>
                </a:solidFill>
                <a:latin typeface="Calibri"/>
              </a:rPr>
              <a:t>3 blurry photos, app asked to retake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564624"/>
            <a:ext cx="18280761" cy="715289"/>
            <a:chOff x="0" y="0"/>
            <a:chExt cx="24374348" cy="953719"/>
          </a:xfrm>
        </p:grpSpPr>
        <p:sp>
          <p:nvSpPr>
            <p:cNvPr id="3" name="Freeform 3"/>
            <p:cNvSpPr/>
            <p:nvPr/>
          </p:nvSpPr>
          <p:spPr>
            <a:xfrm>
              <a:off x="0" y="0"/>
              <a:ext cx="24374348" cy="953770"/>
            </a:xfrm>
            <a:custGeom>
              <a:avLst/>
              <a:gdLst/>
              <a:ahLst/>
              <a:cxnLst/>
              <a:rect l="l" t="t" r="r" b="b"/>
              <a:pathLst>
                <a:path w="24374348" h="953770">
                  <a:moveTo>
                    <a:pt x="0" y="0"/>
                  </a:moveTo>
                  <a:lnTo>
                    <a:pt x="24374348" y="0"/>
                  </a:lnTo>
                  <a:lnTo>
                    <a:pt x="24374348" y="953770"/>
                  </a:lnTo>
                  <a:lnTo>
                    <a:pt x="0" y="953770"/>
                  </a:lnTo>
                  <a:lnTo>
                    <a:pt x="0" y="0"/>
                  </a:lnTo>
                  <a:close/>
                </a:path>
              </a:pathLst>
            </a:custGeom>
            <a:blipFill>
              <a:blip r:embed="rId2"/>
              <a:stretch>
                <a:fillRect t="-914" b="-909"/>
              </a:stretch>
            </a:blipFill>
          </p:spPr>
        </p:sp>
      </p:grpSp>
      <p:grpSp>
        <p:nvGrpSpPr>
          <p:cNvPr id="4" name="Group 4"/>
          <p:cNvGrpSpPr/>
          <p:nvPr/>
        </p:nvGrpSpPr>
        <p:grpSpPr>
          <a:xfrm>
            <a:off x="0" y="9532620"/>
            <a:ext cx="18288000" cy="754380"/>
            <a:chOff x="0" y="0"/>
            <a:chExt cx="24384000" cy="1005840"/>
          </a:xfrm>
        </p:grpSpPr>
        <p:sp>
          <p:nvSpPr>
            <p:cNvPr id="5" name="Freeform 5"/>
            <p:cNvSpPr/>
            <p:nvPr/>
          </p:nvSpPr>
          <p:spPr>
            <a:xfrm>
              <a:off x="0" y="0"/>
              <a:ext cx="24384000" cy="1005840"/>
            </a:xfrm>
            <a:custGeom>
              <a:avLst/>
              <a:gdLst/>
              <a:ahLst/>
              <a:cxnLst/>
              <a:rect l="l" t="t" r="r" b="b"/>
              <a:pathLst>
                <a:path w="24384000" h="1005840">
                  <a:moveTo>
                    <a:pt x="24384000" y="0"/>
                  </a:moveTo>
                  <a:lnTo>
                    <a:pt x="0" y="0"/>
                  </a:lnTo>
                  <a:lnTo>
                    <a:pt x="0" y="1005840"/>
                  </a:lnTo>
                  <a:lnTo>
                    <a:pt x="24384000" y="1005840"/>
                  </a:lnTo>
                  <a:lnTo>
                    <a:pt x="24384000" y="0"/>
                  </a:lnTo>
                  <a:close/>
                </a:path>
              </a:pathLst>
            </a:custGeom>
            <a:solidFill>
              <a:srgbClr val="006EC0"/>
            </a:solidFill>
          </p:spPr>
        </p:sp>
      </p:grpSp>
      <p:grpSp>
        <p:nvGrpSpPr>
          <p:cNvPr id="6" name="Group 6"/>
          <p:cNvGrpSpPr/>
          <p:nvPr/>
        </p:nvGrpSpPr>
        <p:grpSpPr>
          <a:xfrm>
            <a:off x="0" y="9564624"/>
            <a:ext cx="18280761" cy="715289"/>
            <a:chOff x="0" y="0"/>
            <a:chExt cx="24374348" cy="953719"/>
          </a:xfrm>
        </p:grpSpPr>
        <p:sp>
          <p:nvSpPr>
            <p:cNvPr id="7" name="Freeform 7"/>
            <p:cNvSpPr/>
            <p:nvPr/>
          </p:nvSpPr>
          <p:spPr>
            <a:xfrm>
              <a:off x="0" y="0"/>
              <a:ext cx="24374348" cy="953770"/>
            </a:xfrm>
            <a:custGeom>
              <a:avLst/>
              <a:gdLst/>
              <a:ahLst/>
              <a:cxnLst/>
              <a:rect l="l" t="t" r="r" b="b"/>
              <a:pathLst>
                <a:path w="24374348" h="953770">
                  <a:moveTo>
                    <a:pt x="0" y="0"/>
                  </a:moveTo>
                  <a:lnTo>
                    <a:pt x="24374348" y="0"/>
                  </a:lnTo>
                  <a:lnTo>
                    <a:pt x="24374348" y="953770"/>
                  </a:lnTo>
                  <a:lnTo>
                    <a:pt x="0" y="953770"/>
                  </a:lnTo>
                  <a:lnTo>
                    <a:pt x="0" y="0"/>
                  </a:lnTo>
                  <a:close/>
                </a:path>
              </a:pathLst>
            </a:custGeom>
            <a:blipFill>
              <a:blip r:embed="rId2"/>
              <a:stretch>
                <a:fillRect t="-914" b="-909"/>
              </a:stretch>
            </a:blipFill>
          </p:spPr>
        </p:sp>
      </p:grpSp>
      <p:grpSp>
        <p:nvGrpSpPr>
          <p:cNvPr id="8" name="Group 8"/>
          <p:cNvGrpSpPr/>
          <p:nvPr/>
        </p:nvGrpSpPr>
        <p:grpSpPr>
          <a:xfrm>
            <a:off x="0" y="9532620"/>
            <a:ext cx="18288000" cy="754380"/>
            <a:chOff x="0" y="0"/>
            <a:chExt cx="24384000" cy="1005840"/>
          </a:xfrm>
        </p:grpSpPr>
        <p:sp>
          <p:nvSpPr>
            <p:cNvPr id="9" name="Freeform 9"/>
            <p:cNvSpPr/>
            <p:nvPr/>
          </p:nvSpPr>
          <p:spPr>
            <a:xfrm>
              <a:off x="0" y="0"/>
              <a:ext cx="24384000" cy="1005840"/>
            </a:xfrm>
            <a:custGeom>
              <a:avLst/>
              <a:gdLst/>
              <a:ahLst/>
              <a:cxnLst/>
              <a:rect l="l" t="t" r="r" b="b"/>
              <a:pathLst>
                <a:path w="24384000" h="1005840">
                  <a:moveTo>
                    <a:pt x="24384000" y="0"/>
                  </a:moveTo>
                  <a:lnTo>
                    <a:pt x="0" y="0"/>
                  </a:lnTo>
                  <a:lnTo>
                    <a:pt x="0" y="1005840"/>
                  </a:lnTo>
                  <a:lnTo>
                    <a:pt x="24384000" y="1005840"/>
                  </a:lnTo>
                  <a:lnTo>
                    <a:pt x="24384000" y="0"/>
                  </a:lnTo>
                  <a:close/>
                </a:path>
              </a:pathLst>
            </a:custGeom>
            <a:solidFill>
              <a:srgbClr val="006EC0"/>
            </a:solidFill>
          </p:spPr>
        </p:sp>
      </p:grpSp>
      <p:sp>
        <p:nvSpPr>
          <p:cNvPr id="11" name="AutoShape 11"/>
          <p:cNvSpPr/>
          <p:nvPr/>
        </p:nvSpPr>
        <p:spPr>
          <a:xfrm>
            <a:off x="8899227" y="1857539"/>
            <a:ext cx="0" cy="7193961"/>
          </a:xfrm>
          <a:prstGeom prst="line">
            <a:avLst/>
          </a:prstGeom>
          <a:ln w="19050" cap="flat">
            <a:solidFill>
              <a:srgbClr val="B2935B"/>
            </a:solidFill>
            <a:prstDash val="solid"/>
            <a:headEnd type="none" w="sm" len="sm"/>
            <a:tailEnd type="none" w="sm" len="sm"/>
          </a:ln>
        </p:spPr>
        <p:txBody>
          <a:bodyPr/>
          <a:lstStyle/>
          <a:p>
            <a:endParaRPr/>
          </a:p>
        </p:txBody>
      </p:sp>
      <p:sp>
        <p:nvSpPr>
          <p:cNvPr id="12" name="AutoShape 12"/>
          <p:cNvSpPr/>
          <p:nvPr/>
        </p:nvSpPr>
        <p:spPr>
          <a:xfrm>
            <a:off x="414105" y="6018440"/>
            <a:ext cx="8475596" cy="0"/>
          </a:xfrm>
          <a:prstGeom prst="line">
            <a:avLst/>
          </a:prstGeom>
          <a:ln w="19050" cap="flat">
            <a:solidFill>
              <a:srgbClr val="B2935B"/>
            </a:solidFill>
            <a:prstDash val="solid"/>
            <a:headEnd type="none" w="sm" len="sm"/>
            <a:tailEnd type="none" w="sm" len="sm"/>
          </a:ln>
        </p:spPr>
        <p:txBody>
          <a:bodyPr/>
          <a:lstStyle/>
          <a:p>
            <a:endParaRPr/>
          </a:p>
        </p:txBody>
      </p:sp>
      <p:sp>
        <p:nvSpPr>
          <p:cNvPr id="13" name="Freeform 13"/>
          <p:cNvSpPr/>
          <p:nvPr/>
        </p:nvSpPr>
        <p:spPr>
          <a:xfrm>
            <a:off x="391335" y="315011"/>
            <a:ext cx="2629852" cy="1249680"/>
          </a:xfrm>
          <a:custGeom>
            <a:avLst/>
            <a:gdLst/>
            <a:ahLst/>
            <a:cxnLst/>
            <a:rect l="l" t="t" r="r" b="b"/>
            <a:pathLst>
              <a:path w="2629852" h="1249680">
                <a:moveTo>
                  <a:pt x="0" y="0"/>
                </a:moveTo>
                <a:lnTo>
                  <a:pt x="2629852" y="0"/>
                </a:lnTo>
                <a:lnTo>
                  <a:pt x="2629852" y="1249680"/>
                </a:lnTo>
                <a:lnTo>
                  <a:pt x="0" y="124968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15" name="TextBox 15" descr="$PPTXTitle"/>
          <p:cNvSpPr txBox="1"/>
          <p:nvPr/>
        </p:nvSpPr>
        <p:spPr>
          <a:xfrm>
            <a:off x="3963967" y="360907"/>
            <a:ext cx="9813370" cy="847725"/>
          </a:xfrm>
          <a:prstGeom prst="rect">
            <a:avLst/>
          </a:prstGeom>
        </p:spPr>
        <p:txBody>
          <a:bodyPr lIns="0" tIns="0" rIns="0" bIns="0" rtlCol="0" anchor="t">
            <a:spAutoFit/>
          </a:bodyPr>
          <a:lstStyle/>
          <a:p>
            <a:pPr algn="l">
              <a:lnSpc>
                <a:spcPts val="6480"/>
              </a:lnSpc>
            </a:pPr>
            <a:r>
              <a:rPr lang="en-US" sz="5400" b="1" spc="-30">
                <a:solidFill>
                  <a:srgbClr val="7A2F00"/>
                </a:solidFill>
                <a:latin typeface="Times New Roman Bold"/>
                <a:ea typeface="Times New Roman Bold"/>
                <a:cs typeface="Times New Roman Bold"/>
                <a:sym typeface="Times New Roman Bold"/>
              </a:rPr>
              <a:t>FEASIBILITY AND VIABILITY</a:t>
            </a:r>
          </a:p>
        </p:txBody>
      </p:sp>
      <p:sp>
        <p:nvSpPr>
          <p:cNvPr id="16" name="TextBox 16"/>
          <p:cNvSpPr txBox="1"/>
          <p:nvPr/>
        </p:nvSpPr>
        <p:spPr>
          <a:xfrm>
            <a:off x="9144000" y="1809914"/>
            <a:ext cx="3849172" cy="381000"/>
          </a:xfrm>
          <a:prstGeom prst="rect">
            <a:avLst/>
          </a:prstGeom>
        </p:spPr>
        <p:txBody>
          <a:bodyPr lIns="0" tIns="0" rIns="0" bIns="0" rtlCol="0" anchor="t">
            <a:spAutoFit/>
          </a:bodyPr>
          <a:lstStyle/>
          <a:p>
            <a:pPr algn="l">
              <a:lnSpc>
                <a:spcPts val="2640"/>
              </a:lnSpc>
            </a:pPr>
            <a:r>
              <a:rPr lang="en-US" sz="2200" b="1">
                <a:solidFill>
                  <a:srgbClr val="7A2F00"/>
                </a:solidFill>
                <a:latin typeface="Calibri"/>
                <a:ea typeface="Calibri"/>
                <a:cs typeface="Calibri"/>
                <a:sym typeface="Calibri"/>
              </a:rPr>
              <a:t>Potential Challenges &amp; Strategies</a:t>
            </a:r>
          </a:p>
        </p:txBody>
      </p:sp>
      <p:sp>
        <p:nvSpPr>
          <p:cNvPr id="17" name="TextBox 17"/>
          <p:cNvSpPr txBox="1"/>
          <p:nvPr/>
        </p:nvSpPr>
        <p:spPr>
          <a:xfrm>
            <a:off x="17063656" y="9649673"/>
            <a:ext cx="104775" cy="288608"/>
          </a:xfrm>
          <a:prstGeom prst="rect">
            <a:avLst/>
          </a:prstGeom>
        </p:spPr>
        <p:txBody>
          <a:bodyPr lIns="0" tIns="0" rIns="0" bIns="0" rtlCol="0" anchor="t">
            <a:spAutoFit/>
          </a:bodyPr>
          <a:lstStyle/>
          <a:p>
            <a:pPr algn="l">
              <a:lnSpc>
                <a:spcPts val="2137"/>
              </a:lnSpc>
            </a:pPr>
            <a:r>
              <a:rPr lang="en-US" sz="1800" b="1" spc="-75">
                <a:solidFill>
                  <a:srgbClr val="FFFFFF"/>
                </a:solidFill>
                <a:latin typeface="Times New Roman Bold"/>
                <a:ea typeface="Times New Roman Bold"/>
                <a:cs typeface="Times New Roman Bold"/>
                <a:sym typeface="Times New Roman Bold"/>
              </a:rPr>
              <a:t>4</a:t>
            </a:r>
          </a:p>
        </p:txBody>
      </p:sp>
      <p:sp>
        <p:nvSpPr>
          <p:cNvPr id="18" name="TextBox 18" descr="$PPTXTitle"/>
          <p:cNvSpPr txBox="1"/>
          <p:nvPr/>
        </p:nvSpPr>
        <p:spPr>
          <a:xfrm>
            <a:off x="1074372" y="677913"/>
            <a:ext cx="1461403" cy="466725"/>
          </a:xfrm>
          <a:prstGeom prst="rect">
            <a:avLst/>
          </a:prstGeom>
        </p:spPr>
        <p:txBody>
          <a:bodyPr lIns="0" tIns="0" rIns="0" bIns="0" rtlCol="0" anchor="t">
            <a:spAutoFit/>
          </a:bodyPr>
          <a:lstStyle/>
          <a:p>
            <a:pPr algn="l">
              <a:lnSpc>
                <a:spcPts val="3240"/>
              </a:lnSpc>
            </a:pPr>
            <a:r>
              <a:rPr lang="en-US" sz="2700" b="1" spc="-29">
                <a:solidFill>
                  <a:srgbClr val="7A2F00"/>
                </a:solidFill>
                <a:latin typeface="Calibri"/>
                <a:ea typeface="Calibri"/>
                <a:cs typeface="Calibri"/>
                <a:sym typeface="Calibri"/>
              </a:rPr>
              <a:t>HexTech</a:t>
            </a:r>
          </a:p>
        </p:txBody>
      </p:sp>
      <p:sp>
        <p:nvSpPr>
          <p:cNvPr id="19" name="TextBox 19"/>
          <p:cNvSpPr txBox="1"/>
          <p:nvPr/>
        </p:nvSpPr>
        <p:spPr>
          <a:xfrm>
            <a:off x="646791" y="6104165"/>
            <a:ext cx="4281964" cy="381000"/>
          </a:xfrm>
          <a:prstGeom prst="rect">
            <a:avLst/>
          </a:prstGeom>
        </p:spPr>
        <p:txBody>
          <a:bodyPr lIns="0" tIns="0" rIns="0" bIns="0" rtlCol="0" anchor="t">
            <a:spAutoFit/>
          </a:bodyPr>
          <a:lstStyle/>
          <a:p>
            <a:pPr algn="l">
              <a:lnSpc>
                <a:spcPts val="2640"/>
              </a:lnSpc>
            </a:pPr>
            <a:r>
              <a:rPr lang="en-US" sz="2200" b="1">
                <a:solidFill>
                  <a:srgbClr val="7A2F00"/>
                </a:solidFill>
                <a:latin typeface="Calibri"/>
                <a:ea typeface="Calibri"/>
                <a:cs typeface="Calibri"/>
                <a:sym typeface="Calibri"/>
              </a:rPr>
              <a:t>Phased Implementation &amp; Scalability</a:t>
            </a:r>
          </a:p>
        </p:txBody>
      </p:sp>
      <p:sp>
        <p:nvSpPr>
          <p:cNvPr id="20" name="TextBox 20"/>
          <p:cNvSpPr txBox="1"/>
          <p:nvPr/>
        </p:nvSpPr>
        <p:spPr>
          <a:xfrm>
            <a:off x="646791" y="1809914"/>
            <a:ext cx="3064312" cy="381000"/>
          </a:xfrm>
          <a:prstGeom prst="rect">
            <a:avLst/>
          </a:prstGeom>
        </p:spPr>
        <p:txBody>
          <a:bodyPr lIns="0" tIns="0" rIns="0" bIns="0" rtlCol="0" anchor="t">
            <a:spAutoFit/>
          </a:bodyPr>
          <a:lstStyle/>
          <a:p>
            <a:pPr algn="l">
              <a:lnSpc>
                <a:spcPts val="2640"/>
              </a:lnSpc>
            </a:pPr>
            <a:r>
              <a:rPr lang="en-US" sz="2200" b="1">
                <a:solidFill>
                  <a:srgbClr val="7A2F00"/>
                </a:solidFill>
                <a:latin typeface="Calibri"/>
                <a:ea typeface="Calibri"/>
                <a:cs typeface="Calibri"/>
                <a:sym typeface="Calibri"/>
              </a:rPr>
              <a:t>Feasibility &amp; Sustainability</a:t>
            </a:r>
          </a:p>
        </p:txBody>
      </p:sp>
      <p:grpSp>
        <p:nvGrpSpPr>
          <p:cNvPr id="22" name="Group 22"/>
          <p:cNvGrpSpPr/>
          <p:nvPr/>
        </p:nvGrpSpPr>
        <p:grpSpPr>
          <a:xfrm>
            <a:off x="14720116" y="33423"/>
            <a:ext cx="3287373" cy="1531268"/>
            <a:chOff x="0" y="0"/>
            <a:chExt cx="4383164" cy="2041690"/>
          </a:xfrm>
        </p:grpSpPr>
        <p:sp>
          <p:nvSpPr>
            <p:cNvPr id="23" name="Freeform 23"/>
            <p:cNvSpPr/>
            <p:nvPr/>
          </p:nvSpPr>
          <p:spPr>
            <a:xfrm>
              <a:off x="0" y="0"/>
              <a:ext cx="4383151" cy="2041652"/>
            </a:xfrm>
            <a:custGeom>
              <a:avLst/>
              <a:gdLst/>
              <a:ahLst/>
              <a:cxnLst/>
              <a:rect l="l" t="t" r="r" b="b"/>
              <a:pathLst>
                <a:path w="4383151" h="2041652">
                  <a:moveTo>
                    <a:pt x="0" y="0"/>
                  </a:moveTo>
                  <a:lnTo>
                    <a:pt x="4383151" y="0"/>
                  </a:lnTo>
                  <a:lnTo>
                    <a:pt x="4383151" y="2041652"/>
                  </a:lnTo>
                  <a:lnTo>
                    <a:pt x="0" y="2041652"/>
                  </a:lnTo>
                  <a:lnTo>
                    <a:pt x="0" y="0"/>
                  </a:lnTo>
                  <a:close/>
                </a:path>
              </a:pathLst>
            </a:custGeom>
            <a:blipFill>
              <a:blip r:embed="rId5"/>
              <a:stretch>
                <a:fillRect t="-106" b="-108"/>
              </a:stretch>
            </a:blipFill>
          </p:spPr>
        </p:sp>
      </p:grpSp>
      <p:sp>
        <p:nvSpPr>
          <p:cNvPr id="24" name="TextBox 24"/>
          <p:cNvSpPr txBox="1"/>
          <p:nvPr/>
        </p:nvSpPr>
        <p:spPr>
          <a:xfrm>
            <a:off x="9144000" y="6749314"/>
            <a:ext cx="2830116" cy="381000"/>
          </a:xfrm>
          <a:prstGeom prst="rect">
            <a:avLst/>
          </a:prstGeom>
        </p:spPr>
        <p:txBody>
          <a:bodyPr lIns="0" tIns="0" rIns="0" bIns="0" rtlCol="0" anchor="t">
            <a:spAutoFit/>
          </a:bodyPr>
          <a:lstStyle/>
          <a:p>
            <a:pPr algn="l">
              <a:lnSpc>
                <a:spcPts val="2640"/>
              </a:lnSpc>
            </a:pPr>
            <a:r>
              <a:rPr lang="en-US" sz="2200" b="1">
                <a:solidFill>
                  <a:srgbClr val="7A2F00"/>
                </a:solidFill>
                <a:latin typeface="Calibri"/>
                <a:ea typeface="Calibri"/>
                <a:cs typeface="Calibri"/>
                <a:sym typeface="Calibri"/>
              </a:rPr>
              <a:t>Cost &amp; Deployment Plan</a:t>
            </a:r>
          </a:p>
        </p:txBody>
      </p:sp>
      <p:grpSp>
        <p:nvGrpSpPr>
          <p:cNvPr id="25" name="Group 25"/>
          <p:cNvGrpSpPr/>
          <p:nvPr/>
        </p:nvGrpSpPr>
        <p:grpSpPr>
          <a:xfrm>
            <a:off x="9088924" y="7391299"/>
            <a:ext cx="1606622" cy="1880336"/>
            <a:chOff x="0" y="0"/>
            <a:chExt cx="27419684" cy="32091074"/>
          </a:xfrm>
        </p:grpSpPr>
        <p:sp>
          <p:nvSpPr>
            <p:cNvPr id="26" name="Freeform 26"/>
            <p:cNvSpPr/>
            <p:nvPr/>
          </p:nvSpPr>
          <p:spPr>
            <a:xfrm>
              <a:off x="0" y="0"/>
              <a:ext cx="27419684" cy="32091074"/>
            </a:xfrm>
            <a:custGeom>
              <a:avLst/>
              <a:gdLst/>
              <a:ahLst/>
              <a:cxnLst/>
              <a:rect l="l" t="t" r="r" b="b"/>
              <a:pathLst>
                <a:path w="27419684" h="32091074">
                  <a:moveTo>
                    <a:pt x="48188" y="0"/>
                  </a:moveTo>
                  <a:lnTo>
                    <a:pt x="27371498" y="0"/>
                  </a:lnTo>
                  <a:cubicBezTo>
                    <a:pt x="27384276" y="0"/>
                    <a:pt x="27396532" y="5077"/>
                    <a:pt x="27405571" y="14114"/>
                  </a:cubicBezTo>
                  <a:cubicBezTo>
                    <a:pt x="27414609" y="23151"/>
                    <a:pt x="27419684" y="35407"/>
                    <a:pt x="27419684" y="48188"/>
                  </a:cubicBezTo>
                  <a:lnTo>
                    <a:pt x="27419684" y="32042888"/>
                  </a:lnTo>
                  <a:cubicBezTo>
                    <a:pt x="27419684" y="32055665"/>
                    <a:pt x="27414609" y="32067922"/>
                    <a:pt x="27405571" y="32076960"/>
                  </a:cubicBezTo>
                  <a:cubicBezTo>
                    <a:pt x="27396532" y="32085998"/>
                    <a:pt x="27384276" y="32091074"/>
                    <a:pt x="27371498" y="32091074"/>
                  </a:cubicBezTo>
                  <a:lnTo>
                    <a:pt x="48188" y="32091074"/>
                  </a:lnTo>
                  <a:cubicBezTo>
                    <a:pt x="35407" y="32091074"/>
                    <a:pt x="23151" y="32085998"/>
                    <a:pt x="14114" y="32076960"/>
                  </a:cubicBezTo>
                  <a:cubicBezTo>
                    <a:pt x="5077" y="32067922"/>
                    <a:pt x="0" y="32055665"/>
                    <a:pt x="0" y="32042888"/>
                  </a:cubicBezTo>
                  <a:lnTo>
                    <a:pt x="0" y="48188"/>
                  </a:lnTo>
                  <a:cubicBezTo>
                    <a:pt x="0" y="35407"/>
                    <a:pt x="5077" y="23151"/>
                    <a:pt x="14114" y="14114"/>
                  </a:cubicBezTo>
                  <a:cubicBezTo>
                    <a:pt x="23151" y="5077"/>
                    <a:pt x="35407" y="0"/>
                    <a:pt x="48188" y="0"/>
                  </a:cubicBezTo>
                  <a:close/>
                </a:path>
              </a:pathLst>
            </a:custGeom>
            <a:solidFill>
              <a:srgbClr val="FFFFFF"/>
            </a:solidFill>
            <a:ln w="19050" cap="sq">
              <a:solidFill>
                <a:srgbClr val="B2935B"/>
              </a:solidFill>
              <a:prstDash val="solid"/>
              <a:miter/>
            </a:ln>
          </p:spPr>
        </p:sp>
        <p:sp>
          <p:nvSpPr>
            <p:cNvPr id="27" name="TextBox 27"/>
            <p:cNvSpPr txBox="1"/>
            <p:nvPr/>
          </p:nvSpPr>
          <p:spPr>
            <a:xfrm>
              <a:off x="0" y="-28575"/>
              <a:ext cx="27419684" cy="32119649"/>
            </a:xfrm>
            <a:prstGeom prst="rect">
              <a:avLst/>
            </a:prstGeom>
          </p:spPr>
          <p:txBody>
            <a:bodyPr lIns="50800" tIns="50800" rIns="50800" bIns="50800" rtlCol="0" anchor="ctr"/>
            <a:lstStyle/>
            <a:p>
              <a:pPr algn="ctr">
                <a:lnSpc>
                  <a:spcPts val="2239"/>
                </a:lnSpc>
                <a:spcBef>
                  <a:spcPct val="0"/>
                </a:spcBef>
              </a:pPr>
              <a:endParaRPr/>
            </a:p>
          </p:txBody>
        </p:sp>
      </p:grpSp>
      <p:grpSp>
        <p:nvGrpSpPr>
          <p:cNvPr id="28" name="Group 28"/>
          <p:cNvGrpSpPr/>
          <p:nvPr/>
        </p:nvGrpSpPr>
        <p:grpSpPr>
          <a:xfrm>
            <a:off x="10875719" y="7391299"/>
            <a:ext cx="1606622" cy="1880336"/>
            <a:chOff x="0" y="0"/>
            <a:chExt cx="27419684" cy="32091074"/>
          </a:xfrm>
        </p:grpSpPr>
        <p:sp>
          <p:nvSpPr>
            <p:cNvPr id="29" name="Freeform 29"/>
            <p:cNvSpPr/>
            <p:nvPr/>
          </p:nvSpPr>
          <p:spPr>
            <a:xfrm>
              <a:off x="0" y="0"/>
              <a:ext cx="27419684" cy="32091074"/>
            </a:xfrm>
            <a:custGeom>
              <a:avLst/>
              <a:gdLst/>
              <a:ahLst/>
              <a:cxnLst/>
              <a:rect l="l" t="t" r="r" b="b"/>
              <a:pathLst>
                <a:path w="27419684" h="32091074">
                  <a:moveTo>
                    <a:pt x="48188" y="0"/>
                  </a:moveTo>
                  <a:lnTo>
                    <a:pt x="27371498" y="0"/>
                  </a:lnTo>
                  <a:cubicBezTo>
                    <a:pt x="27384276" y="0"/>
                    <a:pt x="27396532" y="5077"/>
                    <a:pt x="27405571" y="14114"/>
                  </a:cubicBezTo>
                  <a:cubicBezTo>
                    <a:pt x="27414609" y="23151"/>
                    <a:pt x="27419684" y="35407"/>
                    <a:pt x="27419684" y="48188"/>
                  </a:cubicBezTo>
                  <a:lnTo>
                    <a:pt x="27419684" y="32042888"/>
                  </a:lnTo>
                  <a:cubicBezTo>
                    <a:pt x="27419684" y="32055665"/>
                    <a:pt x="27414609" y="32067922"/>
                    <a:pt x="27405571" y="32076960"/>
                  </a:cubicBezTo>
                  <a:cubicBezTo>
                    <a:pt x="27396532" y="32085998"/>
                    <a:pt x="27384276" y="32091074"/>
                    <a:pt x="27371498" y="32091074"/>
                  </a:cubicBezTo>
                  <a:lnTo>
                    <a:pt x="48188" y="32091074"/>
                  </a:lnTo>
                  <a:cubicBezTo>
                    <a:pt x="35407" y="32091074"/>
                    <a:pt x="23151" y="32085998"/>
                    <a:pt x="14114" y="32076960"/>
                  </a:cubicBezTo>
                  <a:cubicBezTo>
                    <a:pt x="5077" y="32067922"/>
                    <a:pt x="0" y="32055665"/>
                    <a:pt x="0" y="32042888"/>
                  </a:cubicBezTo>
                  <a:lnTo>
                    <a:pt x="0" y="48188"/>
                  </a:lnTo>
                  <a:cubicBezTo>
                    <a:pt x="0" y="35407"/>
                    <a:pt x="5077" y="23151"/>
                    <a:pt x="14114" y="14114"/>
                  </a:cubicBezTo>
                  <a:cubicBezTo>
                    <a:pt x="23151" y="5077"/>
                    <a:pt x="35407" y="0"/>
                    <a:pt x="48188" y="0"/>
                  </a:cubicBezTo>
                  <a:close/>
                </a:path>
              </a:pathLst>
            </a:custGeom>
            <a:solidFill>
              <a:srgbClr val="FFFFFF"/>
            </a:solidFill>
            <a:ln w="19050" cap="sq">
              <a:solidFill>
                <a:srgbClr val="B2935B"/>
              </a:solidFill>
              <a:prstDash val="solid"/>
              <a:miter/>
            </a:ln>
          </p:spPr>
        </p:sp>
        <p:sp>
          <p:nvSpPr>
            <p:cNvPr id="30" name="TextBox 30"/>
            <p:cNvSpPr txBox="1"/>
            <p:nvPr/>
          </p:nvSpPr>
          <p:spPr>
            <a:xfrm>
              <a:off x="0" y="-28575"/>
              <a:ext cx="27419684" cy="32119649"/>
            </a:xfrm>
            <a:prstGeom prst="rect">
              <a:avLst/>
            </a:prstGeom>
          </p:spPr>
          <p:txBody>
            <a:bodyPr lIns="50800" tIns="50800" rIns="50800" bIns="50800" rtlCol="0" anchor="ctr"/>
            <a:lstStyle/>
            <a:p>
              <a:pPr algn="ctr">
                <a:lnSpc>
                  <a:spcPts val="2239"/>
                </a:lnSpc>
                <a:spcBef>
                  <a:spcPct val="0"/>
                </a:spcBef>
              </a:pPr>
              <a:endParaRPr/>
            </a:p>
          </p:txBody>
        </p:sp>
      </p:grpSp>
      <p:grpSp>
        <p:nvGrpSpPr>
          <p:cNvPr id="31" name="Group 31"/>
          <p:cNvGrpSpPr/>
          <p:nvPr/>
        </p:nvGrpSpPr>
        <p:grpSpPr>
          <a:xfrm>
            <a:off x="12663316" y="7391299"/>
            <a:ext cx="1606622" cy="1880336"/>
            <a:chOff x="0" y="0"/>
            <a:chExt cx="27419684" cy="32091074"/>
          </a:xfrm>
        </p:grpSpPr>
        <p:sp>
          <p:nvSpPr>
            <p:cNvPr id="32" name="Freeform 32"/>
            <p:cNvSpPr/>
            <p:nvPr/>
          </p:nvSpPr>
          <p:spPr>
            <a:xfrm>
              <a:off x="0" y="0"/>
              <a:ext cx="27419684" cy="32091074"/>
            </a:xfrm>
            <a:custGeom>
              <a:avLst/>
              <a:gdLst/>
              <a:ahLst/>
              <a:cxnLst/>
              <a:rect l="l" t="t" r="r" b="b"/>
              <a:pathLst>
                <a:path w="27419684" h="32091074">
                  <a:moveTo>
                    <a:pt x="48188" y="0"/>
                  </a:moveTo>
                  <a:lnTo>
                    <a:pt x="27371498" y="0"/>
                  </a:lnTo>
                  <a:cubicBezTo>
                    <a:pt x="27384276" y="0"/>
                    <a:pt x="27396532" y="5077"/>
                    <a:pt x="27405571" y="14114"/>
                  </a:cubicBezTo>
                  <a:cubicBezTo>
                    <a:pt x="27414609" y="23151"/>
                    <a:pt x="27419684" y="35407"/>
                    <a:pt x="27419684" y="48188"/>
                  </a:cubicBezTo>
                  <a:lnTo>
                    <a:pt x="27419684" y="32042888"/>
                  </a:lnTo>
                  <a:cubicBezTo>
                    <a:pt x="27419684" y="32055665"/>
                    <a:pt x="27414609" y="32067922"/>
                    <a:pt x="27405571" y="32076960"/>
                  </a:cubicBezTo>
                  <a:cubicBezTo>
                    <a:pt x="27396532" y="32085998"/>
                    <a:pt x="27384276" y="32091074"/>
                    <a:pt x="27371498" y="32091074"/>
                  </a:cubicBezTo>
                  <a:lnTo>
                    <a:pt x="48188" y="32091074"/>
                  </a:lnTo>
                  <a:cubicBezTo>
                    <a:pt x="35407" y="32091074"/>
                    <a:pt x="23151" y="32085998"/>
                    <a:pt x="14114" y="32076960"/>
                  </a:cubicBezTo>
                  <a:cubicBezTo>
                    <a:pt x="5077" y="32067922"/>
                    <a:pt x="0" y="32055665"/>
                    <a:pt x="0" y="32042888"/>
                  </a:cubicBezTo>
                  <a:lnTo>
                    <a:pt x="0" y="48188"/>
                  </a:lnTo>
                  <a:cubicBezTo>
                    <a:pt x="0" y="35407"/>
                    <a:pt x="5077" y="23151"/>
                    <a:pt x="14114" y="14114"/>
                  </a:cubicBezTo>
                  <a:cubicBezTo>
                    <a:pt x="23151" y="5077"/>
                    <a:pt x="35407" y="0"/>
                    <a:pt x="48188" y="0"/>
                  </a:cubicBezTo>
                  <a:close/>
                </a:path>
              </a:pathLst>
            </a:custGeom>
            <a:solidFill>
              <a:srgbClr val="FFFFFF"/>
            </a:solidFill>
            <a:ln w="19050" cap="sq">
              <a:solidFill>
                <a:srgbClr val="B2935B"/>
              </a:solidFill>
              <a:prstDash val="solid"/>
              <a:miter/>
            </a:ln>
          </p:spPr>
        </p:sp>
        <p:sp>
          <p:nvSpPr>
            <p:cNvPr id="33" name="TextBox 33"/>
            <p:cNvSpPr txBox="1"/>
            <p:nvPr/>
          </p:nvSpPr>
          <p:spPr>
            <a:xfrm>
              <a:off x="0" y="-28575"/>
              <a:ext cx="27419684" cy="32119649"/>
            </a:xfrm>
            <a:prstGeom prst="rect">
              <a:avLst/>
            </a:prstGeom>
          </p:spPr>
          <p:txBody>
            <a:bodyPr lIns="50800" tIns="50800" rIns="50800" bIns="50800" rtlCol="0" anchor="ctr"/>
            <a:lstStyle/>
            <a:p>
              <a:pPr algn="ctr">
                <a:lnSpc>
                  <a:spcPts val="2239"/>
                </a:lnSpc>
                <a:spcBef>
                  <a:spcPct val="0"/>
                </a:spcBef>
              </a:pPr>
              <a:endParaRPr/>
            </a:p>
          </p:txBody>
        </p:sp>
      </p:grpSp>
      <p:grpSp>
        <p:nvGrpSpPr>
          <p:cNvPr id="34" name="Group 34"/>
          <p:cNvGrpSpPr/>
          <p:nvPr/>
        </p:nvGrpSpPr>
        <p:grpSpPr>
          <a:xfrm>
            <a:off x="14450913" y="7391299"/>
            <a:ext cx="1606622" cy="1880336"/>
            <a:chOff x="0" y="0"/>
            <a:chExt cx="27419684" cy="32091074"/>
          </a:xfrm>
        </p:grpSpPr>
        <p:sp>
          <p:nvSpPr>
            <p:cNvPr id="35" name="Freeform 35"/>
            <p:cNvSpPr/>
            <p:nvPr/>
          </p:nvSpPr>
          <p:spPr>
            <a:xfrm>
              <a:off x="0" y="0"/>
              <a:ext cx="27419684" cy="32091074"/>
            </a:xfrm>
            <a:custGeom>
              <a:avLst/>
              <a:gdLst/>
              <a:ahLst/>
              <a:cxnLst/>
              <a:rect l="l" t="t" r="r" b="b"/>
              <a:pathLst>
                <a:path w="27419684" h="32091074">
                  <a:moveTo>
                    <a:pt x="48188" y="0"/>
                  </a:moveTo>
                  <a:lnTo>
                    <a:pt x="27371498" y="0"/>
                  </a:lnTo>
                  <a:cubicBezTo>
                    <a:pt x="27384276" y="0"/>
                    <a:pt x="27396532" y="5077"/>
                    <a:pt x="27405571" y="14114"/>
                  </a:cubicBezTo>
                  <a:cubicBezTo>
                    <a:pt x="27414609" y="23151"/>
                    <a:pt x="27419684" y="35407"/>
                    <a:pt x="27419684" y="48188"/>
                  </a:cubicBezTo>
                  <a:lnTo>
                    <a:pt x="27419684" y="32042888"/>
                  </a:lnTo>
                  <a:cubicBezTo>
                    <a:pt x="27419684" y="32055665"/>
                    <a:pt x="27414609" y="32067922"/>
                    <a:pt x="27405571" y="32076960"/>
                  </a:cubicBezTo>
                  <a:cubicBezTo>
                    <a:pt x="27396532" y="32085998"/>
                    <a:pt x="27384276" y="32091074"/>
                    <a:pt x="27371498" y="32091074"/>
                  </a:cubicBezTo>
                  <a:lnTo>
                    <a:pt x="48188" y="32091074"/>
                  </a:lnTo>
                  <a:cubicBezTo>
                    <a:pt x="35407" y="32091074"/>
                    <a:pt x="23151" y="32085998"/>
                    <a:pt x="14114" y="32076960"/>
                  </a:cubicBezTo>
                  <a:cubicBezTo>
                    <a:pt x="5077" y="32067922"/>
                    <a:pt x="0" y="32055665"/>
                    <a:pt x="0" y="32042888"/>
                  </a:cubicBezTo>
                  <a:lnTo>
                    <a:pt x="0" y="48188"/>
                  </a:lnTo>
                  <a:cubicBezTo>
                    <a:pt x="0" y="35407"/>
                    <a:pt x="5077" y="23151"/>
                    <a:pt x="14114" y="14114"/>
                  </a:cubicBezTo>
                  <a:cubicBezTo>
                    <a:pt x="23151" y="5077"/>
                    <a:pt x="35407" y="0"/>
                    <a:pt x="48188" y="0"/>
                  </a:cubicBezTo>
                  <a:close/>
                </a:path>
              </a:pathLst>
            </a:custGeom>
            <a:solidFill>
              <a:srgbClr val="FFFFFF"/>
            </a:solidFill>
            <a:ln w="19050" cap="sq">
              <a:solidFill>
                <a:srgbClr val="B2935B"/>
              </a:solidFill>
              <a:prstDash val="solid"/>
              <a:miter/>
            </a:ln>
          </p:spPr>
        </p:sp>
        <p:sp>
          <p:nvSpPr>
            <p:cNvPr id="36" name="TextBox 36"/>
            <p:cNvSpPr txBox="1"/>
            <p:nvPr/>
          </p:nvSpPr>
          <p:spPr>
            <a:xfrm>
              <a:off x="0" y="-28575"/>
              <a:ext cx="27419684" cy="32119649"/>
            </a:xfrm>
            <a:prstGeom prst="rect">
              <a:avLst/>
            </a:prstGeom>
          </p:spPr>
          <p:txBody>
            <a:bodyPr lIns="50800" tIns="50800" rIns="50800" bIns="50800" rtlCol="0" anchor="ctr"/>
            <a:lstStyle/>
            <a:p>
              <a:pPr algn="ctr">
                <a:lnSpc>
                  <a:spcPts val="2239"/>
                </a:lnSpc>
                <a:spcBef>
                  <a:spcPct val="0"/>
                </a:spcBef>
              </a:pPr>
              <a:endParaRPr/>
            </a:p>
          </p:txBody>
        </p:sp>
      </p:grpSp>
      <p:grpSp>
        <p:nvGrpSpPr>
          <p:cNvPr id="37" name="Group 37"/>
          <p:cNvGrpSpPr/>
          <p:nvPr/>
        </p:nvGrpSpPr>
        <p:grpSpPr>
          <a:xfrm>
            <a:off x="16238511" y="7391299"/>
            <a:ext cx="1606622" cy="1880336"/>
            <a:chOff x="0" y="0"/>
            <a:chExt cx="27419684" cy="32091074"/>
          </a:xfrm>
        </p:grpSpPr>
        <p:sp>
          <p:nvSpPr>
            <p:cNvPr id="38" name="Freeform 38"/>
            <p:cNvSpPr/>
            <p:nvPr/>
          </p:nvSpPr>
          <p:spPr>
            <a:xfrm>
              <a:off x="0" y="0"/>
              <a:ext cx="27419684" cy="32091074"/>
            </a:xfrm>
            <a:custGeom>
              <a:avLst/>
              <a:gdLst/>
              <a:ahLst/>
              <a:cxnLst/>
              <a:rect l="l" t="t" r="r" b="b"/>
              <a:pathLst>
                <a:path w="27419684" h="32091074">
                  <a:moveTo>
                    <a:pt x="48188" y="0"/>
                  </a:moveTo>
                  <a:lnTo>
                    <a:pt x="27371498" y="0"/>
                  </a:lnTo>
                  <a:cubicBezTo>
                    <a:pt x="27384276" y="0"/>
                    <a:pt x="27396532" y="5077"/>
                    <a:pt x="27405571" y="14114"/>
                  </a:cubicBezTo>
                  <a:cubicBezTo>
                    <a:pt x="27414609" y="23151"/>
                    <a:pt x="27419684" y="35407"/>
                    <a:pt x="27419684" y="48188"/>
                  </a:cubicBezTo>
                  <a:lnTo>
                    <a:pt x="27419684" y="32042888"/>
                  </a:lnTo>
                  <a:cubicBezTo>
                    <a:pt x="27419684" y="32055665"/>
                    <a:pt x="27414609" y="32067922"/>
                    <a:pt x="27405571" y="32076960"/>
                  </a:cubicBezTo>
                  <a:cubicBezTo>
                    <a:pt x="27396532" y="32085998"/>
                    <a:pt x="27384276" y="32091074"/>
                    <a:pt x="27371498" y="32091074"/>
                  </a:cubicBezTo>
                  <a:lnTo>
                    <a:pt x="48188" y="32091074"/>
                  </a:lnTo>
                  <a:cubicBezTo>
                    <a:pt x="35407" y="32091074"/>
                    <a:pt x="23151" y="32085998"/>
                    <a:pt x="14114" y="32076960"/>
                  </a:cubicBezTo>
                  <a:cubicBezTo>
                    <a:pt x="5077" y="32067922"/>
                    <a:pt x="0" y="32055665"/>
                    <a:pt x="0" y="32042888"/>
                  </a:cubicBezTo>
                  <a:lnTo>
                    <a:pt x="0" y="48188"/>
                  </a:lnTo>
                  <a:cubicBezTo>
                    <a:pt x="0" y="35407"/>
                    <a:pt x="5077" y="23151"/>
                    <a:pt x="14114" y="14114"/>
                  </a:cubicBezTo>
                  <a:cubicBezTo>
                    <a:pt x="23151" y="5077"/>
                    <a:pt x="35407" y="0"/>
                    <a:pt x="48188" y="0"/>
                  </a:cubicBezTo>
                  <a:close/>
                </a:path>
              </a:pathLst>
            </a:custGeom>
            <a:solidFill>
              <a:srgbClr val="FFFFFF"/>
            </a:solidFill>
            <a:ln w="19050" cap="sq">
              <a:solidFill>
                <a:srgbClr val="B2935B"/>
              </a:solidFill>
              <a:prstDash val="solid"/>
              <a:miter/>
            </a:ln>
          </p:spPr>
        </p:sp>
        <p:sp>
          <p:nvSpPr>
            <p:cNvPr id="39" name="TextBox 39"/>
            <p:cNvSpPr txBox="1"/>
            <p:nvPr/>
          </p:nvSpPr>
          <p:spPr>
            <a:xfrm>
              <a:off x="0" y="-28575"/>
              <a:ext cx="27419684" cy="32119649"/>
            </a:xfrm>
            <a:prstGeom prst="rect">
              <a:avLst/>
            </a:prstGeom>
          </p:spPr>
          <p:txBody>
            <a:bodyPr lIns="50800" tIns="50800" rIns="50800" bIns="50800" rtlCol="0" anchor="ctr"/>
            <a:lstStyle/>
            <a:p>
              <a:pPr algn="ctr">
                <a:lnSpc>
                  <a:spcPts val="2239"/>
                </a:lnSpc>
                <a:spcBef>
                  <a:spcPct val="0"/>
                </a:spcBef>
              </a:pPr>
              <a:endParaRPr/>
            </a:p>
          </p:txBody>
        </p:sp>
      </p:grpSp>
      <p:sp>
        <p:nvSpPr>
          <p:cNvPr id="40" name="TextBox 40"/>
          <p:cNvSpPr txBox="1"/>
          <p:nvPr/>
        </p:nvSpPr>
        <p:spPr>
          <a:xfrm>
            <a:off x="9088924" y="7516404"/>
            <a:ext cx="1606622" cy="323850"/>
          </a:xfrm>
          <a:prstGeom prst="rect">
            <a:avLst/>
          </a:prstGeom>
        </p:spPr>
        <p:txBody>
          <a:bodyPr wrap="none" lIns="0" tIns="0" rIns="0" bIns="0" rtlCol="0" anchor="t">
            <a:noAutofit/>
          </a:bodyPr>
          <a:lstStyle/>
          <a:p>
            <a:pPr algn="ctr">
              <a:lnSpc>
                <a:spcPts val="2280"/>
              </a:lnSpc>
              <a:spcBef>
                <a:spcPct val="0"/>
              </a:spcBef>
            </a:pPr>
            <a:r>
              <a:rPr lang="en-US" sz="1900" spc="-21">
                <a:solidFill>
                  <a:srgbClr val="974826"/>
                </a:solidFill>
                <a:latin typeface="Calibri"/>
                <a:ea typeface="Calibri"/>
                <a:cs typeface="Calibri"/>
                <a:sym typeface="Calibri"/>
              </a:rPr>
              <a:t>COST</a:t>
            </a:r>
          </a:p>
        </p:txBody>
      </p:sp>
      <p:sp>
        <p:nvSpPr>
          <p:cNvPr id="41" name="TextBox 41"/>
          <p:cNvSpPr txBox="1"/>
          <p:nvPr/>
        </p:nvSpPr>
        <p:spPr>
          <a:xfrm>
            <a:off x="10875719" y="7516404"/>
            <a:ext cx="1606622" cy="323850"/>
          </a:xfrm>
          <a:prstGeom prst="rect">
            <a:avLst/>
          </a:prstGeom>
        </p:spPr>
        <p:txBody>
          <a:bodyPr wrap="none" lIns="0" tIns="0" rIns="0" bIns="0" rtlCol="0" anchor="t">
            <a:noAutofit/>
          </a:bodyPr>
          <a:lstStyle/>
          <a:p>
            <a:pPr algn="ctr">
              <a:lnSpc>
                <a:spcPts val="2280"/>
              </a:lnSpc>
              <a:spcBef>
                <a:spcPct val="0"/>
              </a:spcBef>
            </a:pPr>
            <a:r>
              <a:rPr lang="en-US" sz="1900" spc="-21">
                <a:solidFill>
                  <a:srgbClr val="974826"/>
                </a:solidFill>
                <a:latin typeface="Calibri"/>
                <a:ea typeface="Calibri"/>
                <a:cs typeface="Calibri"/>
                <a:sym typeface="Calibri"/>
              </a:rPr>
              <a:t>HOSTING</a:t>
            </a:r>
          </a:p>
        </p:txBody>
      </p:sp>
      <p:sp>
        <p:nvSpPr>
          <p:cNvPr id="42" name="TextBox 42"/>
          <p:cNvSpPr txBox="1"/>
          <p:nvPr/>
        </p:nvSpPr>
        <p:spPr>
          <a:xfrm>
            <a:off x="12663316" y="7516404"/>
            <a:ext cx="1606622" cy="323850"/>
          </a:xfrm>
          <a:prstGeom prst="rect">
            <a:avLst/>
          </a:prstGeom>
        </p:spPr>
        <p:txBody>
          <a:bodyPr wrap="none" lIns="0" tIns="0" rIns="0" bIns="0" rtlCol="0" anchor="t">
            <a:noAutofit/>
          </a:bodyPr>
          <a:lstStyle/>
          <a:p>
            <a:pPr algn="ctr">
              <a:lnSpc>
                <a:spcPts val="2280"/>
              </a:lnSpc>
              <a:spcBef>
                <a:spcPct val="0"/>
              </a:spcBef>
            </a:pPr>
            <a:r>
              <a:rPr lang="en-US" sz="1900" spc="-21">
                <a:solidFill>
                  <a:srgbClr val="974826"/>
                </a:solidFill>
                <a:latin typeface="Calibri"/>
                <a:ea typeface="Calibri"/>
                <a:cs typeface="Calibri"/>
                <a:sym typeface="Calibri"/>
              </a:rPr>
              <a:t>MAINTENANCE</a:t>
            </a:r>
          </a:p>
        </p:txBody>
      </p:sp>
      <p:sp>
        <p:nvSpPr>
          <p:cNvPr id="43" name="TextBox 43"/>
          <p:cNvSpPr txBox="1"/>
          <p:nvPr/>
        </p:nvSpPr>
        <p:spPr>
          <a:xfrm>
            <a:off x="14450913" y="7516404"/>
            <a:ext cx="1606622" cy="323850"/>
          </a:xfrm>
          <a:prstGeom prst="rect">
            <a:avLst/>
          </a:prstGeom>
        </p:spPr>
        <p:txBody>
          <a:bodyPr wrap="none" lIns="0" tIns="0" rIns="0" bIns="0" rtlCol="0" anchor="t">
            <a:noAutofit/>
          </a:bodyPr>
          <a:lstStyle/>
          <a:p>
            <a:pPr algn="ctr">
              <a:lnSpc>
                <a:spcPts val="2280"/>
              </a:lnSpc>
              <a:spcBef>
                <a:spcPct val="0"/>
              </a:spcBef>
            </a:pPr>
            <a:r>
              <a:rPr lang="en-US" sz="1900" spc="-21">
                <a:solidFill>
                  <a:srgbClr val="974826"/>
                </a:solidFill>
                <a:latin typeface="Calibri"/>
                <a:ea typeface="Calibri"/>
                <a:cs typeface="Calibri"/>
                <a:sym typeface="Calibri"/>
              </a:rPr>
              <a:t>DEPLOYMENT</a:t>
            </a:r>
          </a:p>
        </p:txBody>
      </p:sp>
      <p:sp>
        <p:nvSpPr>
          <p:cNvPr id="44" name="TextBox 44"/>
          <p:cNvSpPr txBox="1"/>
          <p:nvPr/>
        </p:nvSpPr>
        <p:spPr>
          <a:xfrm>
            <a:off x="16238511" y="7516404"/>
            <a:ext cx="1606622" cy="323850"/>
          </a:xfrm>
          <a:prstGeom prst="rect">
            <a:avLst/>
          </a:prstGeom>
        </p:spPr>
        <p:txBody>
          <a:bodyPr wrap="none" lIns="0" tIns="0" rIns="0" bIns="0" rtlCol="0" anchor="t">
            <a:noAutofit/>
          </a:bodyPr>
          <a:lstStyle/>
          <a:p>
            <a:pPr algn="ctr">
              <a:lnSpc>
                <a:spcPts val="2280"/>
              </a:lnSpc>
              <a:spcBef>
                <a:spcPct val="0"/>
              </a:spcBef>
            </a:pPr>
            <a:r>
              <a:rPr lang="en-US" sz="1900" spc="-21">
                <a:solidFill>
                  <a:srgbClr val="974826"/>
                </a:solidFill>
                <a:latin typeface="Calibri"/>
                <a:ea typeface="Calibri"/>
                <a:cs typeface="Calibri"/>
                <a:sym typeface="Calibri"/>
              </a:rPr>
              <a:t>SCALE</a:t>
            </a:r>
          </a:p>
        </p:txBody>
      </p:sp>
      <p:sp>
        <p:nvSpPr>
          <p:cNvPr id="45" name="TextBox 45"/>
          <p:cNvSpPr txBox="1"/>
          <p:nvPr/>
        </p:nvSpPr>
        <p:spPr>
          <a:xfrm>
            <a:off x="9157881" y="7882127"/>
            <a:ext cx="1468708" cy="1280160"/>
          </a:xfrm>
          <a:prstGeom prst="rect">
            <a:avLst/>
          </a:prstGeom>
        </p:spPr>
        <p:txBody>
          <a:bodyPr lIns="0" tIns="0" rIns="0" bIns="0" rtlCol="0" anchor="ctr">
            <a:spAutoFit/>
          </a:bodyPr>
          <a:lstStyle/>
          <a:p>
            <a:pPr algn="ctr">
              <a:lnSpc>
                <a:spcPts val="1800"/>
              </a:lnSpc>
              <a:spcBef>
                <a:spcPct val="0"/>
              </a:spcBef>
            </a:pPr>
            <a:r>
              <a:rPr lang="en-US" sz="1400" spc="-16">
                <a:solidFill>
                  <a:srgbClr val="000000"/>
                </a:solidFill>
                <a:latin typeface="Calibri"/>
                <a:ea typeface="Calibri"/>
                <a:cs typeface="Calibri"/>
                <a:sym typeface="Calibri"/>
              </a:rPr>
              <a:t>Existing phone, ₹10 card, open-source software</a:t>
            </a:r>
          </a:p>
        </p:txBody>
      </p:sp>
      <p:sp>
        <p:nvSpPr>
          <p:cNvPr id="46" name="TextBox 46"/>
          <p:cNvSpPr txBox="1"/>
          <p:nvPr/>
        </p:nvSpPr>
        <p:spPr>
          <a:xfrm>
            <a:off x="10943196" y="7882127"/>
            <a:ext cx="1468708" cy="1280160"/>
          </a:xfrm>
          <a:prstGeom prst="rect">
            <a:avLst/>
          </a:prstGeom>
        </p:spPr>
        <p:txBody>
          <a:bodyPr lIns="0" tIns="0" rIns="0" bIns="0" rtlCol="0" anchor="ctr">
            <a:spAutoFit/>
          </a:bodyPr>
          <a:lstStyle/>
          <a:p>
            <a:pPr algn="ctr">
              <a:lnSpc>
                <a:spcPts val="1800"/>
              </a:lnSpc>
              <a:spcBef>
                <a:spcPct val="0"/>
              </a:spcBef>
            </a:pPr>
            <a:r>
              <a:rPr lang="en-US" sz="1400" spc="-16">
                <a:solidFill>
                  <a:srgbClr val="000000"/>
                </a:solidFill>
                <a:latin typeface="Calibri"/>
                <a:ea typeface="Calibri"/>
                <a:cs typeface="Calibri"/>
                <a:sym typeface="Calibri"/>
              </a:rPr>
              <a:t>NIC or state data centre in India (to confirm)</a:t>
            </a:r>
          </a:p>
        </p:txBody>
      </p:sp>
      <p:sp>
        <p:nvSpPr>
          <p:cNvPr id="47" name="TextBox 47"/>
          <p:cNvSpPr txBox="1"/>
          <p:nvPr/>
        </p:nvSpPr>
        <p:spPr>
          <a:xfrm>
            <a:off x="12705981" y="7882127"/>
            <a:ext cx="1468708" cy="1280160"/>
          </a:xfrm>
          <a:prstGeom prst="rect">
            <a:avLst/>
          </a:prstGeom>
        </p:spPr>
        <p:txBody>
          <a:bodyPr lIns="0" tIns="0" rIns="0" bIns="0" rtlCol="0" anchor="ctr">
            <a:spAutoFit/>
          </a:bodyPr>
          <a:lstStyle/>
          <a:p>
            <a:pPr algn="ctr">
              <a:lnSpc>
                <a:spcPts val="1800"/>
              </a:lnSpc>
              <a:spcBef>
                <a:spcPct val="0"/>
              </a:spcBef>
            </a:pPr>
            <a:r>
              <a:rPr lang="en-US" sz="1400" spc="-16">
                <a:solidFill>
                  <a:srgbClr val="000000"/>
                </a:solidFill>
                <a:latin typeface="Calibri"/>
                <a:ea typeface="Calibri"/>
                <a:cs typeface="Calibri"/>
                <a:sym typeface="Calibri"/>
              </a:rPr>
              <a:t>Security updates, FSL keeps kit colours right</a:t>
            </a:r>
          </a:p>
        </p:txBody>
      </p:sp>
      <p:sp>
        <p:nvSpPr>
          <p:cNvPr id="48" name="TextBox 48"/>
          <p:cNvSpPr txBox="1"/>
          <p:nvPr/>
        </p:nvSpPr>
        <p:spPr>
          <a:xfrm>
            <a:off x="14519871" y="7882127"/>
            <a:ext cx="1468708" cy="1280160"/>
          </a:xfrm>
          <a:prstGeom prst="rect">
            <a:avLst/>
          </a:prstGeom>
        </p:spPr>
        <p:txBody>
          <a:bodyPr lIns="0" tIns="0" rIns="0" bIns="0" rtlCol="0" anchor="ctr">
            <a:spAutoFit/>
          </a:bodyPr>
          <a:lstStyle/>
          <a:p>
            <a:pPr algn="ctr">
              <a:lnSpc>
                <a:spcPts val="1800"/>
              </a:lnSpc>
              <a:spcBef>
                <a:spcPct val="0"/>
              </a:spcBef>
            </a:pPr>
            <a:r>
              <a:rPr lang="en-US" sz="1400" spc="-16">
                <a:solidFill>
                  <a:srgbClr val="000000"/>
                </a:solidFill>
                <a:latin typeface="Calibri"/>
                <a:ea typeface="Calibri"/>
                <a:cs typeface="Calibri"/>
                <a:sym typeface="Calibri"/>
              </a:rPr>
              <a:t>Pilot with police and FSL, then scale across locations</a:t>
            </a:r>
          </a:p>
        </p:txBody>
      </p:sp>
      <p:sp>
        <p:nvSpPr>
          <p:cNvPr id="49" name="TextBox 49"/>
          <p:cNvSpPr txBox="1"/>
          <p:nvPr/>
        </p:nvSpPr>
        <p:spPr>
          <a:xfrm>
            <a:off x="16329303" y="7882127"/>
            <a:ext cx="1468708" cy="1280160"/>
          </a:xfrm>
          <a:prstGeom prst="rect">
            <a:avLst/>
          </a:prstGeom>
        </p:spPr>
        <p:txBody>
          <a:bodyPr lIns="0" tIns="0" rIns="0" bIns="0" rtlCol="0" anchor="ctr">
            <a:spAutoFit/>
          </a:bodyPr>
          <a:lstStyle/>
          <a:p>
            <a:pPr algn="ctr">
              <a:lnSpc>
                <a:spcPts val="1800"/>
              </a:lnSpc>
              <a:spcBef>
                <a:spcPct val="0"/>
              </a:spcBef>
            </a:pPr>
            <a:r>
              <a:rPr lang="en-US" sz="1400" spc="-16">
                <a:solidFill>
                  <a:srgbClr val="000000"/>
                </a:solidFill>
                <a:latin typeface="Calibri"/>
                <a:ea typeface="Calibri"/>
                <a:cs typeface="Calibri"/>
                <a:sym typeface="Calibri"/>
              </a:rPr>
              <a:t>New test kits added through the website, no app update</a:t>
            </a:r>
          </a:p>
        </p:txBody>
      </p:sp>
      <p:sp>
        <p:nvSpPr>
          <p:cNvPr id="50" name="AutoShape 50"/>
          <p:cNvSpPr/>
          <p:nvPr/>
        </p:nvSpPr>
        <p:spPr>
          <a:xfrm>
            <a:off x="10691338" y="8324540"/>
            <a:ext cx="184381" cy="0"/>
          </a:xfrm>
          <a:prstGeom prst="line">
            <a:avLst/>
          </a:prstGeom>
          <a:ln w="19050" cap="flat">
            <a:solidFill>
              <a:srgbClr val="B2935B"/>
            </a:solidFill>
            <a:prstDash val="solid"/>
            <a:headEnd type="none" w="sm" len="sm"/>
            <a:tailEnd type="arrow" w="med" len="sm"/>
          </a:ln>
        </p:spPr>
        <p:txBody>
          <a:bodyPr/>
          <a:lstStyle/>
          <a:p>
            <a:endParaRPr/>
          </a:p>
        </p:txBody>
      </p:sp>
      <p:sp>
        <p:nvSpPr>
          <p:cNvPr id="51" name="AutoShape 51"/>
          <p:cNvSpPr/>
          <p:nvPr/>
        </p:nvSpPr>
        <p:spPr>
          <a:xfrm>
            <a:off x="12478935" y="8340992"/>
            <a:ext cx="184381" cy="0"/>
          </a:xfrm>
          <a:prstGeom prst="line">
            <a:avLst/>
          </a:prstGeom>
          <a:ln w="19050" cap="flat">
            <a:solidFill>
              <a:srgbClr val="B2935B"/>
            </a:solidFill>
            <a:prstDash val="solid"/>
            <a:headEnd type="none" w="sm" len="sm"/>
            <a:tailEnd type="arrow" w="med" len="sm"/>
          </a:ln>
        </p:spPr>
        <p:txBody>
          <a:bodyPr/>
          <a:lstStyle/>
          <a:p>
            <a:endParaRPr/>
          </a:p>
        </p:txBody>
      </p:sp>
      <p:sp>
        <p:nvSpPr>
          <p:cNvPr id="52" name="AutoShape 52"/>
          <p:cNvSpPr/>
          <p:nvPr/>
        </p:nvSpPr>
        <p:spPr>
          <a:xfrm>
            <a:off x="14269938" y="8321942"/>
            <a:ext cx="184381" cy="0"/>
          </a:xfrm>
          <a:prstGeom prst="line">
            <a:avLst/>
          </a:prstGeom>
          <a:ln w="19050" cap="flat">
            <a:solidFill>
              <a:srgbClr val="B2935B"/>
            </a:solidFill>
            <a:prstDash val="solid"/>
            <a:headEnd type="none" w="sm" len="sm"/>
            <a:tailEnd type="arrow" w="med" len="sm"/>
          </a:ln>
        </p:spPr>
        <p:txBody>
          <a:bodyPr/>
          <a:lstStyle/>
          <a:p>
            <a:endParaRPr/>
          </a:p>
        </p:txBody>
      </p:sp>
      <p:sp>
        <p:nvSpPr>
          <p:cNvPr id="53" name="AutoShape 53"/>
          <p:cNvSpPr/>
          <p:nvPr/>
        </p:nvSpPr>
        <p:spPr>
          <a:xfrm>
            <a:off x="16057536" y="8331467"/>
            <a:ext cx="184381" cy="0"/>
          </a:xfrm>
          <a:prstGeom prst="line">
            <a:avLst/>
          </a:prstGeom>
          <a:ln w="19050" cap="flat">
            <a:solidFill>
              <a:srgbClr val="B2935B"/>
            </a:solidFill>
            <a:prstDash val="solid"/>
            <a:headEnd type="none" w="sm" len="sm"/>
            <a:tailEnd type="arrow" w="med" len="sm"/>
          </a:ln>
        </p:spPr>
        <p:txBody>
          <a:bodyPr/>
          <a:lstStyle/>
          <a:p>
            <a:endParaRPr/>
          </a:p>
        </p:txBody>
      </p:sp>
      <p:sp>
        <p:nvSpPr>
          <p:cNvPr id="54" name="TextBox 53"/>
          <p:cNvSpPr txBox="1"/>
          <p:nvPr/>
        </p:nvSpPr>
        <p:spPr>
          <a:xfrm>
            <a:off x="3931920" y="1810512"/>
            <a:ext cx="4937760" cy="457200"/>
          </a:xfrm>
          <a:prstGeom prst="rect">
            <a:avLst/>
          </a:prstGeom>
          <a:noFill/>
        </p:spPr>
        <p:txBody>
          <a:bodyPr wrap="square" anchor="t" lIns="27432" rIns="27432" tIns="18288" bIns="18288">
            <a:noAutofit/>
          </a:bodyPr>
          <a:lstStyle/>
          <a:p>
            <a:pPr algn="l">
              <a:spcAft>
                <a:spcPts val="0"/>
              </a:spcAft>
            </a:pPr>
            <a:r>
              <a:rPr sz="1200" b="1" i="0">
                <a:solidFill>
                  <a:srgbClr val="555555"/>
                </a:solidFill>
                <a:latin typeface="Calibri"/>
              </a:rPr>
              <a:t>Legal:</a:t>
            </a:r>
            <a:r>
              <a:rPr sz="1200" b="0" i="0">
                <a:solidFill>
                  <a:srgbClr val="555555"/>
                </a:solidFill>
                <a:latin typeface="Calibri"/>
              </a:rPr>
              <a:t> first check only, the FSL lab confirms it.</a:t>
            </a:r>
          </a:p>
          <a:p>
            <a:pPr algn="l">
              <a:spcAft>
                <a:spcPts val="0"/>
              </a:spcAft>
            </a:pPr>
            <a:r>
              <a:rPr sz="1200" b="1" i="0">
                <a:solidFill>
                  <a:srgbClr val="555555"/>
                </a:solidFill>
                <a:latin typeface="Calibri"/>
              </a:rPr>
              <a:t>Privacy:</a:t>
            </a:r>
            <a:r>
              <a:rPr sz="1200" b="0" i="0">
                <a:solidFill>
                  <a:srgbClr val="555555"/>
                </a:solidFill>
                <a:latin typeface="Calibri"/>
              </a:rPr>
              <a:t> no face, fingerprint or suspect name, only a sample code.</a:t>
            </a:r>
          </a:p>
        </p:txBody>
      </p:sp>
      <p:sp>
        <p:nvSpPr>
          <p:cNvPr id="55" name="TextBox 54"/>
          <p:cNvSpPr txBox="1"/>
          <p:nvPr/>
        </p:nvSpPr>
        <p:spPr>
          <a:xfrm>
            <a:off x="502920" y="2286000"/>
            <a:ext cx="8321040" cy="3611880"/>
          </a:xfrm>
          <a:prstGeom prst="rect">
            <a:avLst/>
          </a:prstGeom>
          <a:noFill/>
        </p:spPr>
        <p:txBody>
          <a:bodyPr wrap="square" anchor="t" lIns="27432" rIns="27432" tIns="18288" bIns="18288">
            <a:noAutofit/>
          </a:bodyPr>
          <a:lstStyle/>
          <a:p>
            <a:pPr algn="l" marL="201168" indent="-201168">
              <a:spcAft>
                <a:spcPts val="1000"/>
              </a:spcAft>
              <a:buFont typeface="Arial"/>
              <a:buChar char="•"/>
            </a:pPr>
            <a:r>
              <a:rPr sz="1900" b="1" i="0">
                <a:solidFill>
                  <a:srgbClr val="000000"/>
                </a:solidFill>
                <a:latin typeface="Calibri"/>
              </a:rPr>
              <a:t>Technical</a:t>
            </a:r>
            <a:r>
              <a:rPr sz="1900" b="0" i="0">
                <a:solidFill>
                  <a:srgbClr val="000000"/>
                </a:solidFill>
                <a:latin typeface="Calibri"/>
              </a:rPr>
              <a:t> - Full chain works today: app, server, database and dashboard (TRL 4).</a:t>
            </a:r>
          </a:p>
          <a:p>
            <a:pPr algn="l" marL="201168" indent="-201168">
              <a:spcAft>
                <a:spcPts val="1000"/>
              </a:spcAft>
              <a:buFont typeface="Arial"/>
              <a:buChar char="•"/>
            </a:pPr>
            <a:r>
              <a:rPr sz="1900" b="1" i="0">
                <a:solidFill>
                  <a:srgbClr val="000000"/>
                </a:solidFill>
                <a:latin typeface="Calibri"/>
              </a:rPr>
              <a:t>User-Friendly</a:t>
            </a:r>
            <a:r>
              <a:rPr sz="1900" b="0" i="0">
                <a:solidFill>
                  <a:srgbClr val="000000"/>
                </a:solidFill>
                <a:latin typeface="Calibri"/>
              </a:rPr>
              <a:t> - One photo, result in about 16 s (tested by our team so far).</a:t>
            </a:r>
          </a:p>
          <a:p>
            <a:pPr algn="l" marL="201168" indent="-201168">
              <a:spcAft>
                <a:spcPts val="1000"/>
              </a:spcAft>
              <a:buFont typeface="Arial"/>
              <a:buChar char="•"/>
            </a:pPr>
            <a:r>
              <a:rPr sz="1900" b="1" i="0">
                <a:solidFill>
                  <a:srgbClr val="000000"/>
                </a:solidFill>
                <a:latin typeface="Calibri"/>
              </a:rPr>
              <a:t>Low Cost</a:t>
            </a:r>
            <a:r>
              <a:rPr sz="1900" b="0" i="0">
                <a:solidFill>
                  <a:srgbClr val="000000"/>
                </a:solidFill>
                <a:latin typeface="Calibri"/>
              </a:rPr>
              <a:t> - Existing Android phone, a reusable ₹10 colour card and open-source tools.</a:t>
            </a:r>
          </a:p>
          <a:p>
            <a:pPr algn="l" marL="201168" indent="-201168">
              <a:spcAft>
                <a:spcPts val="1000"/>
              </a:spcAft>
              <a:buFont typeface="Arial"/>
              <a:buChar char="•"/>
            </a:pPr>
            <a:r>
              <a:rPr sz="1900" b="1" i="0">
                <a:solidFill>
                  <a:srgbClr val="000000"/>
                </a:solidFill>
                <a:latin typeface="Calibri"/>
              </a:rPr>
              <a:t>Operational</a:t>
            </a:r>
            <a:r>
              <a:rPr sz="1900" b="0" i="0">
                <a:solidFill>
                  <a:srgbClr val="000000"/>
                </a:solidFill>
                <a:latin typeface="Calibri"/>
              </a:rPr>
              <a:t> - Simple photo-based workflow. Officer trial is part of the pilot.</a:t>
            </a:r>
          </a:p>
          <a:p>
            <a:pPr algn="l" marL="201168" indent="-201168">
              <a:spcAft>
                <a:spcPts val="1000"/>
              </a:spcAft>
              <a:buFont typeface="Arial"/>
              <a:buChar char="•"/>
            </a:pPr>
            <a:r>
              <a:rPr sz="1900" b="1" i="0">
                <a:solidFill>
                  <a:srgbClr val="000000"/>
                </a:solidFill>
                <a:latin typeface="Calibri"/>
              </a:rPr>
              <a:t>Scalable</a:t>
            </a:r>
            <a:r>
              <a:rPr sz="1900" b="0" i="0">
                <a:solidFill>
                  <a:srgbClr val="000000"/>
                </a:solidFill>
                <a:latin typeface="Calibri"/>
              </a:rPr>
              <a:t> - New kit profiles from the Admin website, after FSL calibration.</a:t>
            </a:r>
          </a:p>
          <a:p>
            <a:pPr algn="l" marL="201168" indent="-201168">
              <a:spcAft>
                <a:spcPts val="1000"/>
              </a:spcAft>
              <a:buFont typeface="Arial"/>
              <a:buChar char="•"/>
            </a:pPr>
            <a:r>
              <a:rPr sz="1900" b="1" i="0">
                <a:solidFill>
                  <a:srgbClr val="000000"/>
                </a:solidFill>
                <a:latin typeface="Calibri"/>
              </a:rPr>
              <a:t>Sustainable</a:t>
            </a:r>
            <a:r>
              <a:rPr sz="1900" b="0" i="0">
                <a:solidFill>
                  <a:srgbClr val="000000"/>
                </a:solidFill>
                <a:latin typeface="Calibri"/>
              </a:rPr>
              <a:t> - State police IT cell runs it, FSL keeps kit colours right (proposed).</a:t>
            </a:r>
          </a:p>
        </p:txBody>
      </p:sp>
      <p:pic>
        <p:nvPicPr>
          <p:cNvPr id="56" name="Picture 55" descr="phased_189360.png"/>
          <p:cNvPicPr>
            <a:picLocks noChangeAspect="1"/>
          </p:cNvPicPr>
          <p:nvPr/>
        </p:nvPicPr>
        <p:blipFill>
          <a:blip r:embed="rId6"/>
          <a:srcRect t="14600"/>
          <a:stretch>
            <a:fillRect/>
          </a:stretch>
        </p:blipFill>
        <p:spPr>
          <a:xfrm>
            <a:off x="411480" y="6903720"/>
            <a:ext cx="3931920" cy="1446192"/>
          </a:xfrm>
          <a:prstGeom prst="rect">
            <a:avLst/>
          </a:prstGeom>
        </p:spPr>
      </p:pic>
      <p:sp>
        <p:nvSpPr>
          <p:cNvPr id="57" name="TextBox 56"/>
          <p:cNvSpPr txBox="1"/>
          <p:nvPr/>
        </p:nvSpPr>
        <p:spPr>
          <a:xfrm>
            <a:off x="4526280" y="6473952"/>
            <a:ext cx="4297680" cy="457200"/>
          </a:xfrm>
          <a:prstGeom prst="rect">
            <a:avLst/>
          </a:prstGeom>
          <a:noFill/>
        </p:spPr>
        <p:txBody>
          <a:bodyPr wrap="square" anchor="t" lIns="27432" rIns="27432" tIns="18288" bIns="18288">
            <a:noAutofit/>
          </a:bodyPr>
          <a:lstStyle/>
          <a:p>
            <a:pPr algn="l">
              <a:spcAft>
                <a:spcPts val="0"/>
              </a:spcAft>
            </a:pPr>
            <a:r>
              <a:rPr sz="2000" b="1" i="0">
                <a:solidFill>
                  <a:srgbClr val="974826"/>
                </a:solidFill>
                <a:latin typeface="Calibri"/>
              </a:rPr>
              <a:t>Pilot Plan (proposed)</a:t>
            </a:r>
          </a:p>
        </p:txBody>
      </p:sp>
      <p:sp>
        <p:nvSpPr>
          <p:cNvPr id="58" name="TextBox 57"/>
          <p:cNvSpPr txBox="1"/>
          <p:nvPr/>
        </p:nvSpPr>
        <p:spPr>
          <a:xfrm>
            <a:off x="4526280" y="6858000"/>
            <a:ext cx="4315968" cy="2606040"/>
          </a:xfrm>
          <a:prstGeom prst="rect">
            <a:avLst/>
          </a:prstGeom>
          <a:noFill/>
        </p:spPr>
        <p:txBody>
          <a:bodyPr wrap="square" anchor="t" lIns="27432" rIns="27432" tIns="18288" bIns="18288">
            <a:noAutofit/>
          </a:bodyPr>
          <a:lstStyle/>
          <a:p>
            <a:pPr algn="l" marL="201168" indent="-201168">
              <a:spcAft>
                <a:spcPts val="300"/>
              </a:spcAft>
              <a:buFont typeface="Arial"/>
              <a:buChar char="•"/>
            </a:pPr>
            <a:r>
              <a:rPr sz="1400" b="1" i="0">
                <a:solidFill>
                  <a:srgbClr val="000000"/>
                </a:solidFill>
                <a:latin typeface="Calibri"/>
              </a:rPr>
              <a:t>Where</a:t>
            </a:r>
            <a:r>
              <a:rPr sz="1400" b="0" i="0">
                <a:solidFill>
                  <a:srgbClr val="000000"/>
                </a:solidFill>
                <a:latin typeface="Calibri"/>
              </a:rPr>
              <a:t> - 1 district in Tamil Nadu, 20 officers, 3 months, nearest FSL.</a:t>
            </a:r>
          </a:p>
          <a:p>
            <a:pPr algn="l" marL="201168" indent="-201168">
              <a:spcAft>
                <a:spcPts val="300"/>
              </a:spcAft>
              <a:buFont typeface="Arial"/>
              <a:buChar char="•"/>
            </a:pPr>
            <a:r>
              <a:rPr sz="1400" b="1" i="0">
                <a:solidFill>
                  <a:srgbClr val="000000"/>
                </a:solidFill>
                <a:latin typeface="Calibri"/>
              </a:rPr>
              <a:t>Check 2 things apart</a:t>
            </a:r>
            <a:r>
              <a:rPr sz="1400" b="0" i="0">
                <a:solidFill>
                  <a:srgbClr val="000000"/>
                </a:solidFill>
                <a:latin typeface="Calibri"/>
              </a:rPr>
              <a:t> - app vs an expert reading the same kit (target 95%+), and kit vs FSL lab.</a:t>
            </a:r>
          </a:p>
          <a:p>
            <a:pPr algn="l" marL="201168" indent="-201168">
              <a:spcAft>
                <a:spcPts val="300"/>
              </a:spcAft>
              <a:buFont typeface="Arial"/>
              <a:buChar char="•"/>
            </a:pPr>
            <a:r>
              <a:rPr sz="1400" b="1" i="0">
                <a:solidFill>
                  <a:srgbClr val="000000"/>
                </a:solidFill>
                <a:latin typeface="Calibri"/>
              </a:rPr>
              <a:t>Size</a:t>
            </a:r>
            <a:r>
              <a:rPr sz="1400" b="0" i="0">
                <a:solidFill>
                  <a:srgbClr val="000000"/>
                </a:solidFill>
                <a:latin typeface="Calibri"/>
              </a:rPr>
              <a:t> - 60+ tests per kit, so 0 wrong shows error under 5%.</a:t>
            </a:r>
          </a:p>
          <a:p>
            <a:pPr algn="l" marL="201168" indent="-201168">
              <a:spcAft>
                <a:spcPts val="300"/>
              </a:spcAft>
              <a:buFont typeface="Arial"/>
              <a:buChar char="•"/>
            </a:pPr>
            <a:r>
              <a:rPr sz="1400" b="1" i="0">
                <a:solidFill>
                  <a:srgbClr val="000000"/>
                </a:solidFill>
                <a:latin typeface="Calibri"/>
              </a:rPr>
              <a:t>Pass if</a:t>
            </a:r>
            <a:r>
              <a:rPr sz="1400" b="0" i="0">
                <a:solidFill>
                  <a:srgbClr val="000000"/>
                </a:solidFill>
                <a:latin typeface="Calibri"/>
              </a:rPr>
              <a:t> - NOT SURE under 10%, every record passes the QR check.</a:t>
            </a:r>
          </a:p>
          <a:p>
            <a:pPr algn="l" marL="201168" indent="-201168">
              <a:spcAft>
                <a:spcPts val="300"/>
              </a:spcAft>
              <a:buFont typeface="Arial"/>
              <a:buChar char="•"/>
            </a:pPr>
            <a:r>
              <a:rPr sz="1400" b="1" i="0">
                <a:solidFill>
                  <a:srgbClr val="000000"/>
                </a:solidFill>
                <a:latin typeface="Calibri"/>
              </a:rPr>
              <a:t>Cost</a:t>
            </a:r>
            <a:r>
              <a:rPr sz="1400" b="0" i="0">
                <a:solidFill>
                  <a:srgbClr val="000000"/>
                </a:solidFill>
                <a:latin typeface="Calibri"/>
              </a:rPr>
              <a:t> - about ₹9,200, cards and server only (estimate).</a:t>
            </a:r>
          </a:p>
        </p:txBody>
      </p:sp>
      <p:graphicFrame>
        <p:nvGraphicFramePr>
          <p:cNvPr id="59" name="Table 58"/>
          <p:cNvGraphicFramePr>
            <a:graphicFrameLocks noGrp="1"/>
          </p:cNvGraphicFramePr>
          <p:nvPr/>
        </p:nvGraphicFramePr>
        <p:xfrm>
          <a:off x="9144000" y="2148840"/>
          <a:ext cx="8001000" cy="4297680"/>
        </p:xfrm>
        <a:graphic>
          <a:graphicData uri="http://schemas.openxmlformats.org/drawingml/2006/table">
            <a:tbl>
              <a:tblPr firstRow="1" bandRow="0">
                <a:tableStyleId>{5C22544A-7EE6-4342-B048-85BDC9FD1C3A}</a:tableStyleId>
              </a:tblPr>
              <a:tblGrid>
                <a:gridCol w="2926080"/>
                <a:gridCol w="4069080"/>
                <a:gridCol w="1005840"/>
              </a:tblGrid>
              <a:tr h="457200">
                <a:tc>
                  <a:txBody>
                    <a:bodyPr wrap="square"/>
                    <a:lstStyle/>
                    <a:p>
                      <a:pPr algn="l">
                        <a:spcAft>
                          <a:spcPts val="0"/>
                        </a:spcAft>
                      </a:pPr>
                      <a:r>
                        <a:rPr sz="1600" b="1" i="0">
                          <a:solidFill>
                            <a:srgbClr val="000000"/>
                          </a:solidFill>
                          <a:latin typeface="Calibri"/>
                        </a:rPr>
                        <a:t>Real-world problem</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c>
                  <a:txBody>
                    <a:bodyPr wrap="square"/>
                    <a:lstStyle/>
                    <a:p>
                      <a:pPr algn="l">
                        <a:spcAft>
                          <a:spcPts val="0"/>
                        </a:spcAft>
                      </a:pPr>
                      <a:r>
                        <a:rPr sz="1600" b="1" i="0">
                          <a:solidFill>
                            <a:srgbClr val="000000"/>
                          </a:solidFill>
                          <a:latin typeface="Calibri"/>
                        </a:rPr>
                        <a:t>What our app does</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c>
                  <a:txBody>
                    <a:bodyPr wrap="square"/>
                    <a:lstStyle/>
                    <a:p>
                      <a:pPr algn="l">
                        <a:spcAft>
                          <a:spcPts val="0"/>
                        </a:spcAft>
                      </a:pPr>
                      <a:r>
                        <a:rPr sz="1600" b="1" i="0">
                          <a:solidFill>
                            <a:srgbClr val="000000"/>
                          </a:solidFill>
                          <a:latin typeface="Calibri"/>
                        </a:rPr>
                        <a:t>Status</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r>
              <a:tr h="548640">
                <a:tc>
                  <a:txBody>
                    <a:bodyPr wrap="square"/>
                    <a:lstStyle/>
                    <a:p>
                      <a:pPr algn="l">
                        <a:spcAft>
                          <a:spcPts val="0"/>
                        </a:spcAft>
                      </a:pPr>
                      <a:r>
                        <a:rPr sz="1300" b="0" i="0">
                          <a:solidFill>
                            <a:srgbClr val="000000"/>
                          </a:solidFill>
                          <a:latin typeface="Calibri"/>
                        </a:rPr>
                        <a:t>Lighting can change the colour seen by the phone.</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0" i="0">
                          <a:solidFill>
                            <a:srgbClr val="000000"/>
                          </a:solidFill>
                          <a:latin typeface="Calibri"/>
                        </a:rPr>
                        <a:t>24 known colours on the card correct the colour before analysis.</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1" i="0">
                          <a:solidFill>
                            <a:srgbClr val="2E7D32"/>
                          </a:solidFill>
                          <a:latin typeface="Calibri"/>
                        </a:rPr>
                        <a:t>Built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548640">
                <a:tc>
                  <a:txBody>
                    <a:bodyPr wrap="square"/>
                    <a:lstStyle/>
                    <a:p>
                      <a:pPr algn="l">
                        <a:spcAft>
                          <a:spcPts val="0"/>
                        </a:spcAft>
                      </a:pPr>
                      <a:r>
                        <a:rPr sz="1300" b="0" i="0">
                          <a:solidFill>
                            <a:srgbClr val="000000"/>
                          </a:solidFill>
                          <a:latin typeface="Calibri"/>
                        </a:rPr>
                        <a:t>Blurry or shiny photos can make the result unclear.</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0" i="0">
                          <a:solidFill>
                            <a:srgbClr val="000000"/>
                          </a:solidFill>
                          <a:latin typeface="Calibri"/>
                        </a:rPr>
                        <a:t>Detects it, says NOT SURE with the reason and asks for a retake.</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1" i="0">
                          <a:solidFill>
                            <a:srgbClr val="2E7D32"/>
                          </a:solidFill>
                          <a:latin typeface="Calibri"/>
                        </a:rPr>
                        <a:t>Built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548640">
                <a:tc>
                  <a:txBody>
                    <a:bodyPr wrap="square"/>
                    <a:lstStyle/>
                    <a:p>
                      <a:pPr algn="l">
                        <a:spcAft>
                          <a:spcPts val="0"/>
                        </a:spcAft>
                      </a:pPr>
                      <a:r>
                        <a:rPr sz="1300" b="0" i="0">
                          <a:solidFill>
                            <a:srgbClr val="000000"/>
                          </a:solidFill>
                          <a:latin typeface="Calibri"/>
                        </a:rPr>
                        <a:t>Some colours may fall between two results.</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0" i="0">
                          <a:solidFill>
                            <a:srgbClr val="000000"/>
                          </a:solidFill>
                          <a:latin typeface="Calibri"/>
                        </a:rPr>
                        <a:t>Shows NOT SURE instead of guessing. Supervisor can only order a retest, sample goes to FSL.</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1" i="0">
                          <a:solidFill>
                            <a:srgbClr val="2E7D32"/>
                          </a:solidFill>
                          <a:latin typeface="Calibri"/>
                        </a:rPr>
                        <a:t>Built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548640">
                <a:tc>
                  <a:txBody>
                    <a:bodyPr wrap="square"/>
                    <a:lstStyle/>
                    <a:p>
                      <a:pPr algn="l">
                        <a:spcAft>
                          <a:spcPts val="0"/>
                        </a:spcAft>
                      </a:pPr>
                      <a:r>
                        <a:rPr sz="1300" b="0" i="0">
                          <a:solidFill>
                            <a:srgbClr val="000000"/>
                          </a:solidFill>
                          <a:latin typeface="Calibri"/>
                        </a:rPr>
                        <a:t>Kit colour changes with time.</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0" i="0">
                          <a:solidFill>
                            <a:srgbClr val="000000"/>
                          </a:solidFill>
                          <a:latin typeface="Calibri"/>
                        </a:rPr>
                        <a:t>Each kit has a read time, the app timer takes the photo on time.</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1" i="0">
                          <a:solidFill>
                            <a:srgbClr val="2E7D32"/>
                          </a:solidFill>
                          <a:latin typeface="Calibri"/>
                        </a:rPr>
                        <a:t>Built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548640">
                <a:tc>
                  <a:txBody>
                    <a:bodyPr wrap="square"/>
                    <a:lstStyle/>
                    <a:p>
                      <a:pPr algn="l">
                        <a:spcAft>
                          <a:spcPts val="0"/>
                        </a:spcAft>
                      </a:pPr>
                      <a:r>
                        <a:rPr sz="1300" b="0" i="0">
                          <a:solidFill>
                            <a:srgbClr val="000000"/>
                          </a:solidFill>
                          <a:latin typeface="Calibri"/>
                        </a:rPr>
                        <a:t>Photos or records can be edited later.</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0" i="0">
                          <a:solidFill>
                            <a:srgbClr val="000000"/>
                          </a:solidFill>
                          <a:latin typeface="Calibri"/>
                        </a:rPr>
                        <a:t>Photo fingerprint, signature and chain catch any change (4/4 in our test).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1" i="0">
                          <a:solidFill>
                            <a:srgbClr val="2E7D32"/>
                          </a:solidFill>
                          <a:latin typeface="Calibri"/>
                        </a:rPr>
                        <a:t>Built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548640">
                <a:tc>
                  <a:txBody>
                    <a:bodyPr wrap="square"/>
                    <a:lstStyle/>
                    <a:p>
                      <a:pPr algn="l">
                        <a:spcAft>
                          <a:spcPts val="0"/>
                        </a:spcAft>
                      </a:pPr>
                      <a:r>
                        <a:rPr sz="1300" b="0" i="0">
                          <a:solidFill>
                            <a:srgbClr val="000000"/>
                          </a:solidFill>
                          <a:latin typeface="Calibri"/>
                        </a:rPr>
                        <a:t>Someone photographs a screen or a staged colour.</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0" i="0">
                          <a:solidFill>
                            <a:srgbClr val="000000"/>
                          </a:solidFill>
                          <a:latin typeface="Calibri"/>
                        </a:rPr>
                        <a:t>In-app camera only today. Screen-photo check and phone integrity check next.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1" i="0">
                          <a:solidFill>
                            <a:srgbClr val="8A5A00"/>
                          </a:solidFill>
                          <a:latin typeface="Calibri"/>
                        </a:rPr>
                        <a:t>Planned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548640">
                <a:tc>
                  <a:txBody>
                    <a:bodyPr wrap="square"/>
                    <a:lstStyle/>
                    <a:p>
                      <a:pPr algn="l">
                        <a:spcAft>
                          <a:spcPts val="0"/>
                        </a:spcAft>
                      </a:pPr>
                      <a:r>
                        <a:rPr sz="1300" b="0" i="0">
                          <a:solidFill>
                            <a:srgbClr val="000000"/>
                          </a:solidFill>
                          <a:latin typeface="Calibri"/>
                        </a:rPr>
                        <a:t>Different kits and phones show colours differently.</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0" i="0">
                          <a:solidFill>
                            <a:srgbClr val="000000"/>
                          </a:solidFill>
                          <a:latin typeface="Calibri"/>
                        </a:rPr>
                        <a:t>Kit colour settings and colour fixed in every photo. Real kits need FSL calibration.</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00" b="1" i="0">
                          <a:solidFill>
                            <a:srgbClr val="2E7D32"/>
                          </a:solidFill>
                          <a:latin typeface="Calibri"/>
                        </a:rPr>
                        <a:t>Built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bl>
          </a:graphicData>
        </a:graphic>
      </p:graphicFrame>
      <p:sp>
        <p:nvSpPr>
          <p:cNvPr id="60" name="TextBox 59"/>
          <p:cNvSpPr txBox="1"/>
          <p:nvPr/>
        </p:nvSpPr>
        <p:spPr>
          <a:xfrm>
            <a:off x="12207240" y="6784848"/>
            <a:ext cx="5715000" cy="457200"/>
          </a:xfrm>
          <a:prstGeom prst="rect">
            <a:avLst/>
          </a:prstGeom>
          <a:noFill/>
        </p:spPr>
        <p:txBody>
          <a:bodyPr wrap="square" anchor="t" lIns="27432" rIns="27432" tIns="18288" bIns="18288">
            <a:noAutofit/>
          </a:bodyPr>
          <a:lstStyle/>
          <a:p>
            <a:pPr algn="l">
              <a:spcAft>
                <a:spcPts val="0"/>
              </a:spcAft>
            </a:pPr>
            <a:r>
              <a:rPr sz="1200" b="1" i="0">
                <a:solidFill>
                  <a:srgbClr val="555555"/>
                </a:solidFill>
                <a:latin typeface="Calibri"/>
              </a:rPr>
              <a:t>After the pilot</a:t>
            </a:r>
            <a:r>
              <a:rPr sz="1200" b="0" i="0">
                <a:solidFill>
                  <a:srgbClr val="555555"/>
                </a:solidFill>
                <a:latin typeface="Calibri"/>
              </a:rPr>
              <a:t>, the cost can come from the state police or NCB IT budget. Server about ₹36,000 a year (estimate).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564624"/>
            <a:ext cx="18280761" cy="715289"/>
            <a:chOff x="0" y="0"/>
            <a:chExt cx="24374348" cy="953719"/>
          </a:xfrm>
        </p:grpSpPr>
        <p:sp>
          <p:nvSpPr>
            <p:cNvPr id="3" name="Freeform 3"/>
            <p:cNvSpPr/>
            <p:nvPr/>
          </p:nvSpPr>
          <p:spPr>
            <a:xfrm>
              <a:off x="0" y="0"/>
              <a:ext cx="24374348" cy="953770"/>
            </a:xfrm>
            <a:custGeom>
              <a:avLst/>
              <a:gdLst/>
              <a:ahLst/>
              <a:cxnLst/>
              <a:rect l="l" t="t" r="r" b="b"/>
              <a:pathLst>
                <a:path w="24374348" h="953770">
                  <a:moveTo>
                    <a:pt x="0" y="0"/>
                  </a:moveTo>
                  <a:lnTo>
                    <a:pt x="24374348" y="0"/>
                  </a:lnTo>
                  <a:lnTo>
                    <a:pt x="24374348" y="953770"/>
                  </a:lnTo>
                  <a:lnTo>
                    <a:pt x="0" y="953770"/>
                  </a:lnTo>
                  <a:lnTo>
                    <a:pt x="0" y="0"/>
                  </a:lnTo>
                  <a:close/>
                </a:path>
              </a:pathLst>
            </a:custGeom>
            <a:blipFill>
              <a:blip r:embed="rId3"/>
              <a:stretch>
                <a:fillRect t="-914" b="-909"/>
              </a:stretch>
            </a:blipFill>
          </p:spPr>
        </p:sp>
      </p:grpSp>
      <p:grpSp>
        <p:nvGrpSpPr>
          <p:cNvPr id="4" name="Group 4"/>
          <p:cNvGrpSpPr/>
          <p:nvPr/>
        </p:nvGrpSpPr>
        <p:grpSpPr>
          <a:xfrm>
            <a:off x="0" y="9532620"/>
            <a:ext cx="18288000" cy="754380"/>
            <a:chOff x="0" y="0"/>
            <a:chExt cx="24384000" cy="1005840"/>
          </a:xfrm>
        </p:grpSpPr>
        <p:sp>
          <p:nvSpPr>
            <p:cNvPr id="5" name="Freeform 5"/>
            <p:cNvSpPr/>
            <p:nvPr/>
          </p:nvSpPr>
          <p:spPr>
            <a:xfrm>
              <a:off x="0" y="0"/>
              <a:ext cx="24384000" cy="1005840"/>
            </a:xfrm>
            <a:custGeom>
              <a:avLst/>
              <a:gdLst/>
              <a:ahLst/>
              <a:cxnLst/>
              <a:rect l="l" t="t" r="r" b="b"/>
              <a:pathLst>
                <a:path w="24384000" h="1005840">
                  <a:moveTo>
                    <a:pt x="24384000" y="0"/>
                  </a:moveTo>
                  <a:lnTo>
                    <a:pt x="0" y="0"/>
                  </a:lnTo>
                  <a:lnTo>
                    <a:pt x="0" y="1005840"/>
                  </a:lnTo>
                  <a:lnTo>
                    <a:pt x="24384000" y="1005840"/>
                  </a:lnTo>
                  <a:lnTo>
                    <a:pt x="24384000" y="0"/>
                  </a:lnTo>
                  <a:close/>
                </a:path>
              </a:pathLst>
            </a:custGeom>
            <a:solidFill>
              <a:srgbClr val="006EC0"/>
            </a:solidFill>
          </p:spPr>
        </p:sp>
      </p:grpSp>
      <p:sp>
        <p:nvSpPr>
          <p:cNvPr id="6" name="Freeform 6"/>
          <p:cNvSpPr/>
          <p:nvPr/>
        </p:nvSpPr>
        <p:spPr>
          <a:xfrm>
            <a:off x="391335" y="315011"/>
            <a:ext cx="2629852" cy="1249680"/>
          </a:xfrm>
          <a:custGeom>
            <a:avLst/>
            <a:gdLst/>
            <a:ahLst/>
            <a:cxnLst/>
            <a:rect l="l" t="t" r="r" b="b"/>
            <a:pathLst>
              <a:path w="2629852" h="1249680">
                <a:moveTo>
                  <a:pt x="0" y="0"/>
                </a:moveTo>
                <a:lnTo>
                  <a:pt x="2629852" y="0"/>
                </a:lnTo>
                <a:lnTo>
                  <a:pt x="2629852" y="1249680"/>
                </a:lnTo>
                <a:lnTo>
                  <a:pt x="0" y="124968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a:p>
        </p:txBody>
      </p:sp>
      <p:grpSp>
        <p:nvGrpSpPr>
          <p:cNvPr id="7" name="Group 7"/>
          <p:cNvGrpSpPr/>
          <p:nvPr/>
        </p:nvGrpSpPr>
        <p:grpSpPr>
          <a:xfrm>
            <a:off x="852866" y="2000650"/>
            <a:ext cx="9090296" cy="2418586"/>
            <a:chOff x="0" y="0"/>
            <a:chExt cx="180762863" cy="48094198"/>
          </a:xfrm>
        </p:grpSpPr>
        <p:sp>
          <p:nvSpPr>
            <p:cNvPr id="8" name="Freeform 8"/>
            <p:cNvSpPr/>
            <p:nvPr/>
          </p:nvSpPr>
          <p:spPr>
            <a:xfrm>
              <a:off x="0" y="0"/>
              <a:ext cx="180762870" cy="48094196"/>
            </a:xfrm>
            <a:custGeom>
              <a:avLst/>
              <a:gdLst/>
              <a:ahLst/>
              <a:cxnLst/>
              <a:rect l="l" t="t" r="r" b="b"/>
              <a:pathLst>
                <a:path w="180762870" h="48094196">
                  <a:moveTo>
                    <a:pt x="8517" y="0"/>
                  </a:moveTo>
                  <a:lnTo>
                    <a:pt x="180754350" y="0"/>
                  </a:lnTo>
                  <a:cubicBezTo>
                    <a:pt x="180759063" y="0"/>
                    <a:pt x="180762870" y="3813"/>
                    <a:pt x="180762870" y="8517"/>
                  </a:cubicBezTo>
                  <a:lnTo>
                    <a:pt x="180762870" y="48085679"/>
                  </a:lnTo>
                  <a:cubicBezTo>
                    <a:pt x="180762870" y="48090382"/>
                    <a:pt x="180759063" y="48094196"/>
                    <a:pt x="180754350" y="48094196"/>
                  </a:cubicBezTo>
                  <a:lnTo>
                    <a:pt x="8517" y="48094196"/>
                  </a:lnTo>
                  <a:cubicBezTo>
                    <a:pt x="3813" y="48094196"/>
                    <a:pt x="0" y="48090382"/>
                    <a:pt x="0" y="48085679"/>
                  </a:cubicBezTo>
                  <a:lnTo>
                    <a:pt x="0" y="8517"/>
                  </a:lnTo>
                  <a:cubicBezTo>
                    <a:pt x="0" y="3813"/>
                    <a:pt x="3813" y="0"/>
                    <a:pt x="8517" y="0"/>
                  </a:cubicBezTo>
                  <a:close/>
                </a:path>
              </a:pathLst>
            </a:custGeom>
            <a:solidFill>
              <a:srgbClr val="FFFFFF"/>
            </a:solidFill>
            <a:ln w="38100" cap="sq">
              <a:solidFill>
                <a:srgbClr val="7A2F00"/>
              </a:solidFill>
              <a:prstDash val="solid"/>
              <a:miter/>
            </a:ln>
          </p:spPr>
        </p:sp>
        <p:sp>
          <p:nvSpPr>
            <p:cNvPr id="9" name="TextBox 9"/>
            <p:cNvSpPr txBox="1"/>
            <p:nvPr/>
          </p:nvSpPr>
          <p:spPr>
            <a:xfrm>
              <a:off x="0" y="-76200"/>
              <a:ext cx="180762863" cy="48170398"/>
            </a:xfrm>
            <a:prstGeom prst="rect">
              <a:avLst/>
            </a:prstGeom>
          </p:spPr>
          <p:txBody>
            <a:bodyPr lIns="50800" tIns="50800" rIns="50800" bIns="50800" rtlCol="0" anchor="ctr"/>
            <a:lstStyle/>
            <a:p>
              <a:pPr algn="ctr">
                <a:lnSpc>
                  <a:spcPts val="5320"/>
                </a:lnSpc>
                <a:spcBef>
                  <a:spcPct val="0"/>
                </a:spcBef>
              </a:pPr>
              <a:endParaRPr/>
            </a:p>
          </p:txBody>
        </p:sp>
      </p:grpSp>
      <p:sp>
        <p:nvSpPr>
          <p:cNvPr id="10" name="Freeform 10"/>
          <p:cNvSpPr/>
          <p:nvPr/>
        </p:nvSpPr>
        <p:spPr>
          <a:xfrm>
            <a:off x="712566" y="4836047"/>
            <a:ext cx="4685447" cy="4615775"/>
          </a:xfrm>
          <a:custGeom>
            <a:avLst/>
            <a:gdLst/>
            <a:ahLst/>
            <a:cxnLst/>
            <a:rect l="l" t="t" r="r" b="b"/>
            <a:pathLst>
              <a:path w="4685447" h="4615775">
                <a:moveTo>
                  <a:pt x="0" y="0"/>
                </a:moveTo>
                <a:lnTo>
                  <a:pt x="4685448" y="0"/>
                </a:lnTo>
                <a:lnTo>
                  <a:pt x="4685448" y="4615775"/>
                </a:lnTo>
                <a:lnTo>
                  <a:pt x="0" y="4615775"/>
                </a:lnTo>
                <a:lnTo>
                  <a:pt x="0" y="0"/>
                </a:lnTo>
                <a:close/>
              </a:path>
            </a:pathLst>
          </a:custGeom>
          <a:blipFill>
            <a:blip r:embed="rId5"/>
            <a:stretch>
              <a:fillRect/>
            </a:stretch>
          </a:blipFill>
        </p:spPr>
        <p:txBody>
          <a:bodyPr/>
          <a:lstStyle/>
          <a:p>
            <a:endParaRPr/>
          </a:p>
        </p:txBody>
      </p:sp>
      <p:sp>
        <p:nvSpPr>
          <p:cNvPr id="14" name="AutoShape 14"/>
          <p:cNvSpPr/>
          <p:nvPr/>
        </p:nvSpPr>
        <p:spPr>
          <a:xfrm>
            <a:off x="4699814" y="2426368"/>
            <a:ext cx="0" cy="1839760"/>
          </a:xfrm>
          <a:prstGeom prst="line">
            <a:avLst/>
          </a:prstGeom>
          <a:ln w="19050" cap="flat">
            <a:solidFill>
              <a:srgbClr val="B2935B"/>
            </a:solidFill>
            <a:prstDash val="solid"/>
            <a:headEnd type="none" w="sm" len="sm"/>
            <a:tailEnd type="none" w="sm" len="sm"/>
          </a:ln>
        </p:spPr>
        <p:txBody>
          <a:bodyPr/>
          <a:lstStyle/>
          <a:p>
            <a:endParaRPr/>
          </a:p>
        </p:txBody>
      </p:sp>
      <p:sp>
        <p:nvSpPr>
          <p:cNvPr id="15" name="Freeform 15"/>
          <p:cNvSpPr/>
          <p:nvPr/>
        </p:nvSpPr>
        <p:spPr>
          <a:xfrm rot="19366187">
            <a:off x="4706902" y="5048222"/>
            <a:ext cx="1589450" cy="1289893"/>
          </a:xfrm>
          <a:custGeom>
            <a:avLst/>
            <a:gdLst/>
            <a:ahLst/>
            <a:cxnLst/>
            <a:rect l="l" t="t" r="r" b="b"/>
            <a:pathLst>
              <a:path w="1557904" h="1324218">
                <a:moveTo>
                  <a:pt x="0" y="0"/>
                </a:moveTo>
                <a:lnTo>
                  <a:pt x="1557904" y="0"/>
                </a:lnTo>
                <a:lnTo>
                  <a:pt x="1557904" y="1324219"/>
                </a:lnTo>
                <a:lnTo>
                  <a:pt x="0" y="1324219"/>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a:p>
        </p:txBody>
      </p:sp>
      <p:sp>
        <p:nvSpPr>
          <p:cNvPr id="16" name="Freeform 16"/>
          <p:cNvSpPr/>
          <p:nvPr/>
        </p:nvSpPr>
        <p:spPr>
          <a:xfrm>
            <a:off x="6524601" y="5010285"/>
            <a:ext cx="3418560" cy="4441537"/>
          </a:xfrm>
          <a:custGeom>
            <a:avLst/>
            <a:gdLst/>
            <a:ahLst/>
            <a:cxnLst/>
            <a:rect l="l" t="t" r="r" b="b"/>
            <a:pathLst>
              <a:path w="3418560" h="4441537">
                <a:moveTo>
                  <a:pt x="0" y="0"/>
                </a:moveTo>
                <a:lnTo>
                  <a:pt x="3418560" y="0"/>
                </a:lnTo>
                <a:lnTo>
                  <a:pt x="3418560" y="4441537"/>
                </a:lnTo>
                <a:lnTo>
                  <a:pt x="0" y="4441537"/>
                </a:lnTo>
                <a:lnTo>
                  <a:pt x="0" y="0"/>
                </a:lnTo>
                <a:close/>
              </a:path>
            </a:pathLst>
          </a:custGeom>
          <a:blipFill>
            <a:blip r:embed="rId7"/>
            <a:stretch>
              <a:fillRect t="-721" b="-9940"/>
            </a:stretch>
          </a:blipFill>
        </p:spPr>
        <p:txBody>
          <a:bodyPr/>
          <a:lstStyle/>
          <a:p>
            <a:endParaRPr/>
          </a:p>
        </p:txBody>
      </p:sp>
      <p:grpSp>
        <p:nvGrpSpPr>
          <p:cNvPr id="17" name="Group 17"/>
          <p:cNvGrpSpPr/>
          <p:nvPr/>
        </p:nvGrpSpPr>
        <p:grpSpPr>
          <a:xfrm>
            <a:off x="14720116" y="33423"/>
            <a:ext cx="3287373" cy="1531268"/>
            <a:chOff x="0" y="0"/>
            <a:chExt cx="4383164" cy="2041690"/>
          </a:xfrm>
        </p:grpSpPr>
        <p:sp>
          <p:nvSpPr>
            <p:cNvPr id="18" name="Freeform 18"/>
            <p:cNvSpPr/>
            <p:nvPr/>
          </p:nvSpPr>
          <p:spPr>
            <a:xfrm>
              <a:off x="0" y="0"/>
              <a:ext cx="4383151" cy="2041652"/>
            </a:xfrm>
            <a:custGeom>
              <a:avLst/>
              <a:gdLst/>
              <a:ahLst/>
              <a:cxnLst/>
              <a:rect l="l" t="t" r="r" b="b"/>
              <a:pathLst>
                <a:path w="4383151" h="2041652">
                  <a:moveTo>
                    <a:pt x="0" y="0"/>
                  </a:moveTo>
                  <a:lnTo>
                    <a:pt x="4383151" y="0"/>
                  </a:lnTo>
                  <a:lnTo>
                    <a:pt x="4383151" y="2041652"/>
                  </a:lnTo>
                  <a:lnTo>
                    <a:pt x="0" y="2041652"/>
                  </a:lnTo>
                  <a:lnTo>
                    <a:pt x="0" y="0"/>
                  </a:lnTo>
                  <a:close/>
                </a:path>
              </a:pathLst>
            </a:custGeom>
            <a:blipFill>
              <a:blip r:embed="rId8"/>
              <a:stretch>
                <a:fillRect t="-106" b="-108"/>
              </a:stretch>
            </a:blipFill>
          </p:spPr>
        </p:sp>
      </p:grpSp>
      <p:sp>
        <p:nvSpPr>
          <p:cNvPr id="19" name="Freeform 19"/>
          <p:cNvSpPr/>
          <p:nvPr/>
        </p:nvSpPr>
        <p:spPr>
          <a:xfrm>
            <a:off x="10649712" y="2304288"/>
            <a:ext cx="6735059" cy="1981257"/>
          </a:xfrm>
          <a:custGeom>
            <a:avLst/>
            <a:gdLst/>
            <a:ahLst/>
            <a:cxnLst/>
            <a:rect l="l" t="t" r="r" b="b"/>
            <a:pathLst>
              <a:path w="6095839" h="3360331">
                <a:moveTo>
                  <a:pt x="0" y="0"/>
                </a:moveTo>
                <a:lnTo>
                  <a:pt x="6095839" y="0"/>
                </a:lnTo>
                <a:lnTo>
                  <a:pt x="6095839" y="3360331"/>
                </a:lnTo>
                <a:lnTo>
                  <a:pt x="0" y="3360331"/>
                </a:lnTo>
                <a:lnTo>
                  <a:pt x="0" y="0"/>
                </a:lnTo>
                <a:close/>
              </a:path>
            </a:pathLst>
          </a:custGeom>
          <a:blipFill>
            <a:blip r:embed="rId9"/>
            <a:srcRect l="17800" t="14000" r="1500" b="43000"/>
            <a:stretch>
              <a:fillRect/>
            </a:stretch>
          </a:blipFill>
        </p:spPr>
        <p:txBody>
          <a:bodyPr/>
          <a:lstStyle/>
          <a:p>
            <a:endParaRPr/>
          </a:p>
        </p:txBody>
      </p:sp>
      <p:sp>
        <p:nvSpPr>
          <p:cNvPr id="20" name="TextBox 20" descr="$PPTXTitle"/>
          <p:cNvSpPr txBox="1"/>
          <p:nvPr/>
        </p:nvSpPr>
        <p:spPr>
          <a:xfrm>
            <a:off x="4912538" y="346300"/>
            <a:ext cx="7916228" cy="876938"/>
          </a:xfrm>
          <a:prstGeom prst="rect">
            <a:avLst/>
          </a:prstGeom>
        </p:spPr>
        <p:txBody>
          <a:bodyPr lIns="0" tIns="0" rIns="0" bIns="0" rtlCol="0" anchor="t">
            <a:spAutoFit/>
          </a:bodyPr>
          <a:lstStyle/>
          <a:p>
            <a:pPr algn="l">
              <a:lnSpc>
                <a:spcPts val="6480"/>
              </a:lnSpc>
            </a:pPr>
            <a:r>
              <a:rPr lang="en-US" sz="5400" b="1" spc="-15">
                <a:solidFill>
                  <a:srgbClr val="7A2F00"/>
                </a:solidFill>
                <a:latin typeface="Times New Roman Bold"/>
                <a:ea typeface="Times New Roman Bold"/>
                <a:cs typeface="Times New Roman Bold"/>
                <a:sym typeface="Times New Roman Bold"/>
              </a:rPr>
              <a:t>IMPACT AND BENEFITS</a:t>
            </a:r>
          </a:p>
        </p:txBody>
      </p:sp>
      <p:sp>
        <p:nvSpPr>
          <p:cNvPr id="21" name="TextBox 21"/>
          <p:cNvSpPr txBox="1"/>
          <p:nvPr/>
        </p:nvSpPr>
        <p:spPr>
          <a:xfrm>
            <a:off x="17063656" y="9649673"/>
            <a:ext cx="104775" cy="288608"/>
          </a:xfrm>
          <a:prstGeom prst="rect">
            <a:avLst/>
          </a:prstGeom>
        </p:spPr>
        <p:txBody>
          <a:bodyPr lIns="0" tIns="0" rIns="0" bIns="0" rtlCol="0" anchor="t">
            <a:spAutoFit/>
          </a:bodyPr>
          <a:lstStyle/>
          <a:p>
            <a:pPr algn="l">
              <a:lnSpc>
                <a:spcPts val="2137"/>
              </a:lnSpc>
            </a:pPr>
            <a:r>
              <a:rPr lang="en-US" sz="1800" b="1" spc="-75">
                <a:solidFill>
                  <a:srgbClr val="FFFFFF"/>
                </a:solidFill>
                <a:latin typeface="Times New Roman Bold"/>
                <a:ea typeface="Times New Roman Bold"/>
                <a:cs typeface="Times New Roman Bold"/>
                <a:sym typeface="Times New Roman Bold"/>
              </a:rPr>
              <a:t>5</a:t>
            </a:r>
          </a:p>
        </p:txBody>
      </p:sp>
      <p:sp>
        <p:nvSpPr>
          <p:cNvPr id="23" name="TextBox 23" descr="$PPTXTitle"/>
          <p:cNvSpPr txBox="1"/>
          <p:nvPr/>
        </p:nvSpPr>
        <p:spPr>
          <a:xfrm>
            <a:off x="1074372" y="677913"/>
            <a:ext cx="1461403" cy="466725"/>
          </a:xfrm>
          <a:prstGeom prst="rect">
            <a:avLst/>
          </a:prstGeom>
        </p:spPr>
        <p:txBody>
          <a:bodyPr lIns="0" tIns="0" rIns="0" bIns="0" rtlCol="0" anchor="t">
            <a:spAutoFit/>
          </a:bodyPr>
          <a:lstStyle/>
          <a:p>
            <a:pPr algn="l">
              <a:lnSpc>
                <a:spcPts val="3240"/>
              </a:lnSpc>
            </a:pPr>
            <a:r>
              <a:rPr lang="en-US" sz="2700" b="1" spc="-29">
                <a:solidFill>
                  <a:srgbClr val="7A2F00"/>
                </a:solidFill>
                <a:latin typeface="Calibri"/>
                <a:ea typeface="Calibri"/>
                <a:cs typeface="Calibri"/>
                <a:sym typeface="Calibri"/>
              </a:rPr>
              <a:t>HexTech</a:t>
            </a:r>
          </a:p>
        </p:txBody>
      </p:sp>
      <p:sp>
        <p:nvSpPr>
          <p:cNvPr id="24" name="TextBox 24"/>
          <p:cNvSpPr txBox="1"/>
          <p:nvPr/>
        </p:nvSpPr>
        <p:spPr>
          <a:xfrm>
            <a:off x="852866" y="2433353"/>
            <a:ext cx="3762650" cy="1744244"/>
          </a:xfrm>
          <a:prstGeom prst="rect">
            <a:avLst/>
          </a:prstGeom>
        </p:spPr>
        <p:txBody>
          <a:bodyPr lIns="0" tIns="0" rIns="0" bIns="0" rtlCol="0" anchor="t">
            <a:spAutoFit/>
          </a:bodyPr>
          <a:lstStyle/>
          <a:p>
            <a:pPr marL="413775" lvl="1" indent="-206888" algn="l">
              <a:lnSpc>
                <a:spcPts val="2740"/>
              </a:lnSpc>
              <a:buFont typeface="Arial"/>
              <a:buChar char="•"/>
            </a:pPr>
            <a:r>
              <a:rPr lang="en-US" sz="1916" spc="-21">
                <a:solidFill>
                  <a:srgbClr val="000000"/>
                </a:solidFill>
                <a:latin typeface="Calibri"/>
                <a:ea typeface="Calibri"/>
                <a:cs typeface="Calibri"/>
                <a:sym typeface="Calibri"/>
              </a:rPr>
              <a:t>Same reading in any light</a:t>
            </a:r>
          </a:p>
          <a:p>
            <a:pPr marL="413775" lvl="1" indent="-206888" algn="l">
              <a:lnSpc>
                <a:spcPts val="2740"/>
              </a:lnSpc>
              <a:buFont typeface="Arial"/>
              <a:buChar char="•"/>
            </a:pPr>
            <a:r>
              <a:rPr lang="en-US" sz="1916" spc="-21">
                <a:solidFill>
                  <a:srgbClr val="000000"/>
                </a:solidFill>
                <a:latin typeface="Calibri"/>
                <a:ea typeface="Calibri"/>
                <a:cs typeface="Calibri"/>
                <a:sym typeface="Calibri"/>
              </a:rPr>
              <a:t>Less manual colour checking</a:t>
            </a:r>
          </a:p>
          <a:p>
            <a:pPr marL="413775" lvl="1" indent="-206888" algn="l">
              <a:lnSpc>
                <a:spcPts val="2740"/>
              </a:lnSpc>
              <a:buFont typeface="Arial"/>
              <a:buChar char="•"/>
            </a:pPr>
            <a:r>
              <a:rPr lang="en-US" sz="1916" spc="-21">
                <a:solidFill>
                  <a:srgbClr val="000000"/>
                </a:solidFill>
                <a:latin typeface="Calibri"/>
                <a:ea typeface="Calibri"/>
                <a:cs typeface="Calibri"/>
                <a:sym typeface="Calibri"/>
              </a:rPr>
              <a:t>NOT SURE when unclear</a:t>
            </a:r>
          </a:p>
          <a:p>
            <a:pPr marL="413775" lvl="1" indent="-206888" algn="l">
              <a:lnSpc>
                <a:spcPts val="2740"/>
              </a:lnSpc>
              <a:buFont typeface="Arial"/>
              <a:buChar char="•"/>
            </a:pPr>
            <a:r>
              <a:rPr lang="en-US" sz="1916" spc="-21">
                <a:solidFill>
                  <a:srgbClr val="000000"/>
                </a:solidFill>
                <a:latin typeface="Calibri"/>
                <a:ea typeface="Calibri"/>
                <a:cs typeface="Calibri"/>
                <a:sym typeface="Calibri"/>
              </a:rPr>
              <a:t>Easy digital test records</a:t>
            </a:r>
          </a:p>
          <a:p>
            <a:pPr marL="413775" lvl="1" indent="-206888" algn="l">
              <a:lnSpc>
                <a:spcPts val="2740"/>
              </a:lnSpc>
              <a:buFont typeface="Arial"/>
              <a:buChar char="•"/>
            </a:pPr>
            <a:r>
              <a:rPr lang="en-US" sz="1916" spc="-21">
                <a:solidFill>
                  <a:srgbClr val="000000"/>
                </a:solidFill>
                <a:latin typeface="Calibri"/>
                <a:ea typeface="Calibri"/>
                <a:cs typeface="Calibri"/>
                <a:sym typeface="Calibri"/>
              </a:rPr>
              <a:t>Quick access to past test records</a:t>
            </a:r>
          </a:p>
        </p:txBody>
      </p:sp>
      <p:sp>
        <p:nvSpPr>
          <p:cNvPr id="25" name="TextBox 25"/>
          <p:cNvSpPr txBox="1"/>
          <p:nvPr/>
        </p:nvSpPr>
        <p:spPr>
          <a:xfrm>
            <a:off x="4784113" y="2433353"/>
            <a:ext cx="5051078" cy="1744142"/>
          </a:xfrm>
          <a:prstGeom prst="rect">
            <a:avLst/>
          </a:prstGeom>
        </p:spPr>
        <p:txBody>
          <a:bodyPr lIns="0" tIns="0" rIns="0" bIns="0" rtlCol="0" anchor="t">
            <a:spAutoFit/>
          </a:bodyPr>
          <a:lstStyle/>
          <a:p>
            <a:pPr marL="414528" lvl="1" indent="-207264" algn="l">
              <a:lnSpc>
                <a:spcPts val="2745"/>
              </a:lnSpc>
              <a:buFont typeface="Arial"/>
              <a:buChar char="•"/>
            </a:pPr>
            <a:r>
              <a:rPr lang="en-US" sz="1920" spc="-21">
                <a:solidFill>
                  <a:srgbClr val="000000"/>
                </a:solidFill>
                <a:latin typeface="Calibri"/>
                <a:ea typeface="Calibri"/>
                <a:cs typeface="Calibri"/>
                <a:sym typeface="Calibri"/>
              </a:rPr>
              <a:t>Proof of every test: time, place, officer &amp; photo</a:t>
            </a:r>
          </a:p>
          <a:p>
            <a:pPr marL="414528" lvl="1" indent="-207264" algn="l">
              <a:lnSpc>
                <a:spcPts val="2745"/>
              </a:lnSpc>
              <a:buFont typeface="Arial"/>
              <a:buChar char="•"/>
            </a:pPr>
            <a:r>
              <a:rPr lang="en-US" sz="1920" spc="-21">
                <a:solidFill>
                  <a:srgbClr val="000000"/>
                </a:solidFill>
                <a:latin typeface="Calibri"/>
                <a:ea typeface="Calibri"/>
                <a:cs typeface="Calibri"/>
                <a:sym typeface="Calibri"/>
              </a:rPr>
              <a:t>Any change to a record is caught</a:t>
            </a:r>
          </a:p>
          <a:p>
            <a:pPr marL="414528" lvl="1" indent="-207264" algn="l">
              <a:lnSpc>
                <a:spcPts val="2745"/>
              </a:lnSpc>
              <a:buFont typeface="Arial"/>
              <a:buChar char="•"/>
            </a:pPr>
            <a:r>
              <a:rPr lang="en-US" sz="1920" spc="-21">
                <a:solidFill>
                  <a:srgbClr val="000000"/>
                </a:solidFill>
                <a:latin typeface="Calibri"/>
                <a:ea typeface="Calibri"/>
                <a:cs typeface="Calibri"/>
                <a:sym typeface="Calibri"/>
              </a:rPr>
              <a:t>PDF with QR and BSA s.63 page</a:t>
            </a:r>
          </a:p>
          <a:p>
            <a:pPr marL="414528" lvl="1" indent="-207264" algn="l">
              <a:lnSpc>
                <a:spcPts val="2745"/>
              </a:lnSpc>
              <a:buFont typeface="Arial"/>
              <a:buChar char="•"/>
            </a:pPr>
            <a:r>
              <a:rPr lang="en-US" sz="1920" spc="-21">
                <a:solidFill>
                  <a:srgbClr val="000000"/>
                </a:solidFill>
                <a:latin typeface="Calibri"/>
                <a:ea typeface="Calibri"/>
                <a:cs typeface="Calibri"/>
                <a:sym typeface="Calibri"/>
              </a:rPr>
              <a:t>Easy search, map and CSV export</a:t>
            </a:r>
          </a:p>
          <a:p>
            <a:pPr marL="414528" lvl="1" indent="-207264" algn="l">
              <a:lnSpc>
                <a:spcPts val="2745"/>
              </a:lnSpc>
              <a:buFont typeface="Arial"/>
              <a:buChar char="•"/>
            </a:pPr>
            <a:r>
              <a:rPr lang="en-US" sz="1920" spc="-21">
                <a:solidFill>
                  <a:srgbClr val="000000"/>
                </a:solidFill>
                <a:latin typeface="Calibri"/>
                <a:ea typeface="Calibri"/>
                <a:cs typeface="Calibri"/>
                <a:sym typeface="Calibri"/>
              </a:rPr>
              <a:t>All test data in one system</a:t>
            </a:r>
          </a:p>
        </p:txBody>
      </p:sp>
      <p:sp>
        <p:nvSpPr>
          <p:cNvPr id="26" name="TextBox 26"/>
          <p:cNvSpPr txBox="1"/>
          <p:nvPr/>
        </p:nvSpPr>
        <p:spPr>
          <a:xfrm>
            <a:off x="1188720" y="2079685"/>
            <a:ext cx="2926080" cy="342900"/>
          </a:xfrm>
          <a:prstGeom prst="rect">
            <a:avLst/>
          </a:prstGeom>
        </p:spPr>
        <p:txBody>
          <a:bodyPr lIns="0" tIns="0" rIns="0" bIns="0" rtlCol="0" anchor="t">
            <a:spAutoFit/>
          </a:bodyPr>
          <a:lstStyle/>
          <a:p>
            <a:pPr algn="ctr">
              <a:lnSpc>
                <a:spcPts val="2471"/>
              </a:lnSpc>
              <a:spcBef>
                <a:spcPct val="0"/>
              </a:spcBef>
            </a:pPr>
            <a:r>
              <a:rPr lang="en-US" sz="2059" b="1" spc="-22">
                <a:solidFill>
                  <a:srgbClr val="974826"/>
                </a:solidFill>
                <a:latin typeface="Calibri"/>
                <a:ea typeface="Calibri"/>
                <a:cs typeface="Calibri"/>
                <a:sym typeface="Calibri"/>
              </a:rPr>
              <a:t>Inspector Benefits</a:t>
            </a:r>
          </a:p>
        </p:txBody>
      </p:sp>
      <p:sp>
        <p:nvSpPr>
          <p:cNvPr id="27" name="TextBox 27"/>
          <p:cNvSpPr txBox="1"/>
          <p:nvPr/>
        </p:nvSpPr>
        <p:spPr>
          <a:xfrm>
            <a:off x="5853724" y="2085531"/>
            <a:ext cx="2355832" cy="342900"/>
          </a:xfrm>
          <a:prstGeom prst="rect">
            <a:avLst/>
          </a:prstGeom>
        </p:spPr>
        <p:txBody>
          <a:bodyPr lIns="0" tIns="0" rIns="0" bIns="0" rtlCol="0" anchor="t">
            <a:spAutoFit/>
          </a:bodyPr>
          <a:lstStyle/>
          <a:p>
            <a:pPr algn="ctr">
              <a:lnSpc>
                <a:spcPts val="2471"/>
              </a:lnSpc>
              <a:spcBef>
                <a:spcPct val="0"/>
              </a:spcBef>
            </a:pPr>
            <a:r>
              <a:rPr lang="en-US" sz="2059" b="1" spc="-22">
                <a:solidFill>
                  <a:srgbClr val="974826"/>
                </a:solidFill>
                <a:latin typeface="Calibri"/>
                <a:ea typeface="Calibri"/>
                <a:cs typeface="Calibri"/>
                <a:sym typeface="Calibri"/>
              </a:rPr>
              <a:t>Organisation Benefits</a:t>
            </a:r>
          </a:p>
        </p:txBody>
      </p:sp>
      <p:sp>
        <p:nvSpPr>
          <p:cNvPr id="29" name="TextBox 29"/>
          <p:cNvSpPr txBox="1"/>
          <p:nvPr/>
        </p:nvSpPr>
        <p:spPr>
          <a:xfrm>
            <a:off x="10649712" y="1938528"/>
            <a:ext cx="694643" cy="342900"/>
          </a:xfrm>
          <a:prstGeom prst="rect">
            <a:avLst/>
          </a:prstGeom>
        </p:spPr>
        <p:txBody>
          <a:bodyPr lIns="0" tIns="0" rIns="0" bIns="0" rtlCol="0" anchor="t">
            <a:spAutoFit/>
          </a:bodyPr>
          <a:lstStyle/>
          <a:p>
            <a:pPr algn="ctr">
              <a:lnSpc>
                <a:spcPts val="2471"/>
              </a:lnSpc>
              <a:spcBef>
                <a:spcPct val="0"/>
              </a:spcBef>
            </a:pPr>
            <a:r>
              <a:rPr lang="en-US" sz="2059" b="1" spc="-22">
                <a:solidFill>
                  <a:srgbClr val="974826"/>
                </a:solidFill>
                <a:latin typeface="Calibri"/>
                <a:ea typeface="Calibri"/>
                <a:cs typeface="Calibri"/>
                <a:sym typeface="Calibri"/>
              </a:rPr>
              <a:t>Map -</a:t>
            </a:r>
          </a:p>
        </p:txBody>
      </p:sp>
      <p:sp>
        <p:nvSpPr>
          <p:cNvPr id="30" name="TextBox 30"/>
          <p:cNvSpPr txBox="1"/>
          <p:nvPr/>
        </p:nvSpPr>
        <p:spPr>
          <a:xfrm>
            <a:off x="850392" y="4480560"/>
            <a:ext cx="3566160" cy="342900"/>
          </a:xfrm>
          <a:prstGeom prst="rect">
            <a:avLst/>
          </a:prstGeom>
        </p:spPr>
        <p:txBody>
          <a:bodyPr lIns="0" tIns="0" rIns="0" bIns="0" rtlCol="0" anchor="t">
            <a:spAutoFit/>
          </a:bodyPr>
          <a:lstStyle/>
          <a:p>
            <a:pPr algn="l">
              <a:lnSpc>
                <a:spcPts val="2471"/>
              </a:lnSpc>
              <a:spcBef>
                <a:spcPct val="0"/>
              </a:spcBef>
            </a:pPr>
            <a:r>
              <a:rPr lang="en-US" sz="2059" b="1" spc="-22">
                <a:solidFill>
                  <a:srgbClr val="974826"/>
                </a:solidFill>
                <a:latin typeface="Calibri"/>
                <a:ea typeface="Calibri"/>
                <a:cs typeface="Calibri"/>
                <a:sym typeface="Calibri"/>
              </a:rPr>
              <a:t>QR-Based Record Verification</a:t>
            </a:r>
          </a:p>
        </p:txBody>
      </p:sp>
      <p:sp>
        <p:nvSpPr>
          <p:cNvPr id="31" name="TextBox 30"/>
          <p:cNvSpPr txBox="1"/>
          <p:nvPr/>
        </p:nvSpPr>
        <p:spPr>
          <a:xfrm>
            <a:off x="4434840" y="4480560"/>
            <a:ext cx="5577840" cy="384048"/>
          </a:xfrm>
          <a:prstGeom prst="rect">
            <a:avLst/>
          </a:prstGeom>
          <a:noFill/>
        </p:spPr>
        <p:txBody>
          <a:bodyPr wrap="square" anchor="t" lIns="27432" rIns="27432" tIns="18288" bIns="18288">
            <a:noAutofit/>
          </a:bodyPr>
          <a:lstStyle/>
          <a:p>
            <a:pPr algn="l">
              <a:spcAft>
                <a:spcPts val="0"/>
              </a:spcAft>
            </a:pPr>
            <a:r>
              <a:rPr sz="1200" b="0" i="0">
                <a:solidFill>
                  <a:srgbClr val="555555"/>
                </a:solidFill>
                <a:latin typeface="Calibri"/>
              </a:rPr>
              <a:t>Judges can scan it on their own phone. For the demo the QR opens a public HTTPS check page (verify only, nothing else is open).</a:t>
            </a:r>
          </a:p>
        </p:txBody>
      </p:sp>
      <p:sp>
        <p:nvSpPr>
          <p:cNvPr id="32" name="TextBox 31"/>
          <p:cNvSpPr txBox="1"/>
          <p:nvPr/>
        </p:nvSpPr>
        <p:spPr>
          <a:xfrm>
            <a:off x="11375136" y="1956816"/>
            <a:ext cx="6035040" cy="310896"/>
          </a:xfrm>
          <a:prstGeom prst="rect">
            <a:avLst/>
          </a:prstGeom>
          <a:noFill/>
        </p:spPr>
        <p:txBody>
          <a:bodyPr wrap="square" anchor="t" lIns="27432" rIns="27432" tIns="18288" bIns="18288">
            <a:noAutofit/>
          </a:bodyPr>
          <a:lstStyle/>
          <a:p>
            <a:pPr algn="l">
              <a:spcAft>
                <a:spcPts val="0"/>
              </a:spcAft>
            </a:pPr>
            <a:r>
              <a:rPr sz="1700" b="0" i="0">
                <a:solidFill>
                  <a:srgbClr val="000000"/>
                </a:solidFill>
                <a:latin typeface="Calibri"/>
              </a:rPr>
              <a:t>Admin can monitor area-wise test results on the map.</a:t>
            </a:r>
          </a:p>
        </p:txBody>
      </p:sp>
      <p:sp>
        <p:nvSpPr>
          <p:cNvPr id="33" name="TextBox 32"/>
          <p:cNvSpPr txBox="1"/>
          <p:nvPr/>
        </p:nvSpPr>
        <p:spPr>
          <a:xfrm>
            <a:off x="10625328" y="4334256"/>
            <a:ext cx="6766560" cy="457200"/>
          </a:xfrm>
          <a:prstGeom prst="rect">
            <a:avLst/>
          </a:prstGeom>
          <a:noFill/>
        </p:spPr>
        <p:txBody>
          <a:bodyPr wrap="square" anchor="t" lIns="27432" rIns="27432" tIns="18288" bIns="18288">
            <a:noAutofit/>
          </a:bodyPr>
          <a:lstStyle/>
          <a:p>
            <a:pPr algn="l">
              <a:spcAft>
                <a:spcPts val="0"/>
              </a:spcAft>
            </a:pPr>
            <a:r>
              <a:rPr sz="1800" b="1" i="0">
                <a:solidFill>
                  <a:srgbClr val="974826"/>
                </a:solidFill>
                <a:latin typeface="Calibri"/>
              </a:rPr>
              <a:t>Evidence Report</a:t>
            </a:r>
          </a:p>
        </p:txBody>
      </p:sp>
      <p:sp>
        <p:nvSpPr>
          <p:cNvPr id="34" name="TextBox 33"/>
          <p:cNvSpPr txBox="1"/>
          <p:nvPr/>
        </p:nvSpPr>
        <p:spPr>
          <a:xfrm>
            <a:off x="10625328" y="4681728"/>
            <a:ext cx="6812280" cy="603504"/>
          </a:xfrm>
          <a:prstGeom prst="rect">
            <a:avLst/>
          </a:prstGeom>
          <a:noFill/>
        </p:spPr>
        <p:txBody>
          <a:bodyPr wrap="square" anchor="t" lIns="27432" rIns="27432" tIns="18288" bIns="18288">
            <a:noAutofit/>
          </a:bodyPr>
          <a:lstStyle/>
          <a:p>
            <a:pPr algn="l">
              <a:spcAft>
                <a:spcPts val="0"/>
              </a:spcAft>
            </a:pPr>
            <a:r>
              <a:rPr sz="1400" b="0" i="0">
                <a:solidFill>
                  <a:srgbClr val="000000"/>
                </a:solidFill>
                <a:latin typeface="Calibri"/>
              </a:rPr>
              <a:t>Every PDF report has a filled BSA section 63 page (photo hash, phone, time, GPS) for the officer and expert to sign. </a:t>
            </a:r>
            <a:r>
              <a:rPr sz="1400" u="sng">
                <a:solidFill>
                  <a:srgbClr val="0563C1"/>
                </a:solidFill>
                <a:latin typeface="Calibri"/>
                <a:hlinkClick r:id="rId11"/>
              </a:rPr>
              <a:t>Open a full sample report (PDF, 2 pages)</a:t>
            </a:r>
          </a:p>
        </p:txBody>
      </p:sp>
      <p:sp>
        <p:nvSpPr>
          <p:cNvPr id="35" name="Sample report link area">
            <a:hlinkClick r:id="rId11"/>
          </p:cNvPr>
          <p:cNvSpPr/>
          <p:nvPr/>
        </p:nvSpPr>
        <p:spPr>
          <a:xfrm>
            <a:off x="10625328" y="4681728"/>
            <a:ext cx="6812280" cy="603504"/>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561320" y="5486400"/>
            <a:ext cx="6812280" cy="2788920"/>
          </a:xfrm>
          <a:prstGeom prst="roundRect">
            <a:avLst>
              <a:gd name="adj" fmla="val 4000"/>
            </a:avLst>
          </a:prstGeom>
          <a:noFill/>
          <a:ln w="28575">
            <a:solidFill>
              <a:srgbClr val="7A2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744200" y="5559552"/>
            <a:ext cx="6400800" cy="457200"/>
          </a:xfrm>
          <a:prstGeom prst="rect">
            <a:avLst/>
          </a:prstGeom>
          <a:noFill/>
        </p:spPr>
        <p:txBody>
          <a:bodyPr wrap="square" anchor="t" lIns="27432" rIns="27432" tIns="18288" bIns="18288">
            <a:noAutofit/>
          </a:bodyPr>
          <a:lstStyle/>
          <a:p>
            <a:pPr algn="l">
              <a:spcAft>
                <a:spcPts val="0"/>
              </a:spcAft>
            </a:pPr>
            <a:r>
              <a:rPr sz="2150" b="1" i="0">
                <a:solidFill>
                  <a:srgbClr val="974826"/>
                </a:solidFill>
                <a:latin typeface="Calibri"/>
              </a:rPr>
              <a:t>Future Scope</a:t>
            </a:r>
          </a:p>
        </p:txBody>
      </p:sp>
      <p:sp>
        <p:nvSpPr>
          <p:cNvPr id="38" name="TextBox 37"/>
          <p:cNvSpPr txBox="1"/>
          <p:nvPr/>
        </p:nvSpPr>
        <p:spPr>
          <a:xfrm>
            <a:off x="10744200" y="6016752"/>
            <a:ext cx="6492240" cy="2468880"/>
          </a:xfrm>
          <a:prstGeom prst="rect">
            <a:avLst/>
          </a:prstGeom>
          <a:noFill/>
        </p:spPr>
        <p:txBody>
          <a:bodyPr wrap="square" anchor="t" lIns="27432" rIns="27432" tIns="18288" bIns="18288">
            <a:noAutofit/>
          </a:bodyPr>
          <a:lstStyle/>
          <a:p>
            <a:pPr algn="l" marL="201168" indent="-201168">
              <a:spcAft>
                <a:spcPts val="900"/>
              </a:spcAft>
              <a:buFont typeface="Arial"/>
              <a:buChar char="•"/>
            </a:pPr>
            <a:r>
              <a:rPr sz="1650" b="1" i="0">
                <a:solidFill>
                  <a:srgbClr val="000000"/>
                </a:solidFill>
                <a:latin typeface="Calibri"/>
              </a:rPr>
              <a:t>Phone Security</a:t>
            </a:r>
            <a:r>
              <a:rPr sz="1650" b="0" i="0">
                <a:solidFill>
                  <a:srgbClr val="000000"/>
                </a:solidFill>
                <a:latin typeface="Calibri"/>
              </a:rPr>
              <a:t> - sign each test with the phone’s security chip.</a:t>
            </a:r>
          </a:p>
          <a:p>
            <a:pPr algn="l" marL="201168" indent="-201168">
              <a:spcAft>
                <a:spcPts val="900"/>
              </a:spcAft>
              <a:buFont typeface="Arial"/>
              <a:buChar char="•"/>
            </a:pPr>
            <a:r>
              <a:rPr sz="1650" b="1" i="0">
                <a:solidFill>
                  <a:srgbClr val="000000"/>
                </a:solidFill>
                <a:latin typeface="Calibri"/>
              </a:rPr>
              <a:t>Lab Comparison</a:t>
            </a:r>
            <a:r>
              <a:rPr sz="1650" b="0" i="0">
                <a:solidFill>
                  <a:srgbClr val="000000"/>
                </a:solidFill>
                <a:latin typeface="Calibri"/>
              </a:rPr>
              <a:t> - FSL trial with real kits, compare with lab results.</a:t>
            </a:r>
          </a:p>
          <a:p>
            <a:pPr algn="l" marL="201168" indent="-201168">
              <a:spcAft>
                <a:spcPts val="900"/>
              </a:spcAft>
              <a:buFont typeface="Arial"/>
              <a:buChar char="•"/>
            </a:pPr>
            <a:r>
              <a:rPr sz="1650" b="1" i="0">
                <a:solidFill>
                  <a:srgbClr val="000000"/>
                </a:solidFill>
                <a:latin typeface="Calibri"/>
              </a:rPr>
              <a:t>Screen-photo Check</a:t>
            </a:r>
            <a:r>
              <a:rPr sz="1650" b="0" i="0">
                <a:solidFill>
                  <a:srgbClr val="000000"/>
                </a:solidFill>
                <a:latin typeface="Calibri"/>
              </a:rPr>
              <a:t> - catch photos of a screen, phone integrity check.</a:t>
            </a:r>
          </a:p>
          <a:p>
            <a:pPr algn="l" marL="201168" indent="-201168">
              <a:spcAft>
                <a:spcPts val="900"/>
              </a:spcAft>
              <a:buFont typeface="Arial"/>
              <a:buChar char="•"/>
            </a:pPr>
            <a:r>
              <a:rPr sz="1650" b="1" i="0">
                <a:solidFill>
                  <a:srgbClr val="000000"/>
                </a:solidFill>
                <a:latin typeface="Calibri"/>
              </a:rPr>
              <a:t>Police Systems</a:t>
            </a:r>
            <a:r>
              <a:rPr sz="1650" b="0" i="0">
                <a:solidFill>
                  <a:srgbClr val="000000"/>
                </a:solidFill>
                <a:latin typeface="Calibri"/>
              </a:rPr>
              <a:t> - apply to NIC or MHA for the e-Sakshya and CCTNS link.</a:t>
            </a:r>
          </a:p>
          <a:p>
            <a:pPr algn="l" marL="201168" indent="-201168">
              <a:spcAft>
                <a:spcPts val="900"/>
              </a:spcAft>
              <a:buFont typeface="Arial"/>
              <a:buChar char="•"/>
            </a:pPr>
            <a:r>
              <a:rPr sz="1650" b="1" i="0">
                <a:solidFill>
                  <a:srgbClr val="000000"/>
                </a:solidFill>
                <a:latin typeface="Calibri"/>
              </a:rPr>
              <a:t>Regional Languages</a:t>
            </a:r>
            <a:r>
              <a:rPr sz="1650" b="0" i="0">
                <a:solidFill>
                  <a:srgbClr val="000000"/>
                </a:solidFill>
                <a:latin typeface="Calibri"/>
              </a:rPr>
              <a:t> - Tamil is done, Hindi and voice help next.</a:t>
            </a:r>
          </a:p>
        </p:txBody>
      </p:sp>
      <p:sp>
        <p:nvSpPr>
          <p:cNvPr id="39" name="Rounded Rectangle 38"/>
          <p:cNvSpPr/>
          <p:nvPr/>
        </p:nvSpPr>
        <p:spPr>
          <a:xfrm>
            <a:off x="10561320" y="8430768"/>
            <a:ext cx="6812280" cy="987552"/>
          </a:xfrm>
          <a:prstGeom prst="roundRect">
            <a:avLst>
              <a:gd name="adj" fmla="val 8000"/>
            </a:avLst>
          </a:prstGeom>
          <a:noFill/>
          <a:ln w="28575">
            <a:solidFill>
              <a:srgbClr val="7A2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98480" y="8476488"/>
            <a:ext cx="6583680" cy="896112"/>
          </a:xfrm>
          <a:prstGeom prst="rect">
            <a:avLst/>
          </a:prstGeom>
          <a:noFill/>
        </p:spPr>
        <p:txBody>
          <a:bodyPr wrap="square" anchor="ctr" lIns="27432" rIns="27432" tIns="18288" bIns="18288">
            <a:noAutofit/>
          </a:bodyPr>
          <a:lstStyle/>
          <a:p>
            <a:pPr algn="l">
              <a:spcAft>
                <a:spcPts val="0"/>
              </a:spcAft>
            </a:pPr>
            <a:r>
              <a:rPr sz="1600" b="1" i="0">
                <a:solidFill>
                  <a:srgbClr val="000000"/>
                </a:solidFill>
                <a:latin typeface="Calibri"/>
              </a:rPr>
              <a:t>Offline Mode (Planned, month 1-2)</a:t>
            </a:r>
            <a:r>
              <a:rPr sz="1600" b="0" i="0">
                <a:solidFill>
                  <a:srgbClr val="000000"/>
                </a:solidFill>
                <a:latin typeface="Calibri"/>
              </a:rPr>
              <a:t> - Test and photo hash saved and signed on the phone, synced when the network returns. Duplicates saved once.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564624"/>
            <a:ext cx="18280761" cy="715289"/>
            <a:chOff x="0" y="0"/>
            <a:chExt cx="24374348" cy="953719"/>
          </a:xfrm>
        </p:grpSpPr>
        <p:sp>
          <p:nvSpPr>
            <p:cNvPr id="3" name="Freeform 3"/>
            <p:cNvSpPr/>
            <p:nvPr/>
          </p:nvSpPr>
          <p:spPr>
            <a:xfrm>
              <a:off x="0" y="0"/>
              <a:ext cx="24374348" cy="953770"/>
            </a:xfrm>
            <a:custGeom>
              <a:avLst/>
              <a:gdLst/>
              <a:ahLst/>
              <a:cxnLst/>
              <a:rect l="l" t="t" r="r" b="b"/>
              <a:pathLst>
                <a:path w="24374348" h="953770">
                  <a:moveTo>
                    <a:pt x="0" y="0"/>
                  </a:moveTo>
                  <a:lnTo>
                    <a:pt x="24374348" y="0"/>
                  </a:lnTo>
                  <a:lnTo>
                    <a:pt x="24374348" y="953770"/>
                  </a:lnTo>
                  <a:lnTo>
                    <a:pt x="0" y="953770"/>
                  </a:lnTo>
                  <a:lnTo>
                    <a:pt x="0" y="0"/>
                  </a:lnTo>
                  <a:close/>
                </a:path>
              </a:pathLst>
            </a:custGeom>
            <a:blipFill>
              <a:blip r:embed="rId2"/>
              <a:stretch>
                <a:fillRect t="-914" b="-909"/>
              </a:stretch>
            </a:blipFill>
          </p:spPr>
        </p:sp>
      </p:grpSp>
      <p:grpSp>
        <p:nvGrpSpPr>
          <p:cNvPr id="4" name="Group 4"/>
          <p:cNvGrpSpPr/>
          <p:nvPr/>
        </p:nvGrpSpPr>
        <p:grpSpPr>
          <a:xfrm>
            <a:off x="0" y="9532620"/>
            <a:ext cx="18288000" cy="754380"/>
            <a:chOff x="0" y="0"/>
            <a:chExt cx="24384000" cy="1005840"/>
          </a:xfrm>
        </p:grpSpPr>
        <p:sp>
          <p:nvSpPr>
            <p:cNvPr id="5" name="Freeform 5"/>
            <p:cNvSpPr/>
            <p:nvPr/>
          </p:nvSpPr>
          <p:spPr>
            <a:xfrm>
              <a:off x="0" y="0"/>
              <a:ext cx="24384000" cy="1005840"/>
            </a:xfrm>
            <a:custGeom>
              <a:avLst/>
              <a:gdLst/>
              <a:ahLst/>
              <a:cxnLst/>
              <a:rect l="l" t="t" r="r" b="b"/>
              <a:pathLst>
                <a:path w="24384000" h="1005840">
                  <a:moveTo>
                    <a:pt x="24384000" y="0"/>
                  </a:moveTo>
                  <a:lnTo>
                    <a:pt x="0" y="0"/>
                  </a:lnTo>
                  <a:lnTo>
                    <a:pt x="0" y="1005840"/>
                  </a:lnTo>
                  <a:lnTo>
                    <a:pt x="24384000" y="1005840"/>
                  </a:lnTo>
                  <a:lnTo>
                    <a:pt x="24384000" y="0"/>
                  </a:lnTo>
                  <a:close/>
                </a:path>
              </a:pathLst>
            </a:custGeom>
            <a:solidFill>
              <a:srgbClr val="006EC0"/>
            </a:solidFill>
          </p:spPr>
        </p:sp>
      </p:grpSp>
      <p:sp>
        <p:nvSpPr>
          <p:cNvPr id="6" name="Freeform 6"/>
          <p:cNvSpPr/>
          <p:nvPr/>
        </p:nvSpPr>
        <p:spPr>
          <a:xfrm>
            <a:off x="391335" y="315011"/>
            <a:ext cx="2629852" cy="1249680"/>
          </a:xfrm>
          <a:custGeom>
            <a:avLst/>
            <a:gdLst/>
            <a:ahLst/>
            <a:cxnLst/>
            <a:rect l="l" t="t" r="r" b="b"/>
            <a:pathLst>
              <a:path w="2629852" h="1249680">
                <a:moveTo>
                  <a:pt x="0" y="0"/>
                </a:moveTo>
                <a:lnTo>
                  <a:pt x="2629852" y="0"/>
                </a:lnTo>
                <a:lnTo>
                  <a:pt x="2629852" y="1249680"/>
                </a:lnTo>
                <a:lnTo>
                  <a:pt x="0" y="1249680"/>
                </a:lnTo>
                <a:lnTo>
                  <a:pt x="0" y="0"/>
                </a:lnTo>
                <a:close/>
              </a:path>
            </a:pathLst>
          </a:custGeom>
          <a:blipFill>
            <a:blip>
              <a:extLst>
                <a:ext uri="{96DAC541-7B7A-43D3-8B79-37D633B846F1}">
                  <asvg:svgBlip xmlns:asvg="http://schemas.microsoft.com/office/drawing/2016/SVG/main" r:embed="rId3"/>
                </a:ext>
              </a:extLst>
            </a:blip>
            <a:stretch>
              <a:fillRect/>
            </a:stretch>
          </a:blipFill>
        </p:spPr>
      </p:sp>
      <p:graphicFrame>
        <p:nvGraphicFramePr>
          <p:cNvPr id="7" name="Table 7"/>
          <p:cNvGraphicFramePr>
            <a:graphicFrameLocks noGrp="1"/>
          </p:cNvGraphicFramePr>
          <p:nvPr/>
        </p:nvGraphicFramePr>
        <p:xfrm>
          <a:off x="685800" y="1920240"/>
          <a:ext cx="16916400" cy="6281928"/>
        </p:xfrm>
        <a:graphic>
          <a:graphicData uri="http://schemas.openxmlformats.org/drawingml/2006/table">
            <a:tbl>
              <a:tblPr/>
              <a:tblGrid>
                <a:gridCol w="6400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6400800">
                  <a:extLst>
                    <a:ext uri="{9D8B030D-6E8A-4147-A177-3AD203B41FA5}">
                      <a16:colId xmlns:a16="http://schemas.microsoft.com/office/drawing/2014/main" val="20002"/>
                    </a:ext>
                  </a:extLst>
                </a:gridCol>
              </a:tblGrid>
              <a:tr h="566928">
                <a:tc>
                  <a:txBody>
                    <a:bodyPr/>
                    <a:lstStyle/>
                    <a:p>
                      <a:pPr algn="ctr">
                        <a:lnSpc>
                          <a:spcPts val="2519"/>
                        </a:lnSpc>
                        <a:defRPr/>
                      </a:pPr>
                      <a:r>
                        <a:rPr lang="en-US" sz="1799">
                          <a:solidFill>
                            <a:srgbClr val="000000"/>
                          </a:solidFill>
                          <a:latin typeface="Arimo"/>
                          <a:ea typeface="Arimo"/>
                          <a:cs typeface="Arimo"/>
                          <a:sym typeface="Arimo"/>
                        </a:rPr>
                        <a:t>What they found</a:t>
                      </a:r>
                      <a:endParaRPr lang="en-US" sz="1100"/>
                    </a:p>
                  </a:txBody>
                  <a:tcPr marL="190500" marR="190500" marT="190500" marB="19050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solidFill>
                      <a:srgbClr val="B2935B"/>
                    </a:solidFill>
                  </a:tcPr>
                </a:tc>
                <a:tc>
                  <a:txBody>
                    <a:bodyPr/>
                    <a:lstStyle/>
                    <a:p>
                      <a:pPr algn="ctr">
                        <a:lnSpc>
                          <a:spcPts val="2519"/>
                        </a:lnSpc>
                        <a:defRPr/>
                      </a:pPr>
                      <a:r>
                        <a:rPr lang="en-US" sz="1799">
                          <a:solidFill>
                            <a:srgbClr val="000000"/>
                          </a:solidFill>
                          <a:latin typeface="Arimo"/>
                          <a:ea typeface="Arimo"/>
                          <a:cs typeface="Arimo"/>
                          <a:sym typeface="Arimo"/>
                        </a:rPr>
                        <a:t>How we use it</a:t>
                      </a:r>
                      <a:endParaRPr lang="en-US" sz="1100"/>
                    </a:p>
                  </a:txBody>
                  <a:tcPr marL="190500" marR="190500" marT="190500" marB="19050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solidFill>
                      <a:srgbClr val="B2935B"/>
                    </a:solidFill>
                  </a:tcPr>
                </a:tc>
                <a:tc>
                  <a:txBody>
                    <a:bodyPr/>
                    <a:lstStyle/>
                    <a:p>
                      <a:pPr algn="ctr">
                        <a:lnSpc>
                          <a:spcPts val="2519"/>
                        </a:lnSpc>
                        <a:defRPr/>
                      </a:pPr>
                      <a:r>
                        <a:rPr lang="en-US" sz="1799">
                          <a:solidFill>
                            <a:srgbClr val="000000"/>
                          </a:solidFill>
                          <a:latin typeface="Arimo"/>
                          <a:ea typeface="Arimo"/>
                          <a:cs typeface="Arimo"/>
                          <a:sym typeface="Arimo"/>
                        </a:rPr>
                        <a:t>Research</a:t>
                      </a:r>
                      <a:endParaRPr lang="en-US" sz="1100"/>
                    </a:p>
                  </a:txBody>
                  <a:tcPr marL="190500" marR="190500" marT="190500" marB="19050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solidFill>
                      <a:srgbClr val="B2935B"/>
                    </a:solidFill>
                  </a:tcPr>
                </a:tc>
                <a:extLst>
                  <a:ext uri="{0D108BD9-81ED-4DB2-BD59-A6C34878D82A}">
                    <a16:rowId xmlns:a16="http://schemas.microsoft.com/office/drawing/2014/main" val="10000"/>
                  </a:ext>
                </a:extLst>
              </a:tr>
              <a:tr h="1143000">
                <a:tc>
                  <a:txBody>
                    <a:bodyPr/>
                    <a:lstStyle/>
                    <a:p>
                      <a:pPr algn="l">
                        <a:spcAft>
                          <a:spcPts val="600"/>
                        </a:spcAft>
                      </a:pPr>
                      <a:r>
                        <a:rPr lang="en-US" sz="1500" b="1" spc="-16">
                          <a:solidFill>
                            <a:srgbClr val="000000"/>
                          </a:solidFill>
                          <a:latin typeface="Calibri"/>
                          <a:ea typeface="Calibri"/>
                          <a:cs typeface="Calibri"/>
                          <a:sym typeface="Calibri"/>
                        </a:rPr>
                        <a:t>IEEE EMBC 2016</a:t>
                      </a:r>
                    </a:p>
                    <a:p>
                      <a:pPr algn="l">
                        <a:lnSpc>
                          <a:spcPts val="1679"/>
                        </a:lnSpc>
                        <a:defRPr/>
                      </a:pPr>
                      <a:r>
                        <a:rPr lang="en-US" sz="1400">
                          <a:solidFill>
                            <a:srgbClr val="000000"/>
                          </a:solidFill>
                          <a:latin typeface="Calibri"/>
                          <a:ea typeface="Calibri"/>
                          <a:cs typeface="Calibri"/>
                          <a:sym typeface="Calibri"/>
                        </a:rPr>
                        <a:t>Phone camera colours change with light and phone model, and reference colours can help handle this.</a:t>
                      </a:r>
                      <a:endParaRPr lang="en-US" sz="1100"/>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tc>
                  <a:txBody>
                    <a:bodyPr/>
                    <a:lstStyle/>
                    <a:p>
                      <a:pPr algn="l">
                        <a:lnSpc>
                          <a:spcPts val="1679"/>
                        </a:lnSpc>
                        <a:defRPr/>
                      </a:pPr>
                      <a:r>
                        <a:rPr lang="en-US" sz="1400">
                          <a:solidFill>
                            <a:srgbClr val="000000"/>
                          </a:solidFill>
                          <a:latin typeface="Calibri"/>
                          <a:ea typeface="Calibri"/>
                          <a:cs typeface="Calibri"/>
                          <a:sym typeface="Calibri"/>
                        </a:rPr>
                        <a:t>Our ₹10 colour card fixes colours in every test</a:t>
                      </a:r>
                      <a:endParaRPr lang="en-US" sz="1100"/>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tc>
                  <a:txBody>
                    <a:bodyPr/>
                    <a:lstStyle/>
                    <a:p>
                      <a:pPr algn="l">
                        <a:lnSpc>
                          <a:spcPct val="105000"/>
                        </a:lnSpc>
                      </a:pPr>
                      <a:r>
                        <a:rPr lang="en-US" sz="1200" u="sng">
                          <a:solidFill>
                            <a:srgbClr val="1F477B"/>
                          </a:solidFill>
                          <a:latin typeface="Calibri"/>
                          <a:ea typeface="Arimo"/>
                          <a:cs typeface="Arimo"/>
                          <a:sym typeface="Arimo"/>
                          <a:hlinkClick r:id="rId10"/>
                        </a:rPr>
                        <a:t>[1] H. Karisen and T. Dong, "Illumination and device independence for colorimetric detection of urinary biomarkers with smartphone," in Proc. 38th Annu. Int. Conf. IEEE Eng. Med. Biol. Soc. (EMBC), Orlando, FL, USA, 2016, pp. 5184-5187, doi: 10.1109/EMBC.2016.7591895.</a:t>
                      </a:r>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extLst>
                  <a:ext uri="{0D108BD9-81ED-4DB2-BD59-A6C34878D82A}">
                    <a16:rowId xmlns:a16="http://schemas.microsoft.com/office/drawing/2014/main" val="10001"/>
                  </a:ext>
                </a:extLst>
              </a:tr>
              <a:tr h="1143000">
                <a:tc>
                  <a:txBody>
                    <a:bodyPr/>
                    <a:lstStyle/>
                    <a:p>
                      <a:pPr algn="l">
                        <a:spcAft>
                          <a:spcPts val="600"/>
                        </a:spcAft>
                      </a:pPr>
                      <a:r>
                        <a:rPr lang="en-US" sz="1500" b="1" spc="-16">
                          <a:solidFill>
                            <a:srgbClr val="000000"/>
                          </a:solidFill>
                          <a:latin typeface="Calibri"/>
                          <a:ea typeface="Calibri"/>
                          <a:cs typeface="Calibri"/>
                          <a:sym typeface="Calibri"/>
                        </a:rPr>
                        <a:t>IEEE TPS-ISA 2024</a:t>
                      </a:r>
                    </a:p>
                    <a:p>
                      <a:pPr algn="l">
                        <a:lnSpc>
                          <a:spcPts val="1679"/>
                        </a:lnSpc>
                        <a:defRPr/>
                      </a:pPr>
                      <a:r>
                        <a:rPr lang="en-US" sz="1400">
                          <a:solidFill>
                            <a:srgbClr val="000000"/>
                          </a:solidFill>
                          <a:latin typeface="Calibri"/>
                          <a:ea typeface="Calibri"/>
                          <a:cs typeface="Calibri"/>
                          <a:sym typeface="Calibri"/>
                        </a:rPr>
                        <a:t>Digital evidence must maintain integrity and show how it was handled.</a:t>
                      </a:r>
                      <a:endParaRPr lang="en-US" sz="1100"/>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tc>
                  <a:txBody>
                    <a:bodyPr/>
                    <a:lstStyle/>
                    <a:p>
                      <a:pPr algn="l">
                        <a:lnSpc>
                          <a:spcPts val="1679"/>
                        </a:lnSpc>
                        <a:defRPr/>
                      </a:pPr>
                      <a:r>
                        <a:rPr lang="en-US" sz="1400">
                          <a:solidFill>
                            <a:srgbClr val="000000"/>
                          </a:solidFill>
                          <a:latin typeface="Calibri"/>
                          <a:ea typeface="Calibri"/>
                          <a:cs typeface="Calibri"/>
                          <a:sym typeface="Calibri"/>
                        </a:rPr>
                        <a:t>Photo fingerprint + signature + chained log</a:t>
                      </a:r>
                      <a:endParaRPr lang="en-US" sz="1100"/>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tc>
                  <a:txBody>
                    <a:bodyPr/>
                    <a:lstStyle/>
                    <a:p>
                      <a:pPr algn="l">
                        <a:lnSpc>
                          <a:spcPct val="105000"/>
                        </a:lnSpc>
                      </a:pPr>
                      <a:r>
                        <a:rPr lang="en-US" sz="1200" u="sng">
                          <a:solidFill>
                            <a:srgbClr val="1F477B"/>
                          </a:solidFill>
                          <a:latin typeface="Calibri"/>
                          <a:ea typeface="Arimo"/>
                          <a:cs typeface="Arimo"/>
                          <a:sym typeface="Arimo"/>
                          <a:hlinkClick r:id="rId4"/>
                        </a:rPr>
                        <a:t>[2] S. Nath, K. Summers, J. Baek, and G.-J. Ahn, "Digital evidence chain of custody: Navigating new realities of digital forensics," in Proc. IEEE 6th Int. Conf. Trust, Privacy Secur. Intell. Syst. Appl. (TPS-ISA), Washington, DC, USA, 2024, pp. 11-20, doi: 10.1109/TPS-ISA62245.2024.00012.</a:t>
                      </a:r>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extLst>
                  <a:ext uri="{0D108BD9-81ED-4DB2-BD59-A6C34878D82A}">
                    <a16:rowId xmlns:a16="http://schemas.microsoft.com/office/drawing/2014/main" val="10002"/>
                  </a:ext>
                </a:extLst>
              </a:tr>
              <a:tr h="1143000">
                <a:tc>
                  <a:txBody>
                    <a:bodyPr/>
                    <a:lstStyle/>
                    <a:p>
                      <a:pPr algn="l">
                        <a:spcAft>
                          <a:spcPts val="600"/>
                        </a:spcAft>
                      </a:pPr>
                      <a:r>
                        <a:rPr lang="en-US" sz="1500" b="1" spc="-16">
                          <a:solidFill>
                            <a:srgbClr val="000000"/>
                          </a:solidFill>
                          <a:latin typeface="Calibri"/>
                          <a:ea typeface="Calibri"/>
                          <a:cs typeface="Calibri"/>
                          <a:sym typeface="Calibri"/>
                        </a:rPr>
                        <a:t>Forensic Science International 2014</a:t>
                      </a:r>
                    </a:p>
                    <a:p>
                      <a:pPr algn="l">
                        <a:lnSpc>
                          <a:spcPts val="1679"/>
                        </a:lnSpc>
                        <a:defRPr/>
                      </a:pPr>
                      <a:r>
                        <a:rPr lang="en-US" sz="1400">
                          <a:solidFill>
                            <a:srgbClr val="000000"/>
                          </a:solidFill>
                          <a:latin typeface="Calibri"/>
                          <a:ea typeface="Calibri"/>
                          <a:cs typeface="Calibri"/>
                          <a:sym typeface="Calibri"/>
                        </a:rPr>
                        <a:t>A mobile phone camera can measure drug-test colours using RGB values.</a:t>
                      </a:r>
                      <a:endParaRPr lang="en-US" sz="1100"/>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tc>
                  <a:txBody>
                    <a:bodyPr/>
                    <a:lstStyle/>
                    <a:p>
                      <a:pPr algn="l">
                        <a:lnSpc>
                          <a:spcPts val="1679"/>
                        </a:lnSpc>
                        <a:defRPr/>
                      </a:pPr>
                      <a:r>
                        <a:rPr lang="en-US" sz="1400">
                          <a:solidFill>
                            <a:srgbClr val="000000"/>
                          </a:solidFill>
                          <a:latin typeface="Calibri"/>
                          <a:ea typeface="Calibri"/>
                          <a:cs typeface="Calibri"/>
                          <a:sym typeface="Calibri"/>
                        </a:rPr>
                        <a:t>Our app reads the test colour as a number</a:t>
                      </a:r>
                      <a:endParaRPr lang="en-US" sz="1100"/>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tc>
                  <a:txBody>
                    <a:bodyPr/>
                    <a:lstStyle/>
                    <a:p>
                      <a:pPr algn="l">
                        <a:lnSpc>
                          <a:spcPct val="105000"/>
                        </a:lnSpc>
                      </a:pPr>
                      <a:r>
                        <a:rPr lang="en-US" sz="1200" u="sng">
                          <a:solidFill>
                            <a:srgbClr val="1F477B"/>
                          </a:solidFill>
                          <a:latin typeface="Calibri"/>
                          <a:ea typeface="Arimo"/>
                          <a:cs typeface="Arimo"/>
                          <a:sym typeface="Arimo"/>
                          <a:hlinkClick r:id="rId5"/>
                        </a:rPr>
                        <a:t>[3] A. Choodum, K. Parabun, N. Klawach, N. Nic Daeid, P. Kanatharana, and W. Wongniramaikul, "Real time quantitative colourimetric test for methamphetamine detection using digital and mobile phone technology," Forensic Sci. Int., vol. 235, pp. 8-13, Feb. 2014, doi: 10.1016/j.forsciint.2013.11.018.</a:t>
                      </a:r>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extLst>
                  <a:ext uri="{0D108BD9-81ED-4DB2-BD59-A6C34878D82A}">
                    <a16:rowId xmlns:a16="http://schemas.microsoft.com/office/drawing/2014/main" val="10003"/>
                  </a:ext>
                </a:extLst>
              </a:tr>
              <a:tr h="1143000">
                <a:tc>
                  <a:txBody>
                    <a:bodyPr/>
                    <a:lstStyle/>
                    <a:p>
                      <a:pPr algn="l">
                        <a:spcAft>
                          <a:spcPts val="600"/>
                        </a:spcAft>
                      </a:pPr>
                      <a:r>
                        <a:rPr lang="en-US" sz="1500" b="1" spc="-16">
                          <a:solidFill>
                            <a:srgbClr val="000000"/>
                          </a:solidFill>
                          <a:latin typeface="Calibri"/>
                          <a:ea typeface="Calibri"/>
                          <a:cs typeface="Calibri"/>
                          <a:sym typeface="Calibri"/>
                        </a:rPr>
                        <a:t>Analytical Chemistry 2016</a:t>
                      </a:r>
                    </a:p>
                    <a:p>
                      <a:pPr algn="l">
                        <a:lnSpc>
                          <a:spcPts val="1679"/>
                        </a:lnSpc>
                        <a:defRPr/>
                      </a:pPr>
                      <a:r>
                        <a:rPr lang="en-US" sz="1400">
                          <a:solidFill>
                            <a:srgbClr val="000000"/>
                          </a:solidFill>
                          <a:latin typeface="Calibri"/>
                          <a:ea typeface="Calibri"/>
                          <a:cs typeface="Calibri"/>
                          <a:sym typeface="Calibri"/>
                        </a:rPr>
                        <a:t>Reading the colour by eye is subjective, and phone image analysis can give an objective reading.</a:t>
                      </a:r>
                      <a:endParaRPr lang="en-US" sz="1100"/>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tc>
                  <a:txBody>
                    <a:bodyPr/>
                    <a:lstStyle/>
                    <a:p>
                      <a:pPr algn="l">
                        <a:lnSpc>
                          <a:spcPts val="1679"/>
                        </a:lnSpc>
                        <a:defRPr/>
                      </a:pPr>
                      <a:r>
                        <a:rPr lang="en-US" sz="1400">
                          <a:solidFill>
                            <a:srgbClr val="000000"/>
                          </a:solidFill>
                          <a:latin typeface="Calibri"/>
                          <a:ea typeface="Arimo"/>
                          <a:cs typeface="Arimo"/>
                          <a:sym typeface="Arimo"/>
                        </a:rPr>
                        <a:t>App gives POSITIVE / NEGATIVE / NOT SURE</a:t>
                      </a:r>
                      <a:endParaRPr lang="en-US" sz="1100"/>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tc>
                  <a:txBody>
                    <a:bodyPr/>
                    <a:lstStyle/>
                    <a:p>
                      <a:pPr algn="l">
                        <a:lnSpc>
                          <a:spcPct val="105000"/>
                        </a:lnSpc>
                      </a:pPr>
                      <a:r>
                        <a:rPr lang="en-US" sz="1200" u="sng">
                          <a:solidFill>
                            <a:srgbClr val="1F477B"/>
                          </a:solidFill>
                          <a:latin typeface="Calibri"/>
                          <a:ea typeface="Arimo"/>
                          <a:cs typeface="Arimo"/>
                          <a:sym typeface="Arimo"/>
                          <a:hlinkClick r:id="rId6"/>
                        </a:rPr>
                        <a:t>[4] S. T. Krauss et al., "Objective method for presumptive field-testing of illicit drug possession using centrifugal microdevices and smartphone analysis," Anal. Chem., vol. 88, no. 17, pp. 8689-8697, Sep. 2016, doi: 10.1021/acs.analchem.6b01982.</a:t>
                      </a:r>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extLst>
                  <a:ext uri="{0D108BD9-81ED-4DB2-BD59-A6C34878D82A}">
                    <a16:rowId xmlns:a16="http://schemas.microsoft.com/office/drawing/2014/main" val="10004"/>
                  </a:ext>
                </a:extLst>
              </a:tr>
              <a:tr h="1143000">
                <a:tc>
                  <a:txBody>
                    <a:bodyPr/>
                    <a:lstStyle/>
                    <a:p>
                      <a:pPr algn="l">
                        <a:spcAft>
                          <a:spcPts val="600"/>
                        </a:spcAft>
                      </a:pPr>
                      <a:r>
                        <a:rPr lang="en-US" sz="1500" b="1" spc="-16">
                          <a:solidFill>
                            <a:srgbClr val="000000"/>
                          </a:solidFill>
                          <a:latin typeface="Calibri"/>
                          <a:ea typeface="Calibri"/>
                          <a:cs typeface="Calibri"/>
                          <a:sym typeface="Calibri"/>
                        </a:rPr>
                        <a:t>Digital Discovery 2023</a:t>
                      </a:r>
                    </a:p>
                    <a:p>
                      <a:pPr algn="l">
                        <a:lnSpc>
                          <a:spcPts val="1679"/>
                        </a:lnSpc>
                        <a:defRPr/>
                      </a:pPr>
                      <a:r>
                        <a:rPr lang="en-US" sz="1400">
                          <a:solidFill>
                            <a:srgbClr val="000000"/>
                          </a:solidFill>
                          <a:latin typeface="Calibri"/>
                          <a:ea typeface="Calibri"/>
                          <a:cs typeface="Calibri"/>
                          <a:sym typeface="Calibri"/>
                        </a:rPr>
                        <a:t>Computer vision can quantify and compare colour changes that may look similar by eye.</a:t>
                      </a:r>
                      <a:endParaRPr lang="en-US" sz="1100"/>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tc>
                  <a:txBody>
                    <a:bodyPr/>
                    <a:lstStyle/>
                    <a:p>
                      <a:pPr algn="l">
                        <a:lnSpc>
                          <a:spcPts val="1679"/>
                        </a:lnSpc>
                        <a:defRPr/>
                      </a:pPr>
                      <a:r>
                        <a:rPr lang="en-US" sz="1400">
                          <a:solidFill>
                            <a:srgbClr val="000000"/>
                          </a:solidFill>
                          <a:latin typeface="Calibri"/>
                          <a:ea typeface="Calibri"/>
                          <a:cs typeface="Calibri"/>
                          <a:sym typeface="Calibri"/>
                        </a:rPr>
                        <a:t>App shows photo colour next to kit colours</a:t>
                      </a:r>
                      <a:endParaRPr lang="en-US" sz="1100"/>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tc>
                  <a:txBody>
                    <a:bodyPr/>
                    <a:lstStyle/>
                    <a:p>
                      <a:pPr algn="l">
                        <a:lnSpc>
                          <a:spcPct val="105000"/>
                        </a:lnSpc>
                      </a:pPr>
                      <a:r>
                        <a:rPr lang="en-US" sz="1200" u="sng">
                          <a:solidFill>
                            <a:srgbClr val="1F477B"/>
                          </a:solidFill>
                          <a:latin typeface="Calibri"/>
                          <a:ea typeface="Arimo"/>
                          <a:cs typeface="Arimo"/>
                          <a:sym typeface="Arimo"/>
                          <a:hlinkClick r:id="rId7"/>
                        </a:rPr>
                        <a:t>[5] N. Bugeja et al., "Teaching old presumptive tests new digital tricks with computer vision for forensic applications," Digital Discovery, vol. 2, no. 4, pp. 1143-1151, 2023, doi: 10.1039/D3DD00066D.</a:t>
                      </a:r>
                    </a:p>
                  </a:txBody>
                  <a:tcPr marL="190500" marR="190500" marT="45720" marB="45720" anchor="ctr">
                    <a:lnL w="19050" cap="flat" cmpd="sng" algn="ctr">
                      <a:solidFill>
                        <a:srgbClr val="7A2F00"/>
                      </a:solidFill>
                      <a:prstDash val="solid"/>
                      <a:round/>
                      <a:headEnd type="none" w="med" len="med"/>
                      <a:tailEnd type="none" w="med" len="med"/>
                    </a:lnL>
                    <a:lnR w="19050" cap="flat" cmpd="sng" algn="ctr">
                      <a:solidFill>
                        <a:srgbClr val="7A2F00"/>
                      </a:solidFill>
                      <a:prstDash val="solid"/>
                      <a:round/>
                      <a:headEnd type="none" w="med" len="med"/>
                      <a:tailEnd type="none" w="med" len="med"/>
                    </a:lnR>
                    <a:lnT w="19050" cap="flat" cmpd="sng" algn="ctr">
                      <a:solidFill>
                        <a:srgbClr val="7A2F00"/>
                      </a:solidFill>
                      <a:prstDash val="solid"/>
                      <a:round/>
                      <a:headEnd type="none" w="med" len="med"/>
                      <a:tailEnd type="none" w="med" len="med"/>
                    </a:lnT>
                    <a:lnB w="19050" cap="flat" cmpd="sng" algn="ctr">
                      <a:solidFill>
                        <a:srgbClr val="7A2F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5" name="TextBox 15" descr="$PPTXTitle"/>
          <p:cNvSpPr txBox="1"/>
          <p:nvPr/>
        </p:nvSpPr>
        <p:spPr>
          <a:xfrm>
            <a:off x="3660096" y="346300"/>
            <a:ext cx="10421112" cy="876938"/>
          </a:xfrm>
          <a:prstGeom prst="rect">
            <a:avLst/>
          </a:prstGeom>
        </p:spPr>
        <p:txBody>
          <a:bodyPr lIns="0" tIns="0" rIns="0" bIns="0" rtlCol="0" anchor="t">
            <a:spAutoFit/>
          </a:bodyPr>
          <a:lstStyle/>
          <a:p>
            <a:pPr algn="l">
              <a:lnSpc>
                <a:spcPts val="6480"/>
              </a:lnSpc>
            </a:pPr>
            <a:r>
              <a:rPr lang="en-US" sz="5400" b="1">
                <a:solidFill>
                  <a:srgbClr val="7A2F00"/>
                </a:solidFill>
                <a:latin typeface="Times New Roman Bold"/>
                <a:ea typeface="Times New Roman Bold"/>
                <a:cs typeface="Times New Roman Bold"/>
                <a:sym typeface="Times New Roman Bold"/>
              </a:rPr>
              <a:t>RESEARCH AND REFERENCES</a:t>
            </a:r>
          </a:p>
        </p:txBody>
      </p:sp>
      <p:sp>
        <p:nvSpPr>
          <p:cNvPr id="16" name="TextBox 16"/>
          <p:cNvSpPr txBox="1"/>
          <p:nvPr/>
        </p:nvSpPr>
        <p:spPr>
          <a:xfrm>
            <a:off x="17063656" y="9649673"/>
            <a:ext cx="104775" cy="288608"/>
          </a:xfrm>
          <a:prstGeom prst="rect">
            <a:avLst/>
          </a:prstGeom>
        </p:spPr>
        <p:txBody>
          <a:bodyPr lIns="0" tIns="0" rIns="0" bIns="0" rtlCol="0" anchor="t">
            <a:spAutoFit/>
          </a:bodyPr>
          <a:lstStyle/>
          <a:p>
            <a:pPr algn="l">
              <a:lnSpc>
                <a:spcPts val="2137"/>
              </a:lnSpc>
            </a:pPr>
            <a:r>
              <a:rPr lang="en-US" sz="1800" b="1" spc="-75">
                <a:solidFill>
                  <a:srgbClr val="FFFFFF"/>
                </a:solidFill>
                <a:latin typeface="Times New Roman Bold"/>
                <a:ea typeface="Times New Roman Bold"/>
                <a:cs typeface="Times New Roman Bold"/>
                <a:sym typeface="Times New Roman Bold"/>
              </a:rPr>
              <a:t>6</a:t>
            </a:r>
          </a:p>
        </p:txBody>
      </p:sp>
      <p:sp>
        <p:nvSpPr>
          <p:cNvPr id="17" name="TextBox 17" descr="$PPTXTitle"/>
          <p:cNvSpPr txBox="1"/>
          <p:nvPr/>
        </p:nvSpPr>
        <p:spPr>
          <a:xfrm>
            <a:off x="1074372" y="677913"/>
            <a:ext cx="1461403" cy="466725"/>
          </a:xfrm>
          <a:prstGeom prst="rect">
            <a:avLst/>
          </a:prstGeom>
        </p:spPr>
        <p:txBody>
          <a:bodyPr lIns="0" tIns="0" rIns="0" bIns="0" rtlCol="0" anchor="t">
            <a:spAutoFit/>
          </a:bodyPr>
          <a:lstStyle/>
          <a:p>
            <a:pPr algn="l">
              <a:lnSpc>
                <a:spcPts val="3240"/>
              </a:lnSpc>
            </a:pPr>
            <a:r>
              <a:rPr lang="en-US" sz="2700" b="1" spc="-29">
                <a:solidFill>
                  <a:srgbClr val="7A2F00"/>
                </a:solidFill>
                <a:latin typeface="Calibri"/>
                <a:ea typeface="Calibri"/>
                <a:cs typeface="Calibri"/>
                <a:sym typeface="Calibri"/>
              </a:rPr>
              <a:t>HexTech</a:t>
            </a:r>
          </a:p>
        </p:txBody>
      </p:sp>
      <p:grpSp>
        <p:nvGrpSpPr>
          <p:cNvPr id="24" name="Group 24"/>
          <p:cNvGrpSpPr/>
          <p:nvPr/>
        </p:nvGrpSpPr>
        <p:grpSpPr>
          <a:xfrm>
            <a:off x="14720116" y="33423"/>
            <a:ext cx="3287373" cy="1531268"/>
            <a:chOff x="0" y="0"/>
            <a:chExt cx="4383164" cy="2041690"/>
          </a:xfrm>
        </p:grpSpPr>
        <p:sp>
          <p:nvSpPr>
            <p:cNvPr id="25" name="Freeform 25"/>
            <p:cNvSpPr/>
            <p:nvPr/>
          </p:nvSpPr>
          <p:spPr>
            <a:xfrm>
              <a:off x="0" y="0"/>
              <a:ext cx="4383151" cy="2041652"/>
            </a:xfrm>
            <a:custGeom>
              <a:avLst/>
              <a:gdLst/>
              <a:ahLst/>
              <a:cxnLst/>
              <a:rect l="l" t="t" r="r" b="b"/>
              <a:pathLst>
                <a:path w="4383151" h="2041652">
                  <a:moveTo>
                    <a:pt x="0" y="0"/>
                  </a:moveTo>
                  <a:lnTo>
                    <a:pt x="4383151" y="0"/>
                  </a:lnTo>
                  <a:lnTo>
                    <a:pt x="4383151" y="2041652"/>
                  </a:lnTo>
                  <a:lnTo>
                    <a:pt x="0" y="2041652"/>
                  </a:lnTo>
                  <a:lnTo>
                    <a:pt x="0" y="0"/>
                  </a:lnTo>
                  <a:close/>
                </a:path>
              </a:pathLst>
            </a:custGeom>
            <a:blipFill>
              <a:blip r:embed="rId9"/>
              <a:stretch>
                <a:fillRect t="-106" b="-108"/>
              </a:stretch>
            </a:blipFill>
          </p:spPr>
        </p:sp>
      </p:grpSp>
      <p:sp>
        <p:nvSpPr>
          <p:cNvPr id="26" name="Research link 1">
            <a:hlinkClick r:id="rId10"/>
          </p:cNvPr>
          <p:cNvSpPr/>
          <p:nvPr/>
        </p:nvSpPr>
        <p:spPr>
          <a:xfrm>
            <a:off x="11201400" y="2487168"/>
            <a:ext cx="6400800" cy="114300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search link 2">
            <a:hlinkClick r:id="rId4"/>
          </p:cNvPr>
          <p:cNvSpPr/>
          <p:nvPr/>
        </p:nvSpPr>
        <p:spPr>
          <a:xfrm>
            <a:off x="11201400" y="3630168"/>
            <a:ext cx="6400800" cy="114300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search link 3">
            <a:hlinkClick r:id="rId5"/>
          </p:cNvPr>
          <p:cNvSpPr/>
          <p:nvPr/>
        </p:nvSpPr>
        <p:spPr>
          <a:xfrm>
            <a:off x="11201400" y="4773168"/>
            <a:ext cx="6400800" cy="114300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search link 4">
            <a:hlinkClick r:id="rId6"/>
          </p:cNvPr>
          <p:cNvSpPr/>
          <p:nvPr/>
        </p:nvSpPr>
        <p:spPr>
          <a:xfrm>
            <a:off x="11201400" y="5916168"/>
            <a:ext cx="6400800" cy="114300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search link 5">
            <a:hlinkClick r:id="rId7"/>
          </p:cNvPr>
          <p:cNvSpPr/>
          <p:nvPr/>
        </p:nvSpPr>
        <p:spPr>
          <a:xfrm>
            <a:off x="11201400" y="7059168"/>
            <a:ext cx="6400800" cy="114300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85800" y="8339327"/>
            <a:ext cx="16916400" cy="365760"/>
          </a:xfrm>
          <a:prstGeom prst="rect">
            <a:avLst/>
          </a:prstGeom>
          <a:noFill/>
        </p:spPr>
        <p:txBody>
          <a:bodyPr wrap="square" anchor="t" lIns="27432" rIns="27432" tIns="18288" bIns="18288">
            <a:noAutofit/>
          </a:bodyPr>
          <a:lstStyle/>
          <a:p>
            <a:pPr algn="l">
              <a:spcAft>
                <a:spcPts val="0"/>
              </a:spcAft>
            </a:pPr>
            <a:r>
              <a:rPr sz="1400" b="1" i="0">
                <a:solidFill>
                  <a:srgbClr val="000000"/>
                </a:solidFill>
                <a:latin typeface="Calibri"/>
              </a:rPr>
              <a:t>What we add:</a:t>
            </a:r>
            <a:r>
              <a:rPr sz="1400" b="0" i="0">
                <a:solidFill>
                  <a:srgbClr val="000000"/>
                </a:solidFill>
                <a:latin typeface="Calibri"/>
              </a:rPr>
              <a:t> earlier work shows a phone can read test colours [1][3][4][5]. We add the NOT SURE rule, a signed record anyone can check with a QR, and a BSA section 63 page.</a:t>
            </a:r>
          </a:p>
        </p:txBody>
      </p:sp>
      <p:sp>
        <p:nvSpPr>
          <p:cNvPr id="32" name="TextBox 31"/>
          <p:cNvSpPr txBox="1"/>
          <p:nvPr/>
        </p:nvSpPr>
        <p:spPr>
          <a:xfrm>
            <a:off x="685800" y="8833104"/>
            <a:ext cx="16916400" cy="411480"/>
          </a:xfrm>
          <a:prstGeom prst="rect">
            <a:avLst/>
          </a:prstGeom>
          <a:noFill/>
        </p:spPr>
        <p:txBody>
          <a:bodyPr wrap="square" anchor="t" lIns="27432" rIns="27432" tIns="18288" bIns="18288">
            <a:noAutofit/>
          </a:bodyPr>
          <a:lstStyle/>
          <a:p>
            <a:pPr algn="ctr">
              <a:spcAft>
                <a:spcPts val="0"/>
              </a:spcAft>
            </a:pPr>
            <a:r>
              <a:rPr sz="2000" b="1" i="0">
                <a:solidFill>
                  <a:srgbClr val="7A2F00"/>
                </a:solidFill>
                <a:latin typeface="Calibri"/>
              </a:rPr>
              <a:t>Scan Smart. Verify Clearly. Protect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 name="Group 2"/>
          <p:cNvGrpSpPr/>
          <p:nvPr/>
        </p:nvGrpSpPr>
        <p:grpSpPr>
          <a:xfrm>
            <a:off x="0" y="9564624"/>
            <a:ext cx="18280761" cy="715289"/>
            <a:chOff x="0" y="0"/>
            <a:chExt cx="24374348" cy="953719"/>
          </a:xfrm>
        </p:grpSpPr>
        <p:sp>
          <p:nvSpPr>
            <p:cNvPr id="3" name="Freeform 3"/>
            <p:cNvSpPr/>
            <p:nvPr/>
          </p:nvSpPr>
          <p:spPr>
            <a:xfrm>
              <a:off x="0" y="0"/>
              <a:ext cx="24374348" cy="953770"/>
            </a:xfrm>
            <a:custGeom>
              <a:avLst/>
              <a:gdLst/>
              <a:ahLst/>
              <a:cxnLst/>
              <a:rect l="l" t="t" r="r" b="b"/>
              <a:pathLst>
                <a:path w="24374348" h="953770">
                  <a:moveTo>
                    <a:pt x="0" y="0"/>
                  </a:moveTo>
                  <a:lnTo>
                    <a:pt x="24374348" y="0"/>
                  </a:lnTo>
                  <a:lnTo>
                    <a:pt x="24374348" y="953770"/>
                  </a:lnTo>
                  <a:lnTo>
                    <a:pt x="0" y="953770"/>
                  </a:lnTo>
                  <a:lnTo>
                    <a:pt x="0" y="0"/>
                  </a:lnTo>
                  <a:close/>
                </a:path>
              </a:pathLst>
            </a:custGeom>
            <a:blipFill>
              <a:blip r:embed="rId2"/>
              <a:stretch>
                <a:fillRect t="-914" b="-909"/>
              </a:stretch>
            </a:blipFill>
          </p:spPr>
        </p:sp>
      </p:grpSp>
      <p:grpSp>
        <p:nvGrpSpPr>
          <p:cNvPr id="4" name="Group 4"/>
          <p:cNvGrpSpPr/>
          <p:nvPr/>
        </p:nvGrpSpPr>
        <p:grpSpPr>
          <a:xfrm>
            <a:off x="0" y="9532620"/>
            <a:ext cx="18288000" cy="754380"/>
            <a:chOff x="0" y="0"/>
            <a:chExt cx="24384000" cy="1005840"/>
          </a:xfrm>
        </p:grpSpPr>
        <p:sp>
          <p:nvSpPr>
            <p:cNvPr id="5" name="Freeform 5"/>
            <p:cNvSpPr/>
            <p:nvPr/>
          </p:nvSpPr>
          <p:spPr>
            <a:xfrm>
              <a:off x="0" y="0"/>
              <a:ext cx="24384000" cy="1005840"/>
            </a:xfrm>
            <a:custGeom>
              <a:avLst/>
              <a:gdLst/>
              <a:ahLst/>
              <a:cxnLst/>
              <a:rect l="l" t="t" r="r" b="b"/>
              <a:pathLst>
                <a:path w="24384000" h="1005840">
                  <a:moveTo>
                    <a:pt x="24384000" y="0"/>
                  </a:moveTo>
                  <a:lnTo>
                    <a:pt x="0" y="0"/>
                  </a:lnTo>
                  <a:lnTo>
                    <a:pt x="0" y="1005840"/>
                  </a:lnTo>
                  <a:lnTo>
                    <a:pt x="24384000" y="1005840"/>
                  </a:lnTo>
                  <a:lnTo>
                    <a:pt x="24384000" y="0"/>
                  </a:lnTo>
                  <a:close/>
                </a:path>
              </a:pathLst>
            </a:custGeom>
            <a:solidFill>
              <a:srgbClr val="006EC0"/>
            </a:solidFill>
          </p:spPr>
        </p:sp>
      </p:grpSp>
      <p:sp>
        <p:nvSpPr>
          <p:cNvPr id="6" name="Freeform 6"/>
          <p:cNvSpPr/>
          <p:nvPr/>
        </p:nvSpPr>
        <p:spPr>
          <a:xfrm>
            <a:off x="391335" y="315011"/>
            <a:ext cx="2629852" cy="1249680"/>
          </a:xfrm>
          <a:custGeom>
            <a:avLst/>
            <a:gdLst/>
            <a:ahLst/>
            <a:cxnLst/>
            <a:rect l="l" t="t" r="r" b="b"/>
            <a:pathLst>
              <a:path w="2629852" h="1249680">
                <a:moveTo>
                  <a:pt x="0" y="0"/>
                </a:moveTo>
                <a:lnTo>
                  <a:pt x="2629852" y="0"/>
                </a:lnTo>
                <a:lnTo>
                  <a:pt x="2629852" y="1249680"/>
                </a:lnTo>
                <a:lnTo>
                  <a:pt x="0" y="124968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5" name="TextBox 15" descr="$PPTXTitle"/>
          <p:cNvSpPr txBox="1"/>
          <p:nvPr/>
        </p:nvSpPr>
        <p:spPr>
          <a:xfrm>
            <a:off x="3660096" y="346300"/>
            <a:ext cx="10421112" cy="876938"/>
          </a:xfrm>
          <a:prstGeom prst="rect">
            <a:avLst/>
          </a:prstGeom>
        </p:spPr>
        <p:txBody>
          <a:bodyPr lIns="0" tIns="0" rIns="0" bIns="0" rtlCol="0" anchor="t">
            <a:spAutoFit/>
          </a:bodyPr>
          <a:lstStyle/>
          <a:p>
            <a:pPr algn="l">
              <a:lnSpc>
                <a:spcPts val="6480"/>
              </a:lnSpc>
            </a:pPr>
            <a:r>
              <a:rPr lang="en-US" sz="5400" b="1">
                <a:solidFill>
                  <a:srgbClr val="7A2F00"/>
                </a:solidFill>
                <a:latin typeface="Times New Roman Bold"/>
                <a:ea typeface="Times New Roman Bold"/>
                <a:cs typeface="Times New Roman Bold"/>
                <a:sym typeface="Times New Roman Bold"/>
              </a:rPr>
              <a:t>TEST RESULTS IN DETAIL</a:t>
            </a:r>
          </a:p>
        </p:txBody>
      </p:sp>
      <p:sp>
        <p:nvSpPr>
          <p:cNvPr id="16" name="TextBox 16"/>
          <p:cNvSpPr txBox="1"/>
          <p:nvPr/>
        </p:nvSpPr>
        <p:spPr>
          <a:xfrm>
            <a:off x="17063656" y="9649673"/>
            <a:ext cx="104775" cy="288608"/>
          </a:xfrm>
          <a:prstGeom prst="rect">
            <a:avLst/>
          </a:prstGeom>
        </p:spPr>
        <p:txBody>
          <a:bodyPr lIns="0" tIns="0" rIns="0" bIns="0" rtlCol="0" anchor="t">
            <a:spAutoFit/>
          </a:bodyPr>
          <a:lstStyle/>
          <a:p>
            <a:pPr algn="l">
              <a:lnSpc>
                <a:spcPts val="2137"/>
              </a:lnSpc>
            </a:pPr>
            <a:r>
              <a:rPr lang="en-US" sz="1800" b="1" spc="-75">
                <a:solidFill>
                  <a:srgbClr val="FFFFFF"/>
                </a:solidFill>
                <a:latin typeface="Times New Roman Bold"/>
                <a:ea typeface="Times New Roman Bold"/>
                <a:cs typeface="Times New Roman Bold"/>
                <a:sym typeface="Times New Roman Bold"/>
              </a:rPr>
              <a:t>7</a:t>
            </a:r>
          </a:p>
        </p:txBody>
      </p:sp>
      <p:sp>
        <p:nvSpPr>
          <p:cNvPr id="17" name="TextBox 17" descr="$PPTXTitle"/>
          <p:cNvSpPr txBox="1"/>
          <p:nvPr/>
        </p:nvSpPr>
        <p:spPr>
          <a:xfrm>
            <a:off x="1074372" y="677913"/>
            <a:ext cx="1461403" cy="466725"/>
          </a:xfrm>
          <a:prstGeom prst="rect">
            <a:avLst/>
          </a:prstGeom>
        </p:spPr>
        <p:txBody>
          <a:bodyPr lIns="0" tIns="0" rIns="0" bIns="0" rtlCol="0" anchor="t">
            <a:spAutoFit/>
          </a:bodyPr>
          <a:lstStyle/>
          <a:p>
            <a:pPr algn="l">
              <a:lnSpc>
                <a:spcPts val="3240"/>
              </a:lnSpc>
            </a:pPr>
            <a:r>
              <a:rPr lang="en-US" sz="2700" b="1" spc="-29">
                <a:solidFill>
                  <a:srgbClr val="7A2F00"/>
                </a:solidFill>
                <a:latin typeface="Calibri"/>
                <a:ea typeface="Calibri"/>
                <a:cs typeface="Calibri"/>
                <a:sym typeface="Calibri"/>
              </a:rPr>
              <a:t>HexTech</a:t>
            </a:r>
          </a:p>
        </p:txBody>
      </p:sp>
      <p:grpSp>
        <p:nvGrpSpPr>
          <p:cNvPr id="24" name="Group 24"/>
          <p:cNvGrpSpPr/>
          <p:nvPr/>
        </p:nvGrpSpPr>
        <p:grpSpPr>
          <a:xfrm>
            <a:off x="14720116" y="33423"/>
            <a:ext cx="3287373" cy="1531268"/>
            <a:chOff x="0" y="0"/>
            <a:chExt cx="4383164" cy="2041690"/>
          </a:xfrm>
        </p:grpSpPr>
        <p:sp>
          <p:nvSpPr>
            <p:cNvPr id="25" name="Freeform 25"/>
            <p:cNvSpPr/>
            <p:nvPr/>
          </p:nvSpPr>
          <p:spPr>
            <a:xfrm>
              <a:off x="0" y="0"/>
              <a:ext cx="4383151" cy="2041652"/>
            </a:xfrm>
            <a:custGeom>
              <a:avLst/>
              <a:gdLst/>
              <a:ahLst/>
              <a:cxnLst/>
              <a:rect l="l" t="t" r="r" b="b"/>
              <a:pathLst>
                <a:path w="4383151" h="2041652">
                  <a:moveTo>
                    <a:pt x="0" y="0"/>
                  </a:moveTo>
                  <a:lnTo>
                    <a:pt x="4383151" y="0"/>
                  </a:lnTo>
                  <a:lnTo>
                    <a:pt x="4383151" y="2041652"/>
                  </a:lnTo>
                  <a:lnTo>
                    <a:pt x="0" y="2041652"/>
                  </a:lnTo>
                  <a:lnTo>
                    <a:pt x="0" y="0"/>
                  </a:lnTo>
                  <a:close/>
                </a:path>
              </a:pathLst>
            </a:custGeom>
            <a:blipFill>
              <a:blip r:embed="rId8"/>
              <a:stretch>
                <a:fillRect t="-106" b="-108"/>
              </a:stretch>
            </a:blipFill>
          </p:spPr>
        </p:sp>
      </p:grpSp>
      <p:sp>
        <p:nvSpPr>
          <p:cNvPr id="26" name="TextBox 25"/>
          <p:cNvSpPr txBox="1"/>
          <p:nvPr/>
        </p:nvSpPr>
        <p:spPr>
          <a:xfrm>
            <a:off x="3657600" y="1261872"/>
            <a:ext cx="10424160" cy="329184"/>
          </a:xfrm>
          <a:prstGeom prst="rect">
            <a:avLst/>
          </a:prstGeom>
          <a:noFill/>
        </p:spPr>
        <p:txBody>
          <a:bodyPr wrap="square" anchor="t" lIns="27432" rIns="27432" tIns="18288" bIns="18288">
            <a:noAutofit/>
          </a:bodyPr>
          <a:lstStyle/>
          <a:p>
            <a:pPr algn="ctr">
              <a:spcAft>
                <a:spcPts val="0"/>
              </a:spcAft>
            </a:pPr>
            <a:r>
              <a:rPr sz="1400" b="0" i="1">
                <a:solidFill>
                  <a:srgbClr val="555555"/>
                </a:solidFill>
                <a:latin typeface="Calibri"/>
              </a:rPr>
              <a:t>Backup slide for judges’ questions</a:t>
            </a:r>
          </a:p>
        </p:txBody>
      </p:sp>
      <p:sp>
        <p:nvSpPr>
          <p:cNvPr id="27" name="TextBox 26"/>
          <p:cNvSpPr txBox="1"/>
          <p:nvPr/>
        </p:nvSpPr>
        <p:spPr>
          <a:xfrm>
            <a:off x="640080" y="1783080"/>
            <a:ext cx="8778240" cy="457200"/>
          </a:xfrm>
          <a:prstGeom prst="rect">
            <a:avLst/>
          </a:prstGeom>
          <a:noFill/>
        </p:spPr>
        <p:txBody>
          <a:bodyPr wrap="square" anchor="t" lIns="27432" rIns="27432" tIns="18288" bIns="18288">
            <a:noAutofit/>
          </a:bodyPr>
          <a:lstStyle/>
          <a:p>
            <a:pPr algn="l">
              <a:spcAft>
                <a:spcPts val="0"/>
              </a:spcAft>
            </a:pPr>
            <a:r>
              <a:rPr sz="2300" b="1" i="0">
                <a:solidFill>
                  <a:srgbClr val="974826"/>
                </a:solidFill>
                <a:latin typeface="Calibri"/>
              </a:rPr>
              <a:t>All Tests in One Table</a:t>
            </a:r>
          </a:p>
        </p:txBody>
      </p:sp>
      <p:graphicFrame>
        <p:nvGraphicFramePr>
          <p:cNvPr id="28" name="Table 27"/>
          <p:cNvGraphicFramePr>
            <a:graphicFrameLocks noGrp="1"/>
          </p:cNvGraphicFramePr>
          <p:nvPr/>
        </p:nvGraphicFramePr>
        <p:xfrm>
          <a:off x="640080" y="2240280"/>
          <a:ext cx="8823960" cy="3730752"/>
        </p:xfrm>
        <a:graphic>
          <a:graphicData uri="http://schemas.openxmlformats.org/drawingml/2006/table">
            <a:tbl>
              <a:tblPr firstRow="1" bandRow="0">
                <a:tableStyleId>{5C22544A-7EE6-4342-B048-85BDC9FD1C3A}</a:tableStyleId>
              </a:tblPr>
              <a:tblGrid>
                <a:gridCol w="2011680"/>
                <a:gridCol w="548640"/>
                <a:gridCol w="3429000"/>
                <a:gridCol w="2834640"/>
              </a:tblGrid>
              <a:tr h="384048">
                <a:tc>
                  <a:txBody>
                    <a:bodyPr wrap="square"/>
                    <a:lstStyle/>
                    <a:p>
                      <a:pPr algn="l">
                        <a:spcAft>
                          <a:spcPts val="0"/>
                        </a:spcAft>
                      </a:pPr>
                      <a:r>
                        <a:rPr sz="1350" b="1" i="0">
                          <a:solidFill>
                            <a:srgbClr val="000000"/>
                          </a:solidFill>
                          <a:latin typeface="Calibri"/>
                        </a:rPr>
                        <a:t>Test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c>
                  <a:txBody>
                    <a:bodyPr wrap="square"/>
                    <a:lstStyle/>
                    <a:p>
                      <a:pPr algn="l">
                        <a:spcAft>
                          <a:spcPts val="0"/>
                        </a:spcAft>
                      </a:pPr>
                      <a:r>
                        <a:rPr sz="1350" b="1" i="0">
                          <a:solidFill>
                            <a:srgbClr val="000000"/>
                          </a:solidFill>
                          <a:latin typeface="Calibri"/>
                        </a:rPr>
                        <a:t>n</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c>
                  <a:txBody>
                    <a:bodyPr wrap="square"/>
                    <a:lstStyle/>
                    <a:p>
                      <a:pPr algn="l">
                        <a:spcAft>
                          <a:spcPts val="0"/>
                        </a:spcAft>
                      </a:pPr>
                      <a:r>
                        <a:rPr sz="1350" b="1" i="0">
                          <a:solidFill>
                            <a:srgbClr val="000000"/>
                          </a:solidFill>
                          <a:latin typeface="Calibri"/>
                        </a:rPr>
                        <a:t>Setup</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c>
                  <a:txBody>
                    <a:bodyPr wrap="square"/>
                    <a:lstStyle/>
                    <a:p>
                      <a:pPr algn="l">
                        <a:spcAft>
                          <a:spcPts val="0"/>
                        </a:spcAft>
                      </a:pPr>
                      <a:r>
                        <a:rPr sz="1350" b="1" i="0">
                          <a:solidFill>
                            <a:srgbClr val="000000"/>
                          </a:solidFill>
                          <a:latin typeface="Calibri"/>
                        </a:rPr>
                        <a:t>Result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r>
              <a:tr h="603504">
                <a:tc>
                  <a:txBody>
                    <a:bodyPr wrap="square"/>
                    <a:lstStyle/>
                    <a:p>
                      <a:pPr algn="l">
                        <a:spcAft>
                          <a:spcPts val="0"/>
                        </a:spcAft>
                      </a:pPr>
                      <a:r>
                        <a:rPr sz="1350" b="0" i="0">
                          <a:solidFill>
                            <a:srgbClr val="000000"/>
                          </a:solidFill>
                          <a:latin typeface="Calibri"/>
                        </a:rPr>
                        <a:t>Computer-made photos</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37</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5 lights: day, bulb, tube light, dim, street lamp. Rules were tuned on these</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25/25 good right, 12/12 bad NOT SURE</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384048">
                <a:tc>
                  <a:txBody>
                    <a:bodyPr wrap="square"/>
                    <a:lstStyle/>
                    <a:p>
                      <a:pPr algn="l">
                        <a:spcAft>
                          <a:spcPts val="0"/>
                        </a:spcAft>
                      </a:pPr>
                      <a:r>
                        <a:rPr sz="1350" b="0" i="0">
                          <a:solidFill>
                            <a:srgbClr val="000000"/>
                          </a:solidFill>
                          <a:latin typeface="Calibri"/>
                        </a:rPr>
                        <a:t>Real scans, 28 Sep</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6</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Card shown on a phone or laptop screen</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5 right, 1 NOT SURE, 0 wrong</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603504">
                <a:tc>
                  <a:txBody>
                    <a:bodyPr wrap="square"/>
                    <a:lstStyle/>
                    <a:p>
                      <a:pPr algn="l">
                        <a:spcAft>
                          <a:spcPts val="0"/>
                        </a:spcAft>
                      </a:pPr>
                      <a:r>
                        <a:rPr sz="1350" b="0" i="0">
                          <a:solidFill>
                            <a:srgbClr val="000000"/>
                          </a:solidFill>
                          <a:latin typeface="Calibri"/>
                        </a:rPr>
                        <a:t>Real scans, 29 Sep</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19</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8 positive, 4 plain, 7 trick cards. 1 room, window light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9 right, 10 NOT SURE, 0 wrong</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384048">
                <a:tc>
                  <a:txBody>
                    <a:bodyPr wrap="square"/>
                    <a:lstStyle/>
                    <a:p>
                      <a:pPr algn="l">
                        <a:spcAft>
                          <a:spcPts val="0"/>
                        </a:spcAft>
                      </a:pPr>
                      <a:r>
                        <a:rPr sz="1350" b="1" i="0">
                          <a:solidFill>
                            <a:srgbClr val="000000"/>
                          </a:solidFill>
                          <a:latin typeface="Calibri"/>
                        </a:rPr>
                        <a:t>All real scans</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000000"/>
                          </a:solidFill>
                          <a:latin typeface="Calibri"/>
                        </a:rPr>
                        <a:t>25</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1 phone (Nothing A015), our team only</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000000"/>
                          </a:solidFill>
                          <a:latin typeface="Calibri"/>
                        </a:rPr>
                        <a:t>14 right, 11 NOT SURE, 0 wrong</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603504">
                <a:tc>
                  <a:txBody>
                    <a:bodyPr wrap="square"/>
                    <a:lstStyle/>
                    <a:p>
                      <a:pPr algn="l">
                        <a:spcAft>
                          <a:spcPts val="0"/>
                        </a:spcAft>
                      </a:pPr>
                      <a:r>
                        <a:rPr sz="1350" b="0" i="0">
                          <a:solidFill>
                            <a:srgbClr val="000000"/>
                          </a:solidFill>
                          <a:latin typeface="Calibri"/>
                        </a:rPr>
                        <a:t>Stress test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171</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19 real photos x 9 computer-made changes (dark, yellow bulb, tilt, shake, grain)</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70 right, 101 NOT SURE, 0 wrong. Sharp photos 69/72 right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384048">
                <a:tc>
                  <a:txBody>
                    <a:bodyPr wrap="square"/>
                    <a:lstStyle/>
                    <a:p>
                      <a:pPr algn="l">
                        <a:spcAft>
                          <a:spcPts val="0"/>
                        </a:spcAft>
                      </a:pPr>
                      <a:r>
                        <a:rPr sz="1350" b="0" i="0">
                          <a:solidFill>
                            <a:srgbClr val="000000"/>
                          </a:solidFill>
                          <a:latin typeface="Calibri"/>
                        </a:rPr>
                        <a:t>Tamper test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5</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Copies of saved records, 4 changes and 1 untouched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4/4 changes caught, original passed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384048">
                <a:tc>
                  <a:txBody>
                    <a:bodyPr wrap="square"/>
                    <a:lstStyle/>
                    <a:p>
                      <a:pPr algn="l">
                        <a:spcAft>
                          <a:spcPts val="0"/>
                        </a:spcAft>
                      </a:pPr>
                      <a:r>
                        <a:rPr sz="1350" b="0" i="0">
                          <a:solidFill>
                            <a:srgbClr val="000000"/>
                          </a:solidFill>
                          <a:latin typeface="Calibri"/>
                        </a:rPr>
                        <a:t>Speed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18</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Server, 6 real photos x 3 runs</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2.5 s typical, 5 s max</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bl>
          </a:graphicData>
        </a:graphic>
      </p:graphicFrame>
      <p:sp>
        <p:nvSpPr>
          <p:cNvPr id="29" name="Rounded Rectangle 28"/>
          <p:cNvSpPr/>
          <p:nvPr/>
        </p:nvSpPr>
        <p:spPr>
          <a:xfrm>
            <a:off x="640080" y="6537960"/>
            <a:ext cx="4251960" cy="2834640"/>
          </a:xfrm>
          <a:prstGeom prst="roundRect">
            <a:avLst>
              <a:gd name="adj" fmla="val 6000"/>
            </a:avLst>
          </a:prstGeom>
          <a:solidFill>
            <a:srgbClr val="FBF6EE"/>
          </a:solidFill>
          <a:ln w="12700">
            <a:solidFill>
              <a:srgbClr val="D9C4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6629400"/>
            <a:ext cx="4023360" cy="2697480"/>
          </a:xfrm>
          <a:prstGeom prst="rect">
            <a:avLst/>
          </a:prstGeom>
          <a:noFill/>
        </p:spPr>
        <p:txBody>
          <a:bodyPr wrap="square" anchor="t" lIns="27432" rIns="27432" tIns="18288" bIns="18288">
            <a:noAutofit/>
          </a:bodyPr>
          <a:lstStyle/>
          <a:p>
            <a:pPr algn="l">
              <a:spcAft>
                <a:spcPts val="400"/>
              </a:spcAft>
            </a:pPr>
            <a:r>
              <a:rPr sz="1500" b="1" i="0">
                <a:solidFill>
                  <a:srgbClr val="7A2F00"/>
                </a:solidFill>
                <a:latin typeface="Calibri"/>
              </a:rPr>
              <a:t>What 0 wrong means</a:t>
            </a:r>
          </a:p>
          <a:p>
            <a:pPr algn="l">
              <a:spcAft>
                <a:spcPts val="400"/>
              </a:spcAft>
            </a:pPr>
            <a:r>
              <a:rPr sz="1450" b="0" i="0">
                <a:solidFill>
                  <a:srgbClr val="000000"/>
                </a:solidFill>
                <a:latin typeface="Calibri"/>
              </a:rPr>
              <a:t>0 wrong in 14 real answers is a small test. By the rule of three the true error rate could still be up to about 21%.</a:t>
            </a:r>
          </a:p>
          <a:p>
            <a:pPr algn="l">
              <a:spcAft>
                <a:spcPts val="400"/>
              </a:spcAft>
            </a:pPr>
            <a:r>
              <a:rPr sz="1450" b="0" i="0">
                <a:solidFill>
                  <a:srgbClr val="000000"/>
                </a:solidFill>
                <a:latin typeface="Calibri"/>
              </a:rPr>
              <a:t>To show under 5% we need 60+ tests with 0 wrong, so the pilot asks for 60+ tests per kit.</a:t>
            </a:r>
          </a:p>
          <a:p>
            <a:pPr algn="l">
              <a:spcAft>
                <a:spcPts val="400"/>
              </a:spcAft>
            </a:pPr>
            <a:r>
              <a:rPr sz="1450" b="0" i="0">
                <a:solidFill>
                  <a:srgbClr val="000000"/>
                </a:solidFill>
                <a:latin typeface="Calibri"/>
              </a:rPr>
              <a:t>Photo 7 on 28 Sep was rejected when the card fit limit was lower. We quote that live result, not a re-run.</a:t>
            </a:r>
          </a:p>
        </p:txBody>
      </p:sp>
      <p:sp>
        <p:nvSpPr>
          <p:cNvPr id="31" name="Rounded Rectangle 30"/>
          <p:cNvSpPr/>
          <p:nvPr/>
        </p:nvSpPr>
        <p:spPr>
          <a:xfrm>
            <a:off x="5120640" y="6537960"/>
            <a:ext cx="4297680" cy="2834640"/>
          </a:xfrm>
          <a:prstGeom prst="roundRect">
            <a:avLst>
              <a:gd name="adj" fmla="val 6000"/>
            </a:avLst>
          </a:prstGeom>
          <a:solidFill>
            <a:srgbClr val="FBF6EE"/>
          </a:solidFill>
          <a:ln w="12700">
            <a:solidFill>
              <a:srgbClr val="D9C4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57800" y="6629400"/>
            <a:ext cx="4069080" cy="2697480"/>
          </a:xfrm>
          <a:prstGeom prst="rect">
            <a:avLst/>
          </a:prstGeom>
          <a:noFill/>
        </p:spPr>
        <p:txBody>
          <a:bodyPr wrap="square" anchor="t" lIns="27432" rIns="27432" tIns="18288" bIns="18288">
            <a:noAutofit/>
          </a:bodyPr>
          <a:lstStyle/>
          <a:p>
            <a:pPr algn="l">
              <a:spcAft>
                <a:spcPts val="300"/>
              </a:spcAft>
            </a:pPr>
            <a:r>
              <a:rPr sz="1500" b="1" i="0">
                <a:solidFill>
                  <a:srgbClr val="7A2F00"/>
                </a:solidFill>
                <a:latin typeface="Calibri"/>
              </a:rPr>
              <a:t>What we do not claim</a:t>
            </a:r>
          </a:p>
          <a:p>
            <a:pPr algn="l" marL="201168" indent="-201168">
              <a:spcAft>
                <a:spcPts val="300"/>
              </a:spcAft>
              <a:buFont typeface="Arial"/>
              <a:buChar char="•"/>
            </a:pPr>
            <a:r>
              <a:rPr sz="1500" b="0" i="0">
                <a:solidFill>
                  <a:srgbClr val="000000"/>
                </a:solidFill>
                <a:latin typeface="Calibri"/>
              </a:rPr>
              <a:t>Accuracy on real reagents (not tested yet)</a:t>
            </a:r>
          </a:p>
          <a:p>
            <a:pPr algn="l" marL="201168" indent="-201168">
              <a:spcAft>
                <a:spcPts val="300"/>
              </a:spcAft>
              <a:buFont typeface="Arial"/>
              <a:buChar char="•"/>
            </a:pPr>
            <a:r>
              <a:rPr sz="1500" b="0" i="0">
                <a:solidFill>
                  <a:srgbClr val="000000"/>
                </a:solidFill>
                <a:latin typeface="Calibri"/>
              </a:rPr>
              <a:t>Which drug it is (the FSL lab confirms)</a:t>
            </a:r>
          </a:p>
          <a:p>
            <a:pPr algn="l" marL="201168" indent="-201168">
              <a:spcAft>
                <a:spcPts val="300"/>
              </a:spcAft>
              <a:buFont typeface="Arial"/>
              <a:buChar char="•"/>
            </a:pPr>
            <a:r>
              <a:rPr sz="1500" b="0" i="0">
                <a:solidFill>
                  <a:srgbClr val="000000"/>
                </a:solidFill>
                <a:latin typeface="Calibri"/>
              </a:rPr>
              <a:t>Court approval. It supports the BSA s.63 certificate, the officer and expert still sign</a:t>
            </a:r>
          </a:p>
          <a:p>
            <a:pPr algn="l" marL="201168" indent="-201168">
              <a:spcAft>
                <a:spcPts val="300"/>
              </a:spcAft>
              <a:buFont typeface="Arial"/>
              <a:buChar char="•"/>
            </a:pPr>
            <a:r>
              <a:rPr sz="1500" b="0" i="0">
                <a:solidFill>
                  <a:srgbClr val="000000"/>
                </a:solidFill>
                <a:latin typeface="Calibri"/>
              </a:rPr>
              <a:t>Results on other phones or with officers (next step)</a:t>
            </a:r>
          </a:p>
        </p:txBody>
      </p:sp>
      <p:sp>
        <p:nvSpPr>
          <p:cNvPr id="33" name="TextBox 32"/>
          <p:cNvSpPr txBox="1"/>
          <p:nvPr/>
        </p:nvSpPr>
        <p:spPr>
          <a:xfrm>
            <a:off x="9966960" y="1783080"/>
            <a:ext cx="7680960" cy="457200"/>
          </a:xfrm>
          <a:prstGeom prst="rect">
            <a:avLst/>
          </a:prstGeom>
          <a:noFill/>
        </p:spPr>
        <p:txBody>
          <a:bodyPr wrap="square" anchor="t" lIns="27432" rIns="27432" tIns="18288" bIns="18288">
            <a:noAutofit/>
          </a:bodyPr>
          <a:lstStyle/>
          <a:p>
            <a:pPr algn="l">
              <a:spcAft>
                <a:spcPts val="0"/>
              </a:spcAft>
            </a:pPr>
            <a:r>
              <a:rPr sz="2300" b="1" i="0">
                <a:solidFill>
                  <a:srgbClr val="974826"/>
                </a:solidFill>
                <a:latin typeface="Calibri"/>
              </a:rPr>
              <a:t>Colour Gap on Real Scans (ΔE 2000)</a:t>
            </a:r>
          </a:p>
        </p:txBody>
      </p:sp>
      <p:sp>
        <p:nvSpPr>
          <p:cNvPr id="34" name="TextBox 33"/>
          <p:cNvSpPr txBox="1"/>
          <p:nvPr/>
        </p:nvSpPr>
        <p:spPr>
          <a:xfrm>
            <a:off x="9464040" y="2587752"/>
            <a:ext cx="2103120" cy="365760"/>
          </a:xfrm>
          <a:prstGeom prst="rect">
            <a:avLst/>
          </a:prstGeom>
          <a:noFill/>
        </p:spPr>
        <p:txBody>
          <a:bodyPr wrap="square" anchor="ctr" lIns="27432" rIns="27432" tIns="18288" bIns="18288">
            <a:noAutofit/>
          </a:bodyPr>
          <a:lstStyle/>
          <a:p>
            <a:pPr algn="r">
              <a:spcAft>
                <a:spcPts val="0"/>
              </a:spcAft>
            </a:pPr>
            <a:r>
              <a:rPr sz="1300" b="0" i="0">
                <a:solidFill>
                  <a:srgbClr val="000000"/>
                </a:solidFill>
                <a:latin typeface="Calibri"/>
              </a:rPr>
              <a:t>Right kit colour</a:t>
            </a:r>
          </a:p>
        </p:txBody>
      </p:sp>
      <p:sp>
        <p:nvSpPr>
          <p:cNvPr id="35" name="Rectangle 34"/>
          <p:cNvSpPr/>
          <p:nvPr/>
        </p:nvSpPr>
        <p:spPr>
          <a:xfrm>
            <a:off x="12651455" y="2642616"/>
            <a:ext cx="437814"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691335" y="2587752"/>
            <a:ext cx="914400" cy="365760"/>
          </a:xfrm>
          <a:prstGeom prst="rect">
            <a:avLst/>
          </a:prstGeom>
          <a:noFill/>
        </p:spPr>
        <p:txBody>
          <a:bodyPr wrap="square" anchor="ctr" lIns="27432" rIns="27432" tIns="18288" bIns="18288">
            <a:noAutofit/>
          </a:bodyPr>
          <a:lstStyle/>
          <a:p>
            <a:pPr algn="r">
              <a:spcAft>
                <a:spcPts val="0"/>
              </a:spcAft>
            </a:pPr>
            <a:r>
              <a:rPr sz="1200" b="1" i="0">
                <a:solidFill>
                  <a:srgbClr val="2E7D32"/>
                </a:solidFill>
                <a:latin typeface="Calibri"/>
              </a:rPr>
              <a:t>4.7 to 8.9</a:t>
            </a:r>
          </a:p>
        </p:txBody>
      </p:sp>
      <p:sp>
        <p:nvSpPr>
          <p:cNvPr id="37" name="TextBox 36"/>
          <p:cNvSpPr txBox="1"/>
          <p:nvPr/>
        </p:nvSpPr>
        <p:spPr>
          <a:xfrm>
            <a:off x="9464040" y="3090672"/>
            <a:ext cx="2103120" cy="365760"/>
          </a:xfrm>
          <a:prstGeom prst="rect">
            <a:avLst/>
          </a:prstGeom>
          <a:noFill/>
        </p:spPr>
        <p:txBody>
          <a:bodyPr wrap="square" anchor="ctr" lIns="27432" rIns="27432" tIns="18288" bIns="18288">
            <a:noAutofit/>
          </a:bodyPr>
          <a:lstStyle/>
          <a:p>
            <a:pPr algn="r">
              <a:spcAft>
                <a:spcPts val="0"/>
              </a:spcAft>
            </a:pPr>
            <a:r>
              <a:rPr sz="1300" b="0" i="0">
                <a:solidFill>
                  <a:srgbClr val="000000"/>
                </a:solidFill>
                <a:latin typeface="Calibri"/>
              </a:rPr>
              <a:t>Trick cards</a:t>
            </a:r>
          </a:p>
        </p:txBody>
      </p:sp>
      <p:sp>
        <p:nvSpPr>
          <p:cNvPr id="38" name="Rectangle 37"/>
          <p:cNvSpPr/>
          <p:nvPr/>
        </p:nvSpPr>
        <p:spPr>
          <a:xfrm>
            <a:off x="13829385" y="3145536"/>
            <a:ext cx="1563623" cy="292608"/>
          </a:xfrm>
          <a:prstGeom prst="rect">
            <a:avLst/>
          </a:prstGeom>
          <a:solidFill>
            <a:srgbClr val="C7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466161" y="3090672"/>
            <a:ext cx="914400" cy="365760"/>
          </a:xfrm>
          <a:prstGeom prst="rect">
            <a:avLst/>
          </a:prstGeom>
          <a:noFill/>
        </p:spPr>
        <p:txBody>
          <a:bodyPr wrap="square" anchor="ctr" lIns="27432" rIns="27432" tIns="18288" bIns="18288">
            <a:noAutofit/>
          </a:bodyPr>
          <a:lstStyle/>
          <a:p>
            <a:pPr algn="l">
              <a:spcAft>
                <a:spcPts val="0"/>
              </a:spcAft>
            </a:pPr>
            <a:r>
              <a:rPr sz="1200" b="1" i="0">
                <a:solidFill>
                  <a:srgbClr val="C77C00"/>
                </a:solidFill>
                <a:latin typeface="Calibri"/>
              </a:rPr>
              <a:t>16 to 31</a:t>
            </a:r>
          </a:p>
        </p:txBody>
      </p:sp>
      <p:sp>
        <p:nvSpPr>
          <p:cNvPr id="40" name="TextBox 39"/>
          <p:cNvSpPr txBox="1"/>
          <p:nvPr/>
        </p:nvSpPr>
        <p:spPr>
          <a:xfrm>
            <a:off x="9464040" y="3593592"/>
            <a:ext cx="2103120" cy="365760"/>
          </a:xfrm>
          <a:prstGeom prst="rect">
            <a:avLst/>
          </a:prstGeom>
          <a:noFill/>
        </p:spPr>
        <p:txBody>
          <a:bodyPr wrap="square" anchor="ctr" lIns="27432" rIns="27432" tIns="18288" bIns="18288">
            <a:noAutofit/>
          </a:bodyPr>
          <a:lstStyle/>
          <a:p>
            <a:pPr algn="r">
              <a:spcAft>
                <a:spcPts val="0"/>
              </a:spcAft>
            </a:pPr>
            <a:r>
              <a:rPr sz="1300" b="0" i="0">
                <a:solidFill>
                  <a:srgbClr val="000000"/>
                </a:solidFill>
                <a:latin typeface="Calibri"/>
              </a:rPr>
              <a:t>Nearest wrong kit colour</a:t>
            </a:r>
          </a:p>
        </p:txBody>
      </p:sp>
      <p:sp>
        <p:nvSpPr>
          <p:cNvPr id="41" name="Rectangle 40"/>
          <p:cNvSpPr/>
          <p:nvPr/>
        </p:nvSpPr>
        <p:spPr>
          <a:xfrm>
            <a:off x="15705734" y="3648456"/>
            <a:ext cx="1459382" cy="29260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4745614" y="3593592"/>
            <a:ext cx="914400" cy="365760"/>
          </a:xfrm>
          <a:prstGeom prst="rect">
            <a:avLst/>
          </a:prstGeom>
          <a:noFill/>
        </p:spPr>
        <p:txBody>
          <a:bodyPr wrap="square" anchor="ctr" lIns="27432" rIns="27432" tIns="18288" bIns="18288">
            <a:noAutofit/>
          </a:bodyPr>
          <a:lstStyle/>
          <a:p>
            <a:pPr algn="r">
              <a:spcAft>
                <a:spcPts val="0"/>
              </a:spcAft>
            </a:pPr>
            <a:r>
              <a:rPr sz="1200" b="1" i="0">
                <a:solidFill>
                  <a:srgbClr val="C62828"/>
                </a:solidFill>
                <a:latin typeface="Calibri"/>
              </a:rPr>
              <a:t>34 to 48</a:t>
            </a:r>
          </a:p>
        </p:txBody>
      </p:sp>
      <p:cxnSp>
        <p:nvCxnSpPr>
          <p:cNvPr id="43" name="Connector 42"/>
          <p:cNvCxnSpPr/>
          <p:nvPr/>
        </p:nvCxnSpPr>
        <p:spPr>
          <a:xfrm>
            <a:off x="12161520" y="4160520"/>
            <a:ext cx="5212080" cy="0"/>
          </a:xfrm>
          <a:prstGeom prst="line">
            <a:avLst/>
          </a:prstGeom>
          <a:ln w="12700">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2161520" y="4160520"/>
            <a:ext cx="0" cy="73152"/>
          </a:xfrm>
          <a:prstGeom prst="line">
            <a:avLst/>
          </a:prstGeom>
          <a:ln w="12700">
            <a:solidFill>
              <a:srgbClr val="555555"/>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1887200" y="4233672"/>
            <a:ext cx="548640" cy="256032"/>
          </a:xfrm>
          <a:prstGeom prst="rect">
            <a:avLst/>
          </a:prstGeom>
          <a:noFill/>
        </p:spPr>
        <p:txBody>
          <a:bodyPr wrap="square" anchor="t" lIns="27432" rIns="27432" tIns="18288" bIns="18288">
            <a:noAutofit/>
          </a:bodyPr>
          <a:lstStyle/>
          <a:p>
            <a:pPr algn="ctr">
              <a:spcAft>
                <a:spcPts val="0"/>
              </a:spcAft>
            </a:pPr>
            <a:r>
              <a:rPr sz="1100" b="0" i="0">
                <a:solidFill>
                  <a:srgbClr val="555555"/>
                </a:solidFill>
                <a:latin typeface="Calibri"/>
              </a:rPr>
              <a:t>0</a:t>
            </a:r>
          </a:p>
        </p:txBody>
      </p:sp>
      <p:cxnSp>
        <p:nvCxnSpPr>
          <p:cNvPr id="46" name="Connector 45"/>
          <p:cNvCxnSpPr/>
          <p:nvPr/>
        </p:nvCxnSpPr>
        <p:spPr>
          <a:xfrm>
            <a:off x="13203936" y="4160520"/>
            <a:ext cx="0" cy="73152"/>
          </a:xfrm>
          <a:prstGeom prst="line">
            <a:avLst/>
          </a:prstGeom>
          <a:ln w="12700">
            <a:solidFill>
              <a:srgbClr val="55555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2929616" y="4233672"/>
            <a:ext cx="548640" cy="256032"/>
          </a:xfrm>
          <a:prstGeom prst="rect">
            <a:avLst/>
          </a:prstGeom>
          <a:noFill/>
        </p:spPr>
        <p:txBody>
          <a:bodyPr wrap="square" anchor="t" lIns="27432" rIns="27432" tIns="18288" bIns="18288">
            <a:noAutofit/>
          </a:bodyPr>
          <a:lstStyle/>
          <a:p>
            <a:pPr algn="ctr">
              <a:spcAft>
                <a:spcPts val="0"/>
              </a:spcAft>
            </a:pPr>
            <a:r>
              <a:rPr sz="1100" b="0" i="0">
                <a:solidFill>
                  <a:srgbClr val="555555"/>
                </a:solidFill>
                <a:latin typeface="Calibri"/>
              </a:rPr>
              <a:t>10</a:t>
            </a:r>
          </a:p>
        </p:txBody>
      </p:sp>
      <p:cxnSp>
        <p:nvCxnSpPr>
          <p:cNvPr id="48" name="Connector 47"/>
          <p:cNvCxnSpPr/>
          <p:nvPr/>
        </p:nvCxnSpPr>
        <p:spPr>
          <a:xfrm>
            <a:off x="14246352" y="4160520"/>
            <a:ext cx="0" cy="73152"/>
          </a:xfrm>
          <a:prstGeom prst="line">
            <a:avLst/>
          </a:prstGeom>
          <a:ln w="12700">
            <a:solidFill>
              <a:srgbClr val="55555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3972032" y="4233672"/>
            <a:ext cx="548640" cy="256032"/>
          </a:xfrm>
          <a:prstGeom prst="rect">
            <a:avLst/>
          </a:prstGeom>
          <a:noFill/>
        </p:spPr>
        <p:txBody>
          <a:bodyPr wrap="square" anchor="t" lIns="27432" rIns="27432" tIns="18288" bIns="18288">
            <a:noAutofit/>
          </a:bodyPr>
          <a:lstStyle/>
          <a:p>
            <a:pPr algn="ctr">
              <a:spcAft>
                <a:spcPts val="0"/>
              </a:spcAft>
            </a:pPr>
            <a:r>
              <a:rPr sz="1100" b="0" i="0">
                <a:solidFill>
                  <a:srgbClr val="555555"/>
                </a:solidFill>
                <a:latin typeface="Calibri"/>
              </a:rPr>
              <a:t>20</a:t>
            </a:r>
          </a:p>
        </p:txBody>
      </p:sp>
      <p:cxnSp>
        <p:nvCxnSpPr>
          <p:cNvPr id="50" name="Connector 49"/>
          <p:cNvCxnSpPr/>
          <p:nvPr/>
        </p:nvCxnSpPr>
        <p:spPr>
          <a:xfrm>
            <a:off x="15288767" y="4160520"/>
            <a:ext cx="0" cy="73152"/>
          </a:xfrm>
          <a:prstGeom prst="line">
            <a:avLst/>
          </a:prstGeom>
          <a:ln w="12700">
            <a:solidFill>
              <a:srgbClr val="55555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5014447" y="4233672"/>
            <a:ext cx="548640" cy="256032"/>
          </a:xfrm>
          <a:prstGeom prst="rect">
            <a:avLst/>
          </a:prstGeom>
          <a:noFill/>
        </p:spPr>
        <p:txBody>
          <a:bodyPr wrap="square" anchor="t" lIns="27432" rIns="27432" tIns="18288" bIns="18288">
            <a:noAutofit/>
          </a:bodyPr>
          <a:lstStyle/>
          <a:p>
            <a:pPr algn="ctr">
              <a:spcAft>
                <a:spcPts val="0"/>
              </a:spcAft>
            </a:pPr>
            <a:r>
              <a:rPr sz="1100" b="0" i="0">
                <a:solidFill>
                  <a:srgbClr val="555555"/>
                </a:solidFill>
                <a:latin typeface="Calibri"/>
              </a:rPr>
              <a:t>30</a:t>
            </a:r>
          </a:p>
        </p:txBody>
      </p:sp>
      <p:cxnSp>
        <p:nvCxnSpPr>
          <p:cNvPr id="52" name="Connector 51"/>
          <p:cNvCxnSpPr/>
          <p:nvPr/>
        </p:nvCxnSpPr>
        <p:spPr>
          <a:xfrm>
            <a:off x="16331184" y="4160520"/>
            <a:ext cx="0" cy="73152"/>
          </a:xfrm>
          <a:prstGeom prst="line">
            <a:avLst/>
          </a:prstGeom>
          <a:ln w="12700">
            <a:solidFill>
              <a:srgbClr val="555555"/>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6056863" y="4233672"/>
            <a:ext cx="548640" cy="256032"/>
          </a:xfrm>
          <a:prstGeom prst="rect">
            <a:avLst/>
          </a:prstGeom>
          <a:noFill/>
        </p:spPr>
        <p:txBody>
          <a:bodyPr wrap="square" anchor="t" lIns="27432" rIns="27432" tIns="18288" bIns="18288">
            <a:noAutofit/>
          </a:bodyPr>
          <a:lstStyle/>
          <a:p>
            <a:pPr algn="ctr">
              <a:spcAft>
                <a:spcPts val="0"/>
              </a:spcAft>
            </a:pPr>
            <a:r>
              <a:rPr sz="1100" b="0" i="0">
                <a:solidFill>
                  <a:srgbClr val="555555"/>
                </a:solidFill>
                <a:latin typeface="Calibri"/>
              </a:rPr>
              <a:t>40</a:t>
            </a:r>
          </a:p>
        </p:txBody>
      </p:sp>
      <p:cxnSp>
        <p:nvCxnSpPr>
          <p:cNvPr id="54" name="Connector 53"/>
          <p:cNvCxnSpPr/>
          <p:nvPr/>
        </p:nvCxnSpPr>
        <p:spPr>
          <a:xfrm>
            <a:off x="17373600" y="4160520"/>
            <a:ext cx="0" cy="73152"/>
          </a:xfrm>
          <a:prstGeom prst="line">
            <a:avLst/>
          </a:prstGeom>
          <a:ln w="12700">
            <a:solidFill>
              <a:srgbClr val="55555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17099280" y="4233672"/>
            <a:ext cx="548640" cy="256032"/>
          </a:xfrm>
          <a:prstGeom prst="rect">
            <a:avLst/>
          </a:prstGeom>
          <a:noFill/>
        </p:spPr>
        <p:txBody>
          <a:bodyPr wrap="square" anchor="t" lIns="27432" rIns="27432" tIns="18288" bIns="18288">
            <a:noAutofit/>
          </a:bodyPr>
          <a:lstStyle/>
          <a:p>
            <a:pPr algn="ctr">
              <a:spcAft>
                <a:spcPts val="0"/>
              </a:spcAft>
            </a:pPr>
            <a:r>
              <a:rPr sz="1100" b="0" i="0">
                <a:solidFill>
                  <a:srgbClr val="555555"/>
                </a:solidFill>
                <a:latin typeface="Calibri"/>
              </a:rPr>
              <a:t>50</a:t>
            </a:r>
          </a:p>
        </p:txBody>
      </p:sp>
      <p:cxnSp>
        <p:nvCxnSpPr>
          <p:cNvPr id="56" name="Connector 55"/>
          <p:cNvCxnSpPr/>
          <p:nvPr/>
        </p:nvCxnSpPr>
        <p:spPr>
          <a:xfrm>
            <a:off x="13620902" y="2542032"/>
            <a:ext cx="0" cy="1618488"/>
          </a:xfrm>
          <a:prstGeom prst="line">
            <a:avLst/>
          </a:prstGeom>
          <a:ln w="22225">
            <a:solidFill>
              <a:srgbClr val="7A2F00"/>
            </a:solidFill>
            <a:prstDash val="dash"/>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3072262" y="2258568"/>
            <a:ext cx="1097280" cy="274320"/>
          </a:xfrm>
          <a:prstGeom prst="rect">
            <a:avLst/>
          </a:prstGeom>
          <a:noFill/>
        </p:spPr>
        <p:txBody>
          <a:bodyPr wrap="square" anchor="t" lIns="27432" rIns="27432" tIns="18288" bIns="18288">
            <a:noAutofit/>
          </a:bodyPr>
          <a:lstStyle/>
          <a:p>
            <a:pPr algn="ctr">
              <a:spcAft>
                <a:spcPts val="0"/>
              </a:spcAft>
            </a:pPr>
            <a:r>
              <a:rPr sz="1200" b="1" i="0">
                <a:solidFill>
                  <a:srgbClr val="7A2F00"/>
                </a:solidFill>
                <a:latin typeface="Calibri"/>
              </a:rPr>
              <a:t>limit 14</a:t>
            </a:r>
          </a:p>
        </p:txBody>
      </p:sp>
      <p:sp>
        <p:nvSpPr>
          <p:cNvPr id="58" name="TextBox 57"/>
          <p:cNvSpPr txBox="1"/>
          <p:nvPr/>
        </p:nvSpPr>
        <p:spPr>
          <a:xfrm>
            <a:off x="9966960" y="4553712"/>
            <a:ext cx="7680960" cy="1051560"/>
          </a:xfrm>
          <a:prstGeom prst="rect">
            <a:avLst/>
          </a:prstGeom>
          <a:noFill/>
        </p:spPr>
        <p:txBody>
          <a:bodyPr wrap="square" anchor="t" lIns="27432" rIns="27432" tIns="18288" bIns="18288">
            <a:noAutofit/>
          </a:bodyPr>
          <a:lstStyle/>
          <a:p>
            <a:pPr algn="l">
              <a:spcAft>
                <a:spcPts val="400"/>
              </a:spcAft>
            </a:pPr>
            <a:r>
              <a:rPr sz="1250" b="0" i="0">
                <a:solidFill>
                  <a:srgbClr val="000000"/>
                </a:solidFill>
                <a:latin typeface="Calibri"/>
              </a:rPr>
              <a:t>Right colours sat well under 14 and wrong kit colours far above it. The closest trick card was only about 2 points over the limit, so each real kit gets its own limit from FSL data.</a:t>
            </a:r>
          </a:p>
          <a:p>
            <a:pPr algn="l">
              <a:spcAft>
                <a:spcPts val="400"/>
              </a:spcAft>
            </a:pPr>
            <a:r>
              <a:rPr sz="1250" b="1" i="0">
                <a:solidFill>
                  <a:srgbClr val="000000"/>
                </a:solidFill>
                <a:latin typeface="Calibri"/>
              </a:rPr>
              <a:t>Card fit</a:t>
            </a:r>
            <a:r>
              <a:rPr sz="1250" b="0" i="0">
                <a:solidFill>
                  <a:srgbClr val="000000"/>
                </a:solidFill>
                <a:latin typeface="Calibri"/>
              </a:rPr>
              <a:t> (average error left on the 24 known colours after correction): 5.9 to 8.7 on real photos of a screen, limit 9. Under 1 on computer-made photos. Paper card test is next.</a:t>
            </a:r>
          </a:p>
        </p:txBody>
      </p:sp>
      <p:sp>
        <p:nvSpPr>
          <p:cNvPr id="59" name="TextBox 58"/>
          <p:cNvSpPr txBox="1"/>
          <p:nvPr/>
        </p:nvSpPr>
        <p:spPr>
          <a:xfrm>
            <a:off x="9966960" y="5532120"/>
            <a:ext cx="7680960" cy="457200"/>
          </a:xfrm>
          <a:prstGeom prst="rect">
            <a:avLst/>
          </a:prstGeom>
          <a:noFill/>
        </p:spPr>
        <p:txBody>
          <a:bodyPr wrap="square" anchor="t" lIns="27432" rIns="27432" tIns="18288" bIns="18288">
            <a:noAutofit/>
          </a:bodyPr>
          <a:lstStyle/>
          <a:p>
            <a:pPr algn="l">
              <a:spcAft>
                <a:spcPts val="0"/>
              </a:spcAft>
            </a:pPr>
            <a:r>
              <a:rPr sz="2000" b="1" i="0">
                <a:solidFill>
                  <a:srgbClr val="974826"/>
                </a:solidFill>
                <a:latin typeface="Calibri"/>
              </a:rPr>
              <a:t>Why the 29 Sep Scans Said NOT SURE</a:t>
            </a:r>
          </a:p>
        </p:txBody>
      </p:sp>
      <p:sp>
        <p:nvSpPr>
          <p:cNvPr id="60" name="TextBox 59"/>
          <p:cNvSpPr txBox="1"/>
          <p:nvPr/>
        </p:nvSpPr>
        <p:spPr>
          <a:xfrm>
            <a:off x="9966960" y="5916168"/>
            <a:ext cx="7726679" cy="960120"/>
          </a:xfrm>
          <a:prstGeom prst="rect">
            <a:avLst/>
          </a:prstGeom>
          <a:noFill/>
        </p:spPr>
        <p:txBody>
          <a:bodyPr wrap="square" anchor="t" lIns="27432" rIns="27432" tIns="18288" bIns="18288">
            <a:noAutofit/>
          </a:bodyPr>
          <a:lstStyle/>
          <a:p>
            <a:pPr algn="l" marL="201168" indent="-201168">
              <a:spcAft>
                <a:spcPts val="200"/>
              </a:spcAft>
              <a:buFont typeface="Arial"/>
              <a:buChar char="•"/>
            </a:pPr>
            <a:r>
              <a:rPr sz="1250" b="1" i="0">
                <a:solidFill>
                  <a:srgbClr val="000000"/>
                </a:solidFill>
                <a:latin typeface="Calibri"/>
              </a:rPr>
              <a:t>3 positive cards</a:t>
            </a:r>
            <a:r>
              <a:rPr sz="1250" b="0" i="0">
                <a:solidFill>
                  <a:srgbClr val="000000"/>
                </a:solidFill>
                <a:latin typeface="Calibri"/>
              </a:rPr>
              <a:t> - photo was blurry (records 13, 14, 20), the app asked for a retake.</a:t>
            </a:r>
          </a:p>
          <a:p>
            <a:pPr algn="l" marL="201168" indent="-201168">
              <a:spcAft>
                <a:spcPts val="200"/>
              </a:spcAft>
              <a:buFont typeface="Arial"/>
              <a:buChar char="•"/>
            </a:pPr>
            <a:r>
              <a:rPr sz="1250" b="1" i="0">
                <a:solidFill>
                  <a:srgbClr val="000000"/>
                </a:solidFill>
                <a:latin typeface="Calibri"/>
              </a:rPr>
              <a:t>7 trick cards</a:t>
            </a:r>
            <a:r>
              <a:rPr sz="1250" b="0" i="0">
                <a:solidFill>
                  <a:srgbClr val="000000"/>
                </a:solidFill>
                <a:latin typeface="Calibri"/>
              </a:rPr>
              <a:t> - 3 matched no kit colour, 4 were stopped earlier by photo checks (1 blurry, 2 card not found, 1 card fit).</a:t>
            </a:r>
          </a:p>
        </p:txBody>
      </p:sp>
      <p:sp>
        <p:nvSpPr>
          <p:cNvPr id="61" name="TextBox 60"/>
          <p:cNvSpPr txBox="1"/>
          <p:nvPr/>
        </p:nvSpPr>
        <p:spPr>
          <a:xfrm>
            <a:off x="9966960" y="6510528"/>
            <a:ext cx="7680960" cy="457200"/>
          </a:xfrm>
          <a:prstGeom prst="rect">
            <a:avLst/>
          </a:prstGeom>
          <a:noFill/>
        </p:spPr>
        <p:txBody>
          <a:bodyPr wrap="square" anchor="t" lIns="27432" rIns="27432" tIns="18288" bIns="18288">
            <a:noAutofit/>
          </a:bodyPr>
          <a:lstStyle/>
          <a:p>
            <a:pPr algn="l">
              <a:spcAft>
                <a:spcPts val="0"/>
              </a:spcAft>
            </a:pPr>
            <a:r>
              <a:rPr sz="2000" b="1" i="0">
                <a:solidFill>
                  <a:srgbClr val="974826"/>
                </a:solidFill>
                <a:latin typeface="Calibri"/>
              </a:rPr>
              <a:t>Tamper Test on Our Saved Records (29 Sep)</a:t>
            </a:r>
          </a:p>
        </p:txBody>
      </p:sp>
      <p:pic>
        <p:nvPicPr>
          <p:cNvPr id="62" name="Picture 61" descr="tamper_proof_tall.png"/>
          <p:cNvPicPr>
            <a:picLocks noChangeAspect="1"/>
          </p:cNvPicPr>
          <p:nvPr/>
        </p:nvPicPr>
        <p:blipFill>
          <a:blip r:embed="rId10"/>
          <a:srcRect/>
          <a:stretch>
            <a:fillRect/>
          </a:stretch>
        </p:blipFill>
        <p:spPr>
          <a:xfrm>
            <a:off x="9966960" y="6912864"/>
            <a:ext cx="6824433" cy="245059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 name="Group 2"/>
          <p:cNvGrpSpPr/>
          <p:nvPr/>
        </p:nvGrpSpPr>
        <p:grpSpPr>
          <a:xfrm>
            <a:off x="0" y="9564624"/>
            <a:ext cx="18280761" cy="715289"/>
            <a:chOff x="0" y="0"/>
            <a:chExt cx="24374348" cy="953719"/>
          </a:xfrm>
        </p:grpSpPr>
        <p:sp>
          <p:nvSpPr>
            <p:cNvPr id="3" name="Freeform 3"/>
            <p:cNvSpPr/>
            <p:nvPr/>
          </p:nvSpPr>
          <p:spPr>
            <a:xfrm>
              <a:off x="0" y="0"/>
              <a:ext cx="24374348" cy="953770"/>
            </a:xfrm>
            <a:custGeom>
              <a:avLst/>
              <a:gdLst/>
              <a:ahLst/>
              <a:cxnLst/>
              <a:rect l="l" t="t" r="r" b="b"/>
              <a:pathLst>
                <a:path w="24374348" h="953770">
                  <a:moveTo>
                    <a:pt x="0" y="0"/>
                  </a:moveTo>
                  <a:lnTo>
                    <a:pt x="24374348" y="0"/>
                  </a:lnTo>
                  <a:lnTo>
                    <a:pt x="24374348" y="953770"/>
                  </a:lnTo>
                  <a:lnTo>
                    <a:pt x="0" y="953770"/>
                  </a:lnTo>
                  <a:lnTo>
                    <a:pt x="0" y="0"/>
                  </a:lnTo>
                  <a:close/>
                </a:path>
              </a:pathLst>
            </a:custGeom>
            <a:blipFill>
              <a:blip r:embed="rId2"/>
              <a:stretch>
                <a:fillRect t="-914" b="-909"/>
              </a:stretch>
            </a:blipFill>
          </p:spPr>
        </p:sp>
      </p:grpSp>
      <p:grpSp>
        <p:nvGrpSpPr>
          <p:cNvPr id="4" name="Group 4"/>
          <p:cNvGrpSpPr/>
          <p:nvPr/>
        </p:nvGrpSpPr>
        <p:grpSpPr>
          <a:xfrm>
            <a:off x="0" y="9532620"/>
            <a:ext cx="18288000" cy="754380"/>
            <a:chOff x="0" y="0"/>
            <a:chExt cx="24384000" cy="1005840"/>
          </a:xfrm>
        </p:grpSpPr>
        <p:sp>
          <p:nvSpPr>
            <p:cNvPr id="5" name="Freeform 5"/>
            <p:cNvSpPr/>
            <p:nvPr/>
          </p:nvSpPr>
          <p:spPr>
            <a:xfrm>
              <a:off x="0" y="0"/>
              <a:ext cx="24384000" cy="1005840"/>
            </a:xfrm>
            <a:custGeom>
              <a:avLst/>
              <a:gdLst/>
              <a:ahLst/>
              <a:cxnLst/>
              <a:rect l="l" t="t" r="r" b="b"/>
              <a:pathLst>
                <a:path w="24384000" h="1005840">
                  <a:moveTo>
                    <a:pt x="24384000" y="0"/>
                  </a:moveTo>
                  <a:lnTo>
                    <a:pt x="0" y="0"/>
                  </a:lnTo>
                  <a:lnTo>
                    <a:pt x="0" y="1005840"/>
                  </a:lnTo>
                  <a:lnTo>
                    <a:pt x="24384000" y="1005840"/>
                  </a:lnTo>
                  <a:lnTo>
                    <a:pt x="24384000" y="0"/>
                  </a:lnTo>
                  <a:close/>
                </a:path>
              </a:pathLst>
            </a:custGeom>
            <a:solidFill>
              <a:srgbClr val="006EC0"/>
            </a:solidFill>
          </p:spPr>
        </p:sp>
      </p:grpSp>
      <p:sp>
        <p:nvSpPr>
          <p:cNvPr id="6" name="Freeform 6"/>
          <p:cNvSpPr/>
          <p:nvPr/>
        </p:nvSpPr>
        <p:spPr>
          <a:xfrm>
            <a:off x="391335" y="315011"/>
            <a:ext cx="2629852" cy="1249680"/>
          </a:xfrm>
          <a:custGeom>
            <a:avLst/>
            <a:gdLst/>
            <a:ahLst/>
            <a:cxnLst/>
            <a:rect l="l" t="t" r="r" b="b"/>
            <a:pathLst>
              <a:path w="2629852" h="1249680">
                <a:moveTo>
                  <a:pt x="0" y="0"/>
                </a:moveTo>
                <a:lnTo>
                  <a:pt x="2629852" y="0"/>
                </a:lnTo>
                <a:lnTo>
                  <a:pt x="2629852" y="1249680"/>
                </a:lnTo>
                <a:lnTo>
                  <a:pt x="0" y="124968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5" name="TextBox 15" descr="$PPTXTitle"/>
          <p:cNvSpPr txBox="1"/>
          <p:nvPr/>
        </p:nvSpPr>
        <p:spPr>
          <a:xfrm>
            <a:off x="3660096" y="346300"/>
            <a:ext cx="10421112" cy="876938"/>
          </a:xfrm>
          <a:prstGeom prst="rect">
            <a:avLst/>
          </a:prstGeom>
        </p:spPr>
        <p:txBody>
          <a:bodyPr lIns="0" tIns="0" rIns="0" bIns="0" rtlCol="0" anchor="t">
            <a:spAutoFit/>
          </a:bodyPr>
          <a:lstStyle/>
          <a:p>
            <a:pPr algn="l">
              <a:lnSpc>
                <a:spcPts val="6480"/>
              </a:lnSpc>
            </a:pPr>
            <a:r>
              <a:rPr lang="en-US" sz="5400" b="1">
                <a:solidFill>
                  <a:srgbClr val="7A2F00"/>
                </a:solidFill>
                <a:latin typeface="Times New Roman Bold"/>
                <a:ea typeface="Times New Roman Bold"/>
                <a:cs typeface="Times New Roman Bold"/>
                <a:sym typeface="Times New Roman Bold"/>
              </a:rPr>
              <a:t>SECURITY AND FSL TRIAL</a:t>
            </a:r>
          </a:p>
        </p:txBody>
      </p:sp>
      <p:sp>
        <p:nvSpPr>
          <p:cNvPr id="16" name="TextBox 16"/>
          <p:cNvSpPr txBox="1"/>
          <p:nvPr/>
        </p:nvSpPr>
        <p:spPr>
          <a:xfrm>
            <a:off x="17063656" y="9649673"/>
            <a:ext cx="104775" cy="288608"/>
          </a:xfrm>
          <a:prstGeom prst="rect">
            <a:avLst/>
          </a:prstGeom>
        </p:spPr>
        <p:txBody>
          <a:bodyPr lIns="0" tIns="0" rIns="0" bIns="0" rtlCol="0" anchor="t">
            <a:spAutoFit/>
          </a:bodyPr>
          <a:lstStyle/>
          <a:p>
            <a:pPr algn="l">
              <a:lnSpc>
                <a:spcPts val="2137"/>
              </a:lnSpc>
            </a:pPr>
            <a:r>
              <a:rPr lang="en-US" sz="1800" b="1" spc="-75">
                <a:solidFill>
                  <a:srgbClr val="FFFFFF"/>
                </a:solidFill>
                <a:latin typeface="Times New Roman Bold"/>
                <a:ea typeface="Times New Roman Bold"/>
                <a:cs typeface="Times New Roman Bold"/>
                <a:sym typeface="Times New Roman Bold"/>
              </a:rPr>
              <a:t>8</a:t>
            </a:r>
          </a:p>
        </p:txBody>
      </p:sp>
      <p:sp>
        <p:nvSpPr>
          <p:cNvPr id="17" name="TextBox 17" descr="$PPTXTitle"/>
          <p:cNvSpPr txBox="1"/>
          <p:nvPr/>
        </p:nvSpPr>
        <p:spPr>
          <a:xfrm>
            <a:off x="1074372" y="677913"/>
            <a:ext cx="1461403" cy="466725"/>
          </a:xfrm>
          <a:prstGeom prst="rect">
            <a:avLst/>
          </a:prstGeom>
        </p:spPr>
        <p:txBody>
          <a:bodyPr lIns="0" tIns="0" rIns="0" bIns="0" rtlCol="0" anchor="t">
            <a:spAutoFit/>
          </a:bodyPr>
          <a:lstStyle/>
          <a:p>
            <a:pPr algn="l">
              <a:lnSpc>
                <a:spcPts val="3240"/>
              </a:lnSpc>
            </a:pPr>
            <a:r>
              <a:rPr lang="en-US" sz="2700" b="1" spc="-29">
                <a:solidFill>
                  <a:srgbClr val="7A2F00"/>
                </a:solidFill>
                <a:latin typeface="Calibri"/>
                <a:ea typeface="Calibri"/>
                <a:cs typeface="Calibri"/>
                <a:sym typeface="Calibri"/>
              </a:rPr>
              <a:t>HexTech</a:t>
            </a:r>
          </a:p>
        </p:txBody>
      </p:sp>
      <p:grpSp>
        <p:nvGrpSpPr>
          <p:cNvPr id="24" name="Group 24"/>
          <p:cNvGrpSpPr/>
          <p:nvPr/>
        </p:nvGrpSpPr>
        <p:grpSpPr>
          <a:xfrm>
            <a:off x="14720116" y="33423"/>
            <a:ext cx="3287373" cy="1531268"/>
            <a:chOff x="0" y="0"/>
            <a:chExt cx="4383164" cy="2041690"/>
          </a:xfrm>
        </p:grpSpPr>
        <p:sp>
          <p:nvSpPr>
            <p:cNvPr id="25" name="Freeform 25"/>
            <p:cNvSpPr/>
            <p:nvPr/>
          </p:nvSpPr>
          <p:spPr>
            <a:xfrm>
              <a:off x="0" y="0"/>
              <a:ext cx="4383151" cy="2041652"/>
            </a:xfrm>
            <a:custGeom>
              <a:avLst/>
              <a:gdLst/>
              <a:ahLst/>
              <a:cxnLst/>
              <a:rect l="l" t="t" r="r" b="b"/>
              <a:pathLst>
                <a:path w="4383151" h="2041652">
                  <a:moveTo>
                    <a:pt x="0" y="0"/>
                  </a:moveTo>
                  <a:lnTo>
                    <a:pt x="4383151" y="0"/>
                  </a:lnTo>
                  <a:lnTo>
                    <a:pt x="4383151" y="2041652"/>
                  </a:lnTo>
                  <a:lnTo>
                    <a:pt x="0" y="2041652"/>
                  </a:lnTo>
                  <a:lnTo>
                    <a:pt x="0" y="0"/>
                  </a:lnTo>
                  <a:close/>
                </a:path>
              </a:pathLst>
            </a:custGeom>
            <a:blipFill>
              <a:blip r:embed="rId8"/>
              <a:stretch>
                <a:fillRect t="-106" b="-108"/>
              </a:stretch>
            </a:blipFill>
          </p:spPr>
        </p:sp>
      </p:grpSp>
      <p:sp>
        <p:nvSpPr>
          <p:cNvPr id="26" name="TextBox 25"/>
          <p:cNvSpPr txBox="1"/>
          <p:nvPr/>
        </p:nvSpPr>
        <p:spPr>
          <a:xfrm>
            <a:off x="3657600" y="1261872"/>
            <a:ext cx="10424160" cy="329184"/>
          </a:xfrm>
          <a:prstGeom prst="rect">
            <a:avLst/>
          </a:prstGeom>
          <a:noFill/>
        </p:spPr>
        <p:txBody>
          <a:bodyPr wrap="square" anchor="t" lIns="27432" rIns="27432" tIns="18288" bIns="18288">
            <a:noAutofit/>
          </a:bodyPr>
          <a:lstStyle/>
          <a:p>
            <a:pPr algn="ctr">
              <a:spcAft>
                <a:spcPts val="0"/>
              </a:spcAft>
            </a:pPr>
            <a:r>
              <a:rPr sz="1400" b="0" i="1">
                <a:solidFill>
                  <a:srgbClr val="555555"/>
                </a:solidFill>
                <a:latin typeface="Calibri"/>
              </a:rPr>
              <a:t>Backup slide for judges’ questions</a:t>
            </a:r>
          </a:p>
        </p:txBody>
      </p:sp>
      <p:sp>
        <p:nvSpPr>
          <p:cNvPr id="27" name="TextBox 26"/>
          <p:cNvSpPr txBox="1"/>
          <p:nvPr/>
        </p:nvSpPr>
        <p:spPr>
          <a:xfrm>
            <a:off x="640080" y="1783080"/>
            <a:ext cx="9509760" cy="457200"/>
          </a:xfrm>
          <a:prstGeom prst="rect">
            <a:avLst/>
          </a:prstGeom>
          <a:noFill/>
        </p:spPr>
        <p:txBody>
          <a:bodyPr wrap="square" anchor="t" lIns="27432" rIns="27432" tIns="18288" bIns="18288">
            <a:noAutofit/>
          </a:bodyPr>
          <a:lstStyle/>
          <a:p>
            <a:pPr algn="l">
              <a:spcAft>
                <a:spcPts val="0"/>
              </a:spcAft>
            </a:pPr>
            <a:r>
              <a:rPr sz="2300" b="1" i="0">
                <a:solidFill>
                  <a:srgbClr val="974826"/>
                </a:solidFill>
                <a:latin typeface="Calibri"/>
              </a:rPr>
              <a:t>Threat Model (what is built, what is open)</a:t>
            </a:r>
          </a:p>
        </p:txBody>
      </p:sp>
      <p:graphicFrame>
        <p:nvGraphicFramePr>
          <p:cNvPr id="28" name="Table 27"/>
          <p:cNvGraphicFramePr>
            <a:graphicFrameLocks noGrp="1"/>
          </p:cNvGraphicFramePr>
          <p:nvPr/>
        </p:nvGraphicFramePr>
        <p:xfrm>
          <a:off x="640080" y="2240280"/>
          <a:ext cx="9418320" cy="5815584"/>
        </p:xfrm>
        <a:graphic>
          <a:graphicData uri="http://schemas.openxmlformats.org/drawingml/2006/table">
            <a:tbl>
              <a:tblPr firstRow="1" bandRow="0">
                <a:tableStyleId>{5C22544A-7EE6-4342-B048-85BDC9FD1C3A}</a:tableStyleId>
              </a:tblPr>
              <a:tblGrid>
                <a:gridCol w="2331720"/>
                <a:gridCol w="3017520"/>
                <a:gridCol w="2880360"/>
                <a:gridCol w="1188720"/>
              </a:tblGrid>
              <a:tr h="384048">
                <a:tc>
                  <a:txBody>
                    <a:bodyPr wrap="square"/>
                    <a:lstStyle/>
                    <a:p>
                      <a:pPr algn="l">
                        <a:spcAft>
                          <a:spcPts val="0"/>
                        </a:spcAft>
                      </a:pPr>
                      <a:r>
                        <a:rPr sz="1350" b="1" i="0">
                          <a:solidFill>
                            <a:srgbClr val="000000"/>
                          </a:solidFill>
                          <a:latin typeface="Calibri"/>
                        </a:rPr>
                        <a:t>Threat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c>
                  <a:txBody>
                    <a:bodyPr wrap="square"/>
                    <a:lstStyle/>
                    <a:p>
                      <a:pPr algn="l">
                        <a:spcAft>
                          <a:spcPts val="0"/>
                        </a:spcAft>
                      </a:pPr>
                      <a:r>
                        <a:rPr sz="1350" b="1" i="0">
                          <a:solidFill>
                            <a:srgbClr val="000000"/>
                          </a:solidFill>
                          <a:latin typeface="Calibri"/>
                        </a:rPr>
                        <a:t>What stops it today</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c>
                  <a:txBody>
                    <a:bodyPr wrap="square"/>
                    <a:lstStyle/>
                    <a:p>
                      <a:pPr algn="l">
                        <a:spcAft>
                          <a:spcPts val="0"/>
                        </a:spcAft>
                      </a:pPr>
                      <a:r>
                        <a:rPr sz="1350" b="1" i="0">
                          <a:solidFill>
                            <a:srgbClr val="000000"/>
                          </a:solidFill>
                          <a:latin typeface="Calibri"/>
                        </a:rPr>
                        <a:t>Next step</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c>
                  <a:txBody>
                    <a:bodyPr wrap="square"/>
                    <a:lstStyle/>
                    <a:p>
                      <a:pPr algn="l">
                        <a:spcAft>
                          <a:spcPts val="0"/>
                        </a:spcAft>
                      </a:pPr>
                      <a:r>
                        <a:rPr sz="1350" b="1" i="0">
                          <a:solidFill>
                            <a:srgbClr val="000000"/>
                          </a:solidFill>
                          <a:latin typeface="Calibri"/>
                        </a:rPr>
                        <a:t>Status</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B2935B"/>
                    </a:solidFill>
                  </a:tcPr>
                </a:tc>
              </a:tr>
              <a:tr h="603504">
                <a:tc>
                  <a:txBody>
                    <a:bodyPr wrap="square"/>
                    <a:lstStyle/>
                    <a:p>
                      <a:pPr algn="l">
                        <a:spcAft>
                          <a:spcPts val="0"/>
                        </a:spcAft>
                      </a:pPr>
                      <a:r>
                        <a:rPr sz="1350" b="0" i="0">
                          <a:solidFill>
                            <a:srgbClr val="000000"/>
                          </a:solidFill>
                          <a:latin typeface="Calibri"/>
                        </a:rPr>
                        <a:t>Photo or record changed later</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Photo SHA-256 on phone and server, signed record, chain, QR check</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Supervisor counter-seal, officer DSC</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2E7D32"/>
                          </a:solidFill>
                          <a:latin typeface="Calibri"/>
                        </a:rPr>
                        <a:t>Built, 4/4 caught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603504">
                <a:tc>
                  <a:txBody>
                    <a:bodyPr wrap="square"/>
                    <a:lstStyle/>
                    <a:p>
                      <a:pPr algn="l">
                        <a:spcAft>
                          <a:spcPts val="0"/>
                        </a:spcAft>
                      </a:pPr>
                      <a:r>
                        <a:rPr sz="1350" b="0" i="0">
                          <a:solidFill>
                            <a:srgbClr val="000000"/>
                          </a:solidFill>
                          <a:latin typeface="Calibri"/>
                        </a:rPr>
                        <a:t>Photo of a screen or staged colour</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In-app camera only, no gallery upload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Screen-photo (moire) check, Play Integrity</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C62828"/>
                          </a:solidFill>
                          <a:latin typeface="Calibri"/>
                        </a:rPr>
                        <a:t>Open</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603504">
                <a:tc>
                  <a:txBody>
                    <a:bodyPr wrap="square"/>
                    <a:lstStyle/>
                    <a:p>
                      <a:pPr algn="l">
                        <a:spcAft>
                          <a:spcPts val="0"/>
                        </a:spcAft>
                      </a:pPr>
                      <a:r>
                        <a:rPr sz="1350" b="0" i="0">
                          <a:solidFill>
                            <a:srgbClr val="000000"/>
                          </a:solidFill>
                          <a:latin typeface="Calibri"/>
                        </a:rPr>
                        <a:t>Fake GPS app</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Android mock-location flag sealed in the record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Play Integrity device check</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8A5A00"/>
                          </a:solidFill>
                          <a:latin typeface="Calibri"/>
                        </a:rPr>
                        <a:t>Partly</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603504">
                <a:tc>
                  <a:txBody>
                    <a:bodyPr wrap="square"/>
                    <a:lstStyle/>
                    <a:p>
                      <a:pPr algn="l">
                        <a:spcAft>
                          <a:spcPts val="0"/>
                        </a:spcAft>
                      </a:pPr>
                      <a:r>
                        <a:rPr sz="1350" b="0" i="0">
                          <a:solidFill>
                            <a:srgbClr val="000000"/>
                          </a:solidFill>
                          <a:latin typeface="Calibri"/>
                        </a:rPr>
                        <a:t>Wrong phone clock</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Server takes internet time, phone time and the gap are also saved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Outside time-stamp (RFC 3161)</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2E7D32"/>
                          </a:solidFill>
                          <a:latin typeface="Calibri"/>
                        </a:rPr>
                        <a:t>Built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603504">
                <a:tc>
                  <a:txBody>
                    <a:bodyPr wrap="square"/>
                    <a:lstStyle/>
                    <a:p>
                      <a:pPr algn="l">
                        <a:spcAft>
                          <a:spcPts val="0"/>
                        </a:spcAft>
                      </a:pPr>
                      <a:r>
                        <a:rPr sz="1350" b="0" i="0">
                          <a:solidFill>
                            <a:srgbClr val="000000"/>
                          </a:solidFill>
                          <a:latin typeface="Calibri"/>
                        </a:rPr>
                        <a:t>Insider with the server key</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Key only on the server, public key is published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Key in a hardware box (HSM), chain head copied outside daily</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C62828"/>
                          </a:solidFill>
                          <a:latin typeface="Calibri"/>
                        </a:rPr>
                        <a:t>Open</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603504">
                <a:tc>
                  <a:txBody>
                    <a:bodyPr wrap="square"/>
                    <a:lstStyle/>
                    <a:p>
                      <a:pPr algn="l">
                        <a:spcAft>
                          <a:spcPts val="0"/>
                        </a:spcAft>
                      </a:pPr>
                      <a:r>
                        <a:rPr sz="1350" b="0" i="0">
                          <a:solidFill>
                            <a:srgbClr val="000000"/>
                          </a:solidFill>
                          <a:latin typeface="Calibri"/>
                        </a:rPr>
                        <a:t>Server key file lost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Server makes a new key, old records then fail the check</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Stop and alert instead, keep a key backup</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8A5A00"/>
                          </a:solidFill>
                          <a:latin typeface="Calibri"/>
                        </a:rPr>
                        <a:t>Fix planned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603504">
                <a:tc>
                  <a:txBody>
                    <a:bodyPr wrap="square"/>
                    <a:lstStyle/>
                    <a:p>
                      <a:pPr algn="l">
                        <a:spcAft>
                          <a:spcPts val="0"/>
                        </a:spcAft>
                      </a:pPr>
                      <a:r>
                        <a:rPr sz="1350" b="0" i="0">
                          <a:solidFill>
                            <a:srgbClr val="000000"/>
                          </a:solidFill>
                          <a:latin typeface="Calibri"/>
                        </a:rPr>
                        <a:t>Public QR page shows officer name and exact GPS</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Page is verify only, nothing else is open</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Hide the name, round off GPS</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8A5A00"/>
                          </a:solidFill>
                          <a:latin typeface="Calibri"/>
                        </a:rPr>
                        <a:t>Fix planned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603504">
                <a:tc>
                  <a:txBody>
                    <a:bodyPr wrap="square"/>
                    <a:lstStyle/>
                    <a:p>
                      <a:pPr algn="l">
                        <a:spcAft>
                          <a:spcPts val="0"/>
                        </a:spcAft>
                      </a:pPr>
                      <a:r>
                        <a:rPr sz="1350" b="0" i="0">
                          <a:solidFill>
                            <a:srgbClr val="000000"/>
                          </a:solidFill>
                          <a:latin typeface="Calibri"/>
                        </a:rPr>
                        <a:t>Test done with no network</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Not saved today</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Offline queue built together with phone chip signing</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8A5A00"/>
                          </a:solidFill>
                          <a:latin typeface="Calibri"/>
                        </a:rPr>
                        <a:t>Planned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r h="603504">
                <a:tc>
                  <a:txBody>
                    <a:bodyPr wrap="square"/>
                    <a:lstStyle/>
                    <a:p>
                      <a:pPr algn="l">
                        <a:spcAft>
                          <a:spcPts val="0"/>
                        </a:spcAft>
                      </a:pPr>
                      <a:r>
                        <a:rPr sz="1350" b="0" i="0">
                          <a:solidFill>
                            <a:srgbClr val="000000"/>
                          </a:solidFill>
                          <a:latin typeface="Calibri"/>
                        </a:rPr>
                        <a:t>One chain for a whole state</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One chain today (prototype)</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0" i="0">
                          <a:solidFill>
                            <a:srgbClr val="000000"/>
                          </a:solidFill>
                          <a:latin typeface="Calibri"/>
                        </a:rPr>
                        <a:t>Chain per device or a daily batch root</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c>
                  <a:txBody>
                    <a:bodyPr wrap="square"/>
                    <a:lstStyle/>
                    <a:p>
                      <a:pPr algn="l">
                        <a:spcAft>
                          <a:spcPts val="0"/>
                        </a:spcAft>
                      </a:pPr>
                      <a:r>
                        <a:rPr sz="1350" b="1" i="0">
                          <a:solidFill>
                            <a:srgbClr val="8A5A00"/>
                          </a:solidFill>
                          <a:latin typeface="Calibri"/>
                        </a:rPr>
                        <a:t>Planned</a:t>
                      </a:r>
                    </a:p>
                  </a:txBody>
                  <a:tcPr marL="73152" marR="73152" marT="27432" marB="27432" anchor="ctr">
                    <a:lnL w="9525" cap="flat" cmpd="sng" algn="ctr">
                      <a:solidFill>
                        <a:srgbClr val="7A2F00"/>
                      </a:solidFill>
                      <a:prstDash val="solid"/>
                    </a:lnL>
                    <a:lnR w="9525" cap="flat" cmpd="sng" algn="ctr">
                      <a:solidFill>
                        <a:srgbClr val="7A2F00"/>
                      </a:solidFill>
                      <a:prstDash val="solid"/>
                    </a:lnR>
                    <a:lnT w="9525" cap="flat" cmpd="sng" algn="ctr">
                      <a:solidFill>
                        <a:srgbClr val="7A2F00"/>
                      </a:solidFill>
                      <a:prstDash val="solid"/>
                    </a:lnT>
                    <a:lnB w="9525" cap="flat" cmpd="sng" algn="ctr">
                      <a:solidFill>
                        <a:srgbClr val="7A2F00"/>
                      </a:solidFill>
                      <a:prstDash val="solid"/>
                    </a:lnB>
                    <a:solidFill>
                      <a:srgbClr val="FFFFFF"/>
                    </a:solidFill>
                  </a:tcPr>
                </a:tc>
              </a:tr>
            </a:tbl>
          </a:graphicData>
        </a:graphic>
      </p:graphicFrame>
      <p:sp>
        <p:nvSpPr>
          <p:cNvPr id="29" name="TextBox 28"/>
          <p:cNvSpPr txBox="1"/>
          <p:nvPr/>
        </p:nvSpPr>
        <p:spPr>
          <a:xfrm>
            <a:off x="10561320" y="1783080"/>
            <a:ext cx="7132320" cy="457200"/>
          </a:xfrm>
          <a:prstGeom prst="rect">
            <a:avLst/>
          </a:prstGeom>
          <a:noFill/>
        </p:spPr>
        <p:txBody>
          <a:bodyPr wrap="square" anchor="t" lIns="27432" rIns="27432" tIns="18288" bIns="18288">
            <a:noAutofit/>
          </a:bodyPr>
          <a:lstStyle/>
          <a:p>
            <a:pPr algn="l">
              <a:spcAft>
                <a:spcPts val="0"/>
              </a:spcAft>
            </a:pPr>
            <a:r>
              <a:rPr sz="2300" b="1" i="0">
                <a:solidFill>
                  <a:srgbClr val="974826"/>
                </a:solidFill>
                <a:latin typeface="Calibri"/>
              </a:rPr>
              <a:t>FSL Trial to Set Each Kit’s Limit</a:t>
            </a:r>
          </a:p>
        </p:txBody>
      </p:sp>
      <p:sp>
        <p:nvSpPr>
          <p:cNvPr id="30" name="Oval 29"/>
          <p:cNvSpPr/>
          <p:nvPr/>
        </p:nvSpPr>
        <p:spPr>
          <a:xfrm>
            <a:off x="10561320" y="2331720"/>
            <a:ext cx="502920" cy="502920"/>
          </a:xfrm>
          <a:prstGeom prst="ellipse">
            <a:avLst/>
          </a:prstGeom>
          <a:solidFill>
            <a:srgbClr val="7A2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600" b="1" i="0">
                <a:solidFill>
                  <a:srgbClr val="FFFFFF"/>
                </a:solidFill>
                <a:latin typeface="Calibri"/>
              </a:rPr>
              <a:t>1</a:t>
            </a:r>
          </a:p>
        </p:txBody>
      </p:sp>
      <p:sp>
        <p:nvSpPr>
          <p:cNvPr id="31" name="TextBox 30"/>
          <p:cNvSpPr txBox="1"/>
          <p:nvPr/>
        </p:nvSpPr>
        <p:spPr>
          <a:xfrm>
            <a:off x="11201400" y="2286000"/>
            <a:ext cx="6492240" cy="1005840"/>
          </a:xfrm>
          <a:prstGeom prst="rect">
            <a:avLst/>
          </a:prstGeom>
          <a:noFill/>
        </p:spPr>
        <p:txBody>
          <a:bodyPr wrap="square" anchor="t" lIns="27432" rIns="27432" tIns="18288" bIns="18288">
            <a:noAutofit/>
          </a:bodyPr>
          <a:lstStyle/>
          <a:p>
            <a:pPr algn="l">
              <a:spcAft>
                <a:spcPts val="100"/>
              </a:spcAft>
            </a:pPr>
            <a:r>
              <a:rPr sz="1500" b="1" i="0">
                <a:solidFill>
                  <a:srgbClr val="7A2F00"/>
                </a:solidFill>
                <a:latin typeface="Calibri"/>
              </a:rPr>
              <a:t>Real reagent</a:t>
            </a:r>
          </a:p>
          <a:p>
            <a:pPr algn="l">
              <a:spcAft>
                <a:spcPts val="0"/>
              </a:spcAft>
            </a:pPr>
            <a:r>
              <a:rPr sz="1400" b="0" i="0">
                <a:solidFill>
                  <a:srgbClr val="000000"/>
                </a:solidFill>
                <a:latin typeface="Calibri"/>
              </a:rPr>
              <a:t>FSL runs each kit on known samples, 3+ kit lots, photo at the kit’s read time and again later to see colour drift.</a:t>
            </a:r>
          </a:p>
        </p:txBody>
      </p:sp>
      <p:sp>
        <p:nvSpPr>
          <p:cNvPr id="32" name="Oval 31"/>
          <p:cNvSpPr/>
          <p:nvPr/>
        </p:nvSpPr>
        <p:spPr>
          <a:xfrm>
            <a:off x="10561320" y="3429000"/>
            <a:ext cx="502920" cy="502920"/>
          </a:xfrm>
          <a:prstGeom prst="ellipse">
            <a:avLst/>
          </a:prstGeom>
          <a:solidFill>
            <a:srgbClr val="7A2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600" b="1" i="0">
                <a:solidFill>
                  <a:srgbClr val="FFFFFF"/>
                </a:solidFill>
                <a:latin typeface="Calibri"/>
              </a:rPr>
              <a:t>2</a:t>
            </a:r>
          </a:p>
        </p:txBody>
      </p:sp>
      <p:sp>
        <p:nvSpPr>
          <p:cNvPr id="33" name="TextBox 32"/>
          <p:cNvSpPr txBox="1"/>
          <p:nvPr/>
        </p:nvSpPr>
        <p:spPr>
          <a:xfrm>
            <a:off x="11201400" y="3383280"/>
            <a:ext cx="6492240" cy="1005840"/>
          </a:xfrm>
          <a:prstGeom prst="rect">
            <a:avLst/>
          </a:prstGeom>
          <a:noFill/>
        </p:spPr>
        <p:txBody>
          <a:bodyPr wrap="square" anchor="t" lIns="27432" rIns="27432" tIns="18288" bIns="18288">
            <a:noAutofit/>
          </a:bodyPr>
          <a:lstStyle/>
          <a:p>
            <a:pPr algn="l">
              <a:spcAft>
                <a:spcPts val="100"/>
              </a:spcAft>
            </a:pPr>
            <a:r>
              <a:rPr sz="1500" b="1" i="0">
                <a:solidFill>
                  <a:srgbClr val="7A2F00"/>
                </a:solidFill>
                <a:latin typeface="Calibri"/>
              </a:rPr>
              <a:t>Phones and light</a:t>
            </a:r>
          </a:p>
          <a:p>
            <a:pPr algn="l">
              <a:spcAft>
                <a:spcPts val="0"/>
              </a:spcAft>
            </a:pPr>
            <a:r>
              <a:rPr sz="1400" b="0" i="0">
                <a:solidFill>
                  <a:srgbClr val="000000"/>
                </a:solidFill>
                <a:latin typeface="Calibri"/>
              </a:rPr>
              <a:t>Paper card, 3+ phones, daylight, yellow bulb, tube light and street lamp.</a:t>
            </a:r>
          </a:p>
        </p:txBody>
      </p:sp>
      <p:sp>
        <p:nvSpPr>
          <p:cNvPr id="34" name="Oval 33"/>
          <p:cNvSpPr/>
          <p:nvPr/>
        </p:nvSpPr>
        <p:spPr>
          <a:xfrm>
            <a:off x="10561320" y="4526280"/>
            <a:ext cx="502920" cy="502920"/>
          </a:xfrm>
          <a:prstGeom prst="ellipse">
            <a:avLst/>
          </a:prstGeom>
          <a:solidFill>
            <a:srgbClr val="7A2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600" b="1" i="0">
                <a:solidFill>
                  <a:srgbClr val="FFFFFF"/>
                </a:solidFill>
                <a:latin typeface="Calibri"/>
              </a:rPr>
              <a:t>3</a:t>
            </a:r>
          </a:p>
        </p:txBody>
      </p:sp>
      <p:sp>
        <p:nvSpPr>
          <p:cNvPr id="35" name="TextBox 34"/>
          <p:cNvSpPr txBox="1"/>
          <p:nvPr/>
        </p:nvSpPr>
        <p:spPr>
          <a:xfrm>
            <a:off x="11201400" y="4480560"/>
            <a:ext cx="6492240" cy="1005840"/>
          </a:xfrm>
          <a:prstGeom prst="rect">
            <a:avLst/>
          </a:prstGeom>
          <a:noFill/>
        </p:spPr>
        <p:txBody>
          <a:bodyPr wrap="square" anchor="t" lIns="27432" rIns="27432" tIns="18288" bIns="18288">
            <a:noAutofit/>
          </a:bodyPr>
          <a:lstStyle/>
          <a:p>
            <a:pPr algn="l">
              <a:spcAft>
                <a:spcPts val="100"/>
              </a:spcAft>
            </a:pPr>
            <a:r>
              <a:rPr sz="1500" b="1" i="0">
                <a:solidFill>
                  <a:srgbClr val="7A2F00"/>
                </a:solidFill>
                <a:latin typeface="Calibri"/>
              </a:rPr>
              <a:t>Measure</a:t>
            </a:r>
          </a:p>
          <a:p>
            <a:pPr algn="l">
              <a:spcAft>
                <a:spcPts val="0"/>
              </a:spcAft>
            </a:pPr>
            <a:r>
              <a:rPr sz="1400" b="0" i="0">
                <a:solidFill>
                  <a:srgbClr val="000000"/>
                </a:solidFill>
                <a:latin typeface="Calibri"/>
              </a:rPr>
              <a:t>Card fit on paper, spread of the right colour, distance to the nearest wrong colour.</a:t>
            </a:r>
          </a:p>
        </p:txBody>
      </p:sp>
      <p:sp>
        <p:nvSpPr>
          <p:cNvPr id="36" name="Oval 35"/>
          <p:cNvSpPr/>
          <p:nvPr/>
        </p:nvSpPr>
        <p:spPr>
          <a:xfrm>
            <a:off x="10561320" y="5623559"/>
            <a:ext cx="502920" cy="502920"/>
          </a:xfrm>
          <a:prstGeom prst="ellipse">
            <a:avLst/>
          </a:prstGeom>
          <a:solidFill>
            <a:srgbClr val="7A2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600" b="1" i="0">
                <a:solidFill>
                  <a:srgbClr val="FFFFFF"/>
                </a:solidFill>
                <a:latin typeface="Calibri"/>
              </a:rPr>
              <a:t>4</a:t>
            </a:r>
          </a:p>
        </p:txBody>
      </p:sp>
      <p:sp>
        <p:nvSpPr>
          <p:cNvPr id="37" name="TextBox 36"/>
          <p:cNvSpPr txBox="1"/>
          <p:nvPr/>
        </p:nvSpPr>
        <p:spPr>
          <a:xfrm>
            <a:off x="11201400" y="5577840"/>
            <a:ext cx="6492240" cy="1005840"/>
          </a:xfrm>
          <a:prstGeom prst="rect">
            <a:avLst/>
          </a:prstGeom>
          <a:noFill/>
        </p:spPr>
        <p:txBody>
          <a:bodyPr wrap="square" anchor="t" lIns="27432" rIns="27432" tIns="18288" bIns="18288">
            <a:noAutofit/>
          </a:bodyPr>
          <a:lstStyle/>
          <a:p>
            <a:pPr algn="l">
              <a:spcAft>
                <a:spcPts val="100"/>
              </a:spcAft>
            </a:pPr>
            <a:r>
              <a:rPr sz="1500" b="1" i="0">
                <a:solidFill>
                  <a:srgbClr val="7A2F00"/>
                </a:solidFill>
                <a:latin typeface="Calibri"/>
              </a:rPr>
              <a:t>Set limits</a:t>
            </a:r>
          </a:p>
          <a:p>
            <a:pPr algn="l">
              <a:spcAft>
                <a:spcPts val="0"/>
              </a:spcAft>
            </a:pPr>
            <a:r>
              <a:rPr sz="1400" b="0" i="0">
                <a:solidFill>
                  <a:srgbClr val="000000"/>
                </a:solidFill>
                <a:latin typeface="Calibri"/>
              </a:rPr>
              <a:t>ΔE limit and lead for each kit from that gap, with a NOT SURE band in between. Freeze them before testing.</a:t>
            </a:r>
          </a:p>
        </p:txBody>
      </p:sp>
      <p:sp>
        <p:nvSpPr>
          <p:cNvPr id="38" name="Oval 37"/>
          <p:cNvSpPr/>
          <p:nvPr/>
        </p:nvSpPr>
        <p:spPr>
          <a:xfrm>
            <a:off x="10561320" y="6720840"/>
            <a:ext cx="502920" cy="502920"/>
          </a:xfrm>
          <a:prstGeom prst="ellipse">
            <a:avLst/>
          </a:prstGeom>
          <a:solidFill>
            <a:srgbClr val="7A2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noAutofit/>
          </a:bodyPr>
          <a:lstStyle/>
          <a:p>
            <a:pPr algn="ctr">
              <a:spcAft>
                <a:spcPts val="0"/>
              </a:spcAft>
            </a:pPr>
            <a:r>
              <a:rPr sz="1600" b="1" i="0">
                <a:solidFill>
                  <a:srgbClr val="FFFFFF"/>
                </a:solidFill>
                <a:latin typeface="Calibri"/>
              </a:rPr>
              <a:t>5</a:t>
            </a:r>
          </a:p>
        </p:txBody>
      </p:sp>
      <p:sp>
        <p:nvSpPr>
          <p:cNvPr id="39" name="TextBox 38"/>
          <p:cNvSpPr txBox="1"/>
          <p:nvPr/>
        </p:nvSpPr>
        <p:spPr>
          <a:xfrm>
            <a:off x="11201400" y="6675120"/>
            <a:ext cx="6492240" cy="1005840"/>
          </a:xfrm>
          <a:prstGeom prst="rect">
            <a:avLst/>
          </a:prstGeom>
          <a:noFill/>
        </p:spPr>
        <p:txBody>
          <a:bodyPr wrap="square" anchor="t" lIns="27432" rIns="27432" tIns="18288" bIns="18288">
            <a:noAutofit/>
          </a:bodyPr>
          <a:lstStyle/>
          <a:p>
            <a:pPr algn="l">
              <a:spcAft>
                <a:spcPts val="100"/>
              </a:spcAft>
            </a:pPr>
            <a:r>
              <a:rPr sz="1500" b="1" i="0">
                <a:solidFill>
                  <a:srgbClr val="7A2F00"/>
                </a:solidFill>
                <a:latin typeface="Calibri"/>
              </a:rPr>
              <a:t>Test fresh samples</a:t>
            </a:r>
          </a:p>
          <a:p>
            <a:pPr algn="l">
              <a:spcAft>
                <a:spcPts val="0"/>
              </a:spcAft>
            </a:pPr>
            <a:r>
              <a:rPr sz="1400" b="0" i="0">
                <a:solidFill>
                  <a:srgbClr val="000000"/>
                </a:solidFill>
                <a:latin typeface="Calibri"/>
              </a:rPr>
              <a:t>Samples not used for tuning, compared with the FSL lab. Report agreement with a range, not one number.</a:t>
            </a:r>
          </a:p>
        </p:txBody>
      </p:sp>
      <p:sp>
        <p:nvSpPr>
          <p:cNvPr id="40" name="Rounded Rectangle 39"/>
          <p:cNvSpPr/>
          <p:nvPr/>
        </p:nvSpPr>
        <p:spPr>
          <a:xfrm>
            <a:off x="10561320" y="7863840"/>
            <a:ext cx="7132320" cy="1508760"/>
          </a:xfrm>
          <a:prstGeom prst="roundRect">
            <a:avLst>
              <a:gd name="adj" fmla="val 6000"/>
            </a:avLst>
          </a:prstGeom>
          <a:solidFill>
            <a:srgbClr val="FBF6EE"/>
          </a:solidFill>
          <a:ln w="12700">
            <a:solidFill>
              <a:srgbClr val="D9C4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98480" y="7927848"/>
            <a:ext cx="6858000" cy="1417320"/>
          </a:xfrm>
          <a:prstGeom prst="rect">
            <a:avLst/>
          </a:prstGeom>
          <a:noFill/>
        </p:spPr>
        <p:txBody>
          <a:bodyPr wrap="square" anchor="t" lIns="27432" rIns="27432" tIns="18288" bIns="18288">
            <a:noAutofit/>
          </a:bodyPr>
          <a:lstStyle/>
          <a:p>
            <a:pPr algn="l">
              <a:spcAft>
                <a:spcPts val="300"/>
              </a:spcAft>
            </a:pPr>
            <a:r>
              <a:rPr sz="1500" b="1" i="0">
                <a:solidFill>
                  <a:srgbClr val="7A2F00"/>
                </a:solidFill>
                <a:latin typeface="Calibri"/>
              </a:rPr>
              <a:t>New kit, step by step</a:t>
            </a:r>
          </a:p>
          <a:p>
            <a:pPr algn="l">
              <a:spcAft>
                <a:spcPts val="300"/>
              </a:spcAft>
            </a:pPr>
            <a:r>
              <a:rPr sz="1500" b="0" i="0">
                <a:solidFill>
                  <a:srgbClr val="000000"/>
                </a:solidFill>
                <a:latin typeface="Calibri"/>
              </a:rPr>
              <a:t>FSL calibrates the kit, admin adds the kit profile (it gets a version number), a small field check, then officers can use it. Kit lot and expiry will be saved in each test record (planned).</a:t>
            </a:r>
          </a:p>
        </p:txBody>
      </p:sp>
      <p:sp>
        <p:nvSpPr>
          <p:cNvPr id="42" name="TextBox 41"/>
          <p:cNvSpPr txBox="1"/>
          <p:nvPr/>
        </p:nvSpPr>
        <p:spPr>
          <a:xfrm>
            <a:off x="640080" y="8641080"/>
            <a:ext cx="9418320" cy="731520"/>
          </a:xfrm>
          <a:prstGeom prst="rect">
            <a:avLst/>
          </a:prstGeom>
          <a:noFill/>
        </p:spPr>
        <p:txBody>
          <a:bodyPr wrap="square" anchor="t" lIns="27432" rIns="27432" tIns="18288" bIns="18288">
            <a:noAutofit/>
          </a:bodyPr>
          <a:lstStyle/>
          <a:p>
            <a:pPr algn="l">
              <a:spcAft>
                <a:spcPts val="0"/>
              </a:spcAft>
            </a:pPr>
            <a:r>
              <a:rPr sz="1250" b="1" i="0">
                <a:solidFill>
                  <a:srgbClr val="555555"/>
                </a:solidFill>
                <a:latin typeface="Calibri"/>
              </a:rPr>
              <a:t>Legal hooks:</a:t>
            </a:r>
            <a:r>
              <a:rPr sz="1250" b="0" i="0">
                <a:solidFill>
                  <a:srgbClr val="555555"/>
                </a:solidFill>
                <a:latin typeface="Calibri"/>
              </a:rPr>
              <a:t> BSA 2023 s.63 (certificate for electronic records, with hash), BNSS 2023 s.105 (recording of search and seizure), NDPS SSSD Rules 2022, DPDP Act 2023 s.8(5) (keep data safe).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1312</Words>
  <Application>Microsoft Office PowerPoint</Application>
  <PresentationFormat>Custom</PresentationFormat>
  <Paragraphs>145</Paragraphs>
  <Slides>6</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Times New Roman Bold</vt:lpstr>
      <vt:lpstr>Calibri</vt:lpstr>
      <vt:lpstr>Arimo</vt:lpstr>
      <vt:lpstr>Times New Roman</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Statement ID – 26034 Problem Statement Title- Software System to check compliance of packaged commodities under Legal Metrology (Packaged Commodities) Rules,2011 by scanning product images and labels. Theme- Miscellaneous PS Category- Software</dc:title>
  <cp:lastModifiedBy>Lokesh Raj</cp:lastModifiedBy>
  <cp:revision>3</cp:revision>
  <dcterms:created xsi:type="dcterms:W3CDTF">2006-08-16T00:00:00Z</dcterms:created>
  <dcterms:modified xsi:type="dcterms:W3CDTF">2026-09-29T05:48:14Z</dcterms:modified>
  <dc:identifier>DAHVDURAeOo</dc:identifier>
</cp:coreProperties>
</file>
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81464-4D67-430D-AE87-8B562290D65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30427-9B06-49C5-890C-530BB4EB8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12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hyperlink" Target="https://youtu.be/F1cuxlgMW2g" TargetMode="External"/><Relationship Id="rId12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5.sv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rsc.org/dd/article/2/4/1143/804876/Teaching-old-presumptive-tests-new-digital-tricks" TargetMode="External"/><Relationship Id="rId3" Type="http://schemas.openxmlformats.org/officeDocument/2006/relationships/image" Target="../media/image5.svg"/><Relationship Id="rId7" Type="http://schemas.openxmlformats.org/officeDocument/2006/relationships/hyperlink" Target="https://nij.ojp.gov/library/publications/objective-method-presumptive-field-testing-illicit-drug-possession-using-0?utm_source=chatgpt.com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5" Type="http://schemas.openxmlformats.org/officeDocument/2006/relationships/hyperlink" Target="https://www.researchgate.net/publication/386361522_Digital_Evidence_Chain_of_Custody_Navigating_New_Realities_of_Digital_Forensics" TargetMode="External"/><Relationship Id="rId4" Type="http://schemas.openxmlformats.org/officeDocument/2006/relationships/hyperlink" Target="https://pubmed.ncbi.nlm.nih.gov/28269432/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632" y="1277874"/>
            <a:ext cx="6958965" cy="7731443"/>
          </a:xfrm>
          <a:custGeom>
            <a:avLst/>
            <a:gdLst/>
            <a:ahLst/>
            <a:cxnLst/>
            <a:rect l="l" t="t" r="r" b="b"/>
            <a:pathLst>
              <a:path w="6958965" h="7731443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28198" y="2119122"/>
            <a:ext cx="4805172" cy="5138928"/>
            <a:chOff x="0" y="0"/>
            <a:chExt cx="6406896" cy="68519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6896" cy="6851904"/>
            </a:xfrm>
            <a:custGeom>
              <a:avLst/>
              <a:gdLst/>
              <a:ahLst/>
              <a:cxnLst/>
              <a:rect l="l" t="t" r="r" b="b"/>
              <a:pathLst>
                <a:path w="6406896" h="6851904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r="-47"/>
              </a:stretch>
            </a:blipFill>
          </p:spPr>
        </p:sp>
      </p:grpSp>
      <p:sp>
        <p:nvSpPr>
          <p:cNvPr id="5" name="TextBox 5" descr="$PPTXTitle"/>
          <p:cNvSpPr txBox="1"/>
          <p:nvPr/>
        </p:nvSpPr>
        <p:spPr>
          <a:xfrm>
            <a:off x="1856872" y="290741"/>
            <a:ext cx="12130088" cy="97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5908" y="2734335"/>
            <a:ext cx="8392108" cy="4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sz="2936" b="1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sz="2933" b="1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sz="2936" b="1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sz="2936" b="1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sz="2936" b="1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sz="2936" b="1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6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4571" cy="718937"/>
            <a:chOff x="0" y="0"/>
            <a:chExt cx="24379428" cy="958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428" cy="958596"/>
            </a:xfrm>
            <a:custGeom>
              <a:avLst/>
              <a:gdLst/>
              <a:ahLst/>
              <a:cxnLst/>
              <a:rect l="l" t="t" r="r" b="b"/>
              <a:pathLst>
                <a:path w="24379428" h="958596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4" b="-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144"/>
            <a:ext cx="18288000" cy="755332"/>
            <a:chOff x="0" y="0"/>
            <a:chExt cx="24384000" cy="10071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6" b="-108"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8595360" y="5870448"/>
            <a:ext cx="9006840" cy="3474720"/>
            <a:chOff x="0" y="0"/>
            <a:chExt cx="120906797" cy="676326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906803" cy="67632697"/>
            </a:xfrm>
            <a:custGeom>
              <a:avLst/>
              <a:gdLst/>
              <a:ahLst/>
              <a:cxnLst/>
              <a:rect l="l" t="t" r="r" b="b"/>
              <a:pathLst>
                <a:path w="120906803" h="67632697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378223" y="2377440"/>
            <a:ext cx="9228727" cy="830419"/>
          </a:xfrm>
          <a:custGeom>
            <a:avLst/>
            <a:gdLst/>
            <a:ahLst/>
            <a:cxnLst/>
            <a:rect l="l" t="t" r="r" b="b"/>
            <a:pathLst>
              <a:path w="9228727" h="830419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656" t="-554195" r="-92275" b="-11289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AutoShape 14"/>
          <p:cNvSpPr/>
          <p:nvPr/>
        </p:nvSpPr>
        <p:spPr>
          <a:xfrm flipV="1">
            <a:off x="1066800" y="3858768"/>
            <a:ext cx="7159819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093704" y="360907"/>
            <a:ext cx="755389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1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16" name="TextBox 16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3028" y="2240280"/>
            <a:ext cx="704252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Officers mainly judge the kit’s colour change by looking at it, so lighting and personal judgement can affect the result.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leave a clear digital record of who performed it, where, and when, making it harder to verify later.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6571" y="1810512"/>
            <a:ext cx="122680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3028" y="4005072"/>
            <a:ext cx="6996848" cy="275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2000"/>
              </a:lnSpc>
            </a:pPr>
            <a:endParaRPr dirty="0"/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8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 app captures the </a:t>
            </a:r>
            <a:r>
              <a:rPr lang="en-US" sz="1800" spc="-1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US" sz="18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change and helps check the result.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8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8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 dashboard manages Inspectors, test records, evidence, and reports.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6571" y="3950208"/>
            <a:ext cx="122680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23960" y="5943600"/>
            <a:ext cx="140079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15400" y="6400800"/>
            <a:ext cx="8503920" cy="3275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60"/>
              </a:lnSpc>
              <a:buFont typeface="Arial"/>
              <a:buChar char="•"/>
            </a:pPr>
            <a:r>
              <a:rPr lang="en-US" sz="20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colour card to improve colour detection under different lighting.</a:t>
            </a:r>
          </a:p>
          <a:p>
            <a:pPr marL="431801" lvl="1" indent="-215900" algn="l">
              <a:lnSpc>
                <a:spcPts val="2860"/>
              </a:lnSpc>
              <a:buFont typeface="Arial"/>
              <a:buChar char="•"/>
            </a:pPr>
            <a:r>
              <a:rPr lang="en-US" sz="20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Unclear Results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marL="431801" lvl="1" indent="-215900" algn="l">
              <a:lnSpc>
                <a:spcPts val="2860"/>
              </a:lnSpc>
              <a:buFont typeface="Arial"/>
              <a:buChar char="•"/>
            </a:pPr>
            <a:r>
              <a:rPr lang="en-US" sz="20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marL="431801" lvl="1" indent="-215900" algn="l">
              <a:lnSpc>
                <a:spcPts val="2860"/>
              </a:lnSpc>
              <a:buFont typeface="Arial"/>
              <a:buChar char="•"/>
            </a:pPr>
            <a:r>
              <a:rPr lang="en-US" sz="20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Supports Multiple Kits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65447" y="1874519"/>
            <a:ext cx="185196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id="25" name="Freeform 25"/>
          <p:cNvSpPr/>
          <p:nvPr/>
        </p:nvSpPr>
        <p:spPr>
          <a:xfrm>
            <a:off x="6720840" y="7991856"/>
            <a:ext cx="1320330" cy="1320330"/>
          </a:xfrm>
          <a:custGeom>
            <a:avLst/>
            <a:gdLst/>
            <a:ahLst/>
            <a:cxnLst/>
            <a:rect l="l" t="t" r="r" b="b"/>
            <a:pathLst>
              <a:path w="1320330" h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152144" y="8421624"/>
            <a:ext cx="3063240" cy="39052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 b="1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Demo Video: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97680" y="8439912"/>
            <a:ext cx="2103120" cy="3619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u="sng" spc="-23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7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7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Video QR click area">
            <a:hlinkClick r:id="rId7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3"/>
          <p:cNvSpPr txBox="1"/>
          <p:nvPr/>
        </p:nvSpPr>
        <p:spPr>
          <a:xfrm>
            <a:off x="8595360" y="3383280"/>
            <a:ext cx="9006840" cy="3810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id="31" name="Freeform 8"/>
          <p:cNvSpPr/>
          <p:nvPr/>
        </p:nvSpPr>
        <p:spPr>
          <a:xfrm>
            <a:off x="8595360" y="3858768"/>
            <a:ext cx="1420051" cy="1783080"/>
          </a:xfrm>
          <a:custGeom>
            <a:avLst/>
            <a:gdLst/>
            <a:ahLst/>
            <a:cxnLst/>
            <a:rect l="l" t="t" r="r" b="b"/>
            <a:pathLst>
              <a:path w="2720876" h="3416454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6699" b="-7027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2" name="Freeform 10"/>
          <p:cNvSpPr/>
          <p:nvPr/>
        </p:nvSpPr>
        <p:spPr>
          <a:xfrm>
            <a:off x="10498282" y="3858768"/>
            <a:ext cx="861759" cy="1783080"/>
          </a:xfrm>
          <a:custGeom>
            <a:avLst/>
            <a:gdLst/>
            <a:ahLst/>
            <a:cxnLst/>
            <a:rect l="l" t="t" r="r" b="b"/>
            <a:pathLst>
              <a:path w="1553035" h="3213409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065" b="-333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3" name="Freeform 11"/>
          <p:cNvSpPr/>
          <p:nvPr/>
        </p:nvSpPr>
        <p:spPr>
          <a:xfrm>
            <a:off x="11842913" y="3858768"/>
            <a:ext cx="1063454" cy="1783080"/>
          </a:xfrm>
          <a:custGeom>
            <a:avLst/>
            <a:gdLst/>
            <a:ahLst/>
            <a:cxnLst/>
            <a:rect l="l" t="t" r="r" b="b"/>
            <a:pathLst>
              <a:path w="1782114" h="2988046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5017" b="-2751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4" name="Freeform 9"/>
          <p:cNvSpPr/>
          <p:nvPr/>
        </p:nvSpPr>
        <p:spPr>
          <a:xfrm>
            <a:off x="13389239" y="3858768"/>
            <a:ext cx="4212960" cy="1783080"/>
          </a:xfrm>
          <a:custGeom>
            <a:avLst/>
            <a:gdLst/>
            <a:ahLst/>
            <a:cxnLst/>
            <a:rect l="l" t="t" r="r" b="b"/>
            <a:pathLst>
              <a:path w="6414433" h="2714824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643" r="-1398" b="-2927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5" name="Freeform 12"/>
          <p:cNvSpPr/>
          <p:nvPr/>
        </p:nvSpPr>
        <p:spPr>
          <a:xfrm>
            <a:off x="10096826" y="4645151"/>
            <a:ext cx="320040" cy="210312"/>
          </a:xfrm>
          <a:custGeom>
            <a:avLst/>
            <a:gdLst/>
            <a:ahLst/>
            <a:cxnLst/>
            <a:rect l="l" t="t" r="r" b="b"/>
            <a:pathLst>
              <a:path w="451106" h="295474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6" name="Freeform 14"/>
          <p:cNvSpPr/>
          <p:nvPr/>
        </p:nvSpPr>
        <p:spPr>
          <a:xfrm>
            <a:off x="11441457" y="4645151"/>
            <a:ext cx="320040" cy="210312"/>
          </a:xfrm>
          <a:custGeom>
            <a:avLst/>
            <a:gdLst/>
            <a:ahLst/>
            <a:cxnLst/>
            <a:rect l="l" t="t" r="r" b="b"/>
            <a:pathLst>
              <a:path w="451106" h="295474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7" name="Freeform 12"/>
          <p:cNvSpPr/>
          <p:nvPr/>
        </p:nvSpPr>
        <p:spPr>
          <a:xfrm>
            <a:off x="12987783" y="4645151"/>
            <a:ext cx="320040" cy="210312"/>
          </a:xfrm>
          <a:custGeom>
            <a:avLst/>
            <a:gdLst/>
            <a:ahLst/>
            <a:cxnLst/>
            <a:rect l="l" t="t" r="r" b="b"/>
            <a:pathLst>
              <a:path w="451106" h="295474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8" name="TextBox 21"/>
          <p:cNvSpPr txBox="1"/>
          <p:nvPr/>
        </p:nvSpPr>
        <p:spPr>
          <a:xfrm>
            <a:off x="1152144" y="6199632"/>
            <a:ext cx="4572000" cy="438912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</a:p>
        </p:txBody>
      </p:sp>
      <p:sp>
        <p:nvSpPr>
          <p:cNvPr id="39" name="TextBox 23"/>
          <p:cNvSpPr txBox="1"/>
          <p:nvPr/>
        </p:nvSpPr>
        <p:spPr>
          <a:xfrm>
            <a:off x="987552" y="6638544"/>
            <a:ext cx="7132320" cy="12801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31801" lvl="1" indent="-215900" algn="l">
              <a:lnSpc>
                <a:spcPct val="110000"/>
              </a:lnSpc>
              <a:buFont typeface="Arial"/>
              <a:buChar char="•"/>
            </a:pPr>
            <a:r>
              <a:rPr lang="en-US" sz="1600" b="1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steps</a:t>
            </a:r>
            <a:r>
              <a:rPr lang="en-US" sz="16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choose kit, take photo inside the box, see result, it gets saved. One test takes around 16 seconds (we checked in 19 scans).</a:t>
            </a:r>
          </a:p>
          <a:p>
            <a:pPr marL="431801" lvl="1" indent="-215900" algn="l">
              <a:lnSpc>
                <a:spcPct val="110000"/>
              </a:lnSpc>
              <a:buFont typeface="Arial"/>
              <a:buChar char="•"/>
            </a:pPr>
            <a:r>
              <a:rPr lang="en-US" sz="1600" b="1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Bad photo?</a:t>
            </a:r>
            <a:r>
              <a:rPr lang="en-US" sz="16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app says NOT SURE, tells the reason (blurry, shiny or card not seen) and asks to take the photo again.</a:t>
            </a:r>
          </a:p>
          <a:p>
            <a:pPr marL="431801" lvl="1" indent="-215900" algn="l">
              <a:lnSpc>
                <a:spcPct val="110000"/>
              </a:lnSpc>
              <a:buFont typeface="Arial"/>
              <a:buChar char="•"/>
            </a:pPr>
            <a:r>
              <a:rPr lang="en-US" sz="1600" b="1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read</a:t>
            </a:r>
            <a:r>
              <a:rPr lang="en-US" sz="16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Result is shown in big </a:t>
            </a:r>
            <a:r>
              <a:rPr lang="en-US" sz="1600" spc="-22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coloured</a:t>
            </a:r>
            <a:r>
              <a:rPr lang="en-US" sz="16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letters, so anyone can read it easily.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641848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150" b="0" i="1">
                <a:solidFill>
                  <a:srgbClr val="6B6B6B"/>
                </a:solidFill>
                <a:latin typeface="Calibri"/>
              </a:rPr>
              <a:t>Test Log (right side) can search and filter by date, officer, kit and result, and download as CSV or PDF with QR.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171" y="1901952"/>
            <a:ext cx="5564269" cy="292608"/>
          </a:xfrm>
          <a:prstGeom prst="rect">
            <a:avLst/>
          </a:prstGeom>
          <a:noFill/>
        </p:spPr>
        <p:txBody>
          <a:bodyPr wrap="square" lIns="27432" tIns="9144" rIns="27432" bIns="9144">
            <a:noAutofit/>
          </a:bodyPr>
          <a:lstStyle/>
          <a:p>
            <a:r>
              <a:rPr sz="1250" b="0">
                <a:solidFill>
                  <a:srgbClr val="555555"/>
                </a:solidFill>
                <a:latin typeface="Calibri"/>
              </a:rPr>
              <a:t>India had 1,20,010 NDPS cases in 2023 (NCRB). Each needs a field test.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6044184"/>
            <a:ext cx="7315200" cy="292608"/>
          </a:xfrm>
          <a:prstGeom prst="rect">
            <a:avLst/>
          </a:prstGeom>
          <a:noFill/>
        </p:spPr>
        <p:txBody>
          <a:bodyPr wrap="square" lIns="27432" tIns="9144" rIns="27432" bIns="9144">
            <a:no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Eye check is guesswork, lab is slow, </a:t>
            </a:r>
            <a:r>
              <a:rPr sz="1200" b="1">
                <a:solidFill>
                  <a:srgbClr val="555555"/>
                </a:solidFill>
                <a:latin typeface="Calibri"/>
              </a:rPr>
              <a:t>FieldProof gives result on the spot for ₹10 with proof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 flipV="1">
            <a:off x="9120273" y="2317442"/>
            <a:ext cx="0" cy="6940858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575656" y="2365906"/>
            <a:ext cx="8506261" cy="7198718"/>
          </a:xfrm>
          <a:custGeom>
            <a:avLst/>
            <a:gdLst/>
            <a:ahLst/>
            <a:cxnLst/>
            <a:rect l="l" t="t" r="r" b="b"/>
            <a:pathLst>
              <a:path w="8506261" h="7198718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85" t="-10560" r="-41196" b="-1792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6" b="-108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633393" y="3206103"/>
            <a:ext cx="2374096" cy="5123386"/>
          </a:xfrm>
          <a:custGeom>
            <a:avLst/>
            <a:gdLst/>
            <a:ahLst/>
            <a:cxnLst/>
            <a:rect l="l" t="t" r="r" b="b"/>
            <a:pathLst>
              <a:path w="2374096" h="512338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659" t="-5244" r="-32335" b="-943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 flipV="1">
            <a:off x="15376592" y="2280181"/>
            <a:ext cx="0" cy="6940858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4" name="TextBox 14" descr="$PPTXTitle"/>
          <p:cNvSpPr txBox="1"/>
          <p:nvPr/>
        </p:nvSpPr>
        <p:spPr>
          <a:xfrm>
            <a:off x="4732364" y="360750"/>
            <a:ext cx="8268583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id="16" name="TextBox 16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14563" y="2563902"/>
            <a:ext cx="25929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4375" y="1842031"/>
            <a:ext cx="25929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48369" y="2251606"/>
            <a:ext cx="5761019" cy="326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computer made photos and 25 real phone scans.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all 25 computer made photos correct. Real scans had 0 wrong answers (14 correct, others said NOT SURE).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Check: Used ΔE ≤ 14, 4-point colour matching, card-fit and glare thresholds.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48369" y="4590288"/>
            <a:ext cx="588500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colours are simulated swatches (test photos + card on a screen), real kits need an FSL calibration trial.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 now it is a lab prototype (TRL 4) tested on 1 phone. Next we test real kits with FSL on more phones.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1316" y="1842031"/>
            <a:ext cx="390060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53728" y="5888736"/>
            <a:ext cx="5989320" cy="3810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 from Real Phone Scans (29 Sep 2026)</a:t>
            </a:r>
          </a:p>
        </p:txBody>
      </p:sp>
      <p:sp>
        <p:nvSpPr>
          <p:cNvPr id="23" name="AutoShape 23"/>
          <p:cNvSpPr/>
          <p:nvPr/>
        </p:nvSpPr>
        <p:spPr>
          <a:xfrm>
            <a:off x="9248369" y="5833872"/>
            <a:ext cx="588500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4" name="Real scans" descr="real_sca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3728" y="6309360"/>
            <a:ext cx="5989320" cy="2582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363648" y="2318099"/>
          <a:ext cx="7695951" cy="4167065"/>
        </p:xfrm>
        <a:graphic>
          <a:graphicData uri="http://schemas.openxmlformats.org/drawingml/2006/table">
            <a:tbl>
              <a:tblPr/>
              <a:tblGrid>
                <a:gridCol w="3597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8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29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476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02920" y="6675120"/>
            <a:ext cx="3977639" cy="2219604"/>
          </a:xfrm>
          <a:custGeom>
            <a:avLst/>
            <a:gdLst/>
            <a:ahLst/>
            <a:cxnLst/>
            <a:rect l="l" t="t" r="r" b="b"/>
            <a:pathLst>
              <a:path w="5354622" h="2987110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9" t="-62172" r="-21685" b="-3234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 descr="$PPTXTitle"/>
          <p:cNvSpPr txBox="1"/>
          <p:nvPr/>
        </p:nvSpPr>
        <p:spPr>
          <a:xfrm>
            <a:off x="3963967" y="360907"/>
            <a:ext cx="981337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1809914"/>
            <a:ext cx="384917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Potential Challenges &amp; Strategies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id="18" name="TextBox 18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791" y="6104165"/>
            <a:ext cx="428196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791" y="1809914"/>
            <a:ext cx="306431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Feasibility &amp; Sustainability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255" y="2271877"/>
            <a:ext cx="8399396" cy="36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one photo and get a result within seconds.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6" b="-108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9144000" y="6749314"/>
            <a:ext cx="283011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Cost &amp; Deployment Plan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088924" y="7391299"/>
            <a:ext cx="1606622" cy="1880336"/>
            <a:chOff x="0" y="0"/>
            <a:chExt cx="27419684" cy="320910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875719" y="7391299"/>
            <a:ext cx="1606622" cy="1880336"/>
            <a:chOff x="0" y="0"/>
            <a:chExt cx="27419684" cy="320910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663316" y="7391299"/>
            <a:ext cx="1606622" cy="1880336"/>
            <a:chOff x="0" y="0"/>
            <a:chExt cx="27419684" cy="3209107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50913" y="7391299"/>
            <a:ext cx="1606622" cy="1880336"/>
            <a:chOff x="0" y="0"/>
            <a:chExt cx="27419684" cy="3209107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238511" y="7391299"/>
            <a:ext cx="1606622" cy="1880336"/>
            <a:chOff x="0" y="0"/>
            <a:chExt cx="27419684" cy="320910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088924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75719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63316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450913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38511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57881" y="7925979"/>
            <a:ext cx="1468708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phone, ₹10 reusable colour card, and open-source software.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943196" y="7925979"/>
            <a:ext cx="1468708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government cloud for the app, database, and admin dashboard.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705981" y="8040279"/>
            <a:ext cx="146870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updates and easy kit-profile updates as needed.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519871" y="8040279"/>
            <a:ext cx="146870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field, then expand deployment.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329303" y="7925979"/>
            <a:ext cx="1468708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can be added through the website without updating the app.</a:t>
            </a:r>
          </a:p>
        </p:txBody>
      </p:sp>
      <p:sp>
        <p:nvSpPr>
          <p:cNvPr id="50" name="AutoShape 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2" name="AutoShape 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3" name="AutoShape 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4" name="TextBox 19"/>
          <p:cNvSpPr txBox="1"/>
          <p:nvPr/>
        </p:nvSpPr>
        <p:spPr>
          <a:xfrm>
            <a:off x="4572000" y="6492240"/>
            <a:ext cx="4206240" cy="38404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Pilot Plan (proposed)</a:t>
            </a:r>
          </a:p>
        </p:txBody>
      </p:sp>
      <p:sp>
        <p:nvSpPr>
          <p:cNvPr id="55" name="TextBox 21"/>
          <p:cNvSpPr txBox="1"/>
          <p:nvPr/>
        </p:nvSpPr>
        <p:spPr>
          <a:xfrm>
            <a:off x="4526280" y="6931152"/>
            <a:ext cx="4315968" cy="248716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10209" lvl="1" indent="-205105" algn="l">
              <a:lnSpc>
                <a:spcPct val="115000"/>
              </a:lnSpc>
              <a:buFont typeface="Arial"/>
              <a:buChar char="•"/>
            </a:pPr>
            <a:r>
              <a:rPr lang="en-US" sz="14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4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- 1 district in Tamil Nadu, with local police and the nearest FSL</a:t>
            </a:r>
          </a:p>
          <a:p>
            <a:pPr marL="410209" lvl="1" indent="-205105" algn="l">
              <a:lnSpc>
                <a:spcPct val="115000"/>
              </a:lnSpc>
              <a:buFont typeface="Arial"/>
              <a:buChar char="•"/>
            </a:pPr>
            <a:r>
              <a:rPr lang="en-US" sz="14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 sz="14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- 20 officers, for 3 months</a:t>
            </a:r>
          </a:p>
          <a:p>
            <a:pPr marL="410209" lvl="1" indent="-205105" algn="l">
              <a:lnSpc>
                <a:spcPct val="115000"/>
              </a:lnSpc>
              <a:buFont typeface="Arial"/>
              <a:buChar char="•"/>
            </a:pPr>
            <a:r>
              <a:rPr lang="en-US" sz="14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4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every field result is checked again in the FSL lab</a:t>
            </a:r>
          </a:p>
          <a:p>
            <a:pPr marL="410209" lvl="1" indent="-205105" algn="l">
              <a:lnSpc>
                <a:spcPct val="115000"/>
              </a:lnSpc>
              <a:buFont typeface="Arial"/>
              <a:buChar char="•"/>
            </a:pPr>
            <a:r>
              <a:rPr lang="en-US" sz="14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US" sz="14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- 95% or more same as lab, NOT SURE below 10%, every record passes the check</a:t>
            </a:r>
          </a:p>
          <a:p>
            <a:pPr marL="410209" lvl="1" indent="-205105" algn="l">
              <a:lnSpc>
                <a:spcPct val="115000"/>
              </a:lnSpc>
              <a:buFont typeface="Arial"/>
              <a:buChar char="•"/>
            </a:pPr>
            <a:r>
              <a:rPr lang="en-US" sz="14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14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first district, then state, then whole country (phases on the left)</a:t>
            </a:r>
          </a:p>
          <a:p>
            <a:pPr marL="410209" lvl="1" indent="-205105" algn="l">
              <a:lnSpc>
                <a:spcPct val="115000"/>
              </a:lnSpc>
              <a:buFont typeface="Arial"/>
              <a:buChar char="•"/>
            </a:pPr>
            <a:r>
              <a:rPr lang="en-US" sz="14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US" sz="14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around ₹10,000 for 3 months, for cards and server (rough estimate)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81560" y="6731026"/>
            <a:ext cx="5394960" cy="475488"/>
          </a:xfrm>
          <a:prstGeom prst="rect">
            <a:avLst/>
          </a:prstGeom>
          <a:noFill/>
        </p:spPr>
        <p:txBody>
          <a:bodyPr wrap="square" lIns="27432" tIns="9144" rIns="27432" bIns="9144">
            <a:noAutofit/>
          </a:bodyPr>
          <a:lstStyle/>
          <a:p>
            <a:r>
              <a:rPr sz="1300" b="1" dirty="0">
                <a:solidFill>
                  <a:srgbClr val="555555"/>
                </a:solidFill>
                <a:latin typeface="Calibri"/>
              </a:rPr>
              <a:t>After pilot, </a:t>
            </a:r>
            <a:r>
              <a:rPr sz="1300" b="0" dirty="0">
                <a:solidFill>
                  <a:srgbClr val="555555"/>
                </a:solidFill>
                <a:latin typeface="Calibri"/>
              </a:rPr>
              <a:t>the state police or NCB IT budget can pay for it.</a:t>
            </a:r>
          </a:p>
          <a:p>
            <a:r>
              <a:rPr sz="1300" b="0" dirty="0">
                <a:solidFill>
                  <a:srgbClr val="555555"/>
                </a:solidFill>
                <a:latin typeface="Calibri"/>
              </a:rPr>
              <a:t>It is open source with no </a:t>
            </a:r>
            <a:r>
              <a:rPr sz="1300" b="0" dirty="0" err="1">
                <a:solidFill>
                  <a:srgbClr val="555555"/>
                </a:solidFill>
                <a:latin typeface="Calibri"/>
              </a:rPr>
              <a:t>licence</a:t>
            </a:r>
            <a:r>
              <a:rPr sz="1300" b="0" dirty="0">
                <a:solidFill>
                  <a:srgbClr val="555555"/>
                </a:solidFill>
                <a:latin typeface="Calibri"/>
              </a:rPr>
              <a:t> fee, so running cost is 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852866" y="2000650"/>
            <a:ext cx="9090296" cy="2418586"/>
            <a:chOff x="0" y="0"/>
            <a:chExt cx="180762863" cy="480941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762870" cy="48094196"/>
            </a:xfrm>
            <a:custGeom>
              <a:avLst/>
              <a:gdLst/>
              <a:ahLst/>
              <a:cxnLst/>
              <a:rect l="l" t="t" r="r" b="b"/>
              <a:pathLst>
                <a:path w="180762870" h="48094196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12566" y="4836047"/>
            <a:ext cx="4685447" cy="4615775"/>
          </a:xfrm>
          <a:custGeom>
            <a:avLst/>
            <a:gdLst/>
            <a:ahLst/>
            <a:cxnLst/>
            <a:rect l="l" t="t" r="r" b="b"/>
            <a:pathLst>
              <a:path w="4685447" h="4615775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0649712" y="7644185"/>
            <a:ext cx="6735059" cy="1810710"/>
            <a:chOff x="0" y="0"/>
            <a:chExt cx="133928377" cy="655126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928383" cy="65512659"/>
            </a:xfrm>
            <a:custGeom>
              <a:avLst/>
              <a:gdLst/>
              <a:ahLst/>
              <a:cxnLst/>
              <a:rect l="l" t="t" r="r" b="b"/>
              <a:pathLst>
                <a:path w="133928383" h="65512659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 rot="19366187">
            <a:off x="4706902" y="5048222"/>
            <a:ext cx="1589450" cy="1289893"/>
          </a:xfrm>
          <a:custGeom>
            <a:avLst/>
            <a:gdLst/>
            <a:ahLst/>
            <a:cxnLst/>
            <a:rect l="l" t="t" r="r" b="b"/>
            <a:pathLst>
              <a:path w="1557904" h="1324218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6524601" y="5010285"/>
            <a:ext cx="3418560" cy="4441537"/>
          </a:xfrm>
          <a:custGeom>
            <a:avLst/>
            <a:gdLst/>
            <a:ahLst/>
            <a:cxnLst/>
            <a:rect l="l" t="t" r="r" b="b"/>
            <a:pathLst>
              <a:path w="3418560" h="4441537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21" b="-994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7" name="Group 17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06" b="-108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0649712" y="2304288"/>
            <a:ext cx="6735059" cy="2354471"/>
          </a:xfrm>
          <a:custGeom>
            <a:avLst/>
            <a:gdLst/>
            <a:ahLst/>
            <a:cxnLst/>
            <a:rect l="l" t="t" r="r" b="b"/>
            <a:pathLst>
              <a:path w="6095839" h="3360331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17800" t="10000" r="1500" b="38900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TextBox 20" descr="$PPTXTitle"/>
          <p:cNvSpPr txBox="1"/>
          <p:nvPr/>
        </p:nvSpPr>
        <p:spPr>
          <a:xfrm>
            <a:off x="4912538" y="346300"/>
            <a:ext cx="7916228" cy="87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95384" y="8046521"/>
            <a:ext cx="6689387" cy="274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Offline Mode - Test even without internet and sync data later.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Phone Security - Use the phone’s security chip to sign each test.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Police System Integration - our CSV export already has time, GPS, officer, result, photo hash and verify link. Linking with e-Sakshya and CCTNS needs NIC or MHA approval.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 Comparison - Compare field results with lab results to improve accuracy.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id="23" name="TextBox 23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2866" y="2433353"/>
            <a:ext cx="3762650" cy="17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consistent testing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Quick access to past test records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84113" y="2433353"/>
            <a:ext cx="5051078" cy="17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test: time, place, officer &amp; photo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paperwork with PDF &amp; QR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74430" y="2079685"/>
            <a:ext cx="191952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53724" y="2085531"/>
            <a:ext cx="235583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30810" y="7680761"/>
            <a:ext cx="166119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sz="2173" b="1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49712" y="1938528"/>
            <a:ext cx="69464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73677" y="4553085"/>
            <a:ext cx="330248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72088" y="1975104"/>
            <a:ext cx="200446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  <p:sp>
        <p:nvSpPr>
          <p:cNvPr id="32" name="TextBox 29"/>
          <p:cNvSpPr txBox="1"/>
          <p:nvPr/>
        </p:nvSpPr>
        <p:spPr>
          <a:xfrm>
            <a:off x="10649712" y="4750199"/>
            <a:ext cx="1828800" cy="36576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Tamper Test -</a:t>
            </a:r>
          </a:p>
        </p:txBody>
      </p:sp>
      <p:sp>
        <p:nvSpPr>
          <p:cNvPr id="33" name="TextBox 31"/>
          <p:cNvSpPr txBox="1"/>
          <p:nvPr/>
        </p:nvSpPr>
        <p:spPr>
          <a:xfrm>
            <a:off x="12368784" y="4786775"/>
            <a:ext cx="4937760" cy="31089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tried it on our saved records</a:t>
            </a:r>
          </a:p>
        </p:txBody>
      </p:sp>
      <p:pic>
        <p:nvPicPr>
          <p:cNvPr id="34" name="Tamper proof" descr="tamper_proof_ta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9712" y="5115959"/>
            <a:ext cx="6735059" cy="2418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4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5" descr="$PPTXTitle"/>
          <p:cNvSpPr txBox="1"/>
          <p:nvPr/>
        </p:nvSpPr>
        <p:spPr>
          <a:xfrm>
            <a:off x="3660096" y="346300"/>
            <a:ext cx="10421112" cy="87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id="17" name="TextBox 17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06" b="-108"/>
              </a:stretch>
            </a:blipFill>
          </p:spPr>
        </p:sp>
      </p:grpSp>
      <p:sp>
        <p:nvSpPr>
          <p:cNvPr id="26" name="Research link 1">
            <a:hlinkClick r:id="rId4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search link 2">
            <a:hlinkClick r:id="rId5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search link 3">
            <a:hlinkClick r:id="rId6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search link 4">
            <a:hlinkClick r:id="rId7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search link 5">
            <a:hlinkClick r:id="rId8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Office PowerPoint</Application>
  <PresentationFormat>Custom</PresentationFormat>
  <Paragraphs>145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 Bold</vt:lpstr>
      <vt:lpstr>Calibri</vt:lpstr>
      <vt:lpstr>Arimo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26034 Problem Statement Title- Software System to check compliance of packaged commodities under Legal Metrology (Packaged Commodities) Rules,2011 by scanning product images and labels. Theme- Miscellaneous PS Category- Software</dc:title>
  <cp:lastModifiedBy>Lokesh Raj</cp:lastModifiedBy>
  <cp:revision>3</cp:revision>
  <dcterms:created xsi:type="dcterms:W3CDTF">2006-08-16T00:00:00Z</dcterms:created>
  <dcterms:modified xsi:type="dcterms:W3CDTF">2026-09-29T05:48:14Z</dcterms:modified>
  <dc:identifier>DAHVDURAeOo</dc:identifier>
</cp:coreProperties>
</file>
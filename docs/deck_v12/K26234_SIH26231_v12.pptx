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2.svg" ContentType="image/svg+xml"/>
  <Override PartName="/ppt/media/image19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mo" panose="020B0604020202020204" charset="0"/>
      <p:regular r:id="rId9"/>
    </p:embeddedFont>
    <p:embeddedFont>
      <p:font typeface="Times New Roman Bold" panose="02020803070505020304" pitchFamily="18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281464-4D67-430D-AE87-8B562290D65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430427-9B06-49C5-890C-530BB4EB8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126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hyperlink" Target="https://youtu.be/F1cuxlgMW2g" TargetMode="External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5.sv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5.svg"/><Relationship Id="rId4" Type="http://schemas.openxmlformats.org/officeDocument/2006/relationships/image" Target="../media/image17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5.svg"/><Relationship Id="rId5" Type="http://schemas.openxmlformats.org/officeDocument/2006/relationships/image" Target="../media/image18.png"/><Relationship Id="rId6" Type="http://schemas.openxmlformats.org/officeDocument/2006/relationships/image" Target="../media/image19.svg"/><Relationship Id="rId7" Type="http://schemas.openxmlformats.org/officeDocument/2006/relationships/image" Target="../media/image20.jpeg"/><Relationship Id="rId8" Type="http://schemas.openxmlformats.org/officeDocument/2006/relationships/image" Target="../media/image3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5.svg"/><Relationship Id="rId4" Type="http://schemas.openxmlformats.org/officeDocument/2006/relationships/hyperlink" Target="https://pubmed.ncbi.nlm.nih.gov/28269432/" TargetMode="External"/><Relationship Id="rId5" Type="http://schemas.openxmlformats.org/officeDocument/2006/relationships/hyperlink" Target="https://www.researchgate.net/publication/386361522_Digital_Evidence_Chain_of_Custody_Navigating_New_Realities_of_Digital_Forensics" TargetMode="External"/><Relationship Id="rId6" Type="http://schemas.openxmlformats.org/officeDocument/2006/relationships/hyperlink" Target="https://www.researchgate.net/publication/259845901_Real_time_quantitative_colorimetric_test_for_methamphetamine_detection_using_digital_and_mobile_phone_technology" TargetMode="External"/><Relationship Id="rId7" Type="http://schemas.openxmlformats.org/officeDocument/2006/relationships/hyperlink" Target="https://nij.ojp.gov/library/publications/objective-method-presumptive-field-testing-illicit-drug-possession-using-0?utm_source=chatgpt.com" TargetMode="External"/><Relationship Id="rId8" Type="http://schemas.openxmlformats.org/officeDocument/2006/relationships/hyperlink" Target="https://pubs.rsc.org/dd/article/2/4/1143/804876/Teaching-old-presumptive-tests-new-digital-tricks" TargetMode="Externa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632" y="1277874"/>
            <a:ext cx="6958965" cy="7731443"/>
          </a:xfrm>
          <a:custGeom>
            <a:avLst/>
            <a:gdLst/>
            <a:ahLst/>
            <a:cxnLst/>
            <a:rect l="l" t="t" r="r" b="b"/>
            <a:pathLst>
              <a:path w="6958965" h="7731443">
                <a:moveTo>
                  <a:pt x="0" y="0"/>
                </a:moveTo>
                <a:lnTo>
                  <a:pt x="6958965" y="0"/>
                </a:lnTo>
                <a:lnTo>
                  <a:pt x="6958965" y="7731443"/>
                </a:lnTo>
                <a:lnTo>
                  <a:pt x="0" y="77314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728198" y="2119122"/>
            <a:ext cx="4805172" cy="5138928"/>
            <a:chOff x="0" y="0"/>
            <a:chExt cx="6406896" cy="68519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6896" cy="6851904"/>
            </a:xfrm>
            <a:custGeom>
              <a:avLst/>
              <a:gdLst/>
              <a:ahLst/>
              <a:cxnLst/>
              <a:rect l="l" t="t" r="r" b="b"/>
              <a:pathLst>
                <a:path w="6406896" h="6851904">
                  <a:moveTo>
                    <a:pt x="0" y="0"/>
                  </a:moveTo>
                  <a:lnTo>
                    <a:pt x="6406896" y="0"/>
                  </a:lnTo>
                  <a:lnTo>
                    <a:pt x="6406896" y="6851904"/>
                  </a:lnTo>
                  <a:lnTo>
                    <a:pt x="0" y="6851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6" r="-47"/>
              </a:stretch>
            </a:blipFill>
          </p:spPr>
        </p:sp>
      </p:grpSp>
      <p:sp>
        <p:nvSpPr>
          <p:cNvPr id="5" name="TextBox 5" descr="$PPTXTitle"/>
          <p:cNvSpPr txBox="1"/>
          <p:nvPr/>
        </p:nvSpPr>
        <p:spPr>
          <a:xfrm>
            <a:off x="1856872" y="290741"/>
            <a:ext cx="12130088" cy="978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 spc="-15">
                <a:solidFill>
                  <a:srgbClr val="1F47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INDIA HACKATHON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15908" y="2734335"/>
            <a:ext cx="8392108" cy="494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68"/>
              </a:lnSpc>
            </a:pPr>
            <a:r>
              <a:rPr lang="en-US" sz="2936" b="1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- </a:t>
            </a:r>
            <a:r>
              <a:rPr lang="en-US" sz="293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26231</a:t>
            </a:r>
          </a:p>
          <a:p>
            <a:pPr algn="just">
              <a:lnSpc>
                <a:spcPts val="5661"/>
              </a:lnSpc>
            </a:pPr>
            <a:r>
              <a:rPr lang="en-US" sz="2933" b="1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 -</a:t>
            </a:r>
            <a:r>
              <a:rPr lang="en-US" sz="2933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Companion for Field Drug Testing</a:t>
            </a:r>
          </a:p>
          <a:p>
            <a:pPr algn="just">
              <a:lnSpc>
                <a:spcPts val="5668"/>
              </a:lnSpc>
            </a:pPr>
            <a:r>
              <a:rPr lang="en-US" sz="2936" b="1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MedTech / BioTech / HealthTech</a:t>
            </a:r>
          </a:p>
          <a:p>
            <a:pPr algn="just">
              <a:lnSpc>
                <a:spcPts val="5668"/>
              </a:lnSpc>
            </a:pPr>
            <a:r>
              <a:rPr lang="en-US" sz="2936" b="1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</a:p>
          <a:p>
            <a:pPr algn="just">
              <a:lnSpc>
                <a:spcPts val="5668"/>
              </a:lnSpc>
            </a:pPr>
            <a:r>
              <a:rPr lang="en-US" sz="2936" b="1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K26234</a:t>
            </a:r>
          </a:p>
          <a:p>
            <a:pPr algn="just">
              <a:lnSpc>
                <a:spcPts val="5668"/>
              </a:lnSpc>
            </a:pPr>
            <a:r>
              <a:rPr lang="en-US" sz="2936" b="1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HexTech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720116" y="33423"/>
            <a:ext cx="3287373" cy="1531268"/>
            <a:chOff x="0" y="0"/>
            <a:chExt cx="4383164" cy="2041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83151" cy="2041652"/>
            </a:xfrm>
            <a:custGeom>
              <a:avLst/>
              <a:gdLst/>
              <a:ahLst/>
              <a:cxnLst/>
              <a:rect l="l" t="t" r="r" b="b"/>
              <a:pathLst>
                <a:path w="4383151" h="2041652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6" b="-108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64624"/>
            <a:ext cx="18284571" cy="718937"/>
            <a:chOff x="0" y="0"/>
            <a:chExt cx="24379428" cy="958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9428" cy="958596"/>
            </a:xfrm>
            <a:custGeom>
              <a:avLst/>
              <a:gdLst/>
              <a:ahLst/>
              <a:cxnLst/>
              <a:rect l="l" t="t" r="r" b="b"/>
              <a:pathLst>
                <a:path w="24379428" h="958596">
                  <a:moveTo>
                    <a:pt x="0" y="0"/>
                  </a:moveTo>
                  <a:lnTo>
                    <a:pt x="24379428" y="0"/>
                  </a:lnTo>
                  <a:lnTo>
                    <a:pt x="24379428" y="958596"/>
                  </a:lnTo>
                  <a:lnTo>
                    <a:pt x="0" y="958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4" b="-6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532144"/>
            <a:ext cx="18288000" cy="755332"/>
            <a:chOff x="0" y="0"/>
            <a:chExt cx="24384000" cy="10071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24384000" y="0"/>
                  </a:moveTo>
                  <a:lnTo>
                    <a:pt x="0" y="0"/>
                  </a:lnTo>
                  <a:lnTo>
                    <a:pt x="0" y="1006475"/>
                  </a:lnTo>
                  <a:lnTo>
                    <a:pt x="24384000" y="1006475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391335" y="315011"/>
            <a:ext cx="2629852" cy="1249680"/>
          </a:xfrm>
          <a:custGeom>
            <a:avLst/>
            <a:gdLst/>
            <a:ahLst/>
            <a:cxnLst/>
            <a:rect l="l" t="t" r="r" b="b"/>
            <a:pathLst>
              <a:path w="2629852" h="1249680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14720116" y="33423"/>
            <a:ext cx="3287373" cy="1531268"/>
            <a:chOff x="0" y="0"/>
            <a:chExt cx="4383164" cy="2041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83151" cy="2041652"/>
            </a:xfrm>
            <a:custGeom>
              <a:avLst/>
              <a:gdLst/>
              <a:ahLst/>
              <a:cxnLst/>
              <a:rect l="l" t="t" r="r" b="b"/>
              <a:pathLst>
                <a:path w="4383151" h="2041652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6" b="-108"/>
              </a:stretch>
            </a:blipFill>
          </p:spPr>
        </p:sp>
      </p:grpSp>
      <p:sp>
        <p:nvSpPr>
          <p:cNvPr id="9" name="AutoShape 9"/>
          <p:cNvSpPr/>
          <p:nvPr/>
        </p:nvSpPr>
        <p:spPr>
          <a:xfrm>
            <a:off x="8226619" y="1770996"/>
            <a:ext cx="0" cy="7384231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10" name="Group 10"/>
          <p:cNvGrpSpPr/>
          <p:nvPr/>
        </p:nvGrpSpPr>
        <p:grpSpPr>
          <a:xfrm>
            <a:off x="8595360" y="5870448"/>
            <a:ext cx="9006840" cy="3474720"/>
            <a:chOff x="0" y="0"/>
            <a:chExt cx="120906797" cy="676326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0906803" cy="67632697"/>
            </a:xfrm>
            <a:custGeom>
              <a:avLst/>
              <a:gdLst/>
              <a:ahLst/>
              <a:cxnLst/>
              <a:rect l="l" t="t" r="r" b="b"/>
              <a:pathLst>
                <a:path w="120906803" h="67632697">
                  <a:moveTo>
                    <a:pt x="10928" y="0"/>
                  </a:moveTo>
                  <a:lnTo>
                    <a:pt x="120895876" y="0"/>
                  </a:lnTo>
                  <a:cubicBezTo>
                    <a:pt x="120898779" y="0"/>
                    <a:pt x="120901557" y="1151"/>
                    <a:pt x="120903603" y="3201"/>
                  </a:cubicBezTo>
                  <a:cubicBezTo>
                    <a:pt x="120905650" y="5250"/>
                    <a:pt x="120906803" y="8030"/>
                    <a:pt x="120906803" y="10928"/>
                  </a:cubicBezTo>
                  <a:lnTo>
                    <a:pt x="120906803" y="67621770"/>
                  </a:lnTo>
                  <a:cubicBezTo>
                    <a:pt x="120906803" y="67627804"/>
                    <a:pt x="120901916" y="67632697"/>
                    <a:pt x="120895876" y="67632697"/>
                  </a:cubicBezTo>
                  <a:lnTo>
                    <a:pt x="10928" y="67632697"/>
                  </a:lnTo>
                  <a:cubicBezTo>
                    <a:pt x="4893" y="67632697"/>
                    <a:pt x="0" y="67627804"/>
                    <a:pt x="0" y="67621770"/>
                  </a:cubicBezTo>
                  <a:lnTo>
                    <a:pt x="0" y="10928"/>
                  </a:lnTo>
                  <a:cubicBezTo>
                    <a:pt x="0" y="4893"/>
                    <a:pt x="4893" y="0"/>
                    <a:pt x="10928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120906797" cy="677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8378223" y="2377440"/>
            <a:ext cx="9228727" cy="830419"/>
          </a:xfrm>
          <a:custGeom>
            <a:avLst/>
            <a:gdLst/>
            <a:ahLst/>
            <a:cxnLst/>
            <a:rect l="l" t="t" r="r" b="b"/>
            <a:pathLst>
              <a:path w="9228727" h="830419">
                <a:moveTo>
                  <a:pt x="0" y="0"/>
                </a:moveTo>
                <a:lnTo>
                  <a:pt x="9228727" y="0"/>
                </a:lnTo>
                <a:lnTo>
                  <a:pt x="9228727" y="830419"/>
                </a:lnTo>
                <a:lnTo>
                  <a:pt x="0" y="8304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656" t="-554195" r="-92275" b="-112892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4" name="AutoShape 14"/>
          <p:cNvSpPr/>
          <p:nvPr/>
        </p:nvSpPr>
        <p:spPr>
          <a:xfrm flipV="1">
            <a:off x="1066800" y="3858768"/>
            <a:ext cx="7159819" cy="0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5093704" y="360907"/>
            <a:ext cx="7553895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sz="5399" b="1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id="16" name="TextBox 16" descr="$PPTXTitle"/>
          <p:cNvSpPr txBox="1"/>
          <p:nvPr/>
        </p:nvSpPr>
        <p:spPr>
          <a:xfrm>
            <a:off x="1074372" y="677913"/>
            <a:ext cx="14614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3028" y="2240280"/>
            <a:ext cx="7042520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ct val="112000"/>
              </a:lnSpc>
              <a:buFont typeface="Arial"/>
              <a:buChar char="•"/>
            </a:pPr>
            <a:r>
              <a:rPr lang="en-US" sz="17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Officers mainly judge the kit’s colour change by looking at it, so lighting and personal judgement can affect the result.</a:t>
            </a:r>
          </a:p>
          <a:p>
            <a:pPr marL="431801" lvl="1" indent="-215900" algn="l">
              <a:lnSpc>
                <a:spcPct val="112000"/>
              </a:lnSpc>
              <a:buFont typeface="Arial"/>
              <a:buChar char="•"/>
            </a:pPr>
            <a:r>
              <a:rPr lang="en-US" sz="17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is no standard colour value to compare the test result with.</a:t>
            </a:r>
          </a:p>
          <a:p>
            <a:pPr marL="431801" lvl="1" indent="-215900" algn="l">
              <a:lnSpc>
                <a:spcPct val="112000"/>
              </a:lnSpc>
              <a:buFont typeface="Arial"/>
              <a:buChar char="•"/>
            </a:pPr>
            <a:r>
              <a:rPr lang="en-US" sz="17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test does not always leave a clear digital record of who performed it, where, and when, making it harder to verify later.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063656" y="9649673"/>
            <a:ext cx="104775" cy="288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800" b="1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6571" y="1810512"/>
            <a:ext cx="122680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b="1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3028" y="4005072"/>
            <a:ext cx="6996848" cy="275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12000"/>
              </a:lnSpc>
            </a:pPr>
            <a:endParaRPr dirty="0"/>
          </a:p>
          <a:p>
            <a:pPr marL="431801" lvl="1" indent="-215900" algn="l">
              <a:lnSpc>
                <a:spcPct val="112000"/>
              </a:lnSpc>
              <a:buFont typeface="Arial"/>
              <a:buChar char="•"/>
            </a:pPr>
            <a:r>
              <a:rPr lang="en-US" sz="1700" spc="-1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the Test - The mobile app captures the </a:t>
            </a:r>
            <a:r>
              <a:rPr lang="en-US" sz="1700" spc="-1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US" sz="1700" spc="-1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change and helps check the result.</a:t>
            </a:r>
          </a:p>
          <a:p>
            <a:pPr marL="431801" lvl="1" indent="-215900" algn="l">
              <a:lnSpc>
                <a:spcPct val="112000"/>
              </a:lnSpc>
              <a:buFont typeface="Arial"/>
              <a:buChar char="•"/>
            </a:pPr>
            <a:r>
              <a:rPr lang="en-US" sz="1700" spc="-1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Record the Test - Saves the result along with the time, location, and Inspector ID.</a:t>
            </a:r>
          </a:p>
          <a:p>
            <a:pPr marL="431801" lvl="1" indent="-215900" algn="l">
              <a:lnSpc>
                <a:spcPct val="112000"/>
              </a:lnSpc>
              <a:buFont typeface="Arial"/>
              <a:buChar char="•"/>
            </a:pPr>
            <a:r>
              <a:rPr lang="en-US" sz="1700" spc="-1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 the Records - The admin dashboard manages Inspectors, test records, evidence, and reports.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6571" y="3950208"/>
            <a:ext cx="122680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b="1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23960" y="5943600"/>
            <a:ext cx="140079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b="1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Novelty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15400" y="6400800"/>
            <a:ext cx="8503920" cy="3275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ct val="130000"/>
              </a:lnSpc>
              <a:buFont typeface="Arial"/>
              <a:buChar char="•"/>
            </a:pPr>
            <a:r>
              <a:rPr lang="en-US" sz="1700" b="1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Handles Lighting Variations</a:t>
            </a:r>
            <a:r>
              <a:rPr lang="en-US" sz="17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Uses a low-cost colour card to improve colour detection under different lighting.</a:t>
            </a:r>
          </a:p>
          <a:p>
            <a:pPr marL="431801" lvl="1" indent="-215900" algn="l">
              <a:lnSpc>
                <a:spcPct val="130000"/>
              </a:lnSpc>
              <a:buFont typeface="Arial"/>
              <a:buChar char="•"/>
            </a:pPr>
            <a:r>
              <a:rPr lang="en-US" sz="1700" b="1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Handles Unclear Results</a:t>
            </a:r>
            <a:r>
              <a:rPr lang="en-US" sz="17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Blurry, shiny, or unclear images are marked INCONCLUSIVE instead of giving a wrong result.</a:t>
            </a:r>
          </a:p>
          <a:p>
            <a:pPr marL="431801" lvl="1" indent="-215900" algn="l">
              <a:lnSpc>
                <a:spcPct val="130000"/>
              </a:lnSpc>
              <a:buFont typeface="Arial"/>
              <a:buChar char="•"/>
            </a:pPr>
            <a:r>
              <a:rPr lang="en-US" sz="1700" b="1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Creates Verifiable Evidence</a:t>
            </a:r>
            <a:r>
              <a:rPr lang="en-US" sz="17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Securely records the photo, GPS, time, and Inspector ID, with QR-based verification.</a:t>
            </a:r>
          </a:p>
          <a:p>
            <a:pPr marL="431801" lvl="1" indent="-215900" algn="l">
              <a:lnSpc>
                <a:spcPct val="130000"/>
              </a:lnSpc>
              <a:buFont typeface="Arial"/>
              <a:buChar char="•"/>
            </a:pPr>
            <a:r>
              <a:rPr lang="en-US" sz="1700" b="1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Supports Multiple Kits</a:t>
            </a:r>
            <a:r>
              <a:rPr lang="en-US" sz="17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New kit colour profiles can be added from the Admin website without changing the app.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965447" y="1874519"/>
            <a:ext cx="1851963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b="1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Our Approach</a:t>
            </a:r>
          </a:p>
        </p:txBody>
      </p:sp>
      <p:sp>
        <p:nvSpPr>
          <p:cNvPr id="25" name="Freeform 25"/>
          <p:cNvSpPr/>
          <p:nvPr/>
        </p:nvSpPr>
        <p:spPr>
          <a:xfrm>
            <a:off x="6720840" y="7991856"/>
            <a:ext cx="1320330" cy="1320330"/>
          </a:xfrm>
          <a:custGeom>
            <a:avLst/>
            <a:gdLst/>
            <a:ahLst/>
            <a:cxnLst/>
            <a:rect l="l" t="t" r="r" b="b"/>
            <a:pathLst>
              <a:path w="1320330" h="1320330">
                <a:moveTo>
                  <a:pt x="0" y="0"/>
                </a:moveTo>
                <a:lnTo>
                  <a:pt x="1320330" y="0"/>
                </a:lnTo>
                <a:lnTo>
                  <a:pt x="1320330" y="1320330"/>
                </a:lnTo>
                <a:lnTo>
                  <a:pt x="0" y="13203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1152144" y="8421624"/>
            <a:ext cx="3063240" cy="390525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300" b="1" spc="-25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Prototype Demo Video: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297680" y="8439912"/>
            <a:ext cx="2103120" cy="3619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520"/>
              </a:lnSpc>
            </a:pPr>
            <a:r>
              <a:rPr lang="en-US" sz="2100" u="sng" spc="-23">
                <a:solidFill>
                  <a:srgbClr val="006EC0"/>
                </a:solidFill>
                <a:latin typeface="Calibri"/>
                <a:ea typeface="Calibri"/>
                <a:cs typeface="Calibri"/>
                <a:sym typeface="Calibri"/>
                <a:hlinkClick r:id="rId7" tooltip="https://youtu.be/F1cuxlgMW2g"/>
              </a:rPr>
              <a:t>Prototype Video Link</a:t>
            </a:r>
          </a:p>
        </p:txBody>
      </p:sp>
      <p:sp>
        <p:nvSpPr>
          <p:cNvPr id="28" name="Video link click area">
            <a:hlinkClick r:id="rId7"/>
          </p:cNvPr>
          <p:cNvSpPr/>
          <p:nvPr/>
        </p:nvSpPr>
        <p:spPr>
          <a:xfrm>
            <a:off x="4297680" y="8394192"/>
            <a:ext cx="210312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Video QR click area">
            <a:hlinkClick r:id="rId7"/>
          </p:cNvPr>
          <p:cNvSpPr/>
          <p:nvPr/>
        </p:nvSpPr>
        <p:spPr>
          <a:xfrm>
            <a:off x="6720840" y="7991856"/>
            <a:ext cx="1320330" cy="13203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3"/>
          <p:cNvSpPr txBox="1"/>
          <p:nvPr/>
        </p:nvSpPr>
        <p:spPr>
          <a:xfrm>
            <a:off x="8595360" y="3383280"/>
            <a:ext cx="9006840" cy="38100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Prototype Flow - </a:t>
            </a:r>
            <a:r>
              <a:rPr lang="en-US" sz="2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real screenshots of our working prototype</a:t>
            </a:r>
          </a:p>
        </p:txBody>
      </p:sp>
      <p:sp>
        <p:nvSpPr>
          <p:cNvPr id="31" name="Freeform 8"/>
          <p:cNvSpPr/>
          <p:nvPr/>
        </p:nvSpPr>
        <p:spPr>
          <a:xfrm>
            <a:off x="8595360" y="3858768"/>
            <a:ext cx="1420051" cy="1783080"/>
          </a:xfrm>
          <a:custGeom>
            <a:avLst/>
            <a:gdLst/>
            <a:ahLst/>
            <a:cxnLst/>
            <a:rect l="l" t="t" r="r" b="b"/>
            <a:pathLst>
              <a:path w="2720876" h="3416454">
                <a:moveTo>
                  <a:pt x="0" y="0"/>
                </a:moveTo>
                <a:lnTo>
                  <a:pt x="2720876" y="0"/>
                </a:lnTo>
                <a:lnTo>
                  <a:pt x="2720876" y="3416454"/>
                </a:lnTo>
                <a:lnTo>
                  <a:pt x="0" y="34164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6699" b="-70279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2" name="Freeform 10"/>
          <p:cNvSpPr/>
          <p:nvPr/>
        </p:nvSpPr>
        <p:spPr>
          <a:xfrm>
            <a:off x="10498282" y="3858768"/>
            <a:ext cx="861759" cy="1783080"/>
          </a:xfrm>
          <a:custGeom>
            <a:avLst/>
            <a:gdLst/>
            <a:ahLst/>
            <a:cxnLst/>
            <a:rect l="l" t="t" r="r" b="b"/>
            <a:pathLst>
              <a:path w="1553035" h="3213409">
                <a:moveTo>
                  <a:pt x="0" y="0"/>
                </a:moveTo>
                <a:lnTo>
                  <a:pt x="1553035" y="0"/>
                </a:lnTo>
                <a:lnTo>
                  <a:pt x="1553035" y="3213409"/>
                </a:lnTo>
                <a:lnTo>
                  <a:pt x="0" y="32134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4065" b="-333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3" name="Freeform 11"/>
          <p:cNvSpPr/>
          <p:nvPr/>
        </p:nvSpPr>
        <p:spPr>
          <a:xfrm>
            <a:off x="11842913" y="3858768"/>
            <a:ext cx="1063454" cy="1783080"/>
          </a:xfrm>
          <a:custGeom>
            <a:avLst/>
            <a:gdLst/>
            <a:ahLst/>
            <a:cxnLst/>
            <a:rect l="l" t="t" r="r" b="b"/>
            <a:pathLst>
              <a:path w="1782114" h="2988046">
                <a:moveTo>
                  <a:pt x="0" y="0"/>
                </a:moveTo>
                <a:lnTo>
                  <a:pt x="1782114" y="0"/>
                </a:lnTo>
                <a:lnTo>
                  <a:pt x="1782114" y="2988046"/>
                </a:lnTo>
                <a:lnTo>
                  <a:pt x="0" y="29880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5017" b="-27519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4" name="Freeform 9"/>
          <p:cNvSpPr/>
          <p:nvPr/>
        </p:nvSpPr>
        <p:spPr>
          <a:xfrm>
            <a:off x="13389239" y="3858768"/>
            <a:ext cx="4212960" cy="1783080"/>
          </a:xfrm>
          <a:custGeom>
            <a:avLst/>
            <a:gdLst/>
            <a:ahLst/>
            <a:cxnLst/>
            <a:rect l="l" t="t" r="r" b="b"/>
            <a:pathLst>
              <a:path w="6414433" h="2714824">
                <a:moveTo>
                  <a:pt x="0" y="0"/>
                </a:moveTo>
                <a:lnTo>
                  <a:pt x="6414433" y="0"/>
                </a:lnTo>
                <a:lnTo>
                  <a:pt x="6414433" y="2714824"/>
                </a:lnTo>
                <a:lnTo>
                  <a:pt x="0" y="27148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2643" r="-1398" b="-2927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5" name="Freeform 12"/>
          <p:cNvSpPr/>
          <p:nvPr/>
        </p:nvSpPr>
        <p:spPr>
          <a:xfrm>
            <a:off x="10096826" y="4645151"/>
            <a:ext cx="320040" cy="210312"/>
          </a:xfrm>
          <a:custGeom>
            <a:avLst/>
            <a:gdLst/>
            <a:ahLst/>
            <a:cxnLst/>
            <a:rect l="l" t="t" r="r" b="b"/>
            <a:pathLst>
              <a:path w="451106" h="295474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6" name="Freeform 14"/>
          <p:cNvSpPr/>
          <p:nvPr/>
        </p:nvSpPr>
        <p:spPr>
          <a:xfrm>
            <a:off x="11441457" y="4645151"/>
            <a:ext cx="320040" cy="210312"/>
          </a:xfrm>
          <a:custGeom>
            <a:avLst/>
            <a:gdLst/>
            <a:ahLst/>
            <a:cxnLst/>
            <a:rect l="l" t="t" r="r" b="b"/>
            <a:pathLst>
              <a:path w="451106" h="295474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7" name="Freeform 12"/>
          <p:cNvSpPr/>
          <p:nvPr/>
        </p:nvSpPr>
        <p:spPr>
          <a:xfrm>
            <a:off x="12987783" y="4645151"/>
            <a:ext cx="320040" cy="210312"/>
          </a:xfrm>
          <a:custGeom>
            <a:avLst/>
            <a:gdLst/>
            <a:ahLst/>
            <a:cxnLst/>
            <a:rect l="l" t="t" r="r" b="b"/>
            <a:pathLst>
              <a:path w="451106" h="295474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8" name="TextBox 21"/>
          <p:cNvSpPr txBox="1"/>
          <p:nvPr/>
        </p:nvSpPr>
        <p:spPr>
          <a:xfrm>
            <a:off x="1152144" y="6199632"/>
            <a:ext cx="4572000" cy="438912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 b="1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User Experience</a:t>
            </a:r>
          </a:p>
        </p:txBody>
      </p:sp>
      <p:sp>
        <p:nvSpPr>
          <p:cNvPr id="39" name="TextBox 23"/>
          <p:cNvSpPr txBox="1"/>
          <p:nvPr/>
        </p:nvSpPr>
        <p:spPr>
          <a:xfrm>
            <a:off x="987552" y="6638544"/>
            <a:ext cx="7132320" cy="128016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431801" lvl="1" indent="-215900" algn="l">
              <a:lnSpc>
                <a:spcPct val="110000"/>
              </a:lnSpc>
              <a:buFont typeface="Arial"/>
              <a:buChar char="•"/>
            </a:pPr>
            <a:r>
              <a:rPr lang="en-US" sz="1700" b="1" spc="-22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 steps</a:t>
            </a:r>
            <a:r>
              <a:rPr lang="en-US" sz="1700" spc="-22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choose kit, take photo inside the box, see result, it gets saved. One test takes around 16 seconds (we checked in 19 scans).</a:t>
            </a:r>
          </a:p>
          <a:p>
            <a:pPr marL="431801" lvl="1" indent="-215900" algn="l">
              <a:lnSpc>
                <a:spcPct val="110000"/>
              </a:lnSpc>
              <a:buFont typeface="Arial"/>
              <a:buChar char="•"/>
            </a:pPr>
            <a:r>
              <a:rPr lang="en-US" sz="1700" b="1" spc="-22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Bad photo?</a:t>
            </a:r>
            <a:r>
              <a:rPr lang="en-US" sz="1700" spc="-22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app says NOT SURE, tells the reason (blurry, shiny or card not seen) and asks to take the photo again.</a:t>
            </a:r>
          </a:p>
          <a:p>
            <a:pPr marL="431801" lvl="1" indent="-215900" algn="l">
              <a:lnSpc>
                <a:spcPct val="110000"/>
              </a:lnSpc>
              <a:buFont typeface="Arial"/>
              <a:buChar char="•"/>
            </a:pPr>
            <a:r>
              <a:rPr lang="en-US" sz="1700" b="1" spc="-22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to read</a:t>
            </a:r>
            <a:r>
              <a:rPr lang="en-US" sz="1700" spc="-22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Result is shown in big </a:t>
            </a:r>
            <a:r>
              <a:rPr lang="en-US" sz="1700" spc="-22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coloured</a:t>
            </a:r>
            <a:r>
              <a:rPr lang="en-US" sz="1700" spc="-22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letters, so anyone can read it easily.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5641848"/>
            <a:ext cx="90068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noAutofit/>
          </a:bodyPr>
          <a:lstStyle/>
          <a:p>
            <a:r>
              <a:rPr sz="1200" b="0" i="1">
                <a:solidFill>
                  <a:srgbClr val="6B6B6B"/>
                </a:solidFill>
                <a:latin typeface="Calibri"/>
              </a:rPr>
              <a:t>Test Log (right side) can search and filter by date, officer, kit and result, and download as CSV or PDF with QR.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28171" y="1901952"/>
            <a:ext cx="5564269" cy="292608"/>
          </a:xfrm>
          <a:prstGeom prst="rect">
            <a:avLst/>
          </a:prstGeom>
          <a:noFill/>
        </p:spPr>
        <p:txBody>
          <a:bodyPr wrap="square" lIns="27432" tIns="9144" rIns="27432" bIns="9144">
            <a:no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India had 1,20,010 NDPS cases in 2023 (NCRB). Each needs a field test.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6044184"/>
            <a:ext cx="7315200" cy="292608"/>
          </a:xfrm>
          <a:prstGeom prst="rect">
            <a:avLst/>
          </a:prstGeom>
          <a:noFill/>
        </p:spPr>
        <p:txBody>
          <a:bodyPr wrap="square" lIns="27432" tIns="9144" rIns="27432" bIns="9144">
            <a:no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Eye check is guesswork, lab is slow, </a:t>
            </a:r>
            <a:r>
              <a:rPr sz="1200" b="1">
                <a:solidFill>
                  <a:srgbClr val="555555"/>
                </a:solidFill>
                <a:latin typeface="Calibri"/>
              </a:rPr>
              <a:t>FieldProof gives result on the spot for ₹10 with proof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64624"/>
            <a:ext cx="18280761" cy="715289"/>
            <a:chOff x="0" y="0"/>
            <a:chExt cx="24374348" cy="953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4348" cy="953770"/>
            </a:xfrm>
            <a:custGeom>
              <a:avLst/>
              <a:gdLst/>
              <a:ahLst/>
              <a:cxnLst/>
              <a:rect l="l" t="t" r="r" b="b"/>
              <a:pathLst>
                <a:path w="24374348" h="953770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14" b="-90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532620"/>
            <a:ext cx="18288000" cy="754380"/>
            <a:chOff x="0" y="0"/>
            <a:chExt cx="24384000" cy="1005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5840"/>
            </a:xfrm>
            <a:custGeom>
              <a:avLst/>
              <a:gdLst/>
              <a:ahLst/>
              <a:cxnLst/>
              <a:rect l="l" t="t" r="r" b="b"/>
              <a:pathLst>
                <a:path w="24384000" h="100584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391335" y="315011"/>
            <a:ext cx="2629852" cy="1249680"/>
          </a:xfrm>
          <a:custGeom>
            <a:avLst/>
            <a:gdLst/>
            <a:ahLst/>
            <a:cxnLst/>
            <a:rect l="l" t="t" r="r" b="b"/>
            <a:pathLst>
              <a:path w="2629852" h="1249680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AutoShape 7"/>
          <p:cNvSpPr/>
          <p:nvPr/>
        </p:nvSpPr>
        <p:spPr>
          <a:xfrm flipV="1">
            <a:off x="9120273" y="2317442"/>
            <a:ext cx="0" cy="6940858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575656" y="2365906"/>
            <a:ext cx="8506261" cy="7198718"/>
          </a:xfrm>
          <a:custGeom>
            <a:avLst/>
            <a:gdLst/>
            <a:ahLst/>
            <a:cxnLst/>
            <a:rect l="l" t="t" r="r" b="b"/>
            <a:pathLst>
              <a:path w="8506261" h="7198718">
                <a:moveTo>
                  <a:pt x="0" y="0"/>
                </a:moveTo>
                <a:lnTo>
                  <a:pt x="8506261" y="0"/>
                </a:lnTo>
                <a:lnTo>
                  <a:pt x="8506261" y="7198718"/>
                </a:lnTo>
                <a:lnTo>
                  <a:pt x="0" y="7198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85" t="-10560" r="-41196" b="-17925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4720116" y="33423"/>
            <a:ext cx="3287373" cy="1531268"/>
            <a:chOff x="0" y="0"/>
            <a:chExt cx="4383164" cy="20416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383151" cy="2041652"/>
            </a:xfrm>
            <a:custGeom>
              <a:avLst/>
              <a:gdLst/>
              <a:ahLst/>
              <a:cxnLst/>
              <a:rect l="l" t="t" r="r" b="b"/>
              <a:pathLst>
                <a:path w="4383151" h="2041652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6" b="-108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5633393" y="3206103"/>
            <a:ext cx="2374096" cy="5123386"/>
          </a:xfrm>
          <a:custGeom>
            <a:avLst/>
            <a:gdLst/>
            <a:ahLst/>
            <a:cxnLst/>
            <a:rect l="l" t="t" r="r" b="b"/>
            <a:pathLst>
              <a:path w="2374096" h="5123386">
                <a:moveTo>
                  <a:pt x="0" y="0"/>
                </a:moveTo>
                <a:lnTo>
                  <a:pt x="2374096" y="0"/>
                </a:lnTo>
                <a:lnTo>
                  <a:pt x="2374096" y="5123386"/>
                </a:lnTo>
                <a:lnTo>
                  <a:pt x="0" y="51233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2659" t="-5244" r="-32335" b="-9439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2" name="AutoShape 12"/>
          <p:cNvSpPr/>
          <p:nvPr/>
        </p:nvSpPr>
        <p:spPr>
          <a:xfrm flipV="1">
            <a:off x="15376592" y="2280181"/>
            <a:ext cx="0" cy="6940858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4" name="TextBox 14" descr="$PPTXTitle"/>
          <p:cNvSpPr txBox="1"/>
          <p:nvPr/>
        </p:nvSpPr>
        <p:spPr>
          <a:xfrm>
            <a:off x="4732364" y="360750"/>
            <a:ext cx="8268583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spc="-15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63656" y="9649673"/>
            <a:ext cx="104775" cy="288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800" b="1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</a:p>
        </p:txBody>
      </p:sp>
      <p:sp>
        <p:nvSpPr>
          <p:cNvPr id="16" name="TextBox 16" descr="$PPTXTitle"/>
          <p:cNvSpPr txBox="1"/>
          <p:nvPr/>
        </p:nvSpPr>
        <p:spPr>
          <a:xfrm>
            <a:off x="1074372" y="677913"/>
            <a:ext cx="14614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414563" y="2563902"/>
            <a:ext cx="259292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b="1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4375" y="1842031"/>
            <a:ext cx="2592926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b="1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48369" y="2251606"/>
            <a:ext cx="5761019" cy="3268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1" lvl="1" indent="-183515" algn="l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Testing: 37 computer made photos and 25 real phone scans.</a:t>
            </a:r>
          </a:p>
          <a:p>
            <a:pPr marL="367031" lvl="1" indent="-183515" algn="l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Accuracy: all 25 computer made photos correct. Real scans had 0 wrong answers (14 correct, others said NOT SURE).</a:t>
            </a:r>
          </a:p>
          <a:p>
            <a:pPr marL="367031" lvl="1" indent="-183515" algn="l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Colour Check: Used ΔE ≤ 14, 4-point colour matching, card-fit and glare thresholds.</a:t>
            </a:r>
          </a:p>
          <a:p>
            <a:pPr marL="367031" lvl="1" indent="-183515" algn="l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Speed: Result secured in 2.5 s typically, 5 s maximum.</a:t>
            </a:r>
          </a:p>
          <a:p>
            <a:pPr marL="367031" lvl="1" indent="-183515" algn="l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Tamper Test: All 4/4 modified records were detected successfully.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48369" y="4590288"/>
            <a:ext cx="5885001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Kit colours are simulated swatches (test photos + card on a screen), real kits need an FSL calibration trial.</a:t>
            </a:r>
          </a:p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Right now it is a lab prototype (TRL 4) tested on 1 phone. Next we test real kits with FSL on more phones.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81316" y="1842031"/>
            <a:ext cx="3900607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Our Goals - Measured Results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53728" y="5888736"/>
            <a:ext cx="5989320" cy="38100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200" b="1" spc="-24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Proof from Real Phone Scans (29 Sep 2026)</a:t>
            </a:r>
          </a:p>
        </p:txBody>
      </p:sp>
      <p:sp>
        <p:nvSpPr>
          <p:cNvPr id="23" name="AutoShape 23"/>
          <p:cNvSpPr/>
          <p:nvPr/>
        </p:nvSpPr>
        <p:spPr>
          <a:xfrm>
            <a:off x="9248369" y="5833872"/>
            <a:ext cx="5885001" cy="0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pic>
        <p:nvPicPr>
          <p:cNvPr id="24" name="Real scans" descr="real_sca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3728" y="6309360"/>
            <a:ext cx="5989320" cy="25828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64624"/>
            <a:ext cx="18280761" cy="715289"/>
            <a:chOff x="0" y="0"/>
            <a:chExt cx="24374348" cy="953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4348" cy="953770"/>
            </a:xfrm>
            <a:custGeom>
              <a:avLst/>
              <a:gdLst/>
              <a:ahLst/>
              <a:cxnLst/>
              <a:rect l="l" t="t" r="r" b="b"/>
              <a:pathLst>
                <a:path w="24374348" h="953770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14" b="-90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532620"/>
            <a:ext cx="18288000" cy="754380"/>
            <a:chOff x="0" y="0"/>
            <a:chExt cx="24384000" cy="1005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5840"/>
            </a:xfrm>
            <a:custGeom>
              <a:avLst/>
              <a:gdLst/>
              <a:ahLst/>
              <a:cxnLst/>
              <a:rect l="l" t="t" r="r" b="b"/>
              <a:pathLst>
                <a:path w="24384000" h="100584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9564624"/>
            <a:ext cx="18280761" cy="715289"/>
            <a:chOff x="0" y="0"/>
            <a:chExt cx="24374348" cy="9537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74348" cy="953770"/>
            </a:xfrm>
            <a:custGeom>
              <a:avLst/>
              <a:gdLst/>
              <a:ahLst/>
              <a:cxnLst/>
              <a:rect l="l" t="t" r="r" b="b"/>
              <a:pathLst>
                <a:path w="24374348" h="953770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14" b="-909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0" y="9532620"/>
            <a:ext cx="18288000" cy="754380"/>
            <a:chOff x="0" y="0"/>
            <a:chExt cx="24384000" cy="1005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005840"/>
            </a:xfrm>
            <a:custGeom>
              <a:avLst/>
              <a:gdLst/>
              <a:ahLst/>
              <a:cxnLst/>
              <a:rect l="l" t="t" r="r" b="b"/>
              <a:pathLst>
                <a:path w="24384000" h="100584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9363648" y="2318099"/>
          <a:ext cx="7695951" cy="4167065"/>
        </p:xfrm>
        <a:graphic>
          <a:graphicData uri="http://schemas.openxmlformats.org/drawingml/2006/table">
            <a:tbl>
              <a:tblPr/>
              <a:tblGrid>
                <a:gridCol w="3597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8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329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Real-world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our app does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824">
                <a:tc>
                  <a:txBody>
                    <a:bodyPr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Bad light (street lamp / torch)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Colour card fixes the colours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476">
                <a:tc>
                  <a:txBody>
                    <a:bodyPr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Shiny or blurry photo, card missing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Says NOT SURE and asks to retake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824">
                <a:tc>
                  <a:txBody>
                    <a:bodyPr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Colour is in between two 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Says NOT SURE; senior officer checks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7824">
                <a:tc>
                  <a:txBody>
                    <a:bodyPr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Fake photo or edited record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In-app camera only + photo fingerprint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7824">
                <a:tc>
                  <a:txBody>
                    <a:bodyPr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Different kits and phones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Kit settings + colours fixed every photo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AutoShape 11"/>
          <p:cNvSpPr/>
          <p:nvPr/>
        </p:nvSpPr>
        <p:spPr>
          <a:xfrm>
            <a:off x="8899227" y="1857539"/>
            <a:ext cx="0" cy="7193961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14105" y="6018440"/>
            <a:ext cx="8475596" cy="0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391335" y="315011"/>
            <a:ext cx="2629852" cy="1249680"/>
          </a:xfrm>
          <a:custGeom>
            <a:avLst/>
            <a:gdLst/>
            <a:ahLst/>
            <a:cxnLst/>
            <a:rect l="l" t="t" r="r" b="b"/>
            <a:pathLst>
              <a:path w="2629852" h="1249680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502920" y="6675120"/>
            <a:ext cx="3977639" cy="2219604"/>
          </a:xfrm>
          <a:custGeom>
            <a:avLst/>
            <a:gdLst/>
            <a:ahLst/>
            <a:cxnLst/>
            <a:rect l="l" t="t" r="r" b="b"/>
            <a:pathLst>
              <a:path w="5354622" h="2987110">
                <a:moveTo>
                  <a:pt x="0" y="0"/>
                </a:moveTo>
                <a:lnTo>
                  <a:pt x="5354622" y="0"/>
                </a:lnTo>
                <a:lnTo>
                  <a:pt x="5354622" y="2987110"/>
                </a:lnTo>
                <a:lnTo>
                  <a:pt x="0" y="29871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999" t="-62172" r="-21685" b="-3234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TextBox 15" descr="$PPTXTitle"/>
          <p:cNvSpPr txBox="1"/>
          <p:nvPr/>
        </p:nvSpPr>
        <p:spPr>
          <a:xfrm>
            <a:off x="3963967" y="360907"/>
            <a:ext cx="9813370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spc="-30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4000" y="1809914"/>
            <a:ext cx="384917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Potential Challenges &amp; Strategies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063656" y="9649673"/>
            <a:ext cx="104775" cy="288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800" b="1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</a:p>
        </p:txBody>
      </p:sp>
      <p:sp>
        <p:nvSpPr>
          <p:cNvPr id="18" name="TextBox 18" descr="$PPTXTitle"/>
          <p:cNvSpPr txBox="1"/>
          <p:nvPr/>
        </p:nvSpPr>
        <p:spPr>
          <a:xfrm>
            <a:off x="1074372" y="677913"/>
            <a:ext cx="14614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791" y="6104165"/>
            <a:ext cx="4281964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Phased Implementation &amp; Scalability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791" y="1809914"/>
            <a:ext cx="306431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Feasibility &amp; Sustainability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1255" y="2271877"/>
            <a:ext cx="8399396" cy="3608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3191"/>
              </a:lnSpc>
              <a:buFont typeface="Arial"/>
              <a:buChar char="•"/>
            </a:pPr>
            <a:r>
              <a:rPr lang="en-US" sz="1899" b="1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Core app tested with OpenCV-based colour analysis.</a:t>
            </a:r>
          </a:p>
          <a:p>
            <a:pPr marL="410209" lvl="1" indent="-205105" algn="l">
              <a:lnSpc>
                <a:spcPts val="3191"/>
              </a:lnSpc>
              <a:buFont typeface="Arial"/>
              <a:buChar char="•"/>
            </a:pPr>
            <a:r>
              <a:rPr lang="en-US" sz="1899" b="1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User-Friendly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Capture one photo and get a result within seconds.</a:t>
            </a:r>
          </a:p>
          <a:p>
            <a:pPr marL="410209" lvl="1" indent="-205105" algn="l">
              <a:lnSpc>
                <a:spcPts val="3191"/>
              </a:lnSpc>
              <a:buFont typeface="Arial"/>
              <a:buChar char="•"/>
            </a:pPr>
            <a:r>
              <a:rPr lang="en-US" sz="1899" b="1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 Cost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Uses an existing Android phone, a reusable ~₹10 colour card, and open-source tools.</a:t>
            </a:r>
          </a:p>
          <a:p>
            <a:pPr marL="410209" lvl="1" indent="-205105" algn="l">
              <a:lnSpc>
                <a:spcPts val="3191"/>
              </a:lnSpc>
              <a:buFont typeface="Arial"/>
              <a:buChar char="•"/>
            </a:pPr>
            <a:r>
              <a:rPr lang="en-US" sz="1899" b="1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Operational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Simple photo-based workflow with minimal training required.</a:t>
            </a:r>
          </a:p>
          <a:p>
            <a:pPr marL="410209" lvl="1" indent="-205105" algn="l">
              <a:lnSpc>
                <a:spcPts val="3191"/>
              </a:lnSpc>
              <a:buFont typeface="Arial"/>
              <a:buChar char="•"/>
            </a:pPr>
            <a:r>
              <a:rPr lang="en-US" sz="1899" b="1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Scalable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Add new test-kit colour profiles through the Admin website without updating the app.</a:t>
            </a:r>
          </a:p>
          <a:p>
            <a:pPr marL="410209" lvl="1" indent="-205105" algn="l">
              <a:lnSpc>
                <a:spcPts val="3191"/>
              </a:lnSpc>
              <a:buFont typeface="Arial"/>
              <a:buChar char="•"/>
            </a:pPr>
            <a:r>
              <a:rPr lang="en-US" sz="1899" b="1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Sustainable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Government-cloud hosting, regular profile updates, and secure data storage support long-term use.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4720116" y="33423"/>
            <a:ext cx="3287373" cy="1531268"/>
            <a:chOff x="0" y="0"/>
            <a:chExt cx="4383164" cy="20416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383151" cy="2041652"/>
            </a:xfrm>
            <a:custGeom>
              <a:avLst/>
              <a:gdLst/>
              <a:ahLst/>
              <a:cxnLst/>
              <a:rect l="l" t="t" r="r" b="b"/>
              <a:pathLst>
                <a:path w="4383151" h="2041652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6" b="-108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9144000" y="6749314"/>
            <a:ext cx="2830116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Cost &amp; Deployment Plan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088924" y="7391299"/>
            <a:ext cx="1606622" cy="1880336"/>
            <a:chOff x="0" y="0"/>
            <a:chExt cx="27419684" cy="3209107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7419684" cy="32091074"/>
            </a:xfrm>
            <a:custGeom>
              <a:avLst/>
              <a:gdLst/>
              <a:ahLst/>
              <a:cxnLst/>
              <a:rect l="l" t="t" r="r" b="b"/>
              <a:pathLst>
                <a:path w="27419684" h="3209107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875719" y="7391299"/>
            <a:ext cx="1606622" cy="1880336"/>
            <a:chOff x="0" y="0"/>
            <a:chExt cx="27419684" cy="3209107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7419684" cy="32091074"/>
            </a:xfrm>
            <a:custGeom>
              <a:avLst/>
              <a:gdLst/>
              <a:ahLst/>
              <a:cxnLst/>
              <a:rect l="l" t="t" r="r" b="b"/>
              <a:pathLst>
                <a:path w="27419684" h="3209107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663316" y="7391299"/>
            <a:ext cx="1606622" cy="1880336"/>
            <a:chOff x="0" y="0"/>
            <a:chExt cx="27419684" cy="3209107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7419684" cy="32091074"/>
            </a:xfrm>
            <a:custGeom>
              <a:avLst/>
              <a:gdLst/>
              <a:ahLst/>
              <a:cxnLst/>
              <a:rect l="l" t="t" r="r" b="b"/>
              <a:pathLst>
                <a:path w="27419684" h="3209107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450913" y="7391299"/>
            <a:ext cx="1606622" cy="1880336"/>
            <a:chOff x="0" y="0"/>
            <a:chExt cx="27419684" cy="3209107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7419684" cy="32091074"/>
            </a:xfrm>
            <a:custGeom>
              <a:avLst/>
              <a:gdLst/>
              <a:ahLst/>
              <a:cxnLst/>
              <a:rect l="l" t="t" r="r" b="b"/>
              <a:pathLst>
                <a:path w="27419684" h="3209107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6238511" y="7391299"/>
            <a:ext cx="1606622" cy="1880336"/>
            <a:chOff x="0" y="0"/>
            <a:chExt cx="27419684" cy="3209107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7419684" cy="32091074"/>
            </a:xfrm>
            <a:custGeom>
              <a:avLst/>
              <a:gdLst/>
              <a:ahLst/>
              <a:cxnLst/>
              <a:rect l="l" t="t" r="r" b="b"/>
              <a:pathLst>
                <a:path w="27419684" h="3209107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9088924" y="7516404"/>
            <a:ext cx="1606622" cy="3238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875719" y="7516404"/>
            <a:ext cx="1606622" cy="3238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HOSTING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663316" y="7516404"/>
            <a:ext cx="1606622" cy="3238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450913" y="7516404"/>
            <a:ext cx="1606622" cy="3238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238511" y="7516404"/>
            <a:ext cx="1606622" cy="32385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157881" y="7925979"/>
            <a:ext cx="1468708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an existing phone, ₹10 reusable colour card, and open-source software.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943196" y="7925979"/>
            <a:ext cx="1468708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Runs on government cloud for the app, database, and admin dashboard.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705981" y="8040279"/>
            <a:ext cx="1468708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Regular security updates and easy kit-profile updates as needed.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519871" y="8040279"/>
            <a:ext cx="1468708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 with a pilot, test in the field, then expand deployment.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329303" y="7925979"/>
            <a:ext cx="1468708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test kits can be added through the website without updating the app.</a:t>
            </a:r>
          </a:p>
        </p:txBody>
      </p:sp>
      <p:sp>
        <p:nvSpPr>
          <p:cNvPr id="50" name="AutoShape 50"/>
          <p:cNvSpPr/>
          <p:nvPr/>
        </p:nvSpPr>
        <p:spPr>
          <a:xfrm>
            <a:off x="10691338" y="8324540"/>
            <a:ext cx="184381" cy="0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51" name="AutoShape 51"/>
          <p:cNvSpPr/>
          <p:nvPr/>
        </p:nvSpPr>
        <p:spPr>
          <a:xfrm>
            <a:off x="12478935" y="8340992"/>
            <a:ext cx="184381" cy="0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52" name="AutoShape 52"/>
          <p:cNvSpPr/>
          <p:nvPr/>
        </p:nvSpPr>
        <p:spPr>
          <a:xfrm>
            <a:off x="14269938" y="8321942"/>
            <a:ext cx="184381" cy="0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53" name="AutoShape 53"/>
          <p:cNvSpPr/>
          <p:nvPr/>
        </p:nvSpPr>
        <p:spPr>
          <a:xfrm>
            <a:off x="16057536" y="8331467"/>
            <a:ext cx="184381" cy="0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/>
          </a:p>
        </p:txBody>
      </p:sp>
      <p:sp>
        <p:nvSpPr>
          <p:cNvPr id="54" name="TextBox 19"/>
          <p:cNvSpPr txBox="1"/>
          <p:nvPr/>
        </p:nvSpPr>
        <p:spPr>
          <a:xfrm>
            <a:off x="4572000" y="6492240"/>
            <a:ext cx="4206240" cy="384048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Pilot Plan (proposed)</a:t>
            </a:r>
          </a:p>
        </p:txBody>
      </p:sp>
      <p:sp>
        <p:nvSpPr>
          <p:cNvPr id="55" name="TextBox 21"/>
          <p:cNvSpPr txBox="1"/>
          <p:nvPr/>
        </p:nvSpPr>
        <p:spPr>
          <a:xfrm>
            <a:off x="4526280" y="6931152"/>
            <a:ext cx="4315968" cy="2487168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410209" lvl="1" indent="-205105" algn="l">
              <a:lnSpc>
                <a:spcPct val="110000"/>
              </a:lnSpc>
              <a:buFont typeface="Arial"/>
              <a:buChar char="•"/>
            </a:pPr>
            <a:r>
              <a:rPr lang="en-US" sz="1500" b="1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-US" sz="1500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- 1 district in Tamil Nadu, with local police and the nearest FSL</a:t>
            </a:r>
          </a:p>
          <a:p>
            <a:pPr marL="410209" lvl="1" indent="-205105" algn="l">
              <a:lnSpc>
                <a:spcPct val="110000"/>
              </a:lnSpc>
              <a:buFont typeface="Arial"/>
              <a:buChar char="•"/>
            </a:pPr>
            <a:r>
              <a:rPr lang="en-US" sz="1500" b="1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Who</a:t>
            </a:r>
            <a:r>
              <a:rPr lang="en-US" sz="1500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- 20 officers, for 3 months</a:t>
            </a:r>
          </a:p>
          <a:p>
            <a:pPr marL="410209" lvl="1" indent="-205105" algn="l">
              <a:lnSpc>
                <a:spcPct val="110000"/>
              </a:lnSpc>
              <a:buFont typeface="Arial"/>
              <a:buChar char="•"/>
            </a:pPr>
            <a:r>
              <a:rPr lang="en-US" sz="1500" b="1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r>
              <a:rPr lang="en-US" sz="1500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every field result is checked again in the FSL lab</a:t>
            </a:r>
          </a:p>
          <a:p>
            <a:pPr marL="410209" lvl="1" indent="-205105" algn="l">
              <a:lnSpc>
                <a:spcPct val="110000"/>
              </a:lnSpc>
              <a:buFont typeface="Arial"/>
              <a:buChar char="•"/>
            </a:pPr>
            <a:r>
              <a:rPr lang="en-US" sz="1500" b="1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Success</a:t>
            </a:r>
            <a:r>
              <a:rPr lang="en-US" sz="1500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- 95% or more same as lab, NOT SURE below 10%, every record passes the check</a:t>
            </a:r>
          </a:p>
          <a:p>
            <a:pPr marL="410209" lvl="1" indent="-205105" algn="l">
              <a:lnSpc>
                <a:spcPct val="110000"/>
              </a:lnSpc>
              <a:buFont typeface="Arial"/>
              <a:buChar char="•"/>
            </a:pPr>
            <a:r>
              <a:rPr lang="en-US" sz="1500" b="1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r>
              <a:rPr lang="en-US" sz="1500" spc="-15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around ₹10,000 for 3 months, for cards and server (rough estimate)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207240" y="6731026"/>
            <a:ext cx="5715000" cy="475488"/>
          </a:xfrm>
          <a:prstGeom prst="rect">
            <a:avLst/>
          </a:prstGeom>
          <a:noFill/>
        </p:spPr>
        <p:txBody>
          <a:bodyPr wrap="square" lIns="27432" tIns="9144" rIns="27432" bIns="9144">
            <a:noAutofit/>
          </a:bodyPr>
          <a:lstStyle/>
          <a:p>
            <a:r>
              <a:rPr sz="1200" b="1" dirty="0">
                <a:solidFill>
                  <a:srgbClr val="555555"/>
                </a:solidFill>
                <a:latin typeface="Calibri"/>
              </a:rPr>
              <a:t>After the pilot, </a:t>
            </a:r>
            <a:r>
              <a:rPr sz="1200" b="0" dirty="0">
                <a:solidFill>
                  <a:srgbClr val="555555"/>
                </a:solidFill>
                <a:latin typeface="Calibri"/>
              </a:rPr>
              <a:t>the cost can come from the state police or NCB IT budget.</a:t>
            </a:r>
          </a:p>
          <a:p>
            <a:r>
              <a:rPr sz="1200" b="0" dirty="0">
                <a:solidFill>
                  <a:srgbClr val="555555"/>
                </a:solidFill>
                <a:latin typeface="Calibri"/>
              </a:rPr>
              <a:t>No licence fee as it is open source, so running cost stays low.</a:t>
            </a:r>
            <a:r>
              <a:rPr sz="1200" b="0" dirty="0" err="1">
                <a:solidFill>
                  <a:srgbClr val="555555"/>
                </a:solidFill>
                <a:latin typeface="Calibri"/>
              </a:rPr>
              <a:t/>
            </a:r>
            <a:r>
              <a:rPr sz="1200" b="0" dirty="0">
                <a:solidFill>
                  <a:srgbClr val="555555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64624"/>
            <a:ext cx="18280761" cy="715289"/>
            <a:chOff x="0" y="0"/>
            <a:chExt cx="24374348" cy="953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4348" cy="953770"/>
            </a:xfrm>
            <a:custGeom>
              <a:avLst/>
              <a:gdLst/>
              <a:ahLst/>
              <a:cxnLst/>
              <a:rect l="l" t="t" r="r" b="b"/>
              <a:pathLst>
                <a:path w="24374348" h="953770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14" b="-90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532620"/>
            <a:ext cx="18288000" cy="754380"/>
            <a:chOff x="0" y="0"/>
            <a:chExt cx="24384000" cy="1005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5840"/>
            </a:xfrm>
            <a:custGeom>
              <a:avLst/>
              <a:gdLst/>
              <a:ahLst/>
              <a:cxnLst/>
              <a:rect l="l" t="t" r="r" b="b"/>
              <a:pathLst>
                <a:path w="24384000" h="100584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391335" y="315011"/>
            <a:ext cx="2629852" cy="1249680"/>
          </a:xfrm>
          <a:custGeom>
            <a:avLst/>
            <a:gdLst/>
            <a:ahLst/>
            <a:cxnLst/>
            <a:rect l="l" t="t" r="r" b="b"/>
            <a:pathLst>
              <a:path w="2629852" h="1249680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852866" y="2000650"/>
            <a:ext cx="9090296" cy="2418586"/>
            <a:chOff x="0" y="0"/>
            <a:chExt cx="180762863" cy="480941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0762870" cy="48094196"/>
            </a:xfrm>
            <a:custGeom>
              <a:avLst/>
              <a:gdLst/>
              <a:ahLst/>
              <a:cxnLst/>
              <a:rect l="l" t="t" r="r" b="b"/>
              <a:pathLst>
                <a:path w="180762870" h="48094196">
                  <a:moveTo>
                    <a:pt x="8517" y="0"/>
                  </a:moveTo>
                  <a:lnTo>
                    <a:pt x="180754350" y="0"/>
                  </a:lnTo>
                  <a:cubicBezTo>
                    <a:pt x="180759063" y="0"/>
                    <a:pt x="180762870" y="3813"/>
                    <a:pt x="180762870" y="8517"/>
                  </a:cubicBezTo>
                  <a:lnTo>
                    <a:pt x="180762870" y="48085679"/>
                  </a:lnTo>
                  <a:cubicBezTo>
                    <a:pt x="180762870" y="48090382"/>
                    <a:pt x="180759063" y="48094196"/>
                    <a:pt x="180754350" y="48094196"/>
                  </a:cubicBezTo>
                  <a:lnTo>
                    <a:pt x="8517" y="48094196"/>
                  </a:lnTo>
                  <a:cubicBezTo>
                    <a:pt x="3813" y="48094196"/>
                    <a:pt x="0" y="48090382"/>
                    <a:pt x="0" y="48085679"/>
                  </a:cubicBezTo>
                  <a:lnTo>
                    <a:pt x="0" y="8517"/>
                  </a:lnTo>
                  <a:cubicBezTo>
                    <a:pt x="0" y="3813"/>
                    <a:pt x="3813" y="0"/>
                    <a:pt x="851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180762863" cy="48170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712566" y="4836047"/>
            <a:ext cx="4685447" cy="4615775"/>
          </a:xfrm>
          <a:custGeom>
            <a:avLst/>
            <a:gdLst/>
            <a:ahLst/>
            <a:cxnLst/>
            <a:rect l="l" t="t" r="r" b="b"/>
            <a:pathLst>
              <a:path w="4685447" h="4615775">
                <a:moveTo>
                  <a:pt x="0" y="0"/>
                </a:moveTo>
                <a:lnTo>
                  <a:pt x="4685448" y="0"/>
                </a:lnTo>
                <a:lnTo>
                  <a:pt x="4685448" y="4615775"/>
                </a:lnTo>
                <a:lnTo>
                  <a:pt x="0" y="4615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>
            <a:off x="10649712" y="7644185"/>
            <a:ext cx="6735059" cy="1810710"/>
            <a:chOff x="0" y="0"/>
            <a:chExt cx="133928377" cy="655126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3928383" cy="65512659"/>
            </a:xfrm>
            <a:custGeom>
              <a:avLst/>
              <a:gdLst/>
              <a:ahLst/>
              <a:cxnLst/>
              <a:rect l="l" t="t" r="r" b="b"/>
              <a:pathLst>
                <a:path w="133928383" h="65512659">
                  <a:moveTo>
                    <a:pt x="11495" y="0"/>
                  </a:moveTo>
                  <a:lnTo>
                    <a:pt x="133916886" y="0"/>
                  </a:lnTo>
                  <a:cubicBezTo>
                    <a:pt x="133919937" y="0"/>
                    <a:pt x="133922864" y="1211"/>
                    <a:pt x="133925022" y="3367"/>
                  </a:cubicBezTo>
                  <a:cubicBezTo>
                    <a:pt x="133927168" y="5523"/>
                    <a:pt x="133928383" y="8446"/>
                    <a:pt x="133928383" y="11495"/>
                  </a:cubicBezTo>
                  <a:lnTo>
                    <a:pt x="133928383" y="65501162"/>
                  </a:lnTo>
                  <a:cubicBezTo>
                    <a:pt x="133928383" y="65507512"/>
                    <a:pt x="133923236" y="65512659"/>
                    <a:pt x="133916886" y="65512659"/>
                  </a:cubicBezTo>
                  <a:lnTo>
                    <a:pt x="11495" y="65512659"/>
                  </a:lnTo>
                  <a:cubicBezTo>
                    <a:pt x="8446" y="65512659"/>
                    <a:pt x="5523" y="65511449"/>
                    <a:pt x="3367" y="65509291"/>
                  </a:cubicBezTo>
                  <a:cubicBezTo>
                    <a:pt x="1211" y="65507133"/>
                    <a:pt x="0" y="65504213"/>
                    <a:pt x="0" y="65501162"/>
                  </a:cubicBezTo>
                  <a:lnTo>
                    <a:pt x="0" y="11495"/>
                  </a:lnTo>
                  <a:cubicBezTo>
                    <a:pt x="0" y="8446"/>
                    <a:pt x="1211" y="5523"/>
                    <a:pt x="3367" y="3367"/>
                  </a:cubicBezTo>
                  <a:cubicBezTo>
                    <a:pt x="5523" y="1211"/>
                    <a:pt x="8446" y="0"/>
                    <a:pt x="1149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33928377" cy="65588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4699814" y="2426368"/>
            <a:ext cx="0" cy="1839760"/>
          </a:xfrm>
          <a:prstGeom prst="line">
            <a:avLst/>
          </a:prstGeom>
          <a:ln w="19050" cap="flat">
            <a:solidFill>
              <a:srgbClr val="B2935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5" name="Freeform 15"/>
          <p:cNvSpPr/>
          <p:nvPr/>
        </p:nvSpPr>
        <p:spPr>
          <a:xfrm rot="19366187">
            <a:off x="4706902" y="5048222"/>
            <a:ext cx="1589450" cy="1289893"/>
          </a:xfrm>
          <a:custGeom>
            <a:avLst/>
            <a:gdLst/>
            <a:ahLst/>
            <a:cxnLst/>
            <a:rect l="l" t="t" r="r" b="b"/>
            <a:pathLst>
              <a:path w="1557904" h="1324218">
                <a:moveTo>
                  <a:pt x="0" y="0"/>
                </a:moveTo>
                <a:lnTo>
                  <a:pt x="1557904" y="0"/>
                </a:lnTo>
                <a:lnTo>
                  <a:pt x="1557904" y="1324219"/>
                </a:lnTo>
                <a:lnTo>
                  <a:pt x="0" y="13242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6524601" y="5010285"/>
            <a:ext cx="3418560" cy="4441537"/>
          </a:xfrm>
          <a:custGeom>
            <a:avLst/>
            <a:gdLst/>
            <a:ahLst/>
            <a:cxnLst/>
            <a:rect l="l" t="t" r="r" b="b"/>
            <a:pathLst>
              <a:path w="3418560" h="4441537">
                <a:moveTo>
                  <a:pt x="0" y="0"/>
                </a:moveTo>
                <a:lnTo>
                  <a:pt x="3418560" y="0"/>
                </a:lnTo>
                <a:lnTo>
                  <a:pt x="3418560" y="4441537"/>
                </a:lnTo>
                <a:lnTo>
                  <a:pt x="0" y="44415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721" b="-9940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7" name="Group 17"/>
          <p:cNvGrpSpPr/>
          <p:nvPr/>
        </p:nvGrpSpPr>
        <p:grpSpPr>
          <a:xfrm>
            <a:off x="14720116" y="33423"/>
            <a:ext cx="3287373" cy="1531268"/>
            <a:chOff x="0" y="0"/>
            <a:chExt cx="4383164" cy="20416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383151" cy="2041652"/>
            </a:xfrm>
            <a:custGeom>
              <a:avLst/>
              <a:gdLst/>
              <a:ahLst/>
              <a:cxnLst/>
              <a:rect l="l" t="t" r="r" b="b"/>
              <a:pathLst>
                <a:path w="4383151" h="2041652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06" b="-108"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>
            <a:off x="10649712" y="2304288"/>
            <a:ext cx="6735059" cy="2354471"/>
          </a:xfrm>
          <a:custGeom>
            <a:avLst/>
            <a:gdLst/>
            <a:ahLst/>
            <a:cxnLst/>
            <a:rect l="l" t="t" r="r" b="b"/>
            <a:pathLst>
              <a:path w="6095839" h="3360331">
                <a:moveTo>
                  <a:pt x="0" y="0"/>
                </a:moveTo>
                <a:lnTo>
                  <a:pt x="6095839" y="0"/>
                </a:lnTo>
                <a:lnTo>
                  <a:pt x="6095839" y="3360331"/>
                </a:lnTo>
                <a:lnTo>
                  <a:pt x="0" y="3360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17800" t="10000" r="1500" b="38900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0" name="TextBox 20" descr="$PPTXTitle"/>
          <p:cNvSpPr txBox="1"/>
          <p:nvPr/>
        </p:nvSpPr>
        <p:spPr>
          <a:xfrm>
            <a:off x="4912538" y="346300"/>
            <a:ext cx="7916228" cy="87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spc="-15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063656" y="9649673"/>
            <a:ext cx="104775" cy="288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800" b="1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95384" y="8046521"/>
            <a:ext cx="6689387" cy="2745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6968" lvl="1" indent="-188484" algn="l">
              <a:lnSpc>
                <a:spcPct val="105000"/>
              </a:lnSpc>
              <a:buFont typeface="Arial"/>
              <a:buChar char="•"/>
            </a:pPr>
            <a:r>
              <a:rPr lang="en-US" sz="14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Offline Mode - Test even without internet and sync data later.</a:t>
            </a:r>
          </a:p>
          <a:p>
            <a:pPr marL="376968" lvl="1" indent="-188484" algn="l">
              <a:lnSpc>
                <a:spcPct val="105000"/>
              </a:lnSpc>
              <a:buFont typeface="Arial"/>
              <a:buChar char="•"/>
            </a:pPr>
            <a:r>
              <a:rPr lang="en-US" sz="14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Phone Security - Use the phone’s security chip to sign each test.</a:t>
            </a:r>
          </a:p>
          <a:p>
            <a:pPr marL="376968" lvl="1" indent="-188484" algn="l">
              <a:lnSpc>
                <a:spcPct val="105000"/>
              </a:lnSpc>
              <a:buFont typeface="Arial"/>
              <a:buChar char="•"/>
            </a:pPr>
            <a:r>
              <a:rPr lang="en-US" sz="14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Police System Integration - our CSV export already has time, GPS, officer, result, photo hash and verify link. Linking with e-Sakshya and CCTNS needs NIC or MHA approval.</a:t>
            </a:r>
          </a:p>
          <a:p>
            <a:pPr marL="376968" lvl="1" indent="-188484" algn="l">
              <a:lnSpc>
                <a:spcPct val="105000"/>
              </a:lnSpc>
              <a:buFont typeface="Arial"/>
              <a:buChar char="•"/>
            </a:pPr>
            <a:r>
              <a:rPr lang="en-US" sz="14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Lab Comparison - Compare field results with lab results to improve accuracy.</a:t>
            </a:r>
          </a:p>
          <a:p>
            <a:pPr marL="376968" lvl="1" indent="-188484" algn="l">
              <a:lnSpc>
                <a:spcPct val="105000"/>
              </a:lnSpc>
              <a:buFont typeface="Arial"/>
              <a:buChar char="•"/>
            </a:pPr>
            <a:r>
              <a:rPr lang="en-US" sz="14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Regional Languages - Support Hindi and regional languages with voice assistance.</a:t>
            </a:r>
          </a:p>
        </p:txBody>
      </p:sp>
      <p:sp>
        <p:nvSpPr>
          <p:cNvPr id="23" name="TextBox 23" descr="$PPTXTitle"/>
          <p:cNvSpPr txBox="1"/>
          <p:nvPr/>
        </p:nvSpPr>
        <p:spPr>
          <a:xfrm>
            <a:off x="1074372" y="677913"/>
            <a:ext cx="14614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2866" y="2433353"/>
            <a:ext cx="3762650" cy="1744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3775" lvl="1" indent="-206888" algn="l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Faster, more consistent testing</a:t>
            </a:r>
          </a:p>
          <a:p>
            <a:pPr marL="413775" lvl="1" indent="-206888" algn="l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 manual colour checking</a:t>
            </a:r>
          </a:p>
          <a:p>
            <a:pPr marL="413775" lvl="1" indent="-206888" algn="l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INCONCLUSIVE when unclear</a:t>
            </a:r>
          </a:p>
          <a:p>
            <a:pPr marL="413775" lvl="1" indent="-206888" algn="l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digital test records</a:t>
            </a:r>
          </a:p>
          <a:p>
            <a:pPr marL="413775" lvl="1" indent="-206888" algn="l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Quick access to past test records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84113" y="2433353"/>
            <a:ext cx="5051078" cy="1744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4528" lvl="1" indent="-207264" algn="l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Proof of every test: time, place, officer &amp; photo</a:t>
            </a:r>
          </a:p>
          <a:p>
            <a:pPr marL="414528" lvl="1" indent="-207264" algn="l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Secure and verifiable records</a:t>
            </a:r>
          </a:p>
          <a:p>
            <a:pPr marL="414528" lvl="1" indent="-207264" algn="l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 paperwork with PDF &amp; QR</a:t>
            </a:r>
          </a:p>
          <a:p>
            <a:pPr marL="414528" lvl="1" indent="-207264" algn="l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search, reports and monitoring</a:t>
            </a:r>
          </a:p>
          <a:p>
            <a:pPr marL="414528" lvl="1" indent="-207264" algn="l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Better field-test documentation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74430" y="2079685"/>
            <a:ext cx="191952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sz="2059" b="1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Inspector Benefits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853724" y="2085531"/>
            <a:ext cx="235583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sz="2059" b="1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Organisation Benefits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830810" y="7680761"/>
            <a:ext cx="166119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8"/>
              </a:lnSpc>
              <a:spcBef>
                <a:spcPct val="0"/>
              </a:spcBef>
            </a:pPr>
            <a:r>
              <a:rPr lang="en-US" sz="2173" b="1" spc="-24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649712" y="1938528"/>
            <a:ext cx="694643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sz="2059" b="1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Map -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973677" y="4553085"/>
            <a:ext cx="3302484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sz="2059" b="1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QR-Based Record Verification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72088" y="1975104"/>
            <a:ext cx="2004464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Geo-Tagged test result</a:t>
            </a:r>
          </a:p>
        </p:txBody>
      </p:sp>
      <p:sp>
        <p:nvSpPr>
          <p:cNvPr id="32" name="TextBox 29"/>
          <p:cNvSpPr txBox="1"/>
          <p:nvPr/>
        </p:nvSpPr>
        <p:spPr>
          <a:xfrm>
            <a:off x="10649712" y="4750199"/>
            <a:ext cx="1828800" cy="365760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sz="2059" b="1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Tamper Test -</a:t>
            </a:r>
          </a:p>
        </p:txBody>
      </p:sp>
      <p:sp>
        <p:nvSpPr>
          <p:cNvPr id="33" name="TextBox 31"/>
          <p:cNvSpPr txBox="1"/>
          <p:nvPr/>
        </p:nvSpPr>
        <p:spPr>
          <a:xfrm>
            <a:off x="12368784" y="4786775"/>
            <a:ext cx="4937760" cy="310896"/>
          </a:xfrm>
          <a:prstGeom prst="rect">
            <a:avLst/>
          </a:prstGeom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tried it on our saved records</a:t>
            </a:r>
          </a:p>
        </p:txBody>
      </p:sp>
      <p:pic>
        <p:nvPicPr>
          <p:cNvPr id="34" name="Tamper proof" descr="tamper_proof_tal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49712" y="5115959"/>
            <a:ext cx="6735059" cy="24184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64624"/>
            <a:ext cx="18280761" cy="715289"/>
            <a:chOff x="0" y="0"/>
            <a:chExt cx="24374348" cy="953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4348" cy="953770"/>
            </a:xfrm>
            <a:custGeom>
              <a:avLst/>
              <a:gdLst/>
              <a:ahLst/>
              <a:cxnLst/>
              <a:rect l="l" t="t" r="r" b="b"/>
              <a:pathLst>
                <a:path w="24374348" h="953770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14" b="-90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9532620"/>
            <a:ext cx="18288000" cy="754380"/>
            <a:chOff x="0" y="0"/>
            <a:chExt cx="24384000" cy="1005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005840"/>
            </a:xfrm>
            <a:custGeom>
              <a:avLst/>
              <a:gdLst/>
              <a:ahLst/>
              <a:cxnLst/>
              <a:rect l="l" t="t" r="r" b="b"/>
              <a:pathLst>
                <a:path w="24384000" h="100584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391335" y="315011"/>
            <a:ext cx="2629852" cy="1249680"/>
          </a:xfrm>
          <a:custGeom>
            <a:avLst/>
            <a:gdLst/>
            <a:ahLst/>
            <a:cxnLst/>
            <a:rect l="l" t="t" r="r" b="b"/>
            <a:pathLst>
              <a:path w="2629852" h="1249680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85800" y="1920240"/>
          <a:ext cx="16916400" cy="7406640"/>
        </p:xfrm>
        <a:graphic>
          <a:graphicData uri="http://schemas.openxmlformats.org/drawingml/2006/table">
            <a:tbl>
              <a:tblPr/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What they found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How we use 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Research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b="1" spc="-16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EMBC 2016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camera colours change with light and phone model; reference colours can help handle this.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₹10 colour card fixes colours in every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4" tooltip="https://pubmed.ncbi.nlm.nih.gov/28269432/"/>
                        </a:rPr>
                        <a:t>IEEE EMBC 2016 – Illumination and device independence for colorimetric detection of urinary biomarkers with smartphone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b="1" spc="-16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TPS-ISA 2024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 evidence must maintain integrity and show how it was handled.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Photo fingerprint + signature + chained log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5" tooltip="https://www.researchgate.net/publication/386361522_Digital_Evidence_Chain_of_Custody_Navigating_New_Realities_of_Digital_Forensics"/>
                        </a:rPr>
                        <a:t>IEEE TPS-ISA 2024 – Digital Evidence Chain of Custody: Navigating New Realities of Digital Forensics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b="1" spc="-16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Forensic Science International 2014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mobile phone camera can measure drug-test colours using RGB values.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app reads the test colour as a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6" tooltip="https://www.researchgate.net/publication/259845901_Real_time_quantitative_colorimetric_test_for_methamphetamine_detection_using_digital_and_mobile_phone_technology"/>
                        </a:rPr>
                        <a:t>Forensic Science International 2014 – Real-time quantitative colorimetric test for methamphetamine detection using digital and mobile phone technology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b="1" spc="-16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Analytical Chemistry 2016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By-eye colour interpretation is subjective; smartphone image analysis can provide objective analysis.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Arimo"/>
                          <a:cs typeface="Arimo"/>
                          <a:sym typeface="Arimo"/>
                        </a:rPr>
                        <a:t>App gives POSITIVE / NEGATIVE / NOT SURE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7" tooltip="https://nij.ojp.gov/library/publications/objective-method-presumptive-field-testing-illicit-drug-possession-using-0?utm_source=chatgpt.com"/>
                        </a:rPr>
                        <a:t>Analytical Chemistry 2016 – Objective Method for Presumptive Field-Testing of Illicit Drug Possession Using Centrifugal Microdevices and Smartphone Analysis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b="1" spc="-16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 Discovery 2023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Computer vision can quantify and compare colour changes that may look similar by eye.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 shows photo colour next to kit colours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8" tooltip="https://pubs.rsc.org/dd/article/2/4/1143/804876/Teaching-old-presumptive-tests-new-digital-tricks"/>
                        </a:rPr>
                        <a:t>Digital Discovery 2023 – Teaching old presumptive tests new digital tricks with computer vision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Box 15" descr="$PPTXTitle"/>
          <p:cNvSpPr txBox="1"/>
          <p:nvPr/>
        </p:nvSpPr>
        <p:spPr>
          <a:xfrm>
            <a:off x="3660096" y="346300"/>
            <a:ext cx="10421112" cy="87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063656" y="9649673"/>
            <a:ext cx="104775" cy="288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800" b="1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</a:t>
            </a:r>
          </a:p>
        </p:txBody>
      </p:sp>
      <p:sp>
        <p:nvSpPr>
          <p:cNvPr id="17" name="TextBox 17" descr="$PPTXTitle"/>
          <p:cNvSpPr txBox="1"/>
          <p:nvPr/>
        </p:nvSpPr>
        <p:spPr>
          <a:xfrm>
            <a:off x="1074372" y="677913"/>
            <a:ext cx="14614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720116" y="33423"/>
            <a:ext cx="3287373" cy="1531268"/>
            <a:chOff x="0" y="0"/>
            <a:chExt cx="4383164" cy="20416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383151" cy="2041652"/>
            </a:xfrm>
            <a:custGeom>
              <a:avLst/>
              <a:gdLst/>
              <a:ahLst/>
              <a:cxnLst/>
              <a:rect l="l" t="t" r="r" b="b"/>
              <a:pathLst>
                <a:path w="4383151" h="2041652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06" b="-108"/>
              </a:stretch>
            </a:blipFill>
          </p:spPr>
        </p:sp>
      </p:grpSp>
      <p:sp>
        <p:nvSpPr>
          <p:cNvPr id="26" name="Research link 1">
            <a:hlinkClick r:id="rId4"/>
          </p:cNvPr>
          <p:cNvSpPr/>
          <p:nvPr/>
        </p:nvSpPr>
        <p:spPr>
          <a:xfrm>
            <a:off x="11201400" y="269748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search link 2">
            <a:hlinkClick r:id="rId5"/>
          </p:cNvPr>
          <p:cNvSpPr/>
          <p:nvPr/>
        </p:nvSpPr>
        <p:spPr>
          <a:xfrm>
            <a:off x="11201400" y="402336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search link 3">
            <a:hlinkClick r:id="rId6"/>
          </p:cNvPr>
          <p:cNvSpPr/>
          <p:nvPr/>
        </p:nvSpPr>
        <p:spPr>
          <a:xfrm>
            <a:off x="11201400" y="534924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search link 4">
            <a:hlinkClick r:id="rId7"/>
          </p:cNvPr>
          <p:cNvSpPr/>
          <p:nvPr/>
        </p:nvSpPr>
        <p:spPr>
          <a:xfrm>
            <a:off x="11201400" y="667512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search link 5">
            <a:hlinkClick r:id="rId8"/>
          </p:cNvPr>
          <p:cNvSpPr/>
          <p:nvPr/>
        </p:nvSpPr>
        <p:spPr>
          <a:xfrm>
            <a:off x="11201400" y="800100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1312</Words>
  <Application>Microsoft Office PowerPoint</Application>
  <PresentationFormat>Custom</PresentationFormat>
  <Paragraphs>145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Times New Roman Bold</vt:lpstr>
      <vt:lpstr>Calibri</vt:lpstr>
      <vt:lpstr>Arimo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 ID – 26034 Problem Statement Title- Software System to check compliance of packaged commodities under Legal Metrology (Packaged Commodities) Rules,2011 by scanning product images and labels. Theme- Miscellaneous PS Category- Software</dc:title>
  <cp:lastModifiedBy>Lokesh Raj</cp:lastModifiedBy>
  <cp:revision>3</cp:revision>
  <dcterms:created xsi:type="dcterms:W3CDTF">2006-08-16T00:00:00Z</dcterms:created>
  <dcterms:modified xsi:type="dcterms:W3CDTF">2026-09-29T05:48:14Z</dcterms:modified>
  <dc:identifier>DAHVDURAeOo</dc:identifier>
</cp:coreProperties>
</file>
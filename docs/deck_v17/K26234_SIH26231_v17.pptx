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2331720"/>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1837943"/>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pic>
        <p:nvPicPr>
          <p:cNvPr id="24" name="Real scans" descr="real_scans.png"/>
          <p:cNvPicPr>
            <a:picLocks noChangeAspect="1"/>
          </p:cNvPicPr>
          <p:nvPr/>
        </p:nvPicPr>
        <p:blipFill>
          <a:blip r:embed="rId8"/>
          <a:stretch>
            <a:fillRect/>
          </a:stretch>
        </p:blipFill>
        <p:spPr>
          <a:xfrm>
            <a:off x="9270671" y="6309360"/>
            <a:ext cx="5955433" cy="3163824"/>
          </a:xfrm>
          <a:prstGeom prst="rect">
            <a:avLst/>
          </a:prstGeom>
        </p:spPr>
      </p:pic>
      <p:sp>
        <p:nvSpPr>
          <p:cNvPr id="25" name="Offline design box"/>
          <p:cNvSpPr/>
          <p:nvPr/>
        </p:nvSpPr>
        <p:spPr>
          <a:xfrm>
            <a:off x="15526512" y="7607808"/>
            <a:ext cx="2487168" cy="1828800"/>
          </a:xfrm>
          <a:prstGeom prst="roundRect">
            <a:avLst>
              <a:gd name="adj" fmla="val 6000"/>
            </a:avLst>
          </a:prstGeom>
          <a:noFill/>
          <a:ln w="19050">
            <a:solidFill>
              <a:srgbClr val="792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63088" y="7644383"/>
            <a:ext cx="2414016" cy="1755648"/>
          </a:xfrm>
          <a:prstGeom prst="rect">
            <a:avLst/>
          </a:prstGeom>
          <a:noFill/>
        </p:spPr>
        <p:txBody>
          <a:bodyPr wrap="square" lIns="54864" rIns="54864" tIns="27432" bIns="27432">
            <a:noAutofit/>
          </a:bodyPr>
          <a:lstStyle/>
          <a:p>
            <a:pPr>
              <a:spcAft>
                <a:spcPts val="200"/>
              </a:spcAft>
            </a:pPr>
            <a:r>
              <a:rPr sz="1600" b="1">
                <a:solidFill>
                  <a:srgbClr val="792E00"/>
                </a:solidFill>
                <a:latin typeface="Calibri"/>
              </a:rPr>
              <a:t>Offline Design</a:t>
            </a:r>
          </a:p>
          <a:p>
            <a:pPr>
              <a:spcAft>
                <a:spcPts val="200"/>
              </a:spcAft>
            </a:pPr>
            <a:r>
              <a:rPr sz="1250" b="0">
                <a:solidFill>
                  <a:srgbClr val="000000"/>
                </a:solidFill>
                <a:latin typeface="Calibri"/>
              </a:rPr>
              <a:t>No network? The phone keeps the photo and its hash in a queue.</a:t>
            </a:r>
          </a:p>
          <a:p>
            <a:pPr>
              <a:spcAft>
                <a:spcPts val="200"/>
              </a:spcAft>
            </a:pPr>
            <a:r>
              <a:rPr sz="1250" b="0">
                <a:solidFill>
                  <a:srgbClr val="000000"/>
                </a:solidFill>
                <a:latin typeface="Calibri"/>
              </a:rPr>
              <a:t>Network back: it sends them in the background.</a:t>
            </a:r>
          </a:p>
          <a:p>
            <a:pPr>
              <a:spcAft>
                <a:spcPts val="200"/>
              </a:spcAft>
            </a:pPr>
            <a:r>
              <a:rPr sz="1250" b="0">
                <a:solidFill>
                  <a:srgbClr val="000000"/>
                </a:solidFill>
                <a:latin typeface="Calibri"/>
              </a:rPr>
              <a:t>Server checks the hash, then seals the record.</a:t>
            </a:r>
          </a:p>
          <a:p>
            <a:pPr>
              <a:spcAft>
                <a:spcPts val="200"/>
              </a:spcAft>
            </a:pPr>
            <a:r>
              <a:rPr sz="1250" b="0">
                <a:solidFill>
                  <a:srgbClr val="555555"/>
                </a:solidFill>
                <a:latin typeface="Calibri"/>
              </a:rPr>
              <a:t>(design ready, we build it next)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3383280"/>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640080">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548640">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- 20 cards at ₹10 = ₹200, server ₹3,000 a month for 3 months = ₹9,000. Total about ₹9,200 (estimate)</a:t>
            </a:r>
          </a:p>
        </p:txBody>
      </p:sp>
      <p:sp>
        <p:nvSpPr>
          <p:cNvPr id="56" name="TextBox 55"/>
          <p:cNvSpPr txBox="1"/>
          <p:nvPr/>
        </p:nvSpPr>
        <p:spPr>
          <a:xfrm>
            <a:off x="12115800" y="6675120"/>
            <a:ext cx="5897880" cy="603504"/>
          </a:xfrm>
          <a:prstGeom prst="rect">
            <a:avLst/>
          </a:prstGeom>
          <a:noFill/>
        </p:spPr>
        <p:txBody>
          <a:bodyPr wrap="square" lIns="27432" tIns="9144" rIns="27432" bIns="9144">
            <a:noAutofit/>
          </a:bodyPr>
          <a:lstStyle/>
          <a:p>
            <a:pPr>
              <a:spcAft>
                <a:spcPts val="0"/>
              </a:spcAft>
            </a:pPr>
            <a:r>
              <a:rPr sz="1200" b="1" dirty="0">
                <a:solidFill>
                  <a:srgbClr val="555555"/>
                </a:solidFill>
                <a:latin typeface="Calibri"/>
              </a:rPr>
              <a:t/>
            </a:r>
            <a:r>
              <a:rPr sz="1200" b="0" dirty="0">
                <a:solidFill>
                  <a:srgbClr val="555555"/>
                </a:solidFill>
                <a:latin typeface="Calibri"/>
              </a:rPr>
              <a:t/>
            </a:r>
            <a:r>
              <a:rPr sz="1200" b="1">
                <a:solidFill>
                  <a:srgbClr val="555555"/>
                </a:solidFill>
                <a:latin typeface="Calibri"/>
              </a:rPr>
              <a:t>After the pilot: </a:t>
            </a:r>
            <a:r>
              <a:rPr sz="1200" b="0">
                <a:solidFill>
                  <a:srgbClr val="555555"/>
                </a:solidFill>
                <a:latin typeface="Calibri"/>
              </a:rPr>
              <a:t>police or NCB IT budget, server about ₹36,000 a year (estimate).</a:t>
            </a:r>
          </a:p>
          <a:p>
            <a:pPr>
              <a:spcAft>
                <a:spcPts val="0"/>
              </a:spcAft>
            </a:pPr>
            <a:r>
              <a:rPr sz="1200" b="1">
                <a:solidFill>
                  <a:srgbClr val="555555"/>
                </a:solidFill>
                <a:latin typeface="Calibri"/>
              </a:rPr>
              <a:t>Owner: </a:t>
            </a:r>
            <a:r>
              <a:rPr sz="1200" b="0">
                <a:solidFill>
                  <a:srgbClr val="555555"/>
                </a:solidFill>
                <a:latin typeface="Calibri"/>
              </a:rPr>
              <a:t>state police IT cell runs the app, the FSL keeps kit colours correct.</a:t>
            </a:r>
          </a:p>
          <a:p>
            <a:pPr>
              <a:spcAft>
                <a:spcPts val="0"/>
              </a:spcAft>
            </a:pPr>
            <a:r>
              <a:rPr sz="1200" b="1">
                <a:solidFill>
                  <a:srgbClr val="555555"/>
                </a:solidFill>
                <a:latin typeface="Calibri"/>
              </a:rPr>
              <a:t>Upkeep: </a:t>
            </a:r>
            <a:r>
              <a:rPr sz="1200" b="0">
                <a:solidFill>
                  <a:srgbClr val="555555"/>
                </a:solidFill>
                <a:latin typeface="Calibri"/>
              </a:rPr>
              <a:t>security update every 3 months. MoU with police and FSL is planned.</a:t>
            </a:r>
          </a:p>
        </p:txBody>
      </p:sp>
      <p:sp>
        <p:nvSpPr>
          <p:cNvPr id="57" name="TextBox 56"/>
          <p:cNvSpPr txBox="1"/>
          <p:nvPr/>
        </p:nvSpPr>
        <p:spPr>
          <a:xfrm>
            <a:off x="3848263" y="1828202"/>
            <a:ext cx="4884257" cy="420624"/>
          </a:xfrm>
          <a:prstGeom prst="rect">
            <a:avLst/>
          </a:prstGeom>
          <a:noFill/>
        </p:spPr>
        <p:txBody>
          <a:bodyPr wrap="square" lIns="27432" rIns="27432" tIns="9144" bIns="9144">
            <a:noAutofit/>
          </a:bodyPr>
          <a:lstStyle/>
          <a:p>
            <a:r>
              <a:rPr sz="1200" b="1">
                <a:solidFill>
                  <a:srgbClr val="555555"/>
                </a:solidFill>
                <a:latin typeface="Calibri"/>
              </a:rPr>
              <a:t>Legal: </a:t>
            </a:r>
            <a:r>
              <a:rPr sz="1200" b="0">
                <a:solidFill>
                  <a:srgbClr val="555555"/>
                </a:solidFill>
                <a:latin typeface="Calibri"/>
              </a:rPr>
              <a:t>the app gives a first check only, the FSL lab confirms it.</a:t>
            </a:r>
          </a:p>
          <a:p>
            <a:r>
              <a:rPr sz="1200" b="1">
                <a:solidFill>
                  <a:srgbClr val="555555"/>
                </a:solidFill>
                <a:latin typeface="Calibri"/>
              </a:rPr>
              <a:t>Privacy: </a:t>
            </a:r>
            <a:r>
              <a:rPr sz="1200" b="0">
                <a:solidFill>
                  <a:srgbClr val="555555"/>
                </a:solidFill>
                <a:latin typeface="Calibri"/>
              </a:rPr>
              <a:t>no face or suspect name is stored, only a sample code.</a:t>
            </a:r>
          </a:p>
        </p:txBody>
      </p:sp>
      <p:sp>
        <p:nvSpPr>
          <p:cNvPr id="58" name="TextBox 57"/>
          <p:cNvSpPr txBox="1"/>
          <p:nvPr/>
        </p:nvSpPr>
        <p:spPr>
          <a:xfrm>
            <a:off x="9144000" y="5815584"/>
            <a:ext cx="8686800" cy="868680"/>
          </a:xfrm>
          <a:prstGeom prst="rect">
            <a:avLst/>
          </a:prstGeom>
          <a:noFill/>
        </p:spPr>
        <p:txBody>
          <a:bodyPr wrap="square" lIns="54864" rIns="54864" tIns="27432" bIns="27432">
            <a:noAutofit/>
          </a:bodyPr>
          <a:lstStyle/>
          <a:p>
            <a:pPr>
              <a:spcAft>
                <a:spcPts val="200"/>
              </a:spcAft>
            </a:pPr>
            <a:r>
              <a:rPr sz="1350" b="1">
                <a:solidFill>
                  <a:srgbClr val="792E00"/>
                </a:solidFill>
                <a:latin typeface="Calibri"/>
              </a:rPr>
              <a:t>Scale (estimate): </a:t>
            </a:r>
            <a:r>
              <a:rPr sz="1350" b="0">
                <a:solidFill>
                  <a:srgbClr val="000000"/>
                </a:solidFill>
                <a:latin typeface="Calibri"/>
              </a:rPr>
              <a:t>India had 1,20,010 NDPS cases in 2023 (NCRB), about 330 a day.</a:t>
            </a:r>
          </a:p>
          <a:p>
            <a:pPr>
              <a:spcAft>
                <a:spcPts val="200"/>
              </a:spcAft>
            </a:pPr>
            <a:r>
              <a:rPr sz="1350" b="0">
                <a:solidFill>
                  <a:srgbClr val="000000"/>
                </a:solidFill>
                <a:latin typeface="Calibri"/>
              </a:rPr>
              <a:t>Our colour check takes 0.12 s per photo, so one small server can check thousands of photos an hour. Each photo is about 0.85 MB, so all of India needs about 100 GB a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2354471"/>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0000" r="1500" b="389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build the offline design shown on slide 3.</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 match our fields to e-Sakshya, get NIC or MHA approval, then send each sealed record with its photo hash.</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the photo hash is signed inside each record</a:t>
            </a:r>
          </a:p>
        </p:txBody>
      </p:sp>
      <p:pic>
        <p:nvPicPr>
          <p:cNvPr id="34" name="Tamper proof" descr="tamper_proof_tall.png"/>
          <p:cNvPicPr>
            <a:picLocks noChangeAspect="1"/>
          </p:cNvPicPr>
          <p:nvPr/>
        </p:nvPicPr>
        <p:blipFill>
          <a:blip r:embed="rId11"/>
          <a:stretch>
            <a:fillRect/>
          </a:stretch>
        </p:blipFill>
        <p:spPr>
          <a:xfrm>
            <a:off x="10649712" y="5115959"/>
            <a:ext cx="6735059" cy="24184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
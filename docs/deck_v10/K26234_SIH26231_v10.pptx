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7.svg" ContentType="image/svg+xml"/>
  <Override PartName="/ppt/media/image2.svg" ContentType="image/svg+xml"/>
  <Override PartName="/ppt/media/image25.svg" ContentType="image/svg+xml"/>
  <Override PartName="/ppt/media/image27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Times New Roman" charset="1" panose="02020603050405020304"/>
      <p:regular r:id="rId13"/>
    </p:embeddedFon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Calibri (MS) Italics" charset="1" panose="020F05020202040A0204"/>
      <p:regular r:id="rId16"/>
    </p:embeddedFont>
    <p:embeddedFont>
      <p:font typeface="Arimo" charset="1" panose="020B0604020202020204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NOTES (not on slide)</a:t>
            </a:r>
          </a:p>
          <a:p/>
          <a:p>
            <a:r>
              <a:t>Privacy &amp; How Long We Keep Data</a:t>
            </a:r>
          </a:p>
          <a:p>
            <a:r>
              <a:t>Data - no fingerprint or face data, no suspect name (only a sample code). Officer ID, GPS, time kept as proof.</a:t>
            </a:r>
          </a:p>
          <a:p>
            <a:r>
              <a:t>Who sees - officer: only own tests; supervisor/admin: all tests; public QR: only the check page (hiding officer name: planned).</a:t>
            </a:r>
          </a:p>
          <a:p>
            <a:r>
              <a:t>Law - police work does not need consent (DPDP s.7(c), s.17(1)(c)), but data must be kept safe (s.8(5)).</a:t>
            </a:r>
          </a:p>
          <a:p>
            <a:r>
              <a:t>Keep - till the case and appeal are over, then photo is deleted (planned).</a:t>
            </a:r>
          </a:p>
          <a:p/>
          <a:p>
            <a:r>
              <a:t>Chain of Custody (safe for court)</a:t>
            </a:r>
          </a:p>
          <a:p>
            <a:r>
              <a:t>Key - secret key only on our server, never in the app; anyone can check using the public key. Next: hardware key box (HSM) + officer's own DSC.</a:t>
            </a:r>
          </a:p>
          <a:p>
            <a:r>
              <a:t>Check - QR page checks the photo and record again, plus the signature and chain link (see Tamper Test).</a:t>
            </a:r>
          </a:p>
          <a:p>
            <a:r>
              <a:t>Court - gives the SHA-256 hash needed for the court certificate (BSA 2023 s.63). e-Sakshya / CCTNS link: planned.</a:t>
            </a:r>
          </a:p>
          <a:p>
            <a:r>
              <a:t>Offline (design) - no network? Test saved on phone with its hash, sent later; sent twice = saved once; phone lost = admin blocks the login (planned).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hyperlink" Target="https://youtu.be/F1cuxlgMW2g" TargetMode="External"/><Relationship Id="rId9" Type="http://schemas.openxmlformats.org/officeDocument/2006/relationships/image" Target="../media/image20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1.png"/><Relationship Id="rId13" Type="http://schemas.openxmlformats.org/officeDocument/2006/relationships/image" Target="../media/image24.png"/><Relationship Id="rId14" Type="http://schemas.openxmlformats.org/officeDocument/2006/relationships/image" Target="../media/image2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28.png"/><Relationship Id="rId10" Type="http://schemas.openxmlformats.org/officeDocument/2006/relationships/image" Target="../media/image3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4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svg"/><Relationship Id="rId8" Type="http://schemas.openxmlformats.org/officeDocument/2006/relationships/image" Target="../media/image18.jpeg"/><Relationship Id="rId9" Type="http://schemas.openxmlformats.org/officeDocument/2006/relationships/image" Target="../media/image4.png"/><Relationship Id="rId10" Type="http://schemas.openxmlformats.org/officeDocument/2006/relationships/image" Target="../media/image19.png"/><Relationship Id="rId11" Type="http://schemas.openxmlformats.org/officeDocument/2006/relationships/image" Target="../media/image29.png"/><Relationship Id="rId12" Type="http://schemas.openxmlformats.org/officeDocument/2006/relationships/notesSlide" Target="../notesSlides/notesSlide1.xml"/><Relationship Id="rId13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hyperlink" Target="https://pubmed.ncbi.nlm.nih.gov/28269432/" TargetMode="External"/><Relationship Id="rId6" Type="http://schemas.openxmlformats.org/officeDocument/2006/relationships/hyperlink" Target="https://www.researchgate.net/publication/386361522_Digital_Evidence_Chain_of_Custody_Navigating_New_Realities_of_Digital_Forensics" TargetMode="External"/><Relationship Id="rId7" Type="http://schemas.openxmlformats.org/officeDocument/2006/relationships/hyperlink" Target="https://www.researchgate.net/publication/259845901_Real_time_quantitative_colorimetric_test_for_methamphetamine_detection_using_digital_and_mobile_phone_technology" TargetMode="External"/><Relationship Id="rId8" Type="http://schemas.openxmlformats.org/officeDocument/2006/relationships/hyperlink" Target="https://nij.ojp.gov/library/publications/objective-method-presumptive-field-testing-illicit-drug-possession-using-0?utm_source=chatgpt.com" TargetMode="External"/><Relationship Id="rId9" Type="http://schemas.openxmlformats.org/officeDocument/2006/relationships/hyperlink" Target="https://pubs.rsc.org/dd/article/2/4/1143/804876/Teaching-old-presumptive-tests-new-digital-tricks" TargetMode="External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632" y="1277874"/>
            <a:ext cx="6958965" cy="7731443"/>
          </a:xfrm>
          <a:custGeom>
            <a:avLst/>
            <a:gdLst/>
            <a:ahLst/>
            <a:cxnLst/>
            <a:rect r="r" b="b" t="t" l="l"/>
            <a:pathLst>
              <a:path h="7731443" w="6958965">
                <a:moveTo>
                  <a:pt x="0" y="0"/>
                </a:moveTo>
                <a:lnTo>
                  <a:pt x="6958965" y="0"/>
                </a:lnTo>
                <a:lnTo>
                  <a:pt x="6958965" y="7731443"/>
                </a:lnTo>
                <a:lnTo>
                  <a:pt x="0" y="7731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28198" y="2119122"/>
            <a:ext cx="4805172" cy="5138928"/>
            <a:chOff x="0" y="0"/>
            <a:chExt cx="6406896" cy="68519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6896" cy="6851904"/>
            </a:xfrm>
            <a:custGeom>
              <a:avLst/>
              <a:gdLst/>
              <a:ahLst/>
              <a:cxnLst/>
              <a:rect r="r" b="b" t="t" l="l"/>
              <a:pathLst>
                <a:path h="6851904" w="6406896">
                  <a:moveTo>
                    <a:pt x="0" y="0"/>
                  </a:moveTo>
                  <a:lnTo>
                    <a:pt x="6406896" y="0"/>
                  </a:lnTo>
                  <a:lnTo>
                    <a:pt x="6406896" y="6851904"/>
                  </a:lnTo>
                  <a:lnTo>
                    <a:pt x="0" y="6851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" t="0" r="-47" b="0"/>
              </a:stretch>
            </a:blipFill>
          </p:spPr>
        </p:sp>
      </p:grpSp>
      <p:sp>
        <p:nvSpPr>
          <p:cNvPr name="TextBox 5" id="5" descr="$PPTXTitle"/>
          <p:cNvSpPr txBox="true"/>
          <p:nvPr/>
        </p:nvSpPr>
        <p:spPr>
          <a:xfrm rot="0">
            <a:off x="1856872" y="290741"/>
            <a:ext cx="12130088" cy="978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 spc="-15">
                <a:solidFill>
                  <a:srgbClr val="1F47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908" y="2734335"/>
            <a:ext cx="8392108" cy="49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68"/>
              </a:lnSpc>
            </a:pPr>
            <a:r>
              <a:rPr lang="en-US" b="true" sz="2936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</a:t>
            </a:r>
            <a:r>
              <a:rPr lang="en-US" sz="293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26231</a:t>
            </a:r>
          </a:p>
          <a:p>
            <a:pPr algn="just">
              <a:lnSpc>
                <a:spcPts val="5661"/>
              </a:lnSpc>
            </a:pPr>
            <a:r>
              <a:rPr lang="en-US" b="true" sz="2933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ompanion for Field Drug Testing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MedTech / BioTech / HealthTech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K26234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HexTech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4571" cy="718937"/>
            <a:chOff x="0" y="0"/>
            <a:chExt cx="24379428" cy="958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428" cy="958596"/>
            </a:xfrm>
            <a:custGeom>
              <a:avLst/>
              <a:gdLst/>
              <a:ahLst/>
              <a:cxnLst/>
              <a:rect r="r" b="b" t="t" l="l"/>
              <a:pathLst>
                <a:path h="958596" w="24379428">
                  <a:moveTo>
                    <a:pt x="0" y="0"/>
                  </a:moveTo>
                  <a:lnTo>
                    <a:pt x="24379428" y="0"/>
                  </a:lnTo>
                  <a:lnTo>
                    <a:pt x="24379428" y="958596"/>
                  </a:lnTo>
                  <a:lnTo>
                    <a:pt x="0" y="958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4" r="0" b="-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144"/>
            <a:ext cx="18288000" cy="755332"/>
            <a:chOff x="0" y="0"/>
            <a:chExt cx="24384000" cy="10071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6475"/>
                  </a:lnTo>
                  <a:lnTo>
                    <a:pt x="24384000" y="1006475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8226619" y="1770996"/>
            <a:ext cx="0" cy="7384231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0" id="10"/>
          <p:cNvGrpSpPr/>
          <p:nvPr/>
        </p:nvGrpSpPr>
        <p:grpSpPr>
          <a:xfrm rot="0">
            <a:off x="8595360" y="5870448"/>
            <a:ext cx="9006840" cy="3474720"/>
            <a:chOff x="0" y="0"/>
            <a:chExt cx="120906797" cy="67632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906803" cy="67632697"/>
            </a:xfrm>
            <a:custGeom>
              <a:avLst/>
              <a:gdLst/>
              <a:ahLst/>
              <a:cxnLst/>
              <a:rect r="r" b="b" t="t" l="l"/>
              <a:pathLst>
                <a:path h="67632697" w="120906803">
                  <a:moveTo>
                    <a:pt x="10928" y="0"/>
                  </a:moveTo>
                  <a:lnTo>
                    <a:pt x="120895876" y="0"/>
                  </a:lnTo>
                  <a:cubicBezTo>
                    <a:pt x="120898779" y="0"/>
                    <a:pt x="120901557" y="1151"/>
                    <a:pt x="120903603" y="3201"/>
                  </a:cubicBezTo>
                  <a:cubicBezTo>
                    <a:pt x="120905650" y="5250"/>
                    <a:pt x="120906803" y="8030"/>
                    <a:pt x="120906803" y="10928"/>
                  </a:cubicBezTo>
                  <a:lnTo>
                    <a:pt x="120906803" y="67621770"/>
                  </a:lnTo>
                  <a:cubicBezTo>
                    <a:pt x="120906803" y="67627804"/>
                    <a:pt x="120901916" y="67632697"/>
                    <a:pt x="120895876" y="67632697"/>
                  </a:cubicBezTo>
                  <a:lnTo>
                    <a:pt x="10928" y="67632697"/>
                  </a:lnTo>
                  <a:cubicBezTo>
                    <a:pt x="4893" y="67632697"/>
                    <a:pt x="0" y="67627804"/>
                    <a:pt x="0" y="67621770"/>
                  </a:cubicBezTo>
                  <a:lnTo>
                    <a:pt x="0" y="10928"/>
                  </a:lnTo>
                  <a:cubicBezTo>
                    <a:pt x="0" y="4893"/>
                    <a:pt x="4893" y="0"/>
                    <a:pt x="10928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20906797" cy="6771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378223" y="2377440"/>
            <a:ext cx="9228727" cy="830419"/>
          </a:xfrm>
          <a:custGeom>
            <a:avLst/>
            <a:gdLst/>
            <a:ahLst/>
            <a:cxnLst/>
            <a:rect r="r" b="b" t="t" l="l"/>
            <a:pathLst>
              <a:path h="830419" w="9228727">
                <a:moveTo>
                  <a:pt x="0" y="0"/>
                </a:moveTo>
                <a:lnTo>
                  <a:pt x="9228727" y="0"/>
                </a:lnTo>
                <a:lnTo>
                  <a:pt x="9228727" y="830419"/>
                </a:lnTo>
                <a:lnTo>
                  <a:pt x="0" y="8304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656" t="-554195" r="-92275" b="-1128926"/>
            </a:stretch>
          </a:blipFill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 flipV="true">
            <a:off x="1066800" y="3858768"/>
            <a:ext cx="7159819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5093704" y="360907"/>
            <a:ext cx="755389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b="true" sz="5399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3028" y="2240280"/>
            <a:ext cx="704252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rs mainly judge the kit’s colour change by looking at it, so lighting and personal judgement can affect the result.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no standard colour value to compare the test result with.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test does not always l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eave a clear digital record of who performed it, where, and when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making it harder to verify later.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6571" y="1810512"/>
            <a:ext cx="12268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028" y="4005072"/>
            <a:ext cx="6996848" cy="275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the Test - The mobile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app captures the colour change and helps check the result.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 the Test - Saves the result along with the time, location, and Inspector ID.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 the Records - The admin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dashboard manages Inspe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ctors, test records, evidence, and reports.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6571" y="3950208"/>
            <a:ext cx="12268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23960" y="5943600"/>
            <a:ext cx="140079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Novelty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15400" y="6400800"/>
            <a:ext cx="8503920" cy="3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Handles Lighting Variations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 low-cost col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card to improve colour detection under different lighting.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</a:t>
            </a: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 Unclear Results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Blurry, shiny, or unclear images are marked INCONCLUSIVE instead of giving a wrong result.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Creates Verifiable Evidence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Securely records the photo, GPS, time, and Inspector ID, with QR-based verification.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</a:t>
            </a: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orts Multiple Kits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New kit colour profiles can be added from the Admin website without changing the app.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65447" y="1874519"/>
            <a:ext cx="185196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720840" y="7991856"/>
            <a:ext cx="1320330" cy="1320330"/>
          </a:xfrm>
          <a:custGeom>
            <a:avLst/>
            <a:gdLst/>
            <a:ahLst/>
            <a:cxnLst/>
            <a:rect r="r" b="b" t="t" l="l"/>
            <a:pathLst>
              <a:path h="1320330" w="1320330">
                <a:moveTo>
                  <a:pt x="0" y="0"/>
                </a:moveTo>
                <a:lnTo>
                  <a:pt x="1320330" y="0"/>
                </a:lnTo>
                <a:lnTo>
                  <a:pt x="1320330" y="1320330"/>
                </a:lnTo>
                <a:lnTo>
                  <a:pt x="0" y="13203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6" id="26"/>
          <p:cNvSpPr txBox="true"/>
          <p:nvPr/>
        </p:nvSpPr>
        <p:spPr>
          <a:xfrm rot="0">
            <a:off x="1152144" y="8421624"/>
            <a:ext cx="3063240" cy="3905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1" sz="2300" spc="-25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b="1" sz="2300" spc="-25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rototype Demo Video: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97680" y="8439912"/>
            <a:ext cx="2103120" cy="3619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23" u="sng">
                <a:solidFill>
                  <a:srgbClr val="006EC0"/>
                </a:solidFill>
                <a:latin typeface="Calibri"/>
                <a:ea typeface="Calibri"/>
                <a:cs typeface="Calibri"/>
                <a:sym typeface="Calibri"/>
                <a:hlinkClick r:id="rId8" tooltip="https://youtu.be/F1cuxlgMW2g"/>
              </a:rPr>
              <a:t>Prototype Video Link</a:t>
            </a:r>
          </a:p>
        </p:txBody>
      </p:sp>
      <p:sp>
        <p:nvSpPr>
          <p:cNvPr id="28" name="Video link click area">
            <a:hlinkClick r:id="rId8"/>
          </p:cNvPr>
          <p:cNvSpPr/>
          <p:nvPr/>
        </p:nvSpPr>
        <p:spPr>
          <a:xfrm>
            <a:off x="4297680" y="8394192"/>
            <a:ext cx="210312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deo QR click area">
            <a:hlinkClick r:id="rId8"/>
          </p:cNvPr>
          <p:cNvSpPr/>
          <p:nvPr/>
        </p:nvSpPr>
        <p:spPr>
          <a:xfrm>
            <a:off x="6720840" y="7991856"/>
            <a:ext cx="1320330" cy="13203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23" id="30"/>
          <p:cNvSpPr txBox="true"/>
          <p:nvPr/>
        </p:nvSpPr>
        <p:spPr>
          <a:xfrm rot="0">
            <a:off x="8595360" y="3383280"/>
            <a:ext cx="9006840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Prototype F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low - </a:t>
            </a:r>
            <a:r>
              <a:rPr lang="en-US" sz="2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real screenshots of our working prototype</a:t>
            </a:r>
          </a:p>
        </p:txBody>
      </p:sp>
      <p:sp>
        <p:nvSpPr>
          <p:cNvPr name="Freeform 8" id="31"/>
          <p:cNvSpPr/>
          <p:nvPr/>
        </p:nvSpPr>
        <p:spPr>
          <a:xfrm flipH="false" flipV="false" rot="0">
            <a:off x="8595360" y="3858768"/>
            <a:ext cx="1420051" cy="1783080"/>
          </a:xfrm>
          <a:custGeom>
            <a:avLst/>
            <a:gdLst/>
            <a:ahLst/>
            <a:cxnLst/>
            <a:rect r="r" b="b" t="t" l="l"/>
            <a:pathLst>
              <a:path h="3416454" w="2720876">
                <a:moveTo>
                  <a:pt x="0" y="0"/>
                </a:moveTo>
                <a:lnTo>
                  <a:pt x="2720876" y="0"/>
                </a:lnTo>
                <a:lnTo>
                  <a:pt x="2720876" y="3416454"/>
                </a:lnTo>
                <a:lnTo>
                  <a:pt x="0" y="341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699" r="0" b="-70279"/>
            </a:stretch>
          </a:blipFill>
        </p:spPr>
        <p:txBody>
          <a:bodyPr/>
          <a:p/>
        </p:txBody>
      </p:sp>
      <p:sp>
        <p:nvSpPr>
          <p:cNvPr name="Freeform 10" id="32"/>
          <p:cNvSpPr/>
          <p:nvPr/>
        </p:nvSpPr>
        <p:spPr>
          <a:xfrm flipH="false" flipV="false" rot="0">
            <a:off x="10498282" y="3858768"/>
            <a:ext cx="861759" cy="1783080"/>
          </a:xfrm>
          <a:custGeom>
            <a:avLst/>
            <a:gdLst/>
            <a:ahLst/>
            <a:cxnLst/>
            <a:rect r="r" b="b" t="t" l="l"/>
            <a:pathLst>
              <a:path h="3213409" w="1553035">
                <a:moveTo>
                  <a:pt x="0" y="0"/>
                </a:moveTo>
                <a:lnTo>
                  <a:pt x="1553035" y="0"/>
                </a:lnTo>
                <a:lnTo>
                  <a:pt x="1553035" y="3213409"/>
                </a:lnTo>
                <a:lnTo>
                  <a:pt x="0" y="32134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4065" r="0" b="-3334"/>
            </a:stretch>
          </a:blipFill>
        </p:spPr>
        <p:txBody>
          <a:bodyPr/>
          <a:p/>
        </p:txBody>
      </p:sp>
      <p:sp>
        <p:nvSpPr>
          <p:cNvPr name="Freeform 11" id="33"/>
          <p:cNvSpPr/>
          <p:nvPr/>
        </p:nvSpPr>
        <p:spPr>
          <a:xfrm flipH="false" flipV="false" rot="0">
            <a:off x="11842913" y="3858768"/>
            <a:ext cx="1063454" cy="1783080"/>
          </a:xfrm>
          <a:custGeom>
            <a:avLst/>
            <a:gdLst/>
            <a:ahLst/>
            <a:cxnLst/>
            <a:rect r="r" b="b" t="t" l="l"/>
            <a:pathLst>
              <a:path h="2988046" w="1782114">
                <a:moveTo>
                  <a:pt x="0" y="0"/>
                </a:moveTo>
                <a:lnTo>
                  <a:pt x="1782114" y="0"/>
                </a:lnTo>
                <a:lnTo>
                  <a:pt x="1782114" y="2988046"/>
                </a:lnTo>
                <a:lnTo>
                  <a:pt x="0" y="29880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5017" r="0" b="-27519"/>
            </a:stretch>
          </a:blipFill>
        </p:spPr>
        <p:txBody>
          <a:bodyPr/>
          <a:p/>
        </p:txBody>
      </p:sp>
      <p:sp>
        <p:nvSpPr>
          <p:cNvPr name="Freeform 9" id="34"/>
          <p:cNvSpPr/>
          <p:nvPr/>
        </p:nvSpPr>
        <p:spPr>
          <a:xfrm flipH="false" flipV="false" rot="0">
            <a:off x="13389239" y="3858768"/>
            <a:ext cx="4212960" cy="1783080"/>
          </a:xfrm>
          <a:custGeom>
            <a:avLst/>
            <a:gdLst/>
            <a:ahLst/>
            <a:cxnLst/>
            <a:rect r="r" b="b" t="t" l="l"/>
            <a:pathLst>
              <a:path h="2714824" w="6414433">
                <a:moveTo>
                  <a:pt x="0" y="0"/>
                </a:moveTo>
                <a:lnTo>
                  <a:pt x="6414433" y="0"/>
                </a:lnTo>
                <a:lnTo>
                  <a:pt x="6414433" y="2714824"/>
                </a:lnTo>
                <a:lnTo>
                  <a:pt x="0" y="2714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643" r="-1398" b="-29274"/>
            </a:stretch>
          </a:blipFill>
        </p:spPr>
        <p:txBody>
          <a:bodyPr/>
          <a:p/>
        </p:txBody>
      </p:sp>
      <p:sp>
        <p:nvSpPr>
          <p:cNvPr name="Freeform 12" id="35"/>
          <p:cNvSpPr/>
          <p:nvPr/>
        </p:nvSpPr>
        <p:spPr>
          <a:xfrm flipH="false" flipV="false" rot="0">
            <a:off x="10096826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36"/>
          <p:cNvSpPr/>
          <p:nvPr/>
        </p:nvSpPr>
        <p:spPr>
          <a:xfrm flipH="false" flipV="false" rot="0">
            <a:off x="11441457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37"/>
          <p:cNvSpPr/>
          <p:nvPr/>
        </p:nvSpPr>
        <p:spPr>
          <a:xfrm flipH="false" flipV="false" rot="0">
            <a:off x="12987783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1" id="38"/>
          <p:cNvSpPr txBox="true"/>
          <p:nvPr/>
        </p:nvSpPr>
        <p:spPr>
          <a:xfrm rot="0">
            <a:off x="1152144" y="6199632"/>
            <a:ext cx="4572000" cy="438912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User Experience</a:t>
            </a:r>
          </a:p>
        </p:txBody>
      </p:sp>
      <p:sp>
        <p:nvSpPr>
          <p:cNvPr name="TextBox 23" id="39"/>
          <p:cNvSpPr txBox="true"/>
          <p:nvPr/>
        </p:nvSpPr>
        <p:spPr>
          <a:xfrm rot="0">
            <a:off x="987552" y="6638544"/>
            <a:ext cx="7132320" cy="1280160"/>
          </a:xfrm>
          <a:prstGeom prst="rect">
            <a:avLst/>
          </a:prstGeom>
        </p:spPr>
        <p:txBody>
          <a:bodyPr anchor="t" rtlCol="false" tIns="0" lIns="0" bIns="0" rIns="0" wrap="square">
            <a:noAutofit/>
          </a:bodyPr>
          <a:lstStyle/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steps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pick kit → take photo in the box → see result → saved. We timed it: ~16 s per test (19 scans).</a:t>
            </a:r>
          </a:p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Bad photo?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App says NOT SURE, tells why (blurry, shiny, card not seen) and asks to take again.</a:t>
            </a:r>
          </a:p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to read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big result word with colour, simple English. Next: we will time 10 officers using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5641848"/>
            <a:ext cx="90068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50" b="0" i="1">
                <a:solidFill>
                  <a:srgbClr val="6B6B6B"/>
                </a:solidFill>
                <a:latin typeface="Calibri"/>
              </a:rPr>
              <a:t>Test Log (right side): search and filter by date, officer, kit, result. Download as CSV, PDF with QR.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8171" y="1901952"/>
            <a:ext cx="5564269" cy="29260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0">
                <a:solidFill>
                  <a:srgbClr val="555555"/>
                </a:solidFill>
                <a:latin typeface="Calibri"/>
              </a:rPr>
              <a:t>India: 1,20,010 NDPS cases in 2023 (NCRB) - each one needs a field test.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6044184"/>
            <a:ext cx="7315200" cy="29260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Eye check: guesswork, no record · Lab: accurate but slow · </a:t>
            </a:r>
            <a:r>
              <a:rPr sz="1200" b="1">
                <a:solidFill>
                  <a:srgbClr val="555555"/>
                </a:solidFill>
                <a:latin typeface="Calibri"/>
              </a:rPr>
              <a:t>FieldProof: on the spot, ₹10, with proof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 flipV="true">
            <a:off x="9120273" y="2317442"/>
            <a:ext cx="0" cy="6940858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575656" y="2365906"/>
            <a:ext cx="8506261" cy="7198718"/>
          </a:xfrm>
          <a:custGeom>
            <a:avLst/>
            <a:gdLst/>
            <a:ahLst/>
            <a:cxnLst/>
            <a:rect r="r" b="b" t="t" l="l"/>
            <a:pathLst>
              <a:path h="7198718" w="8506261">
                <a:moveTo>
                  <a:pt x="0" y="0"/>
                </a:moveTo>
                <a:lnTo>
                  <a:pt x="8506261" y="0"/>
                </a:lnTo>
                <a:lnTo>
                  <a:pt x="8506261" y="7198718"/>
                </a:lnTo>
                <a:lnTo>
                  <a:pt x="0" y="7198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t="-10560" r="-41196" b="-17925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8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633393" y="3206103"/>
            <a:ext cx="2374096" cy="5123386"/>
          </a:xfrm>
          <a:custGeom>
            <a:avLst/>
            <a:gdLst/>
            <a:ahLst/>
            <a:cxnLst/>
            <a:rect r="r" b="b" t="t" l="l"/>
            <a:pathLst>
              <a:path h="5123386" w="2374096">
                <a:moveTo>
                  <a:pt x="0" y="0"/>
                </a:moveTo>
                <a:lnTo>
                  <a:pt x="2374096" y="0"/>
                </a:lnTo>
                <a:lnTo>
                  <a:pt x="2374096" y="5123386"/>
                </a:lnTo>
                <a:lnTo>
                  <a:pt x="0" y="51233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2659" t="-5244" r="-32335" b="-9439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15376592" y="2280181"/>
            <a:ext cx="0" cy="6940858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4" id="14" descr="$PPTXTitle"/>
          <p:cNvSpPr txBox="true"/>
          <p:nvPr/>
        </p:nvSpPr>
        <p:spPr>
          <a:xfrm rot="0">
            <a:off x="4732364" y="360750"/>
            <a:ext cx="826858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14563" y="2563902"/>
            <a:ext cx="2592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Techn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ology Stack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4375" y="1842031"/>
            <a:ext cx="2592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Syst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em Archi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tecture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48369" y="2251606"/>
            <a:ext cx="5761019" cy="326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Testing: 37 computer-made photos + 25 real phone scans.</a:t>
            </a:r>
          </a:p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Accuracy: 25/25 computer-made right; 25 real scans: 0 wrong (14 right, rest NOT SURE).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Colour Ch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eck: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Used ΔE ≤ 14, 4-point colour matching, card-fit and glare thresholds.</a:t>
            </a:r>
          </a:p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Speed: Result secured in 2.5 s typically, 5 s maximum.</a:t>
            </a:r>
          </a:p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Tamper Test: All 4/4 modified records were detected successfully.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48369" y="4590288"/>
            <a:ext cx="588500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Kit col</a:t>
            </a: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ours are simulated swatches (test photos + card on a screen), real kits need an FSL calibration trial.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Now: TRL 4 lab prototype, 1 phone. Next: FSL real kits, more phones.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1316" y="1842031"/>
            <a:ext cx="390060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1" sz="25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Our Goals - Measured Results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53728" y="5888736"/>
            <a:ext cx="5989320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1" sz="2200" spc="-24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Proof: Real Phone Scans (29 Sep 2026)</a:t>
            </a:r>
          </a:p>
        </p:txBody>
      </p:sp>
      <p:sp>
        <p:nvSpPr>
          <p:cNvPr name="AutoShape 23" id="23"/>
          <p:cNvSpPr/>
          <p:nvPr/>
        </p:nvSpPr>
        <p:spPr>
          <a:xfrm>
            <a:off x="9248369" y="5833872"/>
            <a:ext cx="588500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pic>
        <p:nvPicPr>
          <p:cNvPr id="24" name="Real scans" descr="real_sca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3728" y="6309360"/>
            <a:ext cx="5989320" cy="25828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363648" y="2318099"/>
          <a:ext cx="7695951" cy="4167066"/>
        </p:xfrm>
        <a:graphic>
          <a:graphicData uri="http://schemas.openxmlformats.org/drawingml/2006/table">
            <a:tbl>
              <a:tblPr/>
              <a:tblGrid>
                <a:gridCol w="3597282"/>
                <a:gridCol w="4098669"/>
              </a:tblGrid>
              <a:tr h="7732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1" sz="18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Real-world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</a:t>
                      </a:r>
                      <a:r>
                        <a:rPr lang="en-US" b="1" sz="18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 our app does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Bad light (street lamp / torch)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Colou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card fixes the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4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Shiny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 blurry photo, card missing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NOT SURE and asks to retake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is in between two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Says NOT SURE; senior officer checks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Fake photo or ed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ited record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In-app camera only + photo fingerprint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erent kits and phones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Kit 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settings + colours fixed every photo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1" id="11"/>
          <p:cNvSpPr/>
          <p:nvPr/>
        </p:nvSpPr>
        <p:spPr>
          <a:xfrm>
            <a:off x="8899227" y="1857539"/>
            <a:ext cx="0" cy="7193961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>
            <a:off x="414105" y="6018440"/>
            <a:ext cx="8475596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502920" y="6675120"/>
            <a:ext cx="3977639" cy="2219604"/>
          </a:xfrm>
          <a:custGeom>
            <a:avLst/>
            <a:gdLst/>
            <a:ahLst/>
            <a:cxnLst/>
            <a:rect r="r" b="b" t="t" l="l"/>
            <a:pathLst>
              <a:path h="2987110" w="5354622">
                <a:moveTo>
                  <a:pt x="0" y="0"/>
                </a:moveTo>
                <a:lnTo>
                  <a:pt x="5354622" y="0"/>
                </a:lnTo>
                <a:lnTo>
                  <a:pt x="5354622" y="2987110"/>
                </a:lnTo>
                <a:lnTo>
                  <a:pt x="0" y="2987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999" t="-62172" r="-21685" b="-32345"/>
            </a:stretch>
          </a:blipFill>
        </p:spPr>
        <p:txBody>
          <a:bodyPr/>
          <a:p/>
        </p:txBody>
      </p:sp>
      <p:sp>
        <p:nvSpPr>
          <p:cNvPr name="TextBox 15" id="15" descr="$PPTXTitle"/>
          <p:cNvSpPr txBox="true"/>
          <p:nvPr/>
        </p:nvSpPr>
        <p:spPr>
          <a:xfrm rot="0">
            <a:off x="3963967" y="360907"/>
            <a:ext cx="981337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3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1809914"/>
            <a:ext cx="384917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otential Challenges &amp; Strategies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name="TextBox 18" id="18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6791" y="6104165"/>
            <a:ext cx="428196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Phased Implementation &amp; Scalability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6791" y="1809914"/>
            <a:ext cx="306431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easibility &amp; Sustainability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1255" y="2271877"/>
            <a:ext cx="8399396" cy="360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Core app tested with OpenCV-based colour analysis.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User-Friendly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Capture o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 photo and get a result within seconds.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Cost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an existing Android phone, a reusable ~₹10 colour card, and open-source tools.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</a:t>
            </a: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erational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Simple photo-based workflow with minimal training required.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Add new test-kit colour profiles through the Admin website without updating the app.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Sustainable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Government-cloud hosting, regular profile updates, and secure data storage support long-term use.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8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144000" y="6749314"/>
            <a:ext cx="28301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ost &amp; Deployment Plan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88924" y="7391299"/>
            <a:ext cx="1606622" cy="1880336"/>
            <a:chOff x="0" y="0"/>
            <a:chExt cx="27419684" cy="320910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75719" y="7391299"/>
            <a:ext cx="1606622" cy="1880336"/>
            <a:chOff x="0" y="0"/>
            <a:chExt cx="27419684" cy="3209107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663316" y="7391299"/>
            <a:ext cx="1606622" cy="1880336"/>
            <a:chOff x="0" y="0"/>
            <a:chExt cx="27419684" cy="32091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450913" y="7391299"/>
            <a:ext cx="1606622" cy="1880336"/>
            <a:chOff x="0" y="0"/>
            <a:chExt cx="27419684" cy="32091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238511" y="7391299"/>
            <a:ext cx="1606622" cy="1880336"/>
            <a:chOff x="0" y="0"/>
            <a:chExt cx="27419684" cy="320910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088924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75719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OSTING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63316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MAINTENAN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50913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DEPL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OYMENT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238511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CALE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57881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an existing p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hone, ₹10 reusable colour card, and open-source software.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943196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Runs on g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overnment cloud for the app, database, and admin dashboard.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705981" y="8040279"/>
            <a:ext cx="14687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Regular security upd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ates and easy kit-profile updates as needed.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19871" y="8040279"/>
            <a:ext cx="14687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 with a pilot, test in the fi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eld, then expand deployment.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329303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test kits c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be added through the website without updating the app.</a:t>
            </a:r>
          </a:p>
        </p:txBody>
      </p:sp>
      <p:sp>
        <p:nvSpPr>
          <p:cNvPr name="AutoShape 50" id="50"/>
          <p:cNvSpPr/>
          <p:nvPr/>
        </p:nvSpPr>
        <p:spPr>
          <a:xfrm>
            <a:off x="10691338" y="8324540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51" id="51"/>
          <p:cNvSpPr/>
          <p:nvPr/>
        </p:nvSpPr>
        <p:spPr>
          <a:xfrm>
            <a:off x="12478935" y="8340992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52" id="52"/>
          <p:cNvSpPr/>
          <p:nvPr/>
        </p:nvSpPr>
        <p:spPr>
          <a:xfrm>
            <a:off x="14269938" y="8321942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53" id="53"/>
          <p:cNvSpPr/>
          <p:nvPr/>
        </p:nvSpPr>
        <p:spPr>
          <a:xfrm>
            <a:off x="16057536" y="8331467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TextBox 19" id="54"/>
          <p:cNvSpPr txBox="true"/>
          <p:nvPr/>
        </p:nvSpPr>
        <p:spPr>
          <a:xfrm rot="0">
            <a:off x="4572000" y="6492240"/>
            <a:ext cx="4206240" cy="384048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Pilot Plan (proposed)</a:t>
            </a:r>
          </a:p>
        </p:txBody>
      </p:sp>
      <p:sp>
        <p:nvSpPr>
          <p:cNvPr name="TextBox 21" id="55"/>
          <p:cNvSpPr txBox="true"/>
          <p:nvPr/>
        </p:nvSpPr>
        <p:spPr>
          <a:xfrm rot="0">
            <a:off x="4526280" y="6931152"/>
            <a:ext cx="4315968" cy="2487168"/>
          </a:xfrm>
          <a:prstGeom prst="rect">
            <a:avLst/>
          </a:prstGeom>
        </p:spPr>
        <p:txBody>
          <a:bodyPr anchor="t" rtlCol="false" tIns="0" lIns="0" bIns="0" rIns="0" wrap="square">
            <a:noAutofit/>
          </a:bodyPr>
          <a:lstStyle/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- 1 district in Tamil Nadu, with local police + nearest FSL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Who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- 20 officers, for 3 months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every field result is checked again in the FSL lab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- 95%+ same as lab, NOT SURE below 10%, every record passes the check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district → state → whole country (phases on the left)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around ₹10,000 for 3 months: cards ₹200 + server ~₹3,000/month (rough estimate)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481560" y="6731026"/>
            <a:ext cx="5394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>
                <a:solidFill>
                  <a:srgbClr val="555555"/>
                </a:solidFill>
                <a:latin typeface="Calibri"/>
              </a:rPr>
              <a:t>After pilot: </a:t>
            </a:r>
            <a:r>
              <a:rPr sz="1300" b="0">
                <a:solidFill>
                  <a:srgbClr val="555555"/>
                </a:solidFill>
                <a:latin typeface="Calibri"/>
              </a:rPr>
              <a:t>paid from the state police / NCB IT budget.</a:t>
            </a:r>
          </a:p>
          <a:p>
            <a:r>
              <a:rPr sz="1300" b="0">
                <a:solidFill>
                  <a:srgbClr val="555555"/>
                </a:solidFill>
                <a:latin typeface="Calibri"/>
              </a:rPr>
              <a:t>Open-source, no licence fee, so running cost stays low.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852866" y="2000650"/>
            <a:ext cx="9090296" cy="2418586"/>
            <a:chOff x="0" y="0"/>
            <a:chExt cx="180762863" cy="480941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0762870" cy="48094196"/>
            </a:xfrm>
            <a:custGeom>
              <a:avLst/>
              <a:gdLst/>
              <a:ahLst/>
              <a:cxnLst/>
              <a:rect r="r" b="b" t="t" l="l"/>
              <a:pathLst>
                <a:path h="48094196" w="180762870">
                  <a:moveTo>
                    <a:pt x="8517" y="0"/>
                  </a:moveTo>
                  <a:lnTo>
                    <a:pt x="180754350" y="0"/>
                  </a:lnTo>
                  <a:cubicBezTo>
                    <a:pt x="180759063" y="0"/>
                    <a:pt x="180762870" y="3813"/>
                    <a:pt x="180762870" y="8517"/>
                  </a:cubicBezTo>
                  <a:lnTo>
                    <a:pt x="180762870" y="48085679"/>
                  </a:lnTo>
                  <a:cubicBezTo>
                    <a:pt x="180762870" y="48090382"/>
                    <a:pt x="180759063" y="48094196"/>
                    <a:pt x="180754350" y="48094196"/>
                  </a:cubicBezTo>
                  <a:lnTo>
                    <a:pt x="8517" y="48094196"/>
                  </a:lnTo>
                  <a:cubicBezTo>
                    <a:pt x="3813" y="48094196"/>
                    <a:pt x="0" y="48090382"/>
                    <a:pt x="0" y="48085679"/>
                  </a:cubicBezTo>
                  <a:lnTo>
                    <a:pt x="0" y="8517"/>
                  </a:lnTo>
                  <a:cubicBezTo>
                    <a:pt x="0" y="3813"/>
                    <a:pt x="3813" y="0"/>
                    <a:pt x="851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80762863" cy="48170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2566" y="4836047"/>
            <a:ext cx="4685447" cy="4615775"/>
          </a:xfrm>
          <a:custGeom>
            <a:avLst/>
            <a:gdLst/>
            <a:ahLst/>
            <a:cxnLst/>
            <a:rect r="r" b="b" t="t" l="l"/>
            <a:pathLst>
              <a:path h="4615775" w="4685447">
                <a:moveTo>
                  <a:pt x="0" y="0"/>
                </a:moveTo>
                <a:lnTo>
                  <a:pt x="4685448" y="0"/>
                </a:lnTo>
                <a:lnTo>
                  <a:pt x="4685448" y="4615775"/>
                </a:lnTo>
                <a:lnTo>
                  <a:pt x="0" y="4615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10649712" y="7644185"/>
            <a:ext cx="6735059" cy="1810710"/>
            <a:chOff x="0" y="0"/>
            <a:chExt cx="133928377" cy="655126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8383" cy="65512659"/>
            </a:xfrm>
            <a:custGeom>
              <a:avLst/>
              <a:gdLst/>
              <a:ahLst/>
              <a:cxnLst/>
              <a:rect r="r" b="b" t="t" l="l"/>
              <a:pathLst>
                <a:path h="65512659" w="133928383">
                  <a:moveTo>
                    <a:pt x="11495" y="0"/>
                  </a:moveTo>
                  <a:lnTo>
                    <a:pt x="133916886" y="0"/>
                  </a:lnTo>
                  <a:cubicBezTo>
                    <a:pt x="133919937" y="0"/>
                    <a:pt x="133922864" y="1211"/>
                    <a:pt x="133925022" y="3367"/>
                  </a:cubicBezTo>
                  <a:cubicBezTo>
                    <a:pt x="133927168" y="5523"/>
                    <a:pt x="133928383" y="8446"/>
                    <a:pt x="133928383" y="11495"/>
                  </a:cubicBezTo>
                  <a:lnTo>
                    <a:pt x="133928383" y="65501162"/>
                  </a:lnTo>
                  <a:cubicBezTo>
                    <a:pt x="133928383" y="65507512"/>
                    <a:pt x="133923236" y="65512659"/>
                    <a:pt x="133916886" y="65512659"/>
                  </a:cubicBezTo>
                  <a:lnTo>
                    <a:pt x="11495" y="65512659"/>
                  </a:lnTo>
                  <a:cubicBezTo>
                    <a:pt x="8446" y="65512659"/>
                    <a:pt x="5523" y="65511449"/>
                    <a:pt x="3367" y="65509291"/>
                  </a:cubicBezTo>
                  <a:cubicBezTo>
                    <a:pt x="1211" y="65507133"/>
                    <a:pt x="0" y="65504213"/>
                    <a:pt x="0" y="65501162"/>
                  </a:cubicBezTo>
                  <a:lnTo>
                    <a:pt x="0" y="11495"/>
                  </a:lnTo>
                  <a:cubicBezTo>
                    <a:pt x="0" y="8446"/>
                    <a:pt x="1211" y="5523"/>
                    <a:pt x="3367" y="3367"/>
                  </a:cubicBezTo>
                  <a:cubicBezTo>
                    <a:pt x="5523" y="1211"/>
                    <a:pt x="8446" y="0"/>
                    <a:pt x="1149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33928377" cy="6558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699814" y="2426368"/>
            <a:ext cx="0" cy="183976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-1874657">
            <a:off x="4845967" y="5598832"/>
            <a:ext cx="1557904" cy="1324218"/>
          </a:xfrm>
          <a:custGeom>
            <a:avLst/>
            <a:gdLst/>
            <a:ahLst/>
            <a:cxnLst/>
            <a:rect r="r" b="b" t="t" l="l"/>
            <a:pathLst>
              <a:path h="1324218" w="1557904">
                <a:moveTo>
                  <a:pt x="0" y="0"/>
                </a:moveTo>
                <a:lnTo>
                  <a:pt x="1557904" y="0"/>
                </a:lnTo>
                <a:lnTo>
                  <a:pt x="1557904" y="1324219"/>
                </a:lnTo>
                <a:lnTo>
                  <a:pt x="0" y="1324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6524601" y="5010285"/>
            <a:ext cx="3418560" cy="4441537"/>
          </a:xfrm>
          <a:custGeom>
            <a:avLst/>
            <a:gdLst/>
            <a:ahLst/>
            <a:cxnLst/>
            <a:rect r="r" b="b" t="t" l="l"/>
            <a:pathLst>
              <a:path h="4441537" w="3418560">
                <a:moveTo>
                  <a:pt x="0" y="0"/>
                </a:moveTo>
                <a:lnTo>
                  <a:pt x="3418560" y="0"/>
                </a:lnTo>
                <a:lnTo>
                  <a:pt x="3418560" y="4441537"/>
                </a:lnTo>
                <a:lnTo>
                  <a:pt x="0" y="44415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21" r="0" b="-9940"/>
            </a:stretch>
          </a:blipFill>
        </p:spPr>
        <p:txBody>
          <a:bodyPr/>
          <a:p/>
        </p:txBody>
      </p:sp>
      <p:grpSp>
        <p:nvGrpSpPr>
          <p:cNvPr name="Group 17" id="1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06" r="0" b="-108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0649712" y="2304288"/>
            <a:ext cx="6735059" cy="2354471"/>
          </a:xfrm>
          <a:custGeom>
            <a:avLst/>
            <a:gdLst/>
            <a:ahLst/>
            <a:cxnLst/>
            <a:rect r="r" b="b" t="t" l="l"/>
            <a:pathLst>
              <a:path h="3360331" w="6095839">
                <a:moveTo>
                  <a:pt x="0" y="0"/>
                </a:moveTo>
                <a:lnTo>
                  <a:pt x="6095839" y="0"/>
                </a:lnTo>
                <a:lnTo>
                  <a:pt x="6095839" y="3360331"/>
                </a:lnTo>
                <a:lnTo>
                  <a:pt x="0" y="33603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rcRect l="17800" t="10000" r="1500" b="38900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0" id="20" descr="$PPTXTitle"/>
          <p:cNvSpPr txBox="true"/>
          <p:nvPr/>
        </p:nvSpPr>
        <p:spPr>
          <a:xfrm rot="0">
            <a:off x="4912538" y="346300"/>
            <a:ext cx="7916228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95384" y="8046521"/>
            <a:ext cx="6689387" cy="274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6968" indent="-188484" lvl="1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ffline Mode - Test even without internet and sync data later.</a:t>
            </a:r>
          </a:p>
          <a:p>
            <a:pPr algn="l" marL="376968" indent="-188484" lvl="1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Pho</a:t>
            </a: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 Security - Use the phone’s security chip to sign each test.</a:t>
            </a:r>
          </a:p>
          <a:p>
            <a:pPr algn="l" marL="376968" indent="-188484" lvl="1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Police System Integration - our CSV export (time, GPS, officer, result, photo hash, verify link) is ready to map to e-Sakshya / CCTNS; the link needs NIC/MHA approval.</a:t>
            </a: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376968" indent="-188484" lvl="1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 Comparison - Compare field results with lab</a:t>
            </a: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results to improve accuracy.</a:t>
            </a:r>
          </a:p>
          <a:p>
            <a:pPr algn="l" marL="376968" indent="-188484" lvl="1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Regional Languages - Support Hindi and regional languages with voice assistance.</a:t>
            </a:r>
          </a:p>
        </p:txBody>
      </p:sp>
      <p:sp>
        <p:nvSpPr>
          <p:cNvPr name="TextBox 23" id="23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2866" y="2433353"/>
            <a:ext cx="3762650" cy="1744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Faster, more consist</a:t>
            </a: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 testing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manual colour checking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INCONCLUSIVE when unclear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digital test records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Quic</a:t>
            </a: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 access to past test records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84113" y="2433353"/>
            <a:ext cx="5051078" cy="174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Proof of every t</a:t>
            </a: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est: time, place, officer &amp; photo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Secure and verifiable records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paperw</a:t>
            </a: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ork with PDF &amp; QR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search, reports and monitoring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Better field-test documentation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74430" y="2079685"/>
            <a:ext cx="1919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Inspector Benefits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53724" y="2085531"/>
            <a:ext cx="235583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Organisation Benefits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30810" y="7680761"/>
            <a:ext cx="166119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8"/>
              </a:lnSpc>
              <a:spcBef>
                <a:spcPct val="0"/>
              </a:spcBef>
            </a:pPr>
            <a:r>
              <a:rPr lang="en-US" b="1" sz="2173" spc="-24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49712" y="1938528"/>
            <a:ext cx="69464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Map -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73677" y="4553085"/>
            <a:ext cx="330248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QR-Based Record Verification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72088" y="1975104"/>
            <a:ext cx="200446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Geo-Tagged test result</a:t>
            </a:r>
          </a:p>
        </p:txBody>
      </p:sp>
      <p:sp>
        <p:nvSpPr>
          <p:cNvPr name="TextBox 29" id="32"/>
          <p:cNvSpPr txBox="true"/>
          <p:nvPr/>
        </p:nvSpPr>
        <p:spPr>
          <a:xfrm rot="0">
            <a:off x="10649712" y="4750199"/>
            <a:ext cx="1828800" cy="36576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Tamper Test -</a:t>
            </a:r>
          </a:p>
        </p:txBody>
      </p:sp>
      <p:sp>
        <p:nvSpPr>
          <p:cNvPr name="TextBox 31" id="33"/>
          <p:cNvSpPr txBox="true"/>
          <p:nvPr/>
        </p:nvSpPr>
        <p:spPr>
          <a:xfrm rot="0">
            <a:off x="12368784" y="4786775"/>
            <a:ext cx="4937760" cy="31089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 test on our saved records</a:t>
            </a:r>
          </a:p>
        </p:txBody>
      </p:sp>
      <p:pic>
        <p:nvPicPr>
          <p:cNvPr id="34" name="Tamper proof" descr="tamper_proof_tal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49712" y="5115959"/>
            <a:ext cx="6735059" cy="24184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85800" y="1920240"/>
          <a:ext cx="16916400" cy="7406640"/>
        </p:xfrm>
        <a:graphic>
          <a:graphicData uri="http://schemas.openxmlformats.org/drawingml/2006/table">
            <a:tbl>
              <a:tblPr/>
              <a:tblGrid>
                <a:gridCol w="6400800"/>
                <a:gridCol w="4114800"/>
                <a:gridCol w="6400800"/>
              </a:tblGrid>
              <a:tr h="7772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What they found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How we use 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Research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EMBC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camera colours change with light and phone model; reference colours can help handle this.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₹10 colour card fixes colours in every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5" tooltip="https://pubmed.ncbi.nlm.nih.gov/28269432/"/>
                        </a:rPr>
                        <a:t>IEEE EMBC 2016 – Illumination and device independence for colorimetric detection of urinary biomarkers with smartphone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TPS-ISA 2024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 evidence must maintain integrity and show how it was handled.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Photo fingerprint + signature + chained 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6" tooltip="https://www.researchgate.net/publication/386361522_Digital_Evidence_Chain_of_Custody_Navigating_New_Realities_of_Digital_Forensics"/>
                        </a:rPr>
                        <a:t>IEEE TPS-ISA 2024 – Digital Evidence Chain of Custody: Navigating New Realities of Digital Forensics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Forensic Science 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International 2014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mobile phone camera can measure drug-test colours using RGB values.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app reads the test colour as a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7" tooltip="https://www.researchgate.net/publication/259845901_Real_time_quantitative_colorimetric_test_for_methamphetamine_detection_using_digital_and_mobile_phone_technology"/>
                        </a:rPr>
                        <a:t>Forensic Science International 2014 – Real-time quantitative colorimetric test for methamphetamine detection using digital and mobile phone technology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Analytical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Chemistry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By-eye colour interpretation is subjective; smartphone image analysis can provide objective analysis.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Arimo"/>
                          <a:cs typeface="Arimo"/>
                          <a:sym typeface="Arimo"/>
                        </a:rPr>
                        <a:t>App gives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Arimo"/>
                          <a:cs typeface="Arimo"/>
                          <a:sym typeface="Arimo"/>
                        </a:rPr>
                        <a:t>POSITIVE / NEGATIVE / NOT 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8" tooltip="https://nij.ojp.gov/library/publications/objective-method-presumptive-field-testing-illicit-drug-possession-using-0?utm_source=chatgpt.com"/>
                        </a:rPr>
                        <a:t>Analytical Chemistry 2016 – Objective Method for Presumptive Field-Testing of Illicit Drug Possession Using Centrifugal Microdevices and Smartphone Analysis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Discovery 2023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Computer vision can quantify and compare colour changes that may look similar by eye.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shows photo colour next to kit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9" tooltip="https://pubs.rsc.org/dd/article/2/4/1143/804876/Teaching-old-presumptive-tests-new-digital-tricks"/>
                        </a:rPr>
                        <a:t>Digital Discovery 2023 – Teaching old presumptive tests new digital tricks with computer vision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5" id="15" descr="$PPTXTitle"/>
          <p:cNvSpPr txBox="true"/>
          <p:nvPr/>
        </p:nvSpPr>
        <p:spPr>
          <a:xfrm rot="0">
            <a:off x="3660096" y="346300"/>
            <a:ext cx="10421112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name="TextBox 17" id="17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106" r="0" b="-108"/>
              </a:stretch>
            </a:blipFill>
          </p:spPr>
        </p:sp>
      </p:grpSp>
      <p:sp>
        <p:nvSpPr>
          <p:cNvPr id="26" name="Research link 1">
            <a:hlinkClick r:id="rId5"/>
          </p:cNvPr>
          <p:cNvSpPr/>
          <p:nvPr/>
        </p:nvSpPr>
        <p:spPr>
          <a:xfrm>
            <a:off x="11201400" y="269748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search link 2">
            <a:hlinkClick r:id="rId6"/>
          </p:cNvPr>
          <p:cNvSpPr/>
          <p:nvPr/>
        </p:nvSpPr>
        <p:spPr>
          <a:xfrm>
            <a:off x="11201400" y="402336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search link 3">
            <a:hlinkClick r:id="rId7"/>
          </p:cNvPr>
          <p:cNvSpPr/>
          <p:nvPr/>
        </p:nvSpPr>
        <p:spPr>
          <a:xfrm>
            <a:off x="11201400" y="534924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search link 4">
            <a:hlinkClick r:id="rId8"/>
          </p:cNvPr>
          <p:cNvSpPr/>
          <p:nvPr/>
        </p:nvSpPr>
        <p:spPr>
          <a:xfrm>
            <a:off x="11201400" y="667512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search link 5">
            <a:hlinkClick r:id="rId9"/>
          </p:cNvPr>
          <p:cNvSpPr/>
          <p:nvPr/>
        </p:nvSpPr>
        <p:spPr>
          <a:xfrm>
            <a:off x="11201400" y="800100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DAHVDURAeOo</dc:identifier>
  <dcterms:modified xsi:type="dcterms:W3CDTF">2011-08-01T06:04:30Z</dcterms:modified>
  <cp:revision>1</cp:revision>
  <dc:title>Problem Statement ID – 26034 Problem Statement Title- Software System to check compliance of packaged commodities under Legal Metrology (Packaged Commodities) Rules,2011 by scanning product images and labels. Theme- Miscellaneous PS Category- Software</dc:title>
</cp:coreProperties>
</file>
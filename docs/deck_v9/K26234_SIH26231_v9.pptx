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2.svg" ContentType="image/svg+xml"/>
  <Override PartName="/ppt/media/image25.svg" ContentType="image/svg+xml"/>
  <Override PartName="/ppt/media/image27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6"/>
    </p:embeddedFont>
    <p:embeddedFont>
      <p:font typeface="Arimo" charset="1" panose="020B06040202020202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NOTES (not on slide)</a:t>
            </a:r>
          </a:p>
          <a:p/>
          <a:p>
            <a:r>
              <a:t>Privacy &amp; How Long We Keep Data</a:t>
            </a:r>
          </a:p>
          <a:p>
            <a:r>
              <a:t>Data - no fingerprint or face data, no suspect name (only a sample code). Officer ID, GPS, time kept as proof.</a:t>
            </a:r>
          </a:p>
          <a:p>
            <a:r>
              <a:t>Who sees - officer: only own tests; supervisor/admin: all tests; public QR: only the check page (hiding officer name: planned).</a:t>
            </a:r>
          </a:p>
          <a:p>
            <a:r>
              <a:t>Law - police work does not need consent (DPDP s.7(c), s.17(1)(c)), but data must be kept safe (s.8(5)).</a:t>
            </a:r>
          </a:p>
          <a:p>
            <a:r>
              <a:t>Keep - till the case and appeal are over, then photo is deleted (planned).</a:t>
            </a:r>
          </a:p>
          <a:p/>
          <a:p>
            <a:r>
              <a:t>Chain of Custody (safe for court)</a:t>
            </a:r>
          </a:p>
          <a:p>
            <a:r>
              <a:t>Key - secret key only on our server, never in the app; anyone can check using the public key. Next: hardware key box (HSM) + officer's own DSC.</a:t>
            </a:r>
          </a:p>
          <a:p>
            <a:r>
              <a:t>Check - QR page checks the photo and record again, plus the signature and chain link (see Tamper Test).</a:t>
            </a:r>
          </a:p>
          <a:p>
            <a:r>
              <a:t>Court - gives the SHA-256 hash needed for the court certificate (BSA 2023 s.63). e-Sakshya / CCTNS link: planned.</a:t>
            </a:r>
          </a:p>
          <a:p>
            <a:r>
              <a:t>Offline (design) - no network? Test saved on phone with its hash, sent later; sent twice = saved once; phone lost = admin blocks the login (planned).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hyperlink" Target="https://youtu.be/F1cuxlgMW2g" TargetMode="External"/><Relationship Id="rId9" Type="http://schemas.openxmlformats.org/officeDocument/2006/relationships/image" Target="../media/image20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1.png"/><Relationship Id="rId13" Type="http://schemas.openxmlformats.org/officeDocument/2006/relationships/image" Target="../media/image24.png"/><Relationship Id="rId14" Type="http://schemas.openxmlformats.org/officeDocument/2006/relationships/image" Target="../media/image2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18.jpeg"/><Relationship Id="rId9" Type="http://schemas.openxmlformats.org/officeDocument/2006/relationships/image" Target="../media/image4.png"/><Relationship Id="rId10" Type="http://schemas.openxmlformats.org/officeDocument/2006/relationships/image" Target="../media/image19.png"/><Relationship Id="rId11" Type="http://schemas.openxmlformats.org/officeDocument/2006/relationships/image" Target="../media/image29.png"/><Relationship Id="rId12" Type="http://schemas.openxmlformats.org/officeDocument/2006/relationships/notesSlide" Target="../notesSlides/notesSlide1.xml"/><Relationship Id="rId13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hyperlink" Target="https://pubmed.ncbi.nlm.nih.gov/28269432/" TargetMode="External"/><Relationship Id="rId6" Type="http://schemas.openxmlformats.org/officeDocument/2006/relationships/hyperlink" Target="https://www.researchgate.net/publication/386361522_Digital_Evidence_Chain_of_Custody_Navigating_New_Realities_of_Digital_Forensics" TargetMode="External"/><Relationship Id="rId7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8" Type="http://schemas.openxmlformats.org/officeDocument/2006/relationships/hyperlink" Target="https://nij.ojp.gov/library/publications/objective-method-presumptive-field-testing-illicit-drug-possession-using-0?utm_source=chatgpt.com" TargetMode="External"/><Relationship Id="rId9" Type="http://schemas.openxmlformats.org/officeDocument/2006/relationships/hyperlink" Target="https://pubs.rsc.org/dd/article/2/4/1143/804876/Teaching-old-presumptive-tests-new-digital-tricks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sp>
        <p:nvSpPr>
          <p:cNvPr name="TextBox 5" id="5" descr="$PPTXTitle"/>
          <p:cNvSpPr txBox="true"/>
          <p:nvPr/>
        </p:nvSpPr>
        <p:spPr>
          <a:xfrm rot="0">
            <a:off x="1856872" y="290741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908" y="2734335"/>
            <a:ext cx="8392108" cy="49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b="true" sz="2933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0">
            <a:off x="8595360" y="5870448"/>
            <a:ext cx="9006840" cy="3474720"/>
            <a:chOff x="0" y="0"/>
            <a:chExt cx="120906797" cy="6763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906803" cy="67632697"/>
            </a:xfrm>
            <a:custGeom>
              <a:avLst/>
              <a:gdLst/>
              <a:ahLst/>
              <a:cxnLst/>
              <a:rect r="r" b="b" t="t" l="l"/>
              <a:pathLst>
                <a:path h="67632697" w="120906803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378223" y="2377440"/>
            <a:ext cx="9228727" cy="830419"/>
          </a:xfrm>
          <a:custGeom>
            <a:avLst/>
            <a:gdLst/>
            <a:ahLst/>
            <a:cxnLst/>
            <a:rect r="r" b="b" t="t" l="l"/>
            <a:pathLst>
              <a:path h="830419" w="9228727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56" t="-554195" r="-92275" b="-1128926"/>
            </a:stretch>
          </a:blipFill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1066800" y="3858768"/>
            <a:ext cx="7159819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5093704" y="360907"/>
            <a:ext cx="755389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5399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028" y="2240280"/>
            <a:ext cx="704252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rs mainly judge the kit’s colour change by looking at it, so lighting and personal judgement can affect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standard colour value to compare the test result with.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test does not always l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eave a clear digital record of who performed it, where, and when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making it harder to verify later.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571" y="1810512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28" y="4005072"/>
            <a:ext cx="6996848" cy="275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the Test - The mobile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 captures the colour change and helps check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the Test - Saves the result along with the time, location, and Inspector ID.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Records - The admin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dashboard manages Inspe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ctors, test records, evidence, and reports.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571" y="3950208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23960" y="5943600"/>
            <a:ext cx="14007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15400" y="6400800"/>
            <a:ext cx="8503920" cy="3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Lighting Variations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 low-cost col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card to improve colour detection under different lighting.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Unclear Results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Blurry, shiny, or unclear images are marked INCONCLUSIVE instead of giving a wrong result.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Verifiable Evidence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Securely records the photo, GPS, time, and Inspector ID, with QR-based verification.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orts Multiple Kits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New kit colour profiles can be added from the Admin website without changing the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447" y="1874519"/>
            <a:ext cx="18519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720840" y="7991856"/>
            <a:ext cx="1320330" cy="1320330"/>
          </a:xfrm>
          <a:custGeom>
            <a:avLst/>
            <a:gdLst/>
            <a:ahLst/>
            <a:cxnLst/>
            <a:rect r="r" b="b" t="t" l="l"/>
            <a:pathLst>
              <a:path h="1320330" w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52144" y="8421624"/>
            <a:ext cx="3063240" cy="3905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rototype Demo Video: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7680" y="8439912"/>
            <a:ext cx="2103120" cy="3619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  <a:hlinkClick r:id="rId8" tooltip="https://youtu.be/F1cuxlgMW2g"/>
              </a:rPr>
              <a:t>Prototype Video Link</a:t>
            </a:r>
          </a:p>
        </p:txBody>
      </p:sp>
      <p:sp>
        <p:nvSpPr>
          <p:cNvPr id="28" name="Video link click area">
            <a:hlinkClick r:id="rId8"/>
          </p:cNvPr>
          <p:cNvSpPr/>
          <p:nvPr/>
        </p:nvSpPr>
        <p:spPr>
          <a:xfrm>
            <a:off x="4297680" y="8394192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deo QR click area">
            <a:hlinkClick r:id="rId8"/>
          </p:cNvPr>
          <p:cNvSpPr/>
          <p:nvPr/>
        </p:nvSpPr>
        <p:spPr>
          <a:xfrm>
            <a:off x="6720840" y="7991856"/>
            <a:ext cx="1320330" cy="13203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23" id="30"/>
          <p:cNvSpPr txBox="true"/>
          <p:nvPr/>
        </p:nvSpPr>
        <p:spPr>
          <a:xfrm rot="0">
            <a:off x="8595360" y="3383280"/>
            <a:ext cx="900684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low - </a:t>
            </a:r>
            <a:r>
              <a:rPr lang="en-US" sz="2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real screenshots of our working prototype</a:t>
            </a:r>
          </a:p>
        </p:txBody>
      </p:sp>
      <p:sp>
        <p:nvSpPr>
          <p:cNvPr name="Freeform 8" id="31"/>
          <p:cNvSpPr/>
          <p:nvPr/>
        </p:nvSpPr>
        <p:spPr>
          <a:xfrm flipH="false" flipV="false" rot="0">
            <a:off x="8595360" y="3858768"/>
            <a:ext cx="1420051" cy="1783080"/>
          </a:xfrm>
          <a:custGeom>
            <a:avLst/>
            <a:gdLst/>
            <a:ahLst/>
            <a:cxnLst/>
            <a:rect r="r" b="b" t="t" l="l"/>
            <a:pathLst>
              <a:path h="3416454" w="2720876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699" r="0" b="-70279"/>
            </a:stretch>
          </a:blipFill>
        </p:spPr>
      </p:sp>
      <p:sp>
        <p:nvSpPr>
          <p:cNvPr name="Freeform 10" id="32"/>
          <p:cNvSpPr/>
          <p:nvPr/>
        </p:nvSpPr>
        <p:spPr>
          <a:xfrm flipH="false" flipV="false" rot="0">
            <a:off x="10498282" y="3858768"/>
            <a:ext cx="861759" cy="1783080"/>
          </a:xfrm>
          <a:custGeom>
            <a:avLst/>
            <a:gdLst/>
            <a:ahLst/>
            <a:cxnLst/>
            <a:rect r="r" b="b" t="t" l="l"/>
            <a:pathLst>
              <a:path h="3213409" w="1553035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065" r="0" b="-3334"/>
            </a:stretch>
          </a:blipFill>
        </p:spPr>
      </p:sp>
      <p:sp>
        <p:nvSpPr>
          <p:cNvPr name="Freeform 11" id="33"/>
          <p:cNvSpPr/>
          <p:nvPr/>
        </p:nvSpPr>
        <p:spPr>
          <a:xfrm flipH="false" flipV="false" rot="0">
            <a:off x="11842913" y="3858768"/>
            <a:ext cx="1063454" cy="1783080"/>
          </a:xfrm>
          <a:custGeom>
            <a:avLst/>
            <a:gdLst/>
            <a:ahLst/>
            <a:cxnLst/>
            <a:rect r="r" b="b" t="t" l="l"/>
            <a:pathLst>
              <a:path h="2988046" w="1782114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017" r="0" b="-27519"/>
            </a:stretch>
          </a:blipFill>
        </p:spPr>
      </p:sp>
      <p:sp>
        <p:nvSpPr>
          <p:cNvPr name="Freeform 9" id="34"/>
          <p:cNvSpPr/>
          <p:nvPr/>
        </p:nvSpPr>
        <p:spPr>
          <a:xfrm flipH="false" flipV="false" rot="0">
            <a:off x="13389239" y="3858768"/>
            <a:ext cx="4212960" cy="1783080"/>
          </a:xfrm>
          <a:custGeom>
            <a:avLst/>
            <a:gdLst/>
            <a:ahLst/>
            <a:cxnLst/>
            <a:rect r="r" b="b" t="t" l="l"/>
            <a:pathLst>
              <a:path h="2714824" w="6414433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643" r="-1398" b="-29274"/>
            </a:stretch>
          </a:blipFill>
        </p:spPr>
      </p:sp>
      <p:sp>
        <p:nvSpPr>
          <p:cNvPr name="Freeform 12" id="35"/>
          <p:cNvSpPr/>
          <p:nvPr/>
        </p:nvSpPr>
        <p:spPr>
          <a:xfrm flipH="false" flipV="false" rot="0">
            <a:off x="10096826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36"/>
          <p:cNvSpPr/>
          <p:nvPr/>
        </p:nvSpPr>
        <p:spPr>
          <a:xfrm flipH="false" flipV="false" rot="0">
            <a:off x="11441457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37"/>
          <p:cNvSpPr/>
          <p:nvPr/>
        </p:nvSpPr>
        <p:spPr>
          <a:xfrm flipH="false" flipV="false" rot="0">
            <a:off x="12987783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38"/>
          <p:cNvSpPr txBox="true"/>
          <p:nvPr/>
        </p:nvSpPr>
        <p:spPr>
          <a:xfrm rot="0">
            <a:off x="1152144" y="6199632"/>
            <a:ext cx="4572000" cy="43891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</a:p>
        </p:txBody>
      </p:sp>
      <p:sp>
        <p:nvSpPr>
          <p:cNvPr name="TextBox 23" id="39"/>
          <p:cNvSpPr txBox="true"/>
          <p:nvPr/>
        </p:nvSpPr>
        <p:spPr>
          <a:xfrm rot="0">
            <a:off x="987552" y="6638544"/>
            <a:ext cx="7132320" cy="128016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steps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pick kit → take photo in the box → see result → saved. Result comes ~2.5 sec after photo.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Bad photo?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App says NOT SURE, tells why (blurry, shiny, card not seen) and asks to take again.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read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big result word with colour, simple English. Next: we will time 10 officers using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641848"/>
            <a:ext cx="90068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50" b="0" i="1">
                <a:solidFill>
                  <a:srgbClr val="6B6B6B"/>
                </a:solidFill>
                <a:latin typeface="Calibri"/>
              </a:rPr>
              <a:t>Test Log (right side): search and filter by date, officer, kit, result. Download as CSV, PDF with QR.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8171" y="1901952"/>
            <a:ext cx="5564269" cy="29260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>
                <a:solidFill>
                  <a:srgbClr val="555555"/>
                </a:solidFill>
                <a:latin typeface="Calibri"/>
              </a:rPr>
              <a:t>India: 1,20,010 NDPS cases in 2023 (NCRB) - each one needs a field test.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6044184"/>
            <a:ext cx="7315200" cy="29260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Eye check: guesswork, no record · Lab: accurate but slow · </a:t>
            </a:r>
            <a:r>
              <a:rPr sz="1200" b="1">
                <a:solidFill>
                  <a:srgbClr val="555555"/>
                </a:solidFill>
                <a:latin typeface="Calibri"/>
              </a:rPr>
              <a:t>FieldProof: on the spot, ₹10, with proof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 flipV="true">
            <a:off x="9120273" y="2317442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575656" y="2365906"/>
            <a:ext cx="8506261" cy="7198718"/>
          </a:xfrm>
          <a:custGeom>
            <a:avLst/>
            <a:gdLst/>
            <a:ahLst/>
            <a:cxnLst/>
            <a:rect r="r" b="b" t="t" l="l"/>
            <a:pathLst>
              <a:path h="7198718" w="8506261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-10560" r="-41196" b="-17925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33393" y="3206103"/>
            <a:ext cx="2374096" cy="5123386"/>
          </a:xfrm>
          <a:custGeom>
            <a:avLst/>
            <a:gdLst/>
            <a:ahLst/>
            <a:cxnLst/>
            <a:rect r="r" b="b" t="t" l="l"/>
            <a:pathLst>
              <a:path h="5123386" w="237409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659" t="-5244" r="-32335" b="-9439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15376592" y="2280181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9281160" y="7161484"/>
            <a:ext cx="2191623" cy="1386422"/>
          </a:xfrm>
          <a:custGeom>
            <a:avLst/>
            <a:gdLst/>
            <a:ahLst/>
            <a:cxnLst/>
            <a:rect r="r" b="b" t="t" l="l"/>
            <a:pathLst>
              <a:path h="2538128" w="4012211">
                <a:moveTo>
                  <a:pt x="0" y="0"/>
                </a:moveTo>
                <a:lnTo>
                  <a:pt x="4012211" y="0"/>
                </a:lnTo>
                <a:lnTo>
                  <a:pt x="4012211" y="2538129"/>
                </a:lnTo>
                <a:lnTo>
                  <a:pt x="0" y="2538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5" t="-2803" r="-1836" b="-2540"/>
            </a:stretch>
          </a:blipFill>
        </p:spPr>
        <p:txBody>
          <a:bodyPr/>
          <a:p/>
        </p:txBody>
      </p:sp>
      <p:sp>
        <p:nvSpPr>
          <p:cNvPr name="TextBox 14" id="14" descr="$PPTXTitle"/>
          <p:cNvSpPr txBox="true"/>
          <p:nvPr/>
        </p:nvSpPr>
        <p:spPr>
          <a:xfrm rot="0">
            <a:off x="4732364" y="360750"/>
            <a:ext cx="826858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4563" y="2563902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Techn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" y="1842031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Syst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em Archi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369" y="2251606"/>
            <a:ext cx="5761019" cy="326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Testing: 37 kit photos across 5 lighting conditions, 6 real phone photos.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 25/25 controlled tests correct; 5/6 r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eal photos correct, with 1 marked “NOT SURE”.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 Ch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eck: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ΔE ≤ 14, 4-point colour matching, card-fit and glare thresholds.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Result secured in 2.5 s typically, 5 s maximum.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Tamper Test: All 4/4 modified records were detected successfully.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8369" y="4956048"/>
            <a:ext cx="588500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 col</a:t>
            </a: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ours are simulated swatches (test photos + card on a screen), real kits need an FSL calibration trial.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Now: lab prototype (TRL 4). Not done yet: real-kit test with an FSL.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1316" y="1842031"/>
            <a:ext cx="39006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1" sz="25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Our Goals - Measured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1160" y="5870448"/>
            <a:ext cx="2191623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Reference Card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248369" y="5815584"/>
            <a:ext cx="588500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2" id="24"/>
          <p:cNvSpPr txBox="true"/>
          <p:nvPr/>
        </p:nvSpPr>
        <p:spPr>
          <a:xfrm rot="0">
            <a:off x="11609943" y="5870448"/>
            <a:ext cx="3523376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Proof of Results</a:t>
            </a:r>
          </a:p>
        </p:txBody>
      </p:sp>
      <p:pic>
        <p:nvPicPr>
          <p:cNvPr id="25" name="Proof grid" descr="proof_gr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09943" y="6254496"/>
            <a:ext cx="352337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363648" y="2318099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</a:t>
                      </a: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Shiny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 photo or ed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Kit 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1" id="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502920" y="6675120"/>
            <a:ext cx="3977639" cy="2219604"/>
          </a:xfrm>
          <a:custGeom>
            <a:avLst/>
            <a:gdLst/>
            <a:ahLst/>
            <a:cxnLst/>
            <a:rect r="r" b="b" t="t" l="l"/>
            <a:pathLst>
              <a:path h="2987110" w="5354622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99" t="-62172" r="-21685" b="-32345"/>
            </a:stretch>
          </a:blipFill>
        </p:spPr>
        <p:txBody>
          <a:bodyPr/>
          <a:p/>
        </p:txBody>
      </p:sp>
      <p:sp>
        <p:nvSpPr>
          <p:cNvPr name="TextBox 15" id="15" descr="$PPTXTitle"/>
          <p:cNvSpPr txBox="true"/>
          <p:nvPr/>
        </p:nvSpPr>
        <p:spPr>
          <a:xfrm rot="0">
            <a:off x="3963967" y="360907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809914"/>
            <a:ext cx="38491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otential Challenges &amp; Strategies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18" id="18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791" y="6104165"/>
            <a:ext cx="42819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Phased Implementation &amp; 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791" y="1809914"/>
            <a:ext cx="30643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easibility &amp; Sustainability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255" y="2271877"/>
            <a:ext cx="8399396" cy="360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Core app tested with OpenCV-based colour analysis.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Capture o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photo and get a result within seconds.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an existing Android phone, a reusable ~₹10 colour card, and open-source tools.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erational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Simple photo-based workflow with minimal training required.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Add new test-kit colour profiles through the Admin website without updating the app.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0" y="6749314"/>
            <a:ext cx="28301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ost &amp; Deployment Plan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88924" y="7391299"/>
            <a:ext cx="1606622" cy="1880336"/>
            <a:chOff x="0" y="0"/>
            <a:chExt cx="27419684" cy="32091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5719" y="7391299"/>
            <a:ext cx="1606622" cy="1880336"/>
            <a:chOff x="0" y="0"/>
            <a:chExt cx="27419684" cy="320910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63316" y="7391299"/>
            <a:ext cx="1606622" cy="1880336"/>
            <a:chOff x="0" y="0"/>
            <a:chExt cx="27419684" cy="32091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50913" y="7391299"/>
            <a:ext cx="1606622" cy="1880336"/>
            <a:chOff x="0" y="0"/>
            <a:chExt cx="27419684" cy="32091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38511" y="7391299"/>
            <a:ext cx="1606622" cy="1880336"/>
            <a:chOff x="0" y="0"/>
            <a:chExt cx="27419684" cy="320910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88924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75719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OSTING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63316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MAINTENAN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50913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DEPL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38511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CALE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57881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an existing p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hone, ₹10 reusable colour card, and open-source software.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43196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 g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overnment cloud for the app, database, and admin dashboard.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0598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security upd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ates and easy kit-profile updates as needed.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1987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a pilot, test in the fi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eld, then expand deployment.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29303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test kits c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be added through the website without updating the app.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1" id="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2" id="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3" id="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TextBox 19" id="54"/>
          <p:cNvSpPr txBox="true"/>
          <p:nvPr/>
        </p:nvSpPr>
        <p:spPr>
          <a:xfrm rot="0">
            <a:off x="4572000" y="6492240"/>
            <a:ext cx="420624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Pilot Plan (proposed)</a:t>
            </a:r>
          </a:p>
        </p:txBody>
      </p:sp>
      <p:sp>
        <p:nvSpPr>
          <p:cNvPr name="TextBox 21" id="55"/>
          <p:cNvSpPr txBox="true"/>
          <p:nvPr/>
        </p:nvSpPr>
        <p:spPr>
          <a:xfrm rot="0">
            <a:off x="4526280" y="6931152"/>
            <a:ext cx="4315968" cy="2487168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- 1 district in Tamil Nadu, with local police + nearest FSL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- 20 officers, for 3 months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every field result is checked again in the FSL lab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- 95%+ same as lab, NOT SURE below 10%, every record passes the check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district → state → whole country (phases on the left)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around ₹10,000 for 3 months: cards ₹200 + server ~₹3,000/month (rough estimate)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81560" y="6731026"/>
            <a:ext cx="5394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>
                <a:solidFill>
                  <a:srgbClr val="555555"/>
                </a:solidFill>
                <a:latin typeface="Calibri"/>
              </a:rPr>
              <a:t>After pilot: </a:t>
            </a:r>
            <a:r>
              <a:rPr sz="1300" b="0">
                <a:solidFill>
                  <a:srgbClr val="555555"/>
                </a:solidFill>
                <a:latin typeface="Calibri"/>
              </a:rPr>
              <a:t>paid from the state police / NCB IT budget.</a:t>
            </a:r>
          </a:p>
          <a:p>
            <a:r>
              <a:rPr sz="1300" b="0">
                <a:solidFill>
                  <a:srgbClr val="555555"/>
                </a:solidFill>
                <a:latin typeface="Calibri"/>
              </a:rPr>
              <a:t>Open-source, no licence fee, so running cost stays low.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852866" y="2000650"/>
            <a:ext cx="9090296" cy="2418586"/>
            <a:chOff x="0" y="0"/>
            <a:chExt cx="180762863" cy="48094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762870" cy="48094196"/>
            </a:xfrm>
            <a:custGeom>
              <a:avLst/>
              <a:gdLst/>
              <a:ahLst/>
              <a:cxnLst/>
              <a:rect r="r" b="b" t="t" l="l"/>
              <a:pathLst>
                <a:path h="48094196" w="180762870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2566" y="4836047"/>
            <a:ext cx="4685447" cy="4615775"/>
          </a:xfrm>
          <a:custGeom>
            <a:avLst/>
            <a:gdLst/>
            <a:ahLst/>
            <a:cxnLst/>
            <a:rect r="r" b="b" t="t" l="l"/>
            <a:pathLst>
              <a:path h="4615775" w="4685447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10649712" y="7644185"/>
            <a:ext cx="6735059" cy="1810710"/>
            <a:chOff x="0" y="0"/>
            <a:chExt cx="133928377" cy="65512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8383" cy="65512659"/>
            </a:xfrm>
            <a:custGeom>
              <a:avLst/>
              <a:gdLst/>
              <a:ahLst/>
              <a:cxnLst/>
              <a:rect r="r" b="b" t="t" l="l"/>
              <a:pathLst>
                <a:path h="65512659" w="133928383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-1874657">
            <a:off x="4845967" y="5598832"/>
            <a:ext cx="1557904" cy="1324218"/>
          </a:xfrm>
          <a:custGeom>
            <a:avLst/>
            <a:gdLst/>
            <a:ahLst/>
            <a:cxnLst/>
            <a:rect r="r" b="b" t="t" l="l"/>
            <a:pathLst>
              <a:path h="1324218" w="1557904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6524601" y="5010285"/>
            <a:ext cx="3418560" cy="4441537"/>
          </a:xfrm>
          <a:custGeom>
            <a:avLst/>
            <a:gdLst/>
            <a:ahLst/>
            <a:cxnLst/>
            <a:rect r="r" b="b" t="t" l="l"/>
            <a:pathLst>
              <a:path h="4441537" w="3418560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1" r="0" b="-9940"/>
            </a:stretch>
          </a:blipFill>
        </p:spPr>
        <p:txBody>
          <a:bodyPr/>
          <a:p/>
        </p:txBody>
      </p:sp>
      <p:grpSp>
        <p:nvGrpSpPr>
          <p:cNvPr name="Group 17" id="1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6" r="0" b="-108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649712" y="2304288"/>
            <a:ext cx="6735059" cy="2354471"/>
          </a:xfrm>
          <a:custGeom>
            <a:avLst/>
            <a:gdLst/>
            <a:ahLst/>
            <a:cxnLst/>
            <a:rect r="r" b="b" t="t" l="l"/>
            <a:pathLst>
              <a:path h="3360331" w="6095839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rcRect l="17800" t="10000" r="1500" b="3890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 descr="$PPTXTitle"/>
          <p:cNvSpPr txBox="true"/>
          <p:nvPr/>
        </p:nvSpPr>
        <p:spPr>
          <a:xfrm rot="0">
            <a:off x="4912538" y="346300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5384" y="8046521"/>
            <a:ext cx="6689387" cy="27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968" indent="-188484" lvl="1">
              <a:lnSpc>
                <a:spcPct val="110000"/>
              </a:lnSpc>
              <a:buFont typeface="Arial"/>
              <a:buChar char="•"/>
            </a:pP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ffline Mode - Test even without internet and sync data later.</a:t>
            </a:r>
          </a:p>
          <a:p>
            <a:pPr algn="l" marL="376968" indent="-188484" lvl="1">
              <a:lnSpc>
                <a:spcPct val="110000"/>
              </a:lnSpc>
              <a:buFont typeface="Arial"/>
              <a:buChar char="•"/>
            </a:pP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</a:t>
            </a: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Security - Use the phone’s security chip to sign each test.</a:t>
            </a:r>
          </a:p>
          <a:p>
            <a:pPr algn="l" marL="376968" indent="-188484" lvl="1">
              <a:lnSpc>
                <a:spcPct val="110000"/>
              </a:lnSpc>
              <a:buFont typeface="Arial"/>
              <a:buChar char="•"/>
            </a:pP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olice System Integration - Connect with e-Sakshya and CCTNS.</a:t>
            </a:r>
          </a:p>
          <a:p>
            <a:pPr algn="l" marL="376968" indent="-188484" lvl="1">
              <a:lnSpc>
                <a:spcPct val="110000"/>
              </a:lnSpc>
              <a:buFont typeface="Arial"/>
              <a:buChar char="•"/>
            </a:pP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 Comparison - Compare field results with lab</a:t>
            </a: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results to improve accuracy.</a:t>
            </a:r>
          </a:p>
          <a:p>
            <a:pPr algn="l" marL="376968" indent="-188484" lvl="1">
              <a:lnSpc>
                <a:spcPct val="110000"/>
              </a:lnSpc>
              <a:buFont typeface="Arial"/>
              <a:buChar char="•"/>
            </a:pPr>
            <a:r>
              <a:rPr lang="en-US" sz="15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Regional Languages - Support Hindi and regional languages with voice assistance.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2866" y="2433353"/>
            <a:ext cx="3762650" cy="174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Faster, more consist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 testing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manual colour checking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INCONCLUSIVE when unclear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digital test records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access to past test records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84113" y="2433353"/>
            <a:ext cx="5051078" cy="17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 of every t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est: time, place, officer &amp; photo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and verifiable records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paperw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ork with PDF &amp; QR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search, reports and monitoring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field-test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4430" y="2079685"/>
            <a:ext cx="1919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Inspector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53724" y="2085531"/>
            <a:ext cx="23558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Organisation Benefits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0810" y="7680761"/>
            <a:ext cx="16611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b="1" sz="2173" spc="-24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49712" y="1938528"/>
            <a:ext cx="69464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Map 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73677" y="4553085"/>
            <a:ext cx="33024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QR-Based Record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72088" y="1975104"/>
            <a:ext cx="20044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Geo-Tagged test result</a:t>
            </a:r>
          </a:p>
        </p:txBody>
      </p:sp>
      <p:sp>
        <p:nvSpPr>
          <p:cNvPr name="TextBox 29" id="32"/>
          <p:cNvSpPr txBox="true"/>
          <p:nvPr/>
        </p:nvSpPr>
        <p:spPr>
          <a:xfrm rot="0">
            <a:off x="10649712" y="4750199"/>
            <a:ext cx="1828800" cy="36576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Tamper Test -</a:t>
            </a:r>
          </a:p>
        </p:txBody>
      </p:sp>
      <p:sp>
        <p:nvSpPr>
          <p:cNvPr name="TextBox 31" id="33"/>
          <p:cNvSpPr txBox="true"/>
          <p:nvPr/>
        </p:nvSpPr>
        <p:spPr>
          <a:xfrm rot="0">
            <a:off x="12368784" y="4786775"/>
            <a:ext cx="4937760" cy="31089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 test on our saved records</a:t>
            </a:r>
          </a:p>
        </p:txBody>
      </p:sp>
      <p:pic>
        <p:nvPicPr>
          <p:cNvPr id="34" name="Tamper proof" descr="tamper_proof_tal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49712" y="5115959"/>
            <a:ext cx="6735059" cy="2418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85800" y="1920240"/>
          <a:ext cx="16916400" cy="7406640"/>
        </p:xfrm>
        <a:graphic>
          <a:graphicData uri="http://schemas.openxmlformats.org/drawingml/2006/table">
            <a:tbl>
              <a:tblPr/>
              <a:tblGrid>
                <a:gridCol w="6400800"/>
                <a:gridCol w="4114800"/>
                <a:gridCol w="6400800"/>
              </a:tblGrid>
              <a:tr h="777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EMBC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5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TPS-ISA 2024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6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Forensic Science 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International 2014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7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Chemistry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App gives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8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Discovery 2023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9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 descr="$PPTXTitle"/>
          <p:cNvSpPr txBox="true"/>
          <p:nvPr/>
        </p:nvSpPr>
        <p:spPr>
          <a:xfrm rot="0">
            <a:off x="3660096" y="346300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06" r="0" b="-108"/>
              </a:stretch>
            </a:blipFill>
          </p:spPr>
        </p:sp>
      </p:grpSp>
      <p:sp>
        <p:nvSpPr>
          <p:cNvPr id="26" name="Research link 1">
            <a:hlinkClick r:id="rId5"/>
          </p:cNvPr>
          <p:cNvSpPr/>
          <p:nvPr/>
        </p:nvSpPr>
        <p:spPr>
          <a:xfrm>
            <a:off x="11201400" y="269748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search link 2">
            <a:hlinkClick r:id="rId6"/>
          </p:cNvPr>
          <p:cNvSpPr/>
          <p:nvPr/>
        </p:nvSpPr>
        <p:spPr>
          <a:xfrm>
            <a:off x="11201400" y="402336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earch link 3">
            <a:hlinkClick r:id="rId7"/>
          </p:cNvPr>
          <p:cNvSpPr/>
          <p:nvPr/>
        </p:nvSpPr>
        <p:spPr>
          <a:xfrm>
            <a:off x="11201400" y="534924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search link 4">
            <a:hlinkClick r:id="rId8"/>
          </p:cNvPr>
          <p:cNvSpPr/>
          <p:nvPr/>
        </p:nvSpPr>
        <p:spPr>
          <a:xfrm>
            <a:off x="11201400" y="667512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earch link 5">
            <a:hlinkClick r:id="rId9"/>
          </p:cNvPr>
          <p:cNvSpPr/>
          <p:nvPr/>
        </p:nvSpPr>
        <p:spPr>
          <a:xfrm>
            <a:off x="11201400" y="800100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
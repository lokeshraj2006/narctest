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7.svg" ContentType="image/svg+xml"/>
  <Override PartName="/ppt/media/image2.svg" ContentType="image/svg+xml"/>
  <Override PartName="/ppt/media/image25.svg" ContentType="image/svg+xml"/>
  <Override PartName="/ppt/media/image27.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Times New Roman Bold" charset="1" panose="02020803070505020304"/>
      <p:regular r:id="rId12"/>
    </p:embeddedFont>
    <p:embeddedFont>
      <p:font typeface="Times New Roman" charset="1" panose="02020603050405020304"/>
      <p:regular r:id="rId13"/>
    </p:embeddedFont>
    <p:embeddedFont>
      <p:font typeface="Calibri (MS) Bold" charset="1" panose="020F0702030404030204"/>
      <p:regular r:id="rId14"/>
    </p:embeddedFont>
    <p:embeddedFont>
      <p:font typeface="Calibri (MS)" charset="1" panose="020F0502020204030204"/>
      <p:regular r:id="rId15"/>
    </p:embeddedFont>
    <p:embeddedFont>
      <p:font typeface="Calibri (MS) Italics" charset="1" panose="020F05020202040A0204"/>
      <p:regular r:id="rId16"/>
    </p:embeddedFont>
    <p:embeddedFont>
      <p:font typeface="Arimo" charset="1" panose="020B0604020202020204"/>
      <p:regular r:id="rId17"/>
    </p:embeddedFont>
    <p:embeddedFont>
      <p:font typeface="Canva Sans" charset="1" panose="020B0503030501040103"/>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font" Target="fonts/font12.fntdata"/><Relationship Id="rId13" Type="http://schemas.openxmlformats.org/officeDocument/2006/relationships/font" Target="fonts/font13.fntdata"/><Relationship Id="rId14" Type="http://schemas.openxmlformats.org/officeDocument/2006/relationships/font" Target="fonts/font14.fntdata"/><Relationship Id="rId15" Type="http://schemas.openxmlformats.org/officeDocument/2006/relationships/font" Target="fonts/font15.fntdata"/><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font" Target="fonts/font18.fntdata"/><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NOTES (only for us, not shown on the slide)</a:t>
            </a:r>
          </a:p>
          <a:p/>
          <a:p>
            <a:r>
              <a:t>Privacy and how long we keep data</a:t>
            </a:r>
          </a:p>
          <a:p>
            <a:r>
              <a:t>Data - we do not store fingerprint or face data, or the suspect name. Only a sample code. Officer ID, GPS and time are kept as proof.</a:t>
            </a:r>
          </a:p>
          <a:p>
            <a:r>
              <a:t>Who can see - officer sees only own tests, supervisor and admin see all tests, public QR shows only the check page. Hiding the officer name there is planned.</a:t>
            </a:r>
          </a:p>
          <a:p>
            <a:r>
              <a:t>Law - police work does not need consent under the DPDP Act (section 7(c) and 17(1)(c)), but data must be kept safe (section 8(5)).</a:t>
            </a:r>
          </a:p>
          <a:p>
            <a:r>
              <a:t>How long - till the case and appeal are over, then the photo is deleted. This is planned.</a:t>
            </a:r>
          </a:p>
          <a:p/>
          <a:p>
            <a:r>
              <a:t>Chain of custody (for court)</a:t>
            </a:r>
          </a:p>
          <a:p>
            <a:r>
              <a:t>Key - secret key is only on our server, not in the app. Anyone can check using the public key. Next step is a hardware key box (HSM) and the officer's own DSC.</a:t>
            </a:r>
          </a:p>
          <a:p>
            <a:r>
              <a:t>Check - QR page checks the photo and record again, and also the signature and chain link (see Tamper Test).</a:t>
            </a:r>
          </a:p>
          <a:p>
            <a:r>
              <a:t>Court - it gives the SHA-256 hash needed for the court certificate under BSA 2023 section 63. e-Sakshya and CCTNS link is planned.</a:t>
            </a:r>
          </a:p>
          <a:p>
            <a:r>
              <a:t>Offline (only design now) - if there is no network, the test is saved on the phone with its hash and sent later. Same test sent twice is saved only once. If the phone is lost, admin blocks the login (planned).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hyperlink" Target="https://youtu.be/F1cuxlgMW2g" TargetMode="External"/><Relationship Id="rId9" Type="http://schemas.openxmlformats.org/officeDocument/2006/relationships/image" Target="../media/image20.png"/><Relationship Id="rId10" Type="http://schemas.openxmlformats.org/officeDocument/2006/relationships/image" Target="../media/image22.png"/><Relationship Id="rId11" Type="http://schemas.openxmlformats.org/officeDocument/2006/relationships/image" Target="../media/image23.png"/><Relationship Id="rId12" Type="http://schemas.openxmlformats.org/officeDocument/2006/relationships/image" Target="../media/image21.png"/><Relationship Id="rId13" Type="http://schemas.openxmlformats.org/officeDocument/2006/relationships/image" Target="../media/image24.png"/><Relationship Id="rId14" Type="http://schemas.openxmlformats.org/officeDocument/2006/relationships/image" Target="../media/image25.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11.png"/><Relationship Id="rId6" Type="http://schemas.openxmlformats.org/officeDocument/2006/relationships/image" Target="../media/image4.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28.png"/><Relationship Id="rId10" Type="http://schemas.openxmlformats.org/officeDocument/2006/relationships/image" Target="../media/image31.png"/><Relationship Id="rId11" Type="http://schemas.openxmlformats.org/officeDocument/2006/relationships/image" Target="../media/image3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14.png"/><Relationship Id="rId6"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svg"/><Relationship Id="rId8" Type="http://schemas.openxmlformats.org/officeDocument/2006/relationships/image" Target="../media/image18.jpeg"/><Relationship Id="rId9" Type="http://schemas.openxmlformats.org/officeDocument/2006/relationships/image" Target="../media/image4.png"/><Relationship Id="rId10" Type="http://schemas.openxmlformats.org/officeDocument/2006/relationships/image" Target="../media/image19.png"/><Relationship Id="rId11" Type="http://schemas.openxmlformats.org/officeDocument/2006/relationships/image" Target="../media/image29.png"/><Relationship Id="rId12" Type="http://schemas.openxmlformats.org/officeDocument/2006/relationships/notesSlide" Target="../notesSlides/notesSlide1.xml"/><Relationship Id="rId13" Type="http://schemas.openxmlformats.org/officeDocument/2006/relationships/image" Target="../media/image30.png"/><Relationship Id="rId14" Type="http://schemas.openxmlformats.org/officeDocument/2006/relationships/image" Target="../media/image3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hyperlink" Target="https://pubmed.ncbi.nlm.nih.gov/28269432/" TargetMode="External"/><Relationship Id="rId6" Type="http://schemas.openxmlformats.org/officeDocument/2006/relationships/hyperlink" Target="https://www.researchgate.net/publication/386361522_Digital_Evidence_Chain_of_Custody_Navigating_New_Realities_of_Digital_Forensics" TargetMode="External"/><Relationship Id="rId7" Type="http://schemas.openxmlformats.org/officeDocument/2006/relationships/hyperlink" Target="https://www.researchgate.net/publication/259845901_Real_time_quantitative_colorimetric_test_for_methamphetamine_detection_using_digital_and_mobile_phone_technology" TargetMode="External"/><Relationship Id="rId8" Type="http://schemas.openxmlformats.org/officeDocument/2006/relationships/hyperlink" Target="https://nij.ojp.gov/library/publications/objective-method-presumptive-field-testing-illicit-drug-possession-using-0?utm_source=chatgpt.com" TargetMode="External"/><Relationship Id="rId9" Type="http://schemas.openxmlformats.org/officeDocument/2006/relationships/hyperlink" Target="https://pubs.rsc.org/dd/article/2/4/1143/804876/Teaching-old-presumptive-tests-new-digital-tricks" TargetMode="External"/><Relationship Id="rId10" Type="http://schemas.openxmlformats.org/officeDocument/2006/relationships/image" Target="../media/image20.png"/><Relationship Id="rId11" Type="http://schemas.openxmlformats.org/officeDocument/2006/relationships/image" Target="../media/image21.png"/><Relationship Id="rId12" Type="http://schemas.openxmlformats.org/officeDocument/2006/relationships/image" Target="../media/image22.png"/><Relationship Id="rId13" Type="http://schemas.openxmlformats.org/officeDocument/2006/relationships/image" Target="../media/image23.png"/><Relationship Id="rId14" Type="http://schemas.openxmlformats.org/officeDocument/2006/relationships/image" Target="../media/image24.png"/><Relationship Id="rId15" Type="http://schemas.openxmlformats.org/officeDocument/2006/relationships/image" Target="../media/image25.svg"/><Relationship Id="rId16" Type="http://schemas.openxmlformats.org/officeDocument/2006/relationships/image" Target="../media/image26.png"/><Relationship Id="rId17" Type="http://schemas.openxmlformats.org/officeDocument/2006/relationships/image" Target="../media/image27.svg"/><Relationship Id="rId18" Type="http://schemas.openxmlformats.org/officeDocument/2006/relationships/image" Target="../media/image4.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485632" y="1277874"/>
            <a:ext cx="6958965" cy="7731443"/>
          </a:xfrm>
          <a:custGeom>
            <a:avLst/>
            <a:gdLst/>
            <a:ahLst/>
            <a:cxnLst/>
            <a:rect r="r" b="b" t="t" l="l"/>
            <a:pathLst>
              <a:path h="7731443" w="6958965">
                <a:moveTo>
                  <a:pt x="0" y="0"/>
                </a:moveTo>
                <a:lnTo>
                  <a:pt x="6958965" y="0"/>
                </a:lnTo>
                <a:lnTo>
                  <a:pt x="6958965" y="7731443"/>
                </a:lnTo>
                <a:lnTo>
                  <a:pt x="0" y="77314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728198" y="2119122"/>
            <a:ext cx="4805172" cy="5138928"/>
            <a:chOff x="0" y="0"/>
            <a:chExt cx="6406896" cy="6851904"/>
          </a:xfrm>
        </p:grpSpPr>
        <p:sp>
          <p:nvSpPr>
            <p:cNvPr name="Freeform 4" id="4"/>
            <p:cNvSpPr/>
            <p:nvPr/>
          </p:nvSpPr>
          <p:spPr>
            <a:xfrm flipH="false" flipV="false" rot="0">
              <a:off x="0" y="0"/>
              <a:ext cx="6406896" cy="6851904"/>
            </a:xfrm>
            <a:custGeom>
              <a:avLst/>
              <a:gdLst/>
              <a:ahLst/>
              <a:cxnLst/>
              <a:rect r="r" b="b" t="t" l="l"/>
              <a:pathLst>
                <a:path h="6851904" w="6406896">
                  <a:moveTo>
                    <a:pt x="0" y="0"/>
                  </a:moveTo>
                  <a:lnTo>
                    <a:pt x="6406896" y="0"/>
                  </a:lnTo>
                  <a:lnTo>
                    <a:pt x="6406896" y="6851904"/>
                  </a:lnTo>
                  <a:lnTo>
                    <a:pt x="0" y="6851904"/>
                  </a:lnTo>
                  <a:lnTo>
                    <a:pt x="0" y="0"/>
                  </a:lnTo>
                  <a:close/>
                </a:path>
              </a:pathLst>
            </a:custGeom>
            <a:blipFill>
              <a:blip r:embed="rId4"/>
              <a:stretch>
                <a:fillRect l="-46" t="0" r="-47" b="0"/>
              </a:stretch>
            </a:blipFill>
          </p:spPr>
        </p:sp>
      </p:grpSp>
      <p:sp>
        <p:nvSpPr>
          <p:cNvPr name="TextBox 5" id="5" descr="$PPTXTitle"/>
          <p:cNvSpPr txBox="true"/>
          <p:nvPr/>
        </p:nvSpPr>
        <p:spPr>
          <a:xfrm rot="0">
            <a:off x="1856872" y="290741"/>
            <a:ext cx="12130088" cy="978532"/>
          </a:xfrm>
          <a:prstGeom prst="rect">
            <a:avLst/>
          </a:prstGeom>
        </p:spPr>
        <p:txBody>
          <a:bodyPr anchor="t" rtlCol="false" tIns="0" lIns="0" bIns="0" rIns="0">
            <a:spAutoFit/>
          </a:bodyPr>
          <a:lstStyle/>
          <a:p>
            <a:pPr algn="l">
              <a:lnSpc>
                <a:spcPts val="7200"/>
              </a:lnSpc>
            </a:pPr>
            <a:r>
              <a:rPr lang="en-US" b="true" sz="6000" spc="-15">
                <a:solidFill>
                  <a:srgbClr val="1F477B"/>
                </a:solidFill>
                <a:latin typeface="Times New Roman Bold"/>
                <a:ea typeface="Times New Roman Bold"/>
                <a:cs typeface="Times New Roman Bold"/>
                <a:sym typeface="Times New Roman Bold"/>
              </a:rPr>
              <a:t>SMART INDIA HACKATHON 2026</a:t>
            </a:r>
          </a:p>
        </p:txBody>
      </p:sp>
      <p:sp>
        <p:nvSpPr>
          <p:cNvPr name="TextBox 6" id="6"/>
          <p:cNvSpPr txBox="true"/>
          <p:nvPr/>
        </p:nvSpPr>
        <p:spPr>
          <a:xfrm rot="0">
            <a:off x="1615908" y="2734335"/>
            <a:ext cx="8392108" cy="4947420"/>
          </a:xfrm>
          <a:prstGeom prst="rect">
            <a:avLst/>
          </a:prstGeom>
        </p:spPr>
        <p:txBody>
          <a:bodyPr anchor="t" rtlCol="false" tIns="0" lIns="0" bIns="0" rIns="0">
            <a:spAutoFit/>
          </a:bodyPr>
          <a:lstStyle/>
          <a:p>
            <a:pPr algn="just">
              <a:lnSpc>
                <a:spcPts val="5668"/>
              </a:lnSpc>
            </a:pPr>
            <a:r>
              <a:rPr lang="en-US" b="true" sz="2936">
                <a:solidFill>
                  <a:srgbClr val="0D0D0D"/>
                </a:solidFill>
                <a:latin typeface="Times New Roman Bold"/>
                <a:ea typeface="Times New Roman Bold"/>
                <a:cs typeface="Times New Roman Bold"/>
                <a:sym typeface="Times New Roman Bold"/>
              </a:rPr>
              <a:t>Problem Statement ID - </a:t>
            </a:r>
            <a:r>
              <a:rPr lang="en-US" sz="2936">
                <a:solidFill>
                  <a:srgbClr val="0D0D0D"/>
                </a:solidFill>
                <a:latin typeface="Times New Roman"/>
                <a:ea typeface="Times New Roman"/>
                <a:cs typeface="Times New Roman"/>
                <a:sym typeface="Times New Roman"/>
              </a:rPr>
              <a:t>26231</a:t>
            </a:r>
          </a:p>
          <a:p>
            <a:pPr algn="just">
              <a:lnSpc>
                <a:spcPts val="5661"/>
              </a:lnSpc>
            </a:pPr>
            <a:r>
              <a:rPr lang="en-US" b="true" sz="2933">
                <a:solidFill>
                  <a:srgbClr val="0D0D0D"/>
                </a:solidFill>
                <a:latin typeface="Times New Roman Bold"/>
                <a:ea typeface="Times New Roman Bold"/>
                <a:cs typeface="Times New Roman Bold"/>
                <a:sym typeface="Times New Roman Bold"/>
              </a:rPr>
              <a:t>Problem Statement Title -</a:t>
            </a:r>
            <a:r>
              <a:rPr lang="en-US" sz="2933">
                <a:solidFill>
                  <a:srgbClr val="0D0D0D"/>
                </a:solidFill>
                <a:latin typeface="Times New Roman"/>
                <a:ea typeface="Times New Roman"/>
                <a:cs typeface="Times New Roman"/>
                <a:sym typeface="Times New Roman"/>
              </a:rPr>
              <a:t>Digital C</a:t>
            </a:r>
            <a:r>
              <a:rPr lang="en-US" sz="2933">
                <a:solidFill>
                  <a:srgbClr val="0D0D0D"/>
                </a:solidFill>
                <a:latin typeface="Times New Roman"/>
                <a:ea typeface="Times New Roman"/>
                <a:cs typeface="Times New Roman"/>
                <a:sym typeface="Times New Roman"/>
              </a:rPr>
              <a:t>ompanion for Field Drug Testing</a:t>
            </a:r>
          </a:p>
          <a:p>
            <a:pPr algn="just">
              <a:lnSpc>
                <a:spcPts val="5668"/>
              </a:lnSpc>
            </a:pPr>
            <a:r>
              <a:rPr lang="en-US" b="true" sz="2936" spc="-14">
                <a:solidFill>
                  <a:srgbClr val="0D0D0D"/>
                </a:solidFill>
                <a:latin typeface="Times New Roman Bold"/>
                <a:ea typeface="Times New Roman Bold"/>
                <a:cs typeface="Times New Roman Bold"/>
                <a:sym typeface="Times New Roman Bold"/>
              </a:rPr>
              <a:t>Theme - </a:t>
            </a:r>
            <a:r>
              <a:rPr lang="en-US" sz="2936" spc="-14">
                <a:solidFill>
                  <a:srgbClr val="0D0D0D"/>
                </a:solidFill>
                <a:latin typeface="Times New Roman"/>
                <a:ea typeface="Times New Roman"/>
                <a:cs typeface="Times New Roman"/>
                <a:sym typeface="Times New Roman"/>
              </a:rPr>
              <a:t>MedTech / BioTech / HealthTech</a:t>
            </a:r>
          </a:p>
          <a:p>
            <a:pPr algn="just">
              <a:lnSpc>
                <a:spcPts val="5668"/>
              </a:lnSpc>
            </a:pPr>
            <a:r>
              <a:rPr lang="en-US" b="true" sz="2936" spc="-14">
                <a:solidFill>
                  <a:srgbClr val="0D0D0D"/>
                </a:solidFill>
                <a:latin typeface="Times New Roman Bold"/>
                <a:ea typeface="Times New Roman Bold"/>
                <a:cs typeface="Times New Roman Bold"/>
                <a:sym typeface="Times New Roman Bold"/>
              </a:rPr>
              <a:t>PS Category - </a:t>
            </a:r>
            <a:r>
              <a:rPr lang="en-US" sz="2936" spc="-14">
                <a:solidFill>
                  <a:srgbClr val="0D0D0D"/>
                </a:solidFill>
                <a:latin typeface="Times New Roman"/>
                <a:ea typeface="Times New Roman"/>
                <a:cs typeface="Times New Roman"/>
                <a:sym typeface="Times New Roman"/>
              </a:rPr>
              <a:t>Software</a:t>
            </a:r>
          </a:p>
          <a:p>
            <a:pPr algn="just">
              <a:lnSpc>
                <a:spcPts val="5668"/>
              </a:lnSpc>
            </a:pPr>
            <a:r>
              <a:rPr lang="en-US" b="true" sz="2936" spc="-44">
                <a:solidFill>
                  <a:srgbClr val="0D0D0D"/>
                </a:solidFill>
                <a:latin typeface="Times New Roman Bold"/>
                <a:ea typeface="Times New Roman Bold"/>
                <a:cs typeface="Times New Roman Bold"/>
                <a:sym typeface="Times New Roman Bold"/>
              </a:rPr>
              <a:t>Team ID - </a:t>
            </a:r>
            <a:r>
              <a:rPr lang="en-US" sz="2936" spc="-44">
                <a:solidFill>
                  <a:srgbClr val="0D0D0D"/>
                </a:solidFill>
                <a:latin typeface="Times New Roman"/>
                <a:ea typeface="Times New Roman"/>
                <a:cs typeface="Times New Roman"/>
                <a:sym typeface="Times New Roman"/>
              </a:rPr>
              <a:t>K26234</a:t>
            </a:r>
          </a:p>
          <a:p>
            <a:pPr algn="just">
              <a:lnSpc>
                <a:spcPts val="5668"/>
              </a:lnSpc>
            </a:pPr>
            <a:r>
              <a:rPr lang="en-US" b="true" sz="2936" spc="-44">
                <a:solidFill>
                  <a:srgbClr val="0D0D0D"/>
                </a:solidFill>
                <a:latin typeface="Times New Roman Bold"/>
                <a:ea typeface="Times New Roman Bold"/>
                <a:cs typeface="Times New Roman Bold"/>
                <a:sym typeface="Times New Roman Bold"/>
              </a:rPr>
              <a:t>Team Name - </a:t>
            </a:r>
            <a:r>
              <a:rPr lang="en-US" sz="2936" spc="-44">
                <a:solidFill>
                  <a:srgbClr val="0D0D0D"/>
                </a:solidFill>
                <a:latin typeface="Times New Roman"/>
                <a:ea typeface="Times New Roman"/>
                <a:cs typeface="Times New Roman"/>
                <a:sym typeface="Times New Roman"/>
              </a:rPr>
              <a:t>HexTech</a:t>
            </a:r>
          </a:p>
        </p:txBody>
      </p:sp>
      <p:grpSp>
        <p:nvGrpSpPr>
          <p:cNvPr name="Group 7" id="7"/>
          <p:cNvGrpSpPr/>
          <p:nvPr/>
        </p:nvGrpSpPr>
        <p:grpSpPr>
          <a:xfrm rot="0">
            <a:off x="14720116" y="33423"/>
            <a:ext cx="3287373" cy="1531268"/>
            <a:chOff x="0" y="0"/>
            <a:chExt cx="4383164" cy="2041690"/>
          </a:xfrm>
        </p:grpSpPr>
        <p:sp>
          <p:nvSpPr>
            <p:cNvPr name="Freeform 8" id="8"/>
            <p:cNvSpPr/>
            <p:nvPr/>
          </p:nvSpPr>
          <p:spPr>
            <a:xfrm flipH="false" flipV="false" rot="0">
              <a:off x="0" y="0"/>
              <a:ext cx="4383151" cy="2041652"/>
            </a:xfrm>
            <a:custGeom>
              <a:avLst/>
              <a:gdLst/>
              <a:ahLst/>
              <a:cxnLst/>
              <a:rect r="r" b="b" t="t" l="l"/>
              <a:pathLst>
                <a:path h="2041652" w="4383151">
                  <a:moveTo>
                    <a:pt x="0" y="0"/>
                  </a:moveTo>
                  <a:lnTo>
                    <a:pt x="4383151" y="0"/>
                  </a:lnTo>
                  <a:lnTo>
                    <a:pt x="4383151" y="2041652"/>
                  </a:lnTo>
                  <a:lnTo>
                    <a:pt x="0" y="2041652"/>
                  </a:lnTo>
                  <a:lnTo>
                    <a:pt x="0" y="0"/>
                  </a:lnTo>
                  <a:close/>
                </a:path>
              </a:pathLst>
            </a:custGeom>
            <a:blipFill>
              <a:blip r:embed="rId5"/>
              <a:stretch>
                <a:fillRect l="0" t="-106" r="0" b="-108"/>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64624"/>
            <a:ext cx="18284571" cy="718937"/>
            <a:chOff x="0" y="0"/>
            <a:chExt cx="24379428" cy="958583"/>
          </a:xfrm>
        </p:grpSpPr>
        <p:sp>
          <p:nvSpPr>
            <p:cNvPr name="Freeform 3" id="3"/>
            <p:cNvSpPr/>
            <p:nvPr/>
          </p:nvSpPr>
          <p:spPr>
            <a:xfrm flipH="false" flipV="false" rot="0">
              <a:off x="0" y="0"/>
              <a:ext cx="24379428" cy="958596"/>
            </a:xfrm>
            <a:custGeom>
              <a:avLst/>
              <a:gdLst/>
              <a:ahLst/>
              <a:cxnLst/>
              <a:rect r="r" b="b" t="t" l="l"/>
              <a:pathLst>
                <a:path h="958596" w="24379428">
                  <a:moveTo>
                    <a:pt x="0" y="0"/>
                  </a:moveTo>
                  <a:lnTo>
                    <a:pt x="24379428" y="0"/>
                  </a:lnTo>
                  <a:lnTo>
                    <a:pt x="24379428" y="958596"/>
                  </a:lnTo>
                  <a:lnTo>
                    <a:pt x="0" y="958596"/>
                  </a:lnTo>
                  <a:lnTo>
                    <a:pt x="0" y="0"/>
                  </a:lnTo>
                  <a:close/>
                </a:path>
              </a:pathLst>
            </a:custGeom>
            <a:blipFill>
              <a:blip r:embed="rId2"/>
              <a:stretch>
                <a:fillRect l="0" t="-64" r="0" b="-62"/>
              </a:stretch>
            </a:blipFill>
          </p:spPr>
        </p:sp>
      </p:grpSp>
      <p:grpSp>
        <p:nvGrpSpPr>
          <p:cNvPr name="Group 4" id="4"/>
          <p:cNvGrpSpPr/>
          <p:nvPr/>
        </p:nvGrpSpPr>
        <p:grpSpPr>
          <a:xfrm rot="0">
            <a:off x="0" y="9532144"/>
            <a:ext cx="18288000" cy="755332"/>
            <a:chOff x="0" y="0"/>
            <a:chExt cx="24384000" cy="1007110"/>
          </a:xfrm>
        </p:grpSpPr>
        <p:sp>
          <p:nvSpPr>
            <p:cNvPr name="Freeform 5" id="5"/>
            <p:cNvSpPr/>
            <p:nvPr/>
          </p:nvSpPr>
          <p:spPr>
            <a:xfrm flipH="false" flipV="false" rot="0">
              <a:off x="0" y="0"/>
              <a:ext cx="24384000" cy="1006475"/>
            </a:xfrm>
            <a:custGeom>
              <a:avLst/>
              <a:gdLst/>
              <a:ahLst/>
              <a:cxnLst/>
              <a:rect r="r" b="b" t="t" l="l"/>
              <a:pathLst>
                <a:path h="1006475" w="24384000">
                  <a:moveTo>
                    <a:pt x="24384000" y="0"/>
                  </a:moveTo>
                  <a:lnTo>
                    <a:pt x="0" y="0"/>
                  </a:lnTo>
                  <a:lnTo>
                    <a:pt x="0" y="1006475"/>
                  </a:lnTo>
                  <a:lnTo>
                    <a:pt x="24384000" y="1006475"/>
                  </a:lnTo>
                  <a:lnTo>
                    <a:pt x="24384000" y="0"/>
                  </a:lnTo>
                  <a:close/>
                </a:path>
              </a:pathLst>
            </a:custGeom>
            <a:solidFill>
              <a:srgbClr val="006FC0"/>
            </a:solidFill>
          </p:spPr>
        </p:sp>
      </p:grpSp>
      <p:sp>
        <p:nvSpPr>
          <p:cNvPr name="Freeform 6" id="6"/>
          <p:cNvSpPr/>
          <p:nvPr/>
        </p:nvSpPr>
        <p:spPr>
          <a:xfrm flipH="false" flipV="false" rot="0">
            <a:off x="391335" y="315011"/>
            <a:ext cx="2629852" cy="1249680"/>
          </a:xfrm>
          <a:custGeom>
            <a:avLst/>
            <a:gdLst/>
            <a:ahLst/>
            <a:cxnLst/>
            <a:rect r="r" b="b" t="t" l="l"/>
            <a:pathLst>
              <a:path h="1249680" w="2629852">
                <a:moveTo>
                  <a:pt x="0" y="0"/>
                </a:moveTo>
                <a:lnTo>
                  <a:pt x="2629852" y="0"/>
                </a:lnTo>
                <a:lnTo>
                  <a:pt x="2629852" y="1249680"/>
                </a:lnTo>
                <a:lnTo>
                  <a:pt x="0" y="12496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grpSp>
        <p:nvGrpSpPr>
          <p:cNvPr name="Group 7" id="7"/>
          <p:cNvGrpSpPr/>
          <p:nvPr/>
        </p:nvGrpSpPr>
        <p:grpSpPr>
          <a:xfrm rot="0">
            <a:off x="14720116" y="33423"/>
            <a:ext cx="3287373" cy="1531268"/>
            <a:chOff x="0" y="0"/>
            <a:chExt cx="4383164" cy="2041690"/>
          </a:xfrm>
        </p:grpSpPr>
        <p:sp>
          <p:nvSpPr>
            <p:cNvPr name="Freeform 8" id="8"/>
            <p:cNvSpPr/>
            <p:nvPr/>
          </p:nvSpPr>
          <p:spPr>
            <a:xfrm flipH="false" flipV="false" rot="0">
              <a:off x="0" y="0"/>
              <a:ext cx="4383151" cy="2041652"/>
            </a:xfrm>
            <a:custGeom>
              <a:avLst/>
              <a:gdLst/>
              <a:ahLst/>
              <a:cxnLst/>
              <a:rect r="r" b="b" t="t" l="l"/>
              <a:pathLst>
                <a:path h="2041652" w="4383151">
                  <a:moveTo>
                    <a:pt x="0" y="0"/>
                  </a:moveTo>
                  <a:lnTo>
                    <a:pt x="4383151" y="0"/>
                  </a:lnTo>
                  <a:lnTo>
                    <a:pt x="4383151" y="2041652"/>
                  </a:lnTo>
                  <a:lnTo>
                    <a:pt x="0" y="2041652"/>
                  </a:lnTo>
                  <a:lnTo>
                    <a:pt x="0" y="0"/>
                  </a:lnTo>
                  <a:close/>
                </a:path>
              </a:pathLst>
            </a:custGeom>
            <a:blipFill>
              <a:blip r:embed="rId5"/>
              <a:stretch>
                <a:fillRect l="0" t="-106" r="0" b="-108"/>
              </a:stretch>
            </a:blipFill>
          </p:spPr>
        </p:sp>
      </p:grpSp>
      <p:sp>
        <p:nvSpPr>
          <p:cNvPr name="AutoShape 9" id="9"/>
          <p:cNvSpPr/>
          <p:nvPr/>
        </p:nvSpPr>
        <p:spPr>
          <a:xfrm>
            <a:off x="8226619" y="1770996"/>
            <a:ext cx="0" cy="7384231"/>
          </a:xfrm>
          <a:prstGeom prst="line">
            <a:avLst/>
          </a:prstGeom>
          <a:ln cap="flat" w="19050">
            <a:solidFill>
              <a:srgbClr val="B2935B"/>
            </a:solidFill>
            <a:prstDash val="solid"/>
            <a:headEnd type="none" len="sm" w="sm"/>
            <a:tailEnd type="none" len="sm" w="sm"/>
          </a:ln>
        </p:spPr>
        <p:txBody>
          <a:bodyPr/>
          <a:p/>
        </p:txBody>
      </p:sp>
      <p:grpSp>
        <p:nvGrpSpPr>
          <p:cNvPr name="Group 10" id="10"/>
          <p:cNvGrpSpPr/>
          <p:nvPr/>
        </p:nvGrpSpPr>
        <p:grpSpPr>
          <a:xfrm rot="0">
            <a:off x="8595360" y="5870448"/>
            <a:ext cx="9006840" cy="3474720"/>
            <a:chOff x="0" y="0"/>
            <a:chExt cx="120906797" cy="67632696"/>
          </a:xfrm>
        </p:grpSpPr>
        <p:sp>
          <p:nvSpPr>
            <p:cNvPr name="Freeform 11" id="11"/>
            <p:cNvSpPr/>
            <p:nvPr/>
          </p:nvSpPr>
          <p:spPr>
            <a:xfrm flipH="false" flipV="false" rot="0">
              <a:off x="0" y="0"/>
              <a:ext cx="120906803" cy="67632697"/>
            </a:xfrm>
            <a:custGeom>
              <a:avLst/>
              <a:gdLst/>
              <a:ahLst/>
              <a:cxnLst/>
              <a:rect r="r" b="b" t="t" l="l"/>
              <a:pathLst>
                <a:path h="67632697" w="120906803">
                  <a:moveTo>
                    <a:pt x="10928" y="0"/>
                  </a:moveTo>
                  <a:lnTo>
                    <a:pt x="120895876" y="0"/>
                  </a:lnTo>
                  <a:cubicBezTo>
                    <a:pt x="120898779" y="0"/>
                    <a:pt x="120901557" y="1151"/>
                    <a:pt x="120903603" y="3201"/>
                  </a:cubicBezTo>
                  <a:cubicBezTo>
                    <a:pt x="120905650" y="5250"/>
                    <a:pt x="120906803" y="8030"/>
                    <a:pt x="120906803" y="10928"/>
                  </a:cubicBezTo>
                  <a:lnTo>
                    <a:pt x="120906803" y="67621770"/>
                  </a:lnTo>
                  <a:cubicBezTo>
                    <a:pt x="120906803" y="67627804"/>
                    <a:pt x="120901916" y="67632697"/>
                    <a:pt x="120895876" y="67632697"/>
                  </a:cubicBezTo>
                  <a:lnTo>
                    <a:pt x="10928" y="67632697"/>
                  </a:lnTo>
                  <a:cubicBezTo>
                    <a:pt x="4893" y="67632697"/>
                    <a:pt x="0" y="67627804"/>
                    <a:pt x="0" y="67621770"/>
                  </a:cubicBezTo>
                  <a:lnTo>
                    <a:pt x="0" y="10928"/>
                  </a:lnTo>
                  <a:cubicBezTo>
                    <a:pt x="0" y="4893"/>
                    <a:pt x="4893" y="0"/>
                    <a:pt x="10928" y="0"/>
                  </a:cubicBezTo>
                  <a:close/>
                </a:path>
              </a:pathLst>
            </a:custGeom>
            <a:solidFill>
              <a:srgbClr val="FFFFFF"/>
            </a:solidFill>
            <a:ln w="28575" cap="sq">
              <a:solidFill>
                <a:srgbClr val="7A2F00"/>
              </a:solidFill>
              <a:prstDash val="solid"/>
              <a:miter/>
            </a:ln>
          </p:spPr>
        </p:sp>
        <p:sp>
          <p:nvSpPr>
            <p:cNvPr name="TextBox 12" id="12"/>
            <p:cNvSpPr txBox="true"/>
            <p:nvPr/>
          </p:nvSpPr>
          <p:spPr>
            <a:xfrm>
              <a:off x="0" y="-85725"/>
              <a:ext cx="120906797" cy="67718421"/>
            </a:xfrm>
            <a:prstGeom prst="rect">
              <a:avLst/>
            </a:prstGeom>
          </p:spPr>
          <p:txBody>
            <a:bodyPr anchor="ctr" rtlCol="false" tIns="50800" lIns="50800" bIns="50800" rIns="50800"/>
            <a:lstStyle/>
            <a:p>
              <a:pPr algn="ctr">
                <a:lnSpc>
                  <a:spcPts val="6859"/>
                </a:lnSpc>
                <a:spcBef>
                  <a:spcPct val="0"/>
                </a:spcBef>
              </a:pPr>
            </a:p>
          </p:txBody>
        </p:sp>
      </p:grpSp>
      <p:sp>
        <p:nvSpPr>
          <p:cNvPr name="Freeform 13" id="13"/>
          <p:cNvSpPr/>
          <p:nvPr/>
        </p:nvSpPr>
        <p:spPr>
          <a:xfrm flipH="false" flipV="false" rot="0">
            <a:off x="8378223" y="2377440"/>
            <a:ext cx="9228727" cy="830419"/>
          </a:xfrm>
          <a:custGeom>
            <a:avLst/>
            <a:gdLst/>
            <a:ahLst/>
            <a:cxnLst/>
            <a:rect r="r" b="b" t="t" l="l"/>
            <a:pathLst>
              <a:path h="830419" w="9228727">
                <a:moveTo>
                  <a:pt x="0" y="0"/>
                </a:moveTo>
                <a:lnTo>
                  <a:pt x="9228727" y="0"/>
                </a:lnTo>
                <a:lnTo>
                  <a:pt x="9228727" y="830419"/>
                </a:lnTo>
                <a:lnTo>
                  <a:pt x="0" y="830419"/>
                </a:lnTo>
                <a:lnTo>
                  <a:pt x="0" y="0"/>
                </a:lnTo>
                <a:close/>
              </a:path>
            </a:pathLst>
          </a:custGeom>
          <a:blipFill>
            <a:blip r:embed="rId6"/>
            <a:stretch>
              <a:fillRect l="-21656" t="-554195" r="-92275" b="-1128926"/>
            </a:stretch>
          </a:blipFill>
        </p:spPr>
        <p:txBody>
          <a:bodyPr/>
          <a:p/>
        </p:txBody>
      </p:sp>
      <p:sp>
        <p:nvSpPr>
          <p:cNvPr name="AutoShape 14" id="14"/>
          <p:cNvSpPr/>
          <p:nvPr/>
        </p:nvSpPr>
        <p:spPr>
          <a:xfrm flipV="true">
            <a:off x="1066800" y="3858768"/>
            <a:ext cx="7159819" cy="0"/>
          </a:xfrm>
          <a:prstGeom prst="line">
            <a:avLst/>
          </a:prstGeom>
          <a:ln cap="flat" w="19050">
            <a:solidFill>
              <a:srgbClr val="B2935B"/>
            </a:solidFill>
            <a:prstDash val="solid"/>
            <a:headEnd type="none" len="sm" w="sm"/>
            <a:tailEnd type="none" len="sm" w="sm"/>
          </a:ln>
        </p:spPr>
        <p:txBody>
          <a:bodyPr/>
          <a:p/>
        </p:txBody>
      </p:sp>
      <p:sp>
        <p:nvSpPr>
          <p:cNvPr name="TextBox 15" id="15"/>
          <p:cNvSpPr txBox="true"/>
          <p:nvPr/>
        </p:nvSpPr>
        <p:spPr>
          <a:xfrm rot="0">
            <a:off x="5093704" y="360907"/>
            <a:ext cx="7553895" cy="847725"/>
          </a:xfrm>
          <a:prstGeom prst="rect">
            <a:avLst/>
          </a:prstGeom>
        </p:spPr>
        <p:txBody>
          <a:bodyPr anchor="t" rtlCol="false" tIns="0" lIns="0" bIns="0" rIns="0">
            <a:spAutoFit/>
          </a:bodyPr>
          <a:lstStyle/>
          <a:p>
            <a:pPr algn="ctr">
              <a:lnSpc>
                <a:spcPts val="6479"/>
              </a:lnSpc>
            </a:pPr>
            <a:r>
              <a:rPr lang="en-US" b="true" sz="5399">
                <a:solidFill>
                  <a:srgbClr val="7A2F00"/>
                </a:solidFill>
                <a:latin typeface="Times New Roman Bold"/>
                <a:ea typeface="Times New Roman Bold"/>
                <a:cs typeface="Times New Roman Bold"/>
                <a:sym typeface="Times New Roman Bold"/>
              </a:rPr>
              <a:t>PROPOSED SOLUTION</a:t>
            </a:r>
          </a:p>
        </p:txBody>
      </p:sp>
      <p:sp>
        <p:nvSpPr>
          <p:cNvPr name="TextBox 16" id="16" descr="$PPTXTitle"/>
          <p:cNvSpPr txBox="true"/>
          <p:nvPr/>
        </p:nvSpPr>
        <p:spPr>
          <a:xfrm rot="0">
            <a:off x="1074372" y="677913"/>
            <a:ext cx="1461403" cy="466725"/>
          </a:xfrm>
          <a:prstGeom prst="rect">
            <a:avLst/>
          </a:prstGeom>
        </p:spPr>
        <p:txBody>
          <a:bodyPr anchor="t" rtlCol="false" tIns="0" lIns="0" bIns="0" rIns="0">
            <a:spAutoFit/>
          </a:bodyPr>
          <a:lstStyle/>
          <a:p>
            <a:pPr algn="l">
              <a:lnSpc>
                <a:spcPts val="3240"/>
              </a:lnSpc>
            </a:pPr>
            <a:r>
              <a:rPr lang="en-US" b="1" sz="2700" spc="-29">
                <a:solidFill>
                  <a:srgbClr val="7A2F00"/>
                </a:solidFill>
                <a:latin typeface="Calibri"/>
                <a:ea typeface="Calibri"/>
                <a:cs typeface="Calibri"/>
                <a:sym typeface="Calibri"/>
              </a:rPr>
              <a:t>HexTech</a:t>
            </a:r>
          </a:p>
        </p:txBody>
      </p:sp>
      <p:sp>
        <p:nvSpPr>
          <p:cNvPr name="TextBox 17" id="17"/>
          <p:cNvSpPr txBox="true"/>
          <p:nvPr/>
        </p:nvSpPr>
        <p:spPr>
          <a:xfrm rot="0">
            <a:off x="983028" y="2240280"/>
            <a:ext cx="7042520" cy="2305050"/>
          </a:xfrm>
          <a:prstGeom prst="rect">
            <a:avLst/>
          </a:prstGeom>
        </p:spPr>
        <p:txBody>
          <a:bodyPr anchor="t" rtlCol="false" tIns="0" lIns="0" bIns="0" rIns="0">
            <a:spAutoFit/>
          </a:bodyPr>
          <a:lstStyle/>
          <a:p>
            <a:pPr algn="l" marL="431801" indent="-215900" lvl="1">
              <a:lnSpc>
                <a:spcPct val="112000"/>
              </a:lnSpc>
              <a:buFont typeface="Arial"/>
              <a:buChar char="•"/>
            </a:pPr>
            <a:r>
              <a:rPr lang="en-US" sz="1800" spc="-10">
                <a:solidFill>
                  <a:srgbClr val="000000"/>
                </a:solidFill>
                <a:latin typeface="Calibri"/>
                <a:ea typeface="Calibri"/>
                <a:cs typeface="Calibri"/>
                <a:sym typeface="Calibri"/>
              </a:rPr>
              <a:t>Office</a:t>
            </a:r>
            <a:r>
              <a:rPr lang="en-US" sz="1800" spc="-10">
                <a:solidFill>
                  <a:srgbClr val="000000"/>
                </a:solidFill>
                <a:latin typeface="Calibri"/>
                <a:ea typeface="Calibri"/>
                <a:cs typeface="Calibri"/>
                <a:sym typeface="Calibri"/>
              </a:rPr>
              <a:t>rs mainly judge the kit’s colour change by looking at it, so lighting and personal judgement can affect the result.</a:t>
            </a:r>
          </a:p>
          <a:p>
            <a:pPr algn="l" marL="431801" indent="-215900" lvl="1">
              <a:lnSpc>
                <a:spcPct val="112000"/>
              </a:lnSpc>
              <a:buFont typeface="Arial"/>
              <a:buChar char="•"/>
            </a:pPr>
            <a:r>
              <a:rPr lang="en-US" sz="1800" spc="-10">
                <a:solidFill>
                  <a:srgbClr val="000000"/>
                </a:solidFill>
                <a:latin typeface="Calibri"/>
                <a:ea typeface="Calibri"/>
                <a:cs typeface="Calibri"/>
                <a:sym typeface="Calibri"/>
              </a:rPr>
              <a:t>There is no standard colour value to compare the test result with.</a:t>
            </a:r>
          </a:p>
          <a:p>
            <a:pPr algn="l" marL="431801" indent="-215900" lvl="1">
              <a:lnSpc>
                <a:spcPct val="112000"/>
              </a:lnSpc>
              <a:buFont typeface="Arial"/>
              <a:buChar char="•"/>
            </a:pPr>
            <a:r>
              <a:rPr lang="en-US" sz="1800" spc="-10">
                <a:solidFill>
                  <a:srgbClr val="000000"/>
                </a:solidFill>
                <a:latin typeface="Calibri"/>
                <a:ea typeface="Calibri"/>
                <a:cs typeface="Calibri"/>
                <a:sym typeface="Calibri"/>
              </a:rPr>
              <a:t>The test does not always l</a:t>
            </a:r>
            <a:r>
              <a:rPr lang="en-US" sz="1800" spc="-10">
                <a:solidFill>
                  <a:srgbClr val="000000"/>
                </a:solidFill>
                <a:latin typeface="Calibri"/>
                <a:ea typeface="Calibri"/>
                <a:cs typeface="Calibri"/>
                <a:sym typeface="Calibri"/>
              </a:rPr>
              <a:t>eave a clear digital record of who performed it, where, and when</a:t>
            </a:r>
            <a:r>
              <a:rPr lang="en-US" sz="1800" spc="-10">
                <a:solidFill>
                  <a:srgbClr val="000000"/>
                </a:solidFill>
                <a:latin typeface="Calibri"/>
                <a:ea typeface="Calibri"/>
                <a:cs typeface="Calibri"/>
                <a:sym typeface="Calibri"/>
              </a:rPr>
              <a:t>, making it harder to verify later.</a:t>
            </a:r>
          </a:p>
        </p:txBody>
      </p:sp>
      <p:sp>
        <p:nvSpPr>
          <p:cNvPr name="TextBox 18" id="18"/>
          <p:cNvSpPr txBox="true"/>
          <p:nvPr/>
        </p:nvSpPr>
        <p:spPr>
          <a:xfrm rot="0">
            <a:off x="17063656" y="9649673"/>
            <a:ext cx="104775" cy="288608"/>
          </a:xfrm>
          <a:prstGeom prst="rect">
            <a:avLst/>
          </a:prstGeom>
        </p:spPr>
        <p:txBody>
          <a:bodyPr anchor="t" rtlCol="false" tIns="0" lIns="0" bIns="0" rIns="0">
            <a:spAutoFit/>
          </a:bodyPr>
          <a:lstStyle/>
          <a:p>
            <a:pPr algn="l">
              <a:lnSpc>
                <a:spcPts val="2137"/>
              </a:lnSpc>
            </a:pPr>
            <a:r>
              <a:rPr lang="en-US" b="true" sz="1800" spc="-75">
                <a:solidFill>
                  <a:srgbClr val="FFFFFF"/>
                </a:solidFill>
                <a:latin typeface="Times New Roman Bold"/>
                <a:ea typeface="Times New Roman Bold"/>
                <a:cs typeface="Times New Roman Bold"/>
                <a:sym typeface="Times New Roman Bold"/>
              </a:rPr>
              <a:t>2</a:t>
            </a:r>
          </a:p>
        </p:txBody>
      </p:sp>
      <p:sp>
        <p:nvSpPr>
          <p:cNvPr name="TextBox 19" id="19"/>
          <p:cNvSpPr txBox="true"/>
          <p:nvPr/>
        </p:nvSpPr>
        <p:spPr>
          <a:xfrm rot="0">
            <a:off x="1156571" y="1810512"/>
            <a:ext cx="1226804" cy="438150"/>
          </a:xfrm>
          <a:prstGeom prst="rect">
            <a:avLst/>
          </a:prstGeom>
        </p:spPr>
        <p:txBody>
          <a:bodyPr anchor="t" rtlCol="false" tIns="0" lIns="0" bIns="0" rIns="0">
            <a:spAutoFit/>
          </a:bodyPr>
          <a:lstStyle/>
          <a:p>
            <a:pPr algn="ctr">
              <a:lnSpc>
                <a:spcPts val="3000"/>
              </a:lnSpc>
              <a:spcBef>
                <a:spcPct val="0"/>
              </a:spcBef>
            </a:pPr>
            <a:r>
              <a:rPr lang="en-US" b="1" sz="2500" spc="-27">
                <a:solidFill>
                  <a:srgbClr val="974826"/>
                </a:solidFill>
                <a:latin typeface="Calibri"/>
                <a:ea typeface="Calibri"/>
                <a:cs typeface="Calibri"/>
                <a:sym typeface="Calibri"/>
              </a:rPr>
              <a:t>Problem</a:t>
            </a:r>
          </a:p>
        </p:txBody>
      </p:sp>
      <p:sp>
        <p:nvSpPr>
          <p:cNvPr name="TextBox 20" id="20"/>
          <p:cNvSpPr txBox="true"/>
          <p:nvPr/>
        </p:nvSpPr>
        <p:spPr>
          <a:xfrm rot="0">
            <a:off x="983028" y="4005072"/>
            <a:ext cx="6996848" cy="2756535"/>
          </a:xfrm>
          <a:prstGeom prst="rect">
            <a:avLst/>
          </a:prstGeom>
        </p:spPr>
        <p:txBody>
          <a:bodyPr anchor="t" rtlCol="false" tIns="0" lIns="0" bIns="0" rIns="0">
            <a:spAutoFit/>
          </a:bodyPr>
          <a:lstStyle/>
          <a:p>
            <a:pPr algn="l">
              <a:lnSpc>
                <a:spcPct val="112000"/>
              </a:lnSpc>
            </a:pPr>
          </a:p>
          <a:p>
            <a:pPr algn="l" marL="431801" indent="-215900" lvl="1">
              <a:lnSpc>
                <a:spcPct val="112000"/>
              </a:lnSpc>
              <a:buFont typeface="Arial"/>
              <a:buChar char="•"/>
            </a:pPr>
            <a:r>
              <a:rPr lang="en-US" sz="1800" spc="-10">
                <a:solidFill>
                  <a:srgbClr val="000000"/>
                </a:solidFill>
                <a:latin typeface="Calibri"/>
                <a:ea typeface="Calibri"/>
                <a:cs typeface="Calibri"/>
                <a:sym typeface="Calibri"/>
              </a:rPr>
              <a:t>Check the Test - The mobile</a:t>
            </a:r>
            <a:r>
              <a:rPr lang="en-US" sz="1800" spc="-10">
                <a:solidFill>
                  <a:srgbClr val="000000"/>
                </a:solidFill>
                <a:latin typeface="Calibri"/>
                <a:ea typeface="Calibri"/>
                <a:cs typeface="Calibri"/>
                <a:sym typeface="Calibri"/>
              </a:rPr>
              <a:t> app captures the colour change and helps check the result.</a:t>
            </a:r>
          </a:p>
          <a:p>
            <a:pPr algn="l" marL="431801" indent="-215900" lvl="1">
              <a:lnSpc>
                <a:spcPct val="112000"/>
              </a:lnSpc>
              <a:buFont typeface="Arial"/>
              <a:buChar char="•"/>
            </a:pPr>
            <a:r>
              <a:rPr lang="en-US" sz="1800" spc="-10">
                <a:solidFill>
                  <a:srgbClr val="000000"/>
                </a:solidFill>
                <a:latin typeface="Calibri"/>
                <a:ea typeface="Calibri"/>
                <a:cs typeface="Calibri"/>
                <a:sym typeface="Calibri"/>
              </a:rPr>
              <a:t>Record the Test - Saves the result along with the time, location, and Inspector ID.</a:t>
            </a:r>
          </a:p>
          <a:p>
            <a:pPr algn="l" marL="431801" indent="-215900" lvl="1">
              <a:lnSpc>
                <a:spcPct val="112000"/>
              </a:lnSpc>
              <a:buFont typeface="Arial"/>
              <a:buChar char="•"/>
            </a:pPr>
            <a:r>
              <a:rPr lang="en-US" sz="1800" spc="-10">
                <a:solidFill>
                  <a:srgbClr val="000000"/>
                </a:solidFill>
                <a:latin typeface="Calibri"/>
                <a:ea typeface="Calibri"/>
                <a:cs typeface="Calibri"/>
                <a:sym typeface="Calibri"/>
              </a:rPr>
              <a:t>Manage the Records - The admin</a:t>
            </a:r>
            <a:r>
              <a:rPr lang="en-US" sz="1800" spc="-10">
                <a:solidFill>
                  <a:srgbClr val="000000"/>
                </a:solidFill>
                <a:latin typeface="Calibri"/>
                <a:ea typeface="Calibri"/>
                <a:cs typeface="Calibri"/>
                <a:sym typeface="Calibri"/>
              </a:rPr>
              <a:t> dashboard manages Inspe</a:t>
            </a:r>
            <a:r>
              <a:rPr lang="en-US" sz="1800" spc="-10">
                <a:solidFill>
                  <a:srgbClr val="000000"/>
                </a:solidFill>
                <a:latin typeface="Calibri"/>
                <a:ea typeface="Calibri"/>
                <a:cs typeface="Calibri"/>
                <a:sym typeface="Calibri"/>
              </a:rPr>
              <a:t>ctors, test records, evidence, and reports.</a:t>
            </a:r>
          </a:p>
        </p:txBody>
      </p:sp>
      <p:sp>
        <p:nvSpPr>
          <p:cNvPr name="TextBox 21" id="21"/>
          <p:cNvSpPr txBox="true"/>
          <p:nvPr/>
        </p:nvSpPr>
        <p:spPr>
          <a:xfrm rot="0">
            <a:off x="1156571" y="3950208"/>
            <a:ext cx="1226804" cy="438150"/>
          </a:xfrm>
          <a:prstGeom prst="rect">
            <a:avLst/>
          </a:prstGeom>
        </p:spPr>
        <p:txBody>
          <a:bodyPr anchor="t" rtlCol="false" tIns="0" lIns="0" bIns="0" rIns="0">
            <a:spAutoFit/>
          </a:bodyPr>
          <a:lstStyle/>
          <a:p>
            <a:pPr algn="ctr">
              <a:lnSpc>
                <a:spcPts val="3000"/>
              </a:lnSpc>
              <a:spcBef>
                <a:spcPct val="0"/>
              </a:spcBef>
            </a:pPr>
            <a:r>
              <a:rPr lang="en-US" b="1" sz="2500" spc="-27">
                <a:solidFill>
                  <a:srgbClr val="974826"/>
                </a:solidFill>
                <a:latin typeface="Calibri"/>
                <a:ea typeface="Calibri"/>
                <a:cs typeface="Calibri"/>
                <a:sym typeface="Calibri"/>
              </a:rPr>
              <a:t>Solution</a:t>
            </a:r>
          </a:p>
        </p:txBody>
      </p:sp>
      <p:sp>
        <p:nvSpPr>
          <p:cNvPr name="TextBox 22" id="22"/>
          <p:cNvSpPr txBox="true"/>
          <p:nvPr/>
        </p:nvSpPr>
        <p:spPr>
          <a:xfrm rot="0">
            <a:off x="8823960" y="5943600"/>
            <a:ext cx="1400792" cy="438150"/>
          </a:xfrm>
          <a:prstGeom prst="rect">
            <a:avLst/>
          </a:prstGeom>
        </p:spPr>
        <p:txBody>
          <a:bodyPr anchor="t" rtlCol="false" tIns="0" lIns="0" bIns="0" rIns="0">
            <a:spAutoFit/>
          </a:bodyPr>
          <a:lstStyle/>
          <a:p>
            <a:pPr algn="ctr">
              <a:lnSpc>
                <a:spcPts val="3000"/>
              </a:lnSpc>
              <a:spcBef>
                <a:spcPct val="0"/>
              </a:spcBef>
            </a:pPr>
            <a:r>
              <a:rPr lang="en-US" b="1" sz="2500" spc="-27">
                <a:solidFill>
                  <a:srgbClr val="974826"/>
                </a:solidFill>
                <a:latin typeface="Calibri"/>
                <a:ea typeface="Calibri"/>
                <a:cs typeface="Calibri"/>
                <a:sym typeface="Calibri"/>
              </a:rPr>
              <a:t>Novelty</a:t>
            </a:r>
          </a:p>
        </p:txBody>
      </p:sp>
      <p:sp>
        <p:nvSpPr>
          <p:cNvPr name="TextBox 23" id="23"/>
          <p:cNvSpPr txBox="true"/>
          <p:nvPr/>
        </p:nvSpPr>
        <p:spPr>
          <a:xfrm rot="0">
            <a:off x="8915400" y="6400800"/>
            <a:ext cx="8503920" cy="3275330"/>
          </a:xfrm>
          <a:prstGeom prst="rect">
            <a:avLst/>
          </a:prstGeom>
        </p:spPr>
        <p:txBody>
          <a:bodyPr anchor="t" rtlCol="false" tIns="0" lIns="0" bIns="0" rIns="0">
            <a:spAutoFit/>
          </a:bodyPr>
          <a:lstStyle/>
          <a:p>
            <a:pPr algn="l" marL="431801" indent="-215900" lvl="1">
              <a:lnSpc>
                <a:spcPts val="2860"/>
              </a:lnSpc>
              <a:buFont typeface="Arial"/>
              <a:buChar char="•"/>
            </a:pPr>
            <a:r>
              <a:rPr lang="en-US" b="1" sz="2000" spc="-22">
                <a:solidFill>
                  <a:srgbClr val="000000"/>
                </a:solidFill>
                <a:latin typeface="Calibri"/>
                <a:ea typeface="Calibri"/>
                <a:cs typeface="Calibri"/>
                <a:sym typeface="Calibri"/>
              </a:rPr>
              <a:t>Handles Lighting Variations</a:t>
            </a:r>
            <a:r>
              <a:rPr lang="en-US" sz="2000" spc="-22">
                <a:solidFill>
                  <a:srgbClr val="000000"/>
                </a:solidFill>
                <a:latin typeface="Calibri"/>
                <a:ea typeface="Calibri"/>
                <a:cs typeface="Calibri"/>
                <a:sym typeface="Calibri"/>
              </a:rPr>
              <a:t> - Uses a low-cost col</a:t>
            </a:r>
            <a:r>
              <a:rPr lang="en-US" sz="2000" spc="-22">
                <a:solidFill>
                  <a:srgbClr val="000000"/>
                </a:solidFill>
                <a:latin typeface="Calibri"/>
                <a:ea typeface="Calibri"/>
                <a:cs typeface="Calibri"/>
                <a:sym typeface="Calibri"/>
              </a:rPr>
              <a:t>our card to improve colour detection under different lighting.</a:t>
            </a:r>
          </a:p>
          <a:p>
            <a:pPr algn="l" marL="431801" indent="-215900" lvl="1">
              <a:lnSpc>
                <a:spcPts val="2860"/>
              </a:lnSpc>
              <a:buFont typeface="Arial"/>
              <a:buChar char="•"/>
            </a:pPr>
            <a:r>
              <a:rPr lang="en-US" b="1" sz="2000" spc="-22">
                <a:solidFill>
                  <a:srgbClr val="000000"/>
                </a:solidFill>
                <a:latin typeface="Calibri"/>
                <a:ea typeface="Calibri"/>
                <a:cs typeface="Calibri"/>
                <a:sym typeface="Calibri"/>
              </a:rPr>
              <a:t>Handl</a:t>
            </a:r>
            <a:r>
              <a:rPr lang="en-US" b="1" sz="2000" spc="-22">
                <a:solidFill>
                  <a:srgbClr val="000000"/>
                </a:solidFill>
                <a:latin typeface="Calibri"/>
                <a:ea typeface="Calibri"/>
                <a:cs typeface="Calibri"/>
                <a:sym typeface="Calibri"/>
              </a:rPr>
              <a:t>es Unclear Results</a:t>
            </a:r>
            <a:r>
              <a:rPr lang="en-US" sz="2000" spc="-22">
                <a:solidFill>
                  <a:srgbClr val="000000"/>
                </a:solidFill>
                <a:latin typeface="Calibri"/>
                <a:ea typeface="Calibri"/>
                <a:cs typeface="Calibri"/>
                <a:sym typeface="Calibri"/>
              </a:rPr>
              <a:t> - Blurry, shiny, or unclear images are marked INCONCLUSIVE instead of giving a wrong result.</a:t>
            </a:r>
          </a:p>
          <a:p>
            <a:pPr algn="l" marL="431801" indent="-215900" lvl="1">
              <a:lnSpc>
                <a:spcPts val="2860"/>
              </a:lnSpc>
              <a:buFont typeface="Arial"/>
              <a:buChar char="•"/>
            </a:pPr>
            <a:r>
              <a:rPr lang="en-US" b="1" sz="2000" spc="-22">
                <a:solidFill>
                  <a:srgbClr val="000000"/>
                </a:solidFill>
                <a:latin typeface="Calibri"/>
                <a:ea typeface="Calibri"/>
                <a:cs typeface="Calibri"/>
                <a:sym typeface="Calibri"/>
              </a:rPr>
              <a:t>Creates Verifiable Evidence</a:t>
            </a:r>
            <a:r>
              <a:rPr lang="en-US" sz="2000" spc="-22">
                <a:solidFill>
                  <a:srgbClr val="000000"/>
                </a:solidFill>
                <a:latin typeface="Calibri"/>
                <a:ea typeface="Calibri"/>
                <a:cs typeface="Calibri"/>
                <a:sym typeface="Calibri"/>
              </a:rPr>
              <a:t> - Securely records the photo, GPS, time, and Inspector ID, with QR-based verification.</a:t>
            </a:r>
          </a:p>
          <a:p>
            <a:pPr algn="l" marL="431801" indent="-215900" lvl="1">
              <a:lnSpc>
                <a:spcPts val="2860"/>
              </a:lnSpc>
              <a:buFont typeface="Arial"/>
              <a:buChar char="•"/>
            </a:pPr>
            <a:r>
              <a:rPr lang="en-US" b="1" sz="2000" spc="-22">
                <a:solidFill>
                  <a:srgbClr val="000000"/>
                </a:solidFill>
                <a:latin typeface="Calibri"/>
                <a:ea typeface="Calibri"/>
                <a:cs typeface="Calibri"/>
                <a:sym typeface="Calibri"/>
              </a:rPr>
              <a:t>Supp</a:t>
            </a:r>
            <a:r>
              <a:rPr lang="en-US" b="1" sz="2000" spc="-22">
                <a:solidFill>
                  <a:srgbClr val="000000"/>
                </a:solidFill>
                <a:latin typeface="Calibri"/>
                <a:ea typeface="Calibri"/>
                <a:cs typeface="Calibri"/>
                <a:sym typeface="Calibri"/>
              </a:rPr>
              <a:t>orts Multiple Kits</a:t>
            </a:r>
            <a:r>
              <a:rPr lang="en-US" sz="2000" spc="-22">
                <a:solidFill>
                  <a:srgbClr val="000000"/>
                </a:solidFill>
                <a:latin typeface="Calibri"/>
                <a:ea typeface="Calibri"/>
                <a:cs typeface="Calibri"/>
                <a:sym typeface="Calibri"/>
              </a:rPr>
              <a:t> - New kit colour profiles can be added from the Admin website without changing the app.</a:t>
            </a:r>
          </a:p>
        </p:txBody>
      </p:sp>
      <p:sp>
        <p:nvSpPr>
          <p:cNvPr name="TextBox 24" id="24"/>
          <p:cNvSpPr txBox="true"/>
          <p:nvPr/>
        </p:nvSpPr>
        <p:spPr>
          <a:xfrm rot="0">
            <a:off x="11965447" y="1874519"/>
            <a:ext cx="1851963" cy="438150"/>
          </a:xfrm>
          <a:prstGeom prst="rect">
            <a:avLst/>
          </a:prstGeom>
        </p:spPr>
        <p:txBody>
          <a:bodyPr anchor="t" rtlCol="false" tIns="0" lIns="0" bIns="0" rIns="0">
            <a:spAutoFit/>
          </a:bodyPr>
          <a:lstStyle/>
          <a:p>
            <a:pPr algn="ctr">
              <a:lnSpc>
                <a:spcPts val="3000"/>
              </a:lnSpc>
              <a:spcBef>
                <a:spcPct val="0"/>
              </a:spcBef>
            </a:pPr>
            <a:r>
              <a:rPr lang="en-US" b="1" sz="2500" spc="-27">
                <a:solidFill>
                  <a:srgbClr val="974826"/>
                </a:solidFill>
                <a:latin typeface="Calibri"/>
                <a:ea typeface="Calibri"/>
                <a:cs typeface="Calibri"/>
                <a:sym typeface="Calibri"/>
              </a:rPr>
              <a:t>Our Approach</a:t>
            </a:r>
          </a:p>
        </p:txBody>
      </p:sp>
      <p:sp>
        <p:nvSpPr>
          <p:cNvPr name="Freeform 25" id="25"/>
          <p:cNvSpPr/>
          <p:nvPr/>
        </p:nvSpPr>
        <p:spPr>
          <a:xfrm flipH="false" flipV="false" rot="0">
            <a:off x="6720840" y="7991856"/>
            <a:ext cx="1320330" cy="1320330"/>
          </a:xfrm>
          <a:custGeom>
            <a:avLst/>
            <a:gdLst/>
            <a:ahLst/>
            <a:cxnLst/>
            <a:rect r="r" b="b" t="t" l="l"/>
            <a:pathLst>
              <a:path h="1320330" w="1320330">
                <a:moveTo>
                  <a:pt x="0" y="0"/>
                </a:moveTo>
                <a:lnTo>
                  <a:pt x="1320330" y="0"/>
                </a:lnTo>
                <a:lnTo>
                  <a:pt x="1320330" y="1320330"/>
                </a:lnTo>
                <a:lnTo>
                  <a:pt x="0" y="1320330"/>
                </a:lnTo>
                <a:lnTo>
                  <a:pt x="0" y="0"/>
                </a:lnTo>
                <a:close/>
              </a:path>
            </a:pathLst>
          </a:custGeom>
          <a:blipFill>
            <a:blip r:embed="rId7"/>
            <a:stretch>
              <a:fillRect l="0" t="0" r="0" b="0"/>
            </a:stretch>
          </a:blipFill>
        </p:spPr>
        <p:txBody>
          <a:bodyPr/>
          <a:p/>
        </p:txBody>
      </p:sp>
      <p:sp>
        <p:nvSpPr>
          <p:cNvPr name="TextBox 26" id="26"/>
          <p:cNvSpPr txBox="true"/>
          <p:nvPr/>
        </p:nvSpPr>
        <p:spPr>
          <a:xfrm rot="0">
            <a:off x="1152144" y="8421624"/>
            <a:ext cx="3063240" cy="390525"/>
          </a:xfrm>
          <a:prstGeom prst="rect">
            <a:avLst/>
          </a:prstGeom>
        </p:spPr>
        <p:txBody>
          <a:bodyPr anchor="t" rtlCol="false" tIns="0" lIns="0" bIns="0" rIns="0" wrap="none">
            <a:noAutofit/>
          </a:bodyPr>
          <a:lstStyle/>
          <a:p>
            <a:pPr algn="ctr">
              <a:lnSpc>
                <a:spcPts val="2760"/>
              </a:lnSpc>
              <a:spcBef>
                <a:spcPct val="0"/>
              </a:spcBef>
            </a:pPr>
            <a:r>
              <a:rPr lang="en-US" b="1" sz="2300" spc="-25">
                <a:solidFill>
                  <a:srgbClr val="7A2F00"/>
                </a:solidFill>
                <a:latin typeface="Calibri"/>
                <a:ea typeface="Calibri"/>
                <a:cs typeface="Calibri"/>
                <a:sym typeface="Calibri"/>
              </a:rPr>
              <a:t>P</a:t>
            </a:r>
            <a:r>
              <a:rPr lang="en-US" b="1" sz="2300" spc="-25">
                <a:solidFill>
                  <a:srgbClr val="7A2F00"/>
                </a:solidFill>
                <a:latin typeface="Calibri"/>
                <a:ea typeface="Calibri"/>
                <a:cs typeface="Calibri"/>
                <a:sym typeface="Calibri"/>
              </a:rPr>
              <a:t>rototype Demo Video:</a:t>
            </a:r>
          </a:p>
        </p:txBody>
      </p:sp>
      <p:sp>
        <p:nvSpPr>
          <p:cNvPr name="TextBox 27" id="27"/>
          <p:cNvSpPr txBox="true"/>
          <p:nvPr/>
        </p:nvSpPr>
        <p:spPr>
          <a:xfrm rot="0">
            <a:off x="4297680" y="8439912"/>
            <a:ext cx="2103120" cy="361950"/>
          </a:xfrm>
          <a:prstGeom prst="rect">
            <a:avLst/>
          </a:prstGeom>
        </p:spPr>
        <p:txBody>
          <a:bodyPr anchor="t" rtlCol="false" tIns="0" lIns="0" bIns="0" rIns="0" wrap="none">
            <a:noAutofit/>
          </a:bodyPr>
          <a:lstStyle/>
          <a:p>
            <a:pPr algn="ctr">
              <a:lnSpc>
                <a:spcPts val="2520"/>
              </a:lnSpc>
            </a:pPr>
            <a:r>
              <a:rPr lang="en-US" sz="2100" spc="-23" u="sng">
                <a:solidFill>
                  <a:srgbClr val="006EC0"/>
                </a:solidFill>
                <a:latin typeface="Calibri"/>
                <a:ea typeface="Calibri"/>
                <a:cs typeface="Calibri"/>
                <a:sym typeface="Calibri"/>
                <a:hlinkClick r:id="rId8" tooltip="https://youtu.be/F1cuxlgMW2g"/>
              </a:rPr>
              <a:t>Prototype Video Link</a:t>
            </a:r>
          </a:p>
        </p:txBody>
      </p:sp>
      <p:sp>
        <p:nvSpPr>
          <p:cNvPr id="28" name="Video link click area">
            <a:hlinkClick r:id="rId8"/>
          </p:cNvPr>
          <p:cNvSpPr/>
          <p:nvPr/>
        </p:nvSpPr>
        <p:spPr>
          <a:xfrm>
            <a:off x="4297680" y="8394192"/>
            <a:ext cx="2103120" cy="45720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Video QR click area">
            <a:hlinkClick r:id="rId8"/>
          </p:cNvPr>
          <p:cNvSpPr/>
          <p:nvPr/>
        </p:nvSpPr>
        <p:spPr>
          <a:xfrm>
            <a:off x="6720840" y="7991856"/>
            <a:ext cx="1320330" cy="132033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name="TextBox 23" id="30"/>
          <p:cNvSpPr txBox="true"/>
          <p:nvPr/>
        </p:nvSpPr>
        <p:spPr>
          <a:xfrm rot="0">
            <a:off x="8595360" y="3383280"/>
            <a:ext cx="9006840" cy="381000"/>
          </a:xfrm>
          <a:prstGeom prst="rect">
            <a:avLst/>
          </a:prstGeom>
        </p:spPr>
        <p:txBody>
          <a:bodyPr anchor="t" rtlCol="false" tIns="0" lIns="0" bIns="0" rIns="0" wrap="none">
            <a:noAutofit/>
          </a:bodyPr>
          <a:lstStyle/>
          <a:p>
            <a:pPr algn="l">
              <a:lnSpc>
                <a:spcPts val="2640"/>
              </a:lnSpc>
            </a:pPr>
            <a:r>
              <a:rPr lang="en-US" sz="2200" b="1">
                <a:solidFill>
                  <a:srgbClr val="7A2F00"/>
                </a:solidFill>
                <a:latin typeface="Calibri"/>
                <a:ea typeface="Calibri"/>
                <a:cs typeface="Calibri"/>
                <a:sym typeface="Calibri"/>
              </a:rPr>
              <a:t>Prototype F</a:t>
            </a:r>
            <a:r>
              <a:rPr lang="en-US" b="1" sz="2200">
                <a:solidFill>
                  <a:srgbClr val="7A2F00"/>
                </a:solidFill>
                <a:latin typeface="Calibri"/>
                <a:ea typeface="Calibri"/>
                <a:cs typeface="Calibri"/>
                <a:sym typeface="Calibri"/>
              </a:rPr>
              <a:t>low - </a:t>
            </a:r>
            <a:r>
              <a:rPr lang="en-US" sz="2200">
                <a:solidFill>
                  <a:srgbClr val="202020"/>
                </a:solidFill>
                <a:latin typeface="Calibri"/>
                <a:ea typeface="Calibri"/>
                <a:cs typeface="Calibri"/>
                <a:sym typeface="Calibri"/>
              </a:rPr>
              <a:t>real screenshots of our working prototype</a:t>
            </a:r>
          </a:p>
        </p:txBody>
      </p:sp>
      <p:sp>
        <p:nvSpPr>
          <p:cNvPr name="Freeform 8" id="31"/>
          <p:cNvSpPr/>
          <p:nvPr/>
        </p:nvSpPr>
        <p:spPr>
          <a:xfrm flipH="false" flipV="false" rot="0">
            <a:off x="8595360" y="3858768"/>
            <a:ext cx="1420051" cy="1783080"/>
          </a:xfrm>
          <a:custGeom>
            <a:avLst/>
            <a:gdLst/>
            <a:ahLst/>
            <a:cxnLst/>
            <a:rect r="r" b="b" t="t" l="l"/>
            <a:pathLst>
              <a:path h="3416454" w="2720876">
                <a:moveTo>
                  <a:pt x="0" y="0"/>
                </a:moveTo>
                <a:lnTo>
                  <a:pt x="2720876" y="0"/>
                </a:lnTo>
                <a:lnTo>
                  <a:pt x="2720876" y="3416454"/>
                </a:lnTo>
                <a:lnTo>
                  <a:pt x="0" y="3416454"/>
                </a:lnTo>
                <a:lnTo>
                  <a:pt x="0" y="0"/>
                </a:lnTo>
                <a:close/>
              </a:path>
            </a:pathLst>
          </a:custGeom>
          <a:blipFill>
            <a:blip r:embed="rId9"/>
            <a:stretch>
              <a:fillRect l="0" t="-6699" r="0" b="-70279"/>
            </a:stretch>
          </a:blipFill>
        </p:spPr>
        <p:txBody>
          <a:bodyPr/>
          <a:p/>
        </p:txBody>
      </p:sp>
      <p:sp>
        <p:nvSpPr>
          <p:cNvPr name="Freeform 10" id="32"/>
          <p:cNvSpPr/>
          <p:nvPr/>
        </p:nvSpPr>
        <p:spPr>
          <a:xfrm flipH="false" flipV="false" rot="0">
            <a:off x="10498282" y="3858768"/>
            <a:ext cx="861759" cy="1783080"/>
          </a:xfrm>
          <a:custGeom>
            <a:avLst/>
            <a:gdLst/>
            <a:ahLst/>
            <a:cxnLst/>
            <a:rect r="r" b="b" t="t" l="l"/>
            <a:pathLst>
              <a:path h="3213409" w="1553035">
                <a:moveTo>
                  <a:pt x="0" y="0"/>
                </a:moveTo>
                <a:lnTo>
                  <a:pt x="1553035" y="0"/>
                </a:lnTo>
                <a:lnTo>
                  <a:pt x="1553035" y="3213409"/>
                </a:lnTo>
                <a:lnTo>
                  <a:pt x="0" y="3213409"/>
                </a:lnTo>
                <a:lnTo>
                  <a:pt x="0" y="0"/>
                </a:lnTo>
                <a:close/>
              </a:path>
            </a:pathLst>
          </a:custGeom>
          <a:blipFill>
            <a:blip r:embed="rId10"/>
            <a:stretch>
              <a:fillRect l="0" t="-4065" r="0" b="-3334"/>
            </a:stretch>
          </a:blipFill>
        </p:spPr>
        <p:txBody>
          <a:bodyPr/>
          <a:p/>
        </p:txBody>
      </p:sp>
      <p:sp>
        <p:nvSpPr>
          <p:cNvPr name="Freeform 11" id="33"/>
          <p:cNvSpPr/>
          <p:nvPr/>
        </p:nvSpPr>
        <p:spPr>
          <a:xfrm flipH="false" flipV="false" rot="0">
            <a:off x="11842913" y="3858768"/>
            <a:ext cx="1063454" cy="1783080"/>
          </a:xfrm>
          <a:custGeom>
            <a:avLst/>
            <a:gdLst/>
            <a:ahLst/>
            <a:cxnLst/>
            <a:rect r="r" b="b" t="t" l="l"/>
            <a:pathLst>
              <a:path h="2988046" w="1782114">
                <a:moveTo>
                  <a:pt x="0" y="0"/>
                </a:moveTo>
                <a:lnTo>
                  <a:pt x="1782114" y="0"/>
                </a:lnTo>
                <a:lnTo>
                  <a:pt x="1782114" y="2988046"/>
                </a:lnTo>
                <a:lnTo>
                  <a:pt x="0" y="2988046"/>
                </a:lnTo>
                <a:lnTo>
                  <a:pt x="0" y="0"/>
                </a:lnTo>
                <a:close/>
              </a:path>
            </a:pathLst>
          </a:custGeom>
          <a:blipFill>
            <a:blip r:embed="rId11"/>
            <a:stretch>
              <a:fillRect l="0" t="-5017" r="0" b="-27519"/>
            </a:stretch>
          </a:blipFill>
        </p:spPr>
        <p:txBody>
          <a:bodyPr/>
          <a:p/>
        </p:txBody>
      </p:sp>
      <p:sp>
        <p:nvSpPr>
          <p:cNvPr name="Freeform 9" id="34"/>
          <p:cNvSpPr/>
          <p:nvPr/>
        </p:nvSpPr>
        <p:spPr>
          <a:xfrm flipH="false" flipV="false" rot="0">
            <a:off x="13389239" y="3858768"/>
            <a:ext cx="4212960" cy="1783080"/>
          </a:xfrm>
          <a:custGeom>
            <a:avLst/>
            <a:gdLst/>
            <a:ahLst/>
            <a:cxnLst/>
            <a:rect r="r" b="b" t="t" l="l"/>
            <a:pathLst>
              <a:path h="2714824" w="6414433">
                <a:moveTo>
                  <a:pt x="0" y="0"/>
                </a:moveTo>
                <a:lnTo>
                  <a:pt x="6414433" y="0"/>
                </a:lnTo>
                <a:lnTo>
                  <a:pt x="6414433" y="2714824"/>
                </a:lnTo>
                <a:lnTo>
                  <a:pt x="0" y="2714824"/>
                </a:lnTo>
                <a:lnTo>
                  <a:pt x="0" y="0"/>
                </a:lnTo>
                <a:close/>
              </a:path>
            </a:pathLst>
          </a:custGeom>
          <a:blipFill>
            <a:blip r:embed="rId12"/>
            <a:stretch>
              <a:fillRect l="0" t="-2643" r="-1398" b="-29274"/>
            </a:stretch>
          </a:blipFill>
        </p:spPr>
        <p:txBody>
          <a:bodyPr/>
          <a:p/>
        </p:txBody>
      </p:sp>
      <p:sp>
        <p:nvSpPr>
          <p:cNvPr name="Freeform 12" id="35"/>
          <p:cNvSpPr/>
          <p:nvPr/>
        </p:nvSpPr>
        <p:spPr>
          <a:xfrm flipH="false" flipV="false" rot="0">
            <a:off x="10096826" y="4645151"/>
            <a:ext cx="320040" cy="210312"/>
          </a:xfrm>
          <a:custGeom>
            <a:avLst/>
            <a:gdLst/>
            <a:ahLst/>
            <a:cxnLst/>
            <a:rect r="r" b="b" t="t" l="l"/>
            <a:pathLst>
              <a:path h="295474" w="451106">
                <a:moveTo>
                  <a:pt x="0" y="0"/>
                </a:moveTo>
                <a:lnTo>
                  <a:pt x="451106" y="0"/>
                </a:lnTo>
                <a:lnTo>
                  <a:pt x="451106" y="295475"/>
                </a:lnTo>
                <a:lnTo>
                  <a:pt x="0" y="29547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txBody>
          <a:bodyPr/>
          <a:p/>
        </p:txBody>
      </p:sp>
      <p:sp>
        <p:nvSpPr>
          <p:cNvPr name="Freeform 14" id="36"/>
          <p:cNvSpPr/>
          <p:nvPr/>
        </p:nvSpPr>
        <p:spPr>
          <a:xfrm flipH="false" flipV="false" rot="0">
            <a:off x="11441457" y="4645151"/>
            <a:ext cx="320040" cy="210312"/>
          </a:xfrm>
          <a:custGeom>
            <a:avLst/>
            <a:gdLst/>
            <a:ahLst/>
            <a:cxnLst/>
            <a:rect r="r" b="b" t="t" l="l"/>
            <a:pathLst>
              <a:path h="295474" w="451106">
                <a:moveTo>
                  <a:pt x="0" y="0"/>
                </a:moveTo>
                <a:lnTo>
                  <a:pt x="451106" y="0"/>
                </a:lnTo>
                <a:lnTo>
                  <a:pt x="451106" y="295475"/>
                </a:lnTo>
                <a:lnTo>
                  <a:pt x="0" y="29547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txBody>
          <a:bodyPr/>
          <a:p/>
        </p:txBody>
      </p:sp>
      <p:sp>
        <p:nvSpPr>
          <p:cNvPr name="Freeform 12" id="37"/>
          <p:cNvSpPr/>
          <p:nvPr/>
        </p:nvSpPr>
        <p:spPr>
          <a:xfrm flipH="false" flipV="false" rot="0">
            <a:off x="12987783" y="4645151"/>
            <a:ext cx="320040" cy="210312"/>
          </a:xfrm>
          <a:custGeom>
            <a:avLst/>
            <a:gdLst/>
            <a:ahLst/>
            <a:cxnLst/>
            <a:rect r="r" b="b" t="t" l="l"/>
            <a:pathLst>
              <a:path h="295474" w="451106">
                <a:moveTo>
                  <a:pt x="0" y="0"/>
                </a:moveTo>
                <a:lnTo>
                  <a:pt x="451106" y="0"/>
                </a:lnTo>
                <a:lnTo>
                  <a:pt x="451106" y="295475"/>
                </a:lnTo>
                <a:lnTo>
                  <a:pt x="0" y="29547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txBody>
          <a:bodyPr/>
          <a:p/>
        </p:txBody>
      </p:sp>
      <p:sp>
        <p:nvSpPr>
          <p:cNvPr name="TextBox 21" id="38"/>
          <p:cNvSpPr txBox="true"/>
          <p:nvPr/>
        </p:nvSpPr>
        <p:spPr>
          <a:xfrm rot="0">
            <a:off x="1152144" y="6199632"/>
            <a:ext cx="4572000" cy="438912"/>
          </a:xfrm>
          <a:prstGeom prst="rect">
            <a:avLst/>
          </a:prstGeom>
        </p:spPr>
        <p:txBody>
          <a:bodyPr anchor="t" rtlCol="false" tIns="0" lIns="0" bIns="0" rIns="0" wrap="none">
            <a:noAutofit/>
          </a:bodyPr>
          <a:lstStyle/>
          <a:p>
            <a:pPr algn="l">
              <a:lnSpc>
                <a:spcPts val="3000"/>
              </a:lnSpc>
              <a:spcBef>
                <a:spcPct val="0"/>
              </a:spcBef>
            </a:pPr>
            <a:r>
              <a:rPr lang="en-US" b="1" sz="2500" spc="-27">
                <a:solidFill>
                  <a:srgbClr val="974826"/>
                </a:solidFill>
                <a:latin typeface="Calibri"/>
                <a:ea typeface="Calibri"/>
                <a:cs typeface="Calibri"/>
                <a:sym typeface="Calibri"/>
              </a:rPr>
              <a:t>User Experience</a:t>
            </a:r>
          </a:p>
        </p:txBody>
      </p:sp>
      <p:sp>
        <p:nvSpPr>
          <p:cNvPr name="TextBox 23" id="39"/>
          <p:cNvSpPr txBox="true"/>
          <p:nvPr/>
        </p:nvSpPr>
        <p:spPr>
          <a:xfrm rot="0">
            <a:off x="987552" y="6638544"/>
            <a:ext cx="7132320" cy="1280160"/>
          </a:xfrm>
          <a:prstGeom prst="rect">
            <a:avLst/>
          </a:prstGeom>
        </p:spPr>
        <p:txBody>
          <a:bodyPr anchor="t" rtlCol="false" tIns="0" lIns="0" bIns="0" rIns="0" wrap="square">
            <a:noAutofit/>
          </a:bodyPr>
          <a:lstStyle/>
          <a:p>
            <a:pPr algn="l" marL="431801" indent="-215900" lvl="1">
              <a:lnSpc>
                <a:spcPct val="110000"/>
              </a:lnSpc>
              <a:buFont typeface="Arial"/>
              <a:buChar char="•"/>
            </a:pPr>
            <a:r>
              <a:rPr lang="en-US" b="1" sz="1600" spc="-22">
                <a:solidFill>
                  <a:srgbClr val="000000"/>
                </a:solidFill>
                <a:latin typeface="Calibri"/>
                <a:ea typeface="Calibri"/>
                <a:cs typeface="Calibri"/>
                <a:sym typeface="Calibri"/>
              </a:rPr>
              <a:t>4 steps</a:t>
            </a:r>
            <a:r>
              <a:rPr lang="en-US" sz="1600" spc="-22">
                <a:solidFill>
                  <a:srgbClr val="000000"/>
                </a:solidFill>
                <a:latin typeface="Calibri"/>
                <a:ea typeface="Calibri"/>
                <a:cs typeface="Calibri"/>
                <a:sym typeface="Calibri"/>
              </a:rPr>
              <a:t> - choose kit, take photo inside the box, see result, it gets saved. One test takes around 16 seconds (we checked in 19 scans).</a:t>
            </a:r>
          </a:p>
          <a:p>
            <a:pPr algn="l" marL="431801" indent="-215900" lvl="1">
              <a:lnSpc>
                <a:spcPct val="110000"/>
              </a:lnSpc>
              <a:buFont typeface="Arial"/>
              <a:buChar char="•"/>
            </a:pPr>
            <a:r>
              <a:rPr lang="en-US" b="1" sz="1600" spc="-22">
                <a:solidFill>
                  <a:srgbClr val="000000"/>
                </a:solidFill>
                <a:latin typeface="Calibri"/>
                <a:ea typeface="Calibri"/>
                <a:cs typeface="Calibri"/>
                <a:sym typeface="Calibri"/>
              </a:rPr>
              <a:t>Bad photo?</a:t>
            </a:r>
            <a:r>
              <a:rPr lang="en-US" sz="1600" spc="-22">
                <a:solidFill>
                  <a:srgbClr val="000000"/>
                </a:solidFill>
                <a:latin typeface="Calibri"/>
                <a:ea typeface="Calibri"/>
                <a:cs typeface="Calibri"/>
                <a:sym typeface="Calibri"/>
              </a:rPr>
              <a:t> - app says NOT SURE, tells the reason (blurry, shiny or card not seen) and asks to take the photo again.</a:t>
            </a:r>
          </a:p>
          <a:p>
            <a:pPr algn="l" marL="431801" indent="-215900" lvl="1">
              <a:lnSpc>
                <a:spcPct val="110000"/>
              </a:lnSpc>
              <a:buFont typeface="Arial"/>
              <a:buChar char="•"/>
            </a:pPr>
            <a:r>
              <a:rPr lang="en-US" b="1" sz="1600" spc="-22">
                <a:solidFill>
                  <a:srgbClr val="000000"/>
                </a:solidFill>
                <a:latin typeface="Calibri"/>
                <a:ea typeface="Calibri"/>
                <a:cs typeface="Calibri"/>
                <a:sym typeface="Calibri"/>
              </a:rPr>
              <a:t>Easy to read</a:t>
            </a:r>
            <a:r>
              <a:rPr lang="en-US" sz="1600" spc="-22">
                <a:solidFill>
                  <a:srgbClr val="000000"/>
                </a:solidFill>
                <a:latin typeface="Calibri"/>
                <a:ea typeface="Calibri"/>
                <a:cs typeface="Calibri"/>
                <a:sym typeface="Calibri"/>
              </a:rPr>
              <a:t> - result comes in big letters with colour, in simple English. Next we will try it with 10 officers.</a:t>
            </a:r>
          </a:p>
        </p:txBody>
      </p:sp>
      <p:sp>
        <p:nvSpPr>
          <p:cNvPr id="40" name="TextBox 39"/>
          <p:cNvSpPr txBox="1"/>
          <p:nvPr/>
        </p:nvSpPr>
        <p:spPr>
          <a:xfrm>
            <a:off x="8595360" y="5641848"/>
            <a:ext cx="9006840" cy="219456"/>
          </a:xfrm>
          <a:prstGeom prst="rect">
            <a:avLst/>
          </a:prstGeom>
          <a:noFill/>
        </p:spPr>
        <p:txBody>
          <a:bodyPr wrap="square" lIns="36576" rIns="36576" tIns="18288" bIns="18288">
            <a:noAutofit/>
          </a:bodyPr>
          <a:lstStyle/>
          <a:p>
            <a:r>
              <a:rPr sz="1150" b="0" i="1">
                <a:solidFill>
                  <a:srgbClr val="6B6B6B"/>
                </a:solidFill>
                <a:latin typeface="Calibri"/>
              </a:rPr>
              <a:t>Test Log (right side) can search and filter by date, officer, kit and result, and download as CSV or PDF with QR.</a:t>
            </a:r>
          </a:p>
        </p:txBody>
      </p:sp>
      <p:sp>
        <p:nvSpPr>
          <p:cNvPr id="41" name="TextBox 40"/>
          <p:cNvSpPr txBox="1"/>
          <p:nvPr/>
        </p:nvSpPr>
        <p:spPr>
          <a:xfrm>
            <a:off x="2528171" y="1901952"/>
            <a:ext cx="5564269" cy="292608"/>
          </a:xfrm>
          <a:prstGeom prst="rect">
            <a:avLst/>
          </a:prstGeom>
          <a:noFill/>
        </p:spPr>
        <p:txBody>
          <a:bodyPr wrap="square" lIns="27432" rIns="27432" tIns="9144" bIns="9144">
            <a:noAutofit/>
          </a:bodyPr>
          <a:lstStyle/>
          <a:p>
            <a:r>
              <a:rPr sz="1250" b="0">
                <a:solidFill>
                  <a:srgbClr val="555555"/>
                </a:solidFill>
                <a:latin typeface="Calibri"/>
              </a:rPr>
              <a:t>India had 1,20,010 NDPS cases in 2023 (NCRB). Each needs a field test.</a:t>
            </a:r>
          </a:p>
        </p:txBody>
      </p:sp>
      <p:sp>
        <p:nvSpPr>
          <p:cNvPr id="42" name="TextBox 41"/>
          <p:cNvSpPr txBox="1"/>
          <p:nvPr/>
        </p:nvSpPr>
        <p:spPr>
          <a:xfrm>
            <a:off x="10149840" y="6044184"/>
            <a:ext cx="7315200" cy="292608"/>
          </a:xfrm>
          <a:prstGeom prst="rect">
            <a:avLst/>
          </a:prstGeom>
          <a:noFill/>
        </p:spPr>
        <p:txBody>
          <a:bodyPr wrap="square" lIns="27432" rIns="27432" tIns="9144" bIns="9144">
            <a:noAutofit/>
          </a:bodyPr>
          <a:lstStyle/>
          <a:p>
            <a:r>
              <a:rPr sz="1200" b="0">
                <a:solidFill>
                  <a:srgbClr val="555555"/>
                </a:solidFill>
                <a:latin typeface="Calibri"/>
              </a:rPr>
              <a:t>Eye check is guesswork, lab is slow, </a:t>
            </a:r>
            <a:r>
              <a:rPr sz="1200" b="1">
                <a:solidFill>
                  <a:srgbClr val="555555"/>
                </a:solidFill>
                <a:latin typeface="Calibri"/>
              </a:rPr>
              <a:t>FieldProof gives result on the spot for ₹10 with proof</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64624"/>
            <a:ext cx="18280761" cy="715289"/>
            <a:chOff x="0" y="0"/>
            <a:chExt cx="24374348" cy="953719"/>
          </a:xfrm>
        </p:grpSpPr>
        <p:sp>
          <p:nvSpPr>
            <p:cNvPr name="Freeform 3" id="3"/>
            <p:cNvSpPr/>
            <p:nvPr/>
          </p:nvSpPr>
          <p:spPr>
            <a:xfrm flipH="false" flipV="false" rot="0">
              <a:off x="0" y="0"/>
              <a:ext cx="24374348" cy="953770"/>
            </a:xfrm>
            <a:custGeom>
              <a:avLst/>
              <a:gdLst/>
              <a:ahLst/>
              <a:cxnLst/>
              <a:rect r="r" b="b" t="t" l="l"/>
              <a:pathLst>
                <a:path h="953770" w="24374348">
                  <a:moveTo>
                    <a:pt x="0" y="0"/>
                  </a:moveTo>
                  <a:lnTo>
                    <a:pt x="24374348" y="0"/>
                  </a:lnTo>
                  <a:lnTo>
                    <a:pt x="24374348" y="953770"/>
                  </a:lnTo>
                  <a:lnTo>
                    <a:pt x="0" y="953770"/>
                  </a:lnTo>
                  <a:lnTo>
                    <a:pt x="0" y="0"/>
                  </a:lnTo>
                  <a:close/>
                </a:path>
              </a:pathLst>
            </a:custGeom>
            <a:blipFill>
              <a:blip r:embed="rId2"/>
              <a:stretch>
                <a:fillRect l="0" t="-914" r="0" b="-909"/>
              </a:stretch>
            </a:blipFill>
          </p:spPr>
        </p:sp>
      </p:grpSp>
      <p:grpSp>
        <p:nvGrpSpPr>
          <p:cNvPr name="Group 4" id="4"/>
          <p:cNvGrpSpPr/>
          <p:nvPr/>
        </p:nvGrpSpPr>
        <p:grpSpPr>
          <a:xfrm rot="0">
            <a:off x="0" y="9532620"/>
            <a:ext cx="18288000" cy="754380"/>
            <a:chOff x="0" y="0"/>
            <a:chExt cx="24384000" cy="1005840"/>
          </a:xfrm>
        </p:grpSpPr>
        <p:sp>
          <p:nvSpPr>
            <p:cNvPr name="Freeform 5" id="5"/>
            <p:cNvSpPr/>
            <p:nvPr/>
          </p:nvSpPr>
          <p:spPr>
            <a:xfrm flipH="false" flipV="false" rot="0">
              <a:off x="0" y="0"/>
              <a:ext cx="24384000" cy="1005840"/>
            </a:xfrm>
            <a:custGeom>
              <a:avLst/>
              <a:gdLst/>
              <a:ahLst/>
              <a:cxnLst/>
              <a:rect r="r" b="b" t="t" l="l"/>
              <a:pathLst>
                <a:path h="1005840" w="24384000">
                  <a:moveTo>
                    <a:pt x="24384000" y="0"/>
                  </a:moveTo>
                  <a:lnTo>
                    <a:pt x="0" y="0"/>
                  </a:lnTo>
                  <a:lnTo>
                    <a:pt x="0" y="1005840"/>
                  </a:lnTo>
                  <a:lnTo>
                    <a:pt x="24384000" y="1005840"/>
                  </a:lnTo>
                  <a:lnTo>
                    <a:pt x="24384000" y="0"/>
                  </a:lnTo>
                  <a:close/>
                </a:path>
              </a:pathLst>
            </a:custGeom>
            <a:solidFill>
              <a:srgbClr val="006EC0"/>
            </a:solidFill>
          </p:spPr>
        </p:sp>
      </p:grpSp>
      <p:sp>
        <p:nvSpPr>
          <p:cNvPr name="Freeform 6" id="6"/>
          <p:cNvSpPr/>
          <p:nvPr/>
        </p:nvSpPr>
        <p:spPr>
          <a:xfrm flipH="false" flipV="false" rot="0">
            <a:off x="391335" y="315011"/>
            <a:ext cx="2629852" cy="1249680"/>
          </a:xfrm>
          <a:custGeom>
            <a:avLst/>
            <a:gdLst/>
            <a:ahLst/>
            <a:cxnLst/>
            <a:rect r="r" b="b" t="t" l="l"/>
            <a:pathLst>
              <a:path h="1249680" w="2629852">
                <a:moveTo>
                  <a:pt x="0" y="0"/>
                </a:moveTo>
                <a:lnTo>
                  <a:pt x="2629852" y="0"/>
                </a:lnTo>
                <a:lnTo>
                  <a:pt x="2629852" y="1249680"/>
                </a:lnTo>
                <a:lnTo>
                  <a:pt x="0" y="12496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AutoShape 7" id="7"/>
          <p:cNvSpPr/>
          <p:nvPr/>
        </p:nvSpPr>
        <p:spPr>
          <a:xfrm flipV="true">
            <a:off x="9120273" y="2317442"/>
            <a:ext cx="0" cy="6940858"/>
          </a:xfrm>
          <a:prstGeom prst="line">
            <a:avLst/>
          </a:prstGeom>
          <a:ln cap="flat" w="19050">
            <a:solidFill>
              <a:srgbClr val="B2935B"/>
            </a:solidFill>
            <a:prstDash val="solid"/>
            <a:headEnd type="none" len="sm" w="sm"/>
            <a:tailEnd type="none" len="sm" w="sm"/>
          </a:ln>
        </p:spPr>
        <p:txBody>
          <a:bodyPr/>
          <a:p/>
        </p:txBody>
      </p:sp>
      <p:sp>
        <p:nvSpPr>
          <p:cNvPr name="Freeform 8" id="8"/>
          <p:cNvSpPr/>
          <p:nvPr/>
        </p:nvSpPr>
        <p:spPr>
          <a:xfrm flipH="false" flipV="false" rot="0">
            <a:off x="575656" y="2365906"/>
            <a:ext cx="8506261" cy="7198718"/>
          </a:xfrm>
          <a:custGeom>
            <a:avLst/>
            <a:gdLst/>
            <a:ahLst/>
            <a:cxnLst/>
            <a:rect r="r" b="b" t="t" l="l"/>
            <a:pathLst>
              <a:path h="7198718" w="8506261">
                <a:moveTo>
                  <a:pt x="0" y="0"/>
                </a:moveTo>
                <a:lnTo>
                  <a:pt x="8506261" y="0"/>
                </a:lnTo>
                <a:lnTo>
                  <a:pt x="8506261" y="7198718"/>
                </a:lnTo>
                <a:lnTo>
                  <a:pt x="0" y="7198718"/>
                </a:lnTo>
                <a:lnTo>
                  <a:pt x="0" y="0"/>
                </a:lnTo>
                <a:close/>
              </a:path>
            </a:pathLst>
          </a:custGeom>
          <a:blipFill>
            <a:blip r:embed="rId5"/>
            <a:stretch>
              <a:fillRect l="-3785" t="-10560" r="-41196" b="-17925"/>
            </a:stretch>
          </a:blipFill>
        </p:spPr>
        <p:txBody>
          <a:bodyPr/>
          <a:p/>
        </p:txBody>
      </p:sp>
      <p:grpSp>
        <p:nvGrpSpPr>
          <p:cNvPr name="Group 9" id="9"/>
          <p:cNvGrpSpPr/>
          <p:nvPr/>
        </p:nvGrpSpPr>
        <p:grpSpPr>
          <a:xfrm rot="0">
            <a:off x="14720116" y="33423"/>
            <a:ext cx="3287373" cy="1531268"/>
            <a:chOff x="0" y="0"/>
            <a:chExt cx="4383164" cy="2041690"/>
          </a:xfrm>
        </p:grpSpPr>
        <p:sp>
          <p:nvSpPr>
            <p:cNvPr name="Freeform 10" id="10"/>
            <p:cNvSpPr/>
            <p:nvPr/>
          </p:nvSpPr>
          <p:spPr>
            <a:xfrm flipH="false" flipV="false" rot="0">
              <a:off x="0" y="0"/>
              <a:ext cx="4383151" cy="2041652"/>
            </a:xfrm>
            <a:custGeom>
              <a:avLst/>
              <a:gdLst/>
              <a:ahLst/>
              <a:cxnLst/>
              <a:rect r="r" b="b" t="t" l="l"/>
              <a:pathLst>
                <a:path h="2041652" w="4383151">
                  <a:moveTo>
                    <a:pt x="0" y="0"/>
                  </a:moveTo>
                  <a:lnTo>
                    <a:pt x="4383151" y="0"/>
                  </a:lnTo>
                  <a:lnTo>
                    <a:pt x="4383151" y="2041652"/>
                  </a:lnTo>
                  <a:lnTo>
                    <a:pt x="0" y="2041652"/>
                  </a:lnTo>
                  <a:lnTo>
                    <a:pt x="0" y="0"/>
                  </a:lnTo>
                  <a:close/>
                </a:path>
              </a:pathLst>
            </a:custGeom>
            <a:blipFill>
              <a:blip r:embed="rId6"/>
              <a:stretch>
                <a:fillRect l="0" t="-106" r="0" b="-108"/>
              </a:stretch>
            </a:blipFill>
          </p:spPr>
        </p:sp>
      </p:grpSp>
      <p:sp>
        <p:nvSpPr>
          <p:cNvPr name="Freeform 11" id="11"/>
          <p:cNvSpPr/>
          <p:nvPr/>
        </p:nvSpPr>
        <p:spPr>
          <a:xfrm flipH="false" flipV="false" rot="0">
            <a:off x="15633393" y="3206103"/>
            <a:ext cx="2374096" cy="5123386"/>
          </a:xfrm>
          <a:custGeom>
            <a:avLst/>
            <a:gdLst/>
            <a:ahLst/>
            <a:cxnLst/>
            <a:rect r="r" b="b" t="t" l="l"/>
            <a:pathLst>
              <a:path h="5123386" w="2374096">
                <a:moveTo>
                  <a:pt x="0" y="0"/>
                </a:moveTo>
                <a:lnTo>
                  <a:pt x="2374096" y="0"/>
                </a:lnTo>
                <a:lnTo>
                  <a:pt x="2374096" y="5123386"/>
                </a:lnTo>
                <a:lnTo>
                  <a:pt x="0" y="5123386"/>
                </a:lnTo>
                <a:lnTo>
                  <a:pt x="0" y="0"/>
                </a:lnTo>
                <a:close/>
              </a:path>
            </a:pathLst>
          </a:custGeom>
          <a:blipFill>
            <a:blip r:embed="rId7"/>
            <a:stretch>
              <a:fillRect l="-32659" t="-5244" r="-32335" b="-9439"/>
            </a:stretch>
          </a:blipFill>
        </p:spPr>
        <p:txBody>
          <a:bodyPr/>
          <a:p/>
        </p:txBody>
      </p:sp>
      <p:sp>
        <p:nvSpPr>
          <p:cNvPr name="AutoShape 12" id="12"/>
          <p:cNvSpPr/>
          <p:nvPr/>
        </p:nvSpPr>
        <p:spPr>
          <a:xfrm flipV="true">
            <a:off x="15376592" y="2280181"/>
            <a:ext cx="0" cy="6940858"/>
          </a:xfrm>
          <a:prstGeom prst="line">
            <a:avLst/>
          </a:prstGeom>
          <a:ln cap="flat" w="19050">
            <a:solidFill>
              <a:srgbClr val="B2935B"/>
            </a:solidFill>
            <a:prstDash val="solid"/>
            <a:headEnd type="none" len="sm" w="sm"/>
            <a:tailEnd type="none" len="sm" w="sm"/>
          </a:ln>
        </p:spPr>
        <p:txBody>
          <a:bodyPr/>
          <a:p/>
        </p:txBody>
      </p:sp>
      <p:sp>
        <p:nvSpPr>
          <p:cNvPr name="TextBox 14" id="14" descr="$PPTXTitle"/>
          <p:cNvSpPr txBox="true"/>
          <p:nvPr/>
        </p:nvSpPr>
        <p:spPr>
          <a:xfrm rot="0">
            <a:off x="4732364" y="360750"/>
            <a:ext cx="8268583" cy="847725"/>
          </a:xfrm>
          <a:prstGeom prst="rect">
            <a:avLst/>
          </a:prstGeom>
        </p:spPr>
        <p:txBody>
          <a:bodyPr anchor="t" rtlCol="false" tIns="0" lIns="0" bIns="0" rIns="0">
            <a:spAutoFit/>
          </a:bodyPr>
          <a:lstStyle/>
          <a:p>
            <a:pPr algn="l">
              <a:lnSpc>
                <a:spcPts val="6480"/>
              </a:lnSpc>
            </a:pPr>
            <a:r>
              <a:rPr lang="en-US" b="true" sz="5400" spc="-15">
                <a:solidFill>
                  <a:srgbClr val="7A2F00"/>
                </a:solidFill>
                <a:latin typeface="Times New Roman Bold"/>
                <a:ea typeface="Times New Roman Bold"/>
                <a:cs typeface="Times New Roman Bold"/>
                <a:sym typeface="Times New Roman Bold"/>
              </a:rPr>
              <a:t>TECHNICAL APPROACH</a:t>
            </a:r>
          </a:p>
        </p:txBody>
      </p:sp>
      <p:sp>
        <p:nvSpPr>
          <p:cNvPr name="TextBox 15" id="15"/>
          <p:cNvSpPr txBox="true"/>
          <p:nvPr/>
        </p:nvSpPr>
        <p:spPr>
          <a:xfrm rot="0">
            <a:off x="17063656" y="9649673"/>
            <a:ext cx="104775" cy="288608"/>
          </a:xfrm>
          <a:prstGeom prst="rect">
            <a:avLst/>
          </a:prstGeom>
        </p:spPr>
        <p:txBody>
          <a:bodyPr anchor="t" rtlCol="false" tIns="0" lIns="0" bIns="0" rIns="0">
            <a:spAutoFit/>
          </a:bodyPr>
          <a:lstStyle/>
          <a:p>
            <a:pPr algn="l">
              <a:lnSpc>
                <a:spcPts val="2137"/>
              </a:lnSpc>
            </a:pPr>
            <a:r>
              <a:rPr lang="en-US" b="true" sz="1800" spc="-75">
                <a:solidFill>
                  <a:srgbClr val="FFFFFF"/>
                </a:solidFill>
                <a:latin typeface="Times New Roman Bold"/>
                <a:ea typeface="Times New Roman Bold"/>
                <a:cs typeface="Times New Roman Bold"/>
                <a:sym typeface="Times New Roman Bold"/>
              </a:rPr>
              <a:t>3</a:t>
            </a:r>
          </a:p>
        </p:txBody>
      </p:sp>
      <p:sp>
        <p:nvSpPr>
          <p:cNvPr name="TextBox 16" id="16" descr="$PPTXTitle"/>
          <p:cNvSpPr txBox="true"/>
          <p:nvPr/>
        </p:nvSpPr>
        <p:spPr>
          <a:xfrm rot="0">
            <a:off x="1074372" y="677913"/>
            <a:ext cx="1461403" cy="466725"/>
          </a:xfrm>
          <a:prstGeom prst="rect">
            <a:avLst/>
          </a:prstGeom>
        </p:spPr>
        <p:txBody>
          <a:bodyPr anchor="t" rtlCol="false" tIns="0" lIns="0" bIns="0" rIns="0">
            <a:spAutoFit/>
          </a:bodyPr>
          <a:lstStyle/>
          <a:p>
            <a:pPr algn="l">
              <a:lnSpc>
                <a:spcPts val="3240"/>
              </a:lnSpc>
            </a:pPr>
            <a:r>
              <a:rPr lang="en-US" b="1" sz="2700" spc="-29">
                <a:solidFill>
                  <a:srgbClr val="7A2F00"/>
                </a:solidFill>
                <a:latin typeface="Calibri"/>
                <a:ea typeface="Calibri"/>
                <a:cs typeface="Calibri"/>
                <a:sym typeface="Calibri"/>
              </a:rPr>
              <a:t>HexTech</a:t>
            </a:r>
          </a:p>
        </p:txBody>
      </p:sp>
      <p:sp>
        <p:nvSpPr>
          <p:cNvPr name="TextBox 17" id="17"/>
          <p:cNvSpPr txBox="true"/>
          <p:nvPr/>
        </p:nvSpPr>
        <p:spPr>
          <a:xfrm rot="0">
            <a:off x="15414563" y="2563902"/>
            <a:ext cx="2592926" cy="438150"/>
          </a:xfrm>
          <a:prstGeom prst="rect">
            <a:avLst/>
          </a:prstGeom>
        </p:spPr>
        <p:txBody>
          <a:bodyPr anchor="t" rtlCol="false" tIns="0" lIns="0" bIns="0" rIns="0">
            <a:spAutoFit/>
          </a:bodyPr>
          <a:lstStyle/>
          <a:p>
            <a:pPr algn="ctr">
              <a:lnSpc>
                <a:spcPts val="3000"/>
              </a:lnSpc>
              <a:spcBef>
                <a:spcPct val="0"/>
              </a:spcBef>
            </a:pPr>
            <a:r>
              <a:rPr lang="en-US" b="1" sz="2500" spc="-27">
                <a:solidFill>
                  <a:srgbClr val="7A2F00"/>
                </a:solidFill>
                <a:latin typeface="Calibri"/>
                <a:ea typeface="Calibri"/>
                <a:cs typeface="Calibri"/>
                <a:sym typeface="Calibri"/>
              </a:rPr>
              <a:t>Techn</a:t>
            </a:r>
            <a:r>
              <a:rPr lang="en-US" b="1" sz="2500" spc="-27">
                <a:solidFill>
                  <a:srgbClr val="7A2F00"/>
                </a:solidFill>
                <a:latin typeface="Calibri"/>
                <a:ea typeface="Calibri"/>
                <a:cs typeface="Calibri"/>
                <a:sym typeface="Calibri"/>
              </a:rPr>
              <a:t>ology Stack</a:t>
            </a:r>
          </a:p>
        </p:txBody>
      </p:sp>
      <p:sp>
        <p:nvSpPr>
          <p:cNvPr name="TextBox 18" id="18"/>
          <p:cNvSpPr txBox="true"/>
          <p:nvPr/>
        </p:nvSpPr>
        <p:spPr>
          <a:xfrm rot="0">
            <a:off x="714375" y="1842031"/>
            <a:ext cx="2592926" cy="438150"/>
          </a:xfrm>
          <a:prstGeom prst="rect">
            <a:avLst/>
          </a:prstGeom>
        </p:spPr>
        <p:txBody>
          <a:bodyPr anchor="t" rtlCol="false" tIns="0" lIns="0" bIns="0" rIns="0">
            <a:spAutoFit/>
          </a:bodyPr>
          <a:lstStyle/>
          <a:p>
            <a:pPr algn="ctr">
              <a:lnSpc>
                <a:spcPts val="3000"/>
              </a:lnSpc>
              <a:spcBef>
                <a:spcPct val="0"/>
              </a:spcBef>
            </a:pPr>
            <a:r>
              <a:rPr lang="en-US" b="1" sz="2500" spc="-27">
                <a:solidFill>
                  <a:srgbClr val="7A2F00"/>
                </a:solidFill>
                <a:latin typeface="Calibri"/>
                <a:ea typeface="Calibri"/>
                <a:cs typeface="Calibri"/>
                <a:sym typeface="Calibri"/>
              </a:rPr>
              <a:t>Syst</a:t>
            </a:r>
            <a:r>
              <a:rPr lang="en-US" b="1" sz="2500" spc="-27">
                <a:solidFill>
                  <a:srgbClr val="7A2F00"/>
                </a:solidFill>
                <a:latin typeface="Calibri"/>
                <a:ea typeface="Calibri"/>
                <a:cs typeface="Calibri"/>
                <a:sym typeface="Calibri"/>
              </a:rPr>
              <a:t>em Archi</a:t>
            </a:r>
            <a:r>
              <a:rPr lang="en-US" b="1" sz="2500" spc="-27">
                <a:solidFill>
                  <a:srgbClr val="7A2F00"/>
                </a:solidFill>
                <a:latin typeface="Calibri"/>
                <a:ea typeface="Calibri"/>
                <a:cs typeface="Calibri"/>
                <a:sym typeface="Calibri"/>
              </a:rPr>
              <a:t>tecture</a:t>
            </a:r>
          </a:p>
        </p:txBody>
      </p:sp>
      <p:sp>
        <p:nvSpPr>
          <p:cNvPr name="TextBox 19" id="19"/>
          <p:cNvSpPr txBox="true"/>
          <p:nvPr/>
        </p:nvSpPr>
        <p:spPr>
          <a:xfrm rot="0">
            <a:off x="9248369" y="2251606"/>
            <a:ext cx="5761019" cy="3268218"/>
          </a:xfrm>
          <a:prstGeom prst="rect">
            <a:avLst/>
          </a:prstGeom>
        </p:spPr>
        <p:txBody>
          <a:bodyPr anchor="t" rtlCol="false" tIns="0" lIns="0" bIns="0" rIns="0">
            <a:spAutoFit/>
          </a:bodyPr>
          <a:lstStyle/>
          <a:p>
            <a:pPr algn="l" marL="367031" indent="-183515" lvl="1">
              <a:lnSpc>
                <a:spcPct val="110000"/>
              </a:lnSpc>
              <a:buFont typeface="Arial"/>
              <a:buChar char="•"/>
            </a:pPr>
            <a:r>
              <a:rPr lang="en-US" sz="1700" spc="-13">
                <a:solidFill>
                  <a:srgbClr val="000000"/>
                </a:solidFill>
                <a:latin typeface="Calibri"/>
                <a:ea typeface="Calibri"/>
                <a:cs typeface="Calibri"/>
                <a:sym typeface="Calibri"/>
              </a:rPr>
              <a:t>Testing: 37 computer made photos and 25 real phone scans.</a:t>
            </a:r>
          </a:p>
          <a:p>
            <a:pPr algn="l" marL="367031" indent="-183515" lvl="1">
              <a:lnSpc>
                <a:spcPct val="110000"/>
              </a:lnSpc>
              <a:buFont typeface="Arial"/>
              <a:buChar char="•"/>
            </a:pPr>
            <a:r>
              <a:rPr lang="en-US" sz="1700" spc="-13">
                <a:solidFill>
                  <a:srgbClr val="000000"/>
                </a:solidFill>
                <a:latin typeface="Calibri"/>
                <a:ea typeface="Calibri"/>
                <a:cs typeface="Calibri"/>
                <a:sym typeface="Calibri"/>
              </a:rPr>
              <a:t>Accuracy: all 25 computer made photos correct. Real scans had 0 wrong answers (14 correct, others said NOT SURE).</a:t>
            </a:r>
            <a:r>
              <a:rPr lang="en-US" sz="1700" spc="-13">
                <a:solidFill>
                  <a:srgbClr val="000000"/>
                </a:solidFill>
                <a:latin typeface="Calibri"/>
                <a:ea typeface="Calibri"/>
                <a:cs typeface="Calibri"/>
                <a:sym typeface="Calibri"/>
              </a:rPr>
              <a:t/>
            </a:r>
          </a:p>
          <a:p>
            <a:pPr algn="l" marL="367031" indent="-183515" lvl="1">
              <a:lnSpc>
                <a:spcPct val="110000"/>
              </a:lnSpc>
              <a:buFont typeface="Arial"/>
              <a:buChar char="•"/>
            </a:pPr>
            <a:r>
              <a:rPr lang="en-US" sz="1700" spc="-13">
                <a:solidFill>
                  <a:srgbClr val="000000"/>
                </a:solidFill>
                <a:latin typeface="Calibri"/>
                <a:ea typeface="Calibri"/>
                <a:cs typeface="Calibri"/>
                <a:sym typeface="Calibri"/>
              </a:rPr>
              <a:t>Colour Ch</a:t>
            </a:r>
            <a:r>
              <a:rPr lang="en-US" sz="1700" spc="-13">
                <a:solidFill>
                  <a:srgbClr val="000000"/>
                </a:solidFill>
                <a:latin typeface="Calibri"/>
                <a:ea typeface="Calibri"/>
                <a:cs typeface="Calibri"/>
                <a:sym typeface="Calibri"/>
              </a:rPr>
              <a:t>eck:</a:t>
            </a:r>
            <a:r>
              <a:rPr lang="en-US" sz="1700" spc="-13">
                <a:solidFill>
                  <a:srgbClr val="000000"/>
                </a:solidFill>
                <a:latin typeface="Calibri"/>
                <a:ea typeface="Calibri"/>
                <a:cs typeface="Calibri"/>
                <a:sym typeface="Calibri"/>
              </a:rPr>
              <a:t> Used ΔE ≤ 14, 4-point colour matching, card-fit and glare thresholds.</a:t>
            </a:r>
          </a:p>
          <a:p>
            <a:pPr algn="l" marL="367031" indent="-183515" lvl="1">
              <a:lnSpc>
                <a:spcPct val="110000"/>
              </a:lnSpc>
              <a:buFont typeface="Arial"/>
              <a:buChar char="•"/>
            </a:pPr>
            <a:r>
              <a:rPr lang="en-US" sz="1700" spc="-13">
                <a:solidFill>
                  <a:srgbClr val="000000"/>
                </a:solidFill>
                <a:latin typeface="Calibri"/>
                <a:ea typeface="Calibri"/>
                <a:cs typeface="Calibri"/>
                <a:sym typeface="Calibri"/>
              </a:rPr>
              <a:t>Speed: Result secured in 2.5 s typically, 5 s maximum.</a:t>
            </a:r>
          </a:p>
          <a:p>
            <a:pPr algn="l" marL="367031" indent="-183515" lvl="1">
              <a:lnSpc>
                <a:spcPct val="110000"/>
              </a:lnSpc>
              <a:buFont typeface="Arial"/>
              <a:buChar char="•"/>
            </a:pPr>
            <a:r>
              <a:rPr lang="en-US" sz="1700" spc="-13">
                <a:solidFill>
                  <a:srgbClr val="000000"/>
                </a:solidFill>
                <a:latin typeface="Calibri"/>
                <a:ea typeface="Calibri"/>
                <a:cs typeface="Calibri"/>
                <a:sym typeface="Calibri"/>
              </a:rPr>
              <a:t>Tamper Test: All 4/4 modified records were detected successfully.</a:t>
            </a:r>
          </a:p>
        </p:txBody>
      </p:sp>
      <p:sp>
        <p:nvSpPr>
          <p:cNvPr name="TextBox 20" id="20"/>
          <p:cNvSpPr txBox="true"/>
          <p:nvPr/>
        </p:nvSpPr>
        <p:spPr>
          <a:xfrm rot="0">
            <a:off x="9248369" y="4590288"/>
            <a:ext cx="5885001" cy="552450"/>
          </a:xfrm>
          <a:prstGeom prst="rect">
            <a:avLst/>
          </a:prstGeom>
        </p:spPr>
        <p:txBody>
          <a:bodyPr anchor="t" rtlCol="false" tIns="0" lIns="0" bIns="0" rIns="0">
            <a:spAutoFit/>
          </a:bodyPr>
          <a:lstStyle/>
          <a:p>
            <a:pPr algn="ctr">
              <a:lnSpc>
                <a:spcPts val="2040"/>
              </a:lnSpc>
              <a:spcBef>
                <a:spcPct val="0"/>
              </a:spcBef>
            </a:pPr>
            <a:r>
              <a:rPr lang="en-US" sz="1700" i="1" spc="-18">
                <a:solidFill>
                  <a:srgbClr val="000000"/>
                </a:solidFill>
                <a:latin typeface="Calibri"/>
                <a:ea typeface="Calibri"/>
                <a:cs typeface="Calibri"/>
                <a:sym typeface="Calibri"/>
              </a:rPr>
              <a:t>Kit col</a:t>
            </a:r>
            <a:r>
              <a:rPr lang="en-US" sz="1700" i="1" spc="-18">
                <a:solidFill>
                  <a:srgbClr val="000000"/>
                </a:solidFill>
                <a:latin typeface="Calibri"/>
                <a:ea typeface="Calibri"/>
                <a:cs typeface="Calibri"/>
                <a:sym typeface="Calibri"/>
              </a:rPr>
              <a:t>ours are simulated swatches (test photos + card on a screen), real kits need an FSL calibration trial.</a:t>
            </a:r>
          </a:p>
          <a:p>
            <a:pPr algn="ctr">
              <a:lnSpc>
                <a:spcPts val="2040"/>
              </a:lnSpc>
              <a:spcBef>
                <a:spcPct val="0"/>
              </a:spcBef>
            </a:pPr>
            <a:r>
              <a:rPr lang="en-US" sz="1700" i="1" spc="-18">
                <a:solidFill>
                  <a:srgbClr val="000000"/>
                </a:solidFill>
                <a:latin typeface="Calibri"/>
                <a:ea typeface="Calibri"/>
                <a:cs typeface="Calibri"/>
                <a:sym typeface="Calibri"/>
              </a:rPr>
              <a:t>Right now it is a lab prototype (TRL 4) tested on 1 phone. Next we test real kits with FSL on more phones.</a:t>
            </a:r>
          </a:p>
        </p:txBody>
      </p:sp>
      <p:sp>
        <p:nvSpPr>
          <p:cNvPr name="TextBox 21" id="21"/>
          <p:cNvSpPr txBox="true"/>
          <p:nvPr/>
        </p:nvSpPr>
        <p:spPr>
          <a:xfrm rot="0">
            <a:off x="9281316" y="1842031"/>
            <a:ext cx="3900607" cy="438150"/>
          </a:xfrm>
          <a:prstGeom prst="rect">
            <a:avLst/>
          </a:prstGeom>
        </p:spPr>
        <p:txBody>
          <a:bodyPr anchor="t" rtlCol="false" tIns="0" lIns="0" bIns="0" rIns="0">
            <a:spAutoFit/>
          </a:bodyPr>
          <a:lstStyle/>
          <a:p>
            <a:pPr algn="l">
              <a:lnSpc>
                <a:spcPts val="3000"/>
              </a:lnSpc>
            </a:pPr>
            <a:r>
              <a:rPr lang="en-US" b="1" sz="2500">
                <a:solidFill>
                  <a:srgbClr val="7A2F00"/>
                </a:solidFill>
                <a:latin typeface="Calibri"/>
                <a:ea typeface="Calibri"/>
                <a:cs typeface="Calibri"/>
                <a:sym typeface="Calibri"/>
              </a:rPr>
              <a:t>Our Goals - Measured Results</a:t>
            </a:r>
          </a:p>
        </p:txBody>
      </p:sp>
      <p:sp>
        <p:nvSpPr>
          <p:cNvPr name="TextBox 22" id="22"/>
          <p:cNvSpPr txBox="true"/>
          <p:nvPr/>
        </p:nvSpPr>
        <p:spPr>
          <a:xfrm rot="0">
            <a:off x="9253728" y="5888736"/>
            <a:ext cx="5989320" cy="381000"/>
          </a:xfrm>
          <a:prstGeom prst="rect">
            <a:avLst/>
          </a:prstGeom>
        </p:spPr>
        <p:txBody>
          <a:bodyPr anchor="t" rtlCol="false" tIns="0" lIns="0" bIns="0" rIns="0" wrap="none">
            <a:noAutofit/>
          </a:bodyPr>
          <a:lstStyle/>
          <a:p>
            <a:pPr algn="ctr">
              <a:lnSpc>
                <a:spcPts val="2640"/>
              </a:lnSpc>
              <a:spcBef>
                <a:spcPct val="0"/>
              </a:spcBef>
            </a:pPr>
            <a:r>
              <a:rPr lang="en-US" b="1" sz="2200" spc="-24">
                <a:solidFill>
                  <a:srgbClr val="7A2F00"/>
                </a:solidFill>
                <a:latin typeface="Calibri"/>
                <a:ea typeface="Calibri"/>
                <a:cs typeface="Calibri"/>
                <a:sym typeface="Calibri"/>
              </a:rPr>
              <a:t>Proof from Real Phone Scans (29 Sep 2026)</a:t>
            </a:r>
          </a:p>
        </p:txBody>
      </p:sp>
      <p:sp>
        <p:nvSpPr>
          <p:cNvPr name="AutoShape 23" id="23"/>
          <p:cNvSpPr/>
          <p:nvPr/>
        </p:nvSpPr>
        <p:spPr>
          <a:xfrm>
            <a:off x="9248369" y="5833872"/>
            <a:ext cx="5885001" cy="0"/>
          </a:xfrm>
          <a:prstGeom prst="line">
            <a:avLst/>
          </a:prstGeom>
          <a:ln cap="flat" w="19050">
            <a:solidFill>
              <a:srgbClr val="B2935B"/>
            </a:solidFill>
            <a:prstDash val="solid"/>
            <a:headEnd type="none" len="sm" w="sm"/>
            <a:tailEnd type="none" len="sm" w="sm"/>
          </a:ln>
        </p:spPr>
        <p:txBody>
          <a:bodyPr/>
          <a:p/>
        </p:txBody>
      </p:sp>
      <p:pic>
        <p:nvPicPr>
          <p:cNvPr id="24" name="Real scans" descr="real_scans.png"/>
          <p:cNvPicPr>
            <a:picLocks noChangeAspect="1"/>
          </p:cNvPicPr>
          <p:nvPr/>
        </p:nvPicPr>
        <p:blipFill>
          <a:blip r:embed="rId11"/>
          <a:stretch>
            <a:fillRect/>
          </a:stretch>
        </p:blipFill>
        <p:spPr>
          <a:xfrm>
            <a:off x="9253728" y="6309360"/>
            <a:ext cx="5989320" cy="2582894"/>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64624"/>
            <a:ext cx="18280761" cy="715289"/>
            <a:chOff x="0" y="0"/>
            <a:chExt cx="24374348" cy="953719"/>
          </a:xfrm>
        </p:grpSpPr>
        <p:sp>
          <p:nvSpPr>
            <p:cNvPr name="Freeform 3" id="3"/>
            <p:cNvSpPr/>
            <p:nvPr/>
          </p:nvSpPr>
          <p:spPr>
            <a:xfrm flipH="false" flipV="false" rot="0">
              <a:off x="0" y="0"/>
              <a:ext cx="24374348" cy="953770"/>
            </a:xfrm>
            <a:custGeom>
              <a:avLst/>
              <a:gdLst/>
              <a:ahLst/>
              <a:cxnLst/>
              <a:rect r="r" b="b" t="t" l="l"/>
              <a:pathLst>
                <a:path h="953770" w="24374348">
                  <a:moveTo>
                    <a:pt x="0" y="0"/>
                  </a:moveTo>
                  <a:lnTo>
                    <a:pt x="24374348" y="0"/>
                  </a:lnTo>
                  <a:lnTo>
                    <a:pt x="24374348" y="953770"/>
                  </a:lnTo>
                  <a:lnTo>
                    <a:pt x="0" y="953770"/>
                  </a:lnTo>
                  <a:lnTo>
                    <a:pt x="0" y="0"/>
                  </a:lnTo>
                  <a:close/>
                </a:path>
              </a:pathLst>
            </a:custGeom>
            <a:blipFill>
              <a:blip r:embed="rId2"/>
              <a:stretch>
                <a:fillRect l="0" t="-914" r="0" b="-909"/>
              </a:stretch>
            </a:blipFill>
          </p:spPr>
        </p:sp>
      </p:grpSp>
      <p:grpSp>
        <p:nvGrpSpPr>
          <p:cNvPr name="Group 4" id="4"/>
          <p:cNvGrpSpPr/>
          <p:nvPr/>
        </p:nvGrpSpPr>
        <p:grpSpPr>
          <a:xfrm rot="0">
            <a:off x="0" y="9532620"/>
            <a:ext cx="18288000" cy="754380"/>
            <a:chOff x="0" y="0"/>
            <a:chExt cx="24384000" cy="1005840"/>
          </a:xfrm>
        </p:grpSpPr>
        <p:sp>
          <p:nvSpPr>
            <p:cNvPr name="Freeform 5" id="5"/>
            <p:cNvSpPr/>
            <p:nvPr/>
          </p:nvSpPr>
          <p:spPr>
            <a:xfrm flipH="false" flipV="false" rot="0">
              <a:off x="0" y="0"/>
              <a:ext cx="24384000" cy="1005840"/>
            </a:xfrm>
            <a:custGeom>
              <a:avLst/>
              <a:gdLst/>
              <a:ahLst/>
              <a:cxnLst/>
              <a:rect r="r" b="b" t="t" l="l"/>
              <a:pathLst>
                <a:path h="1005840" w="24384000">
                  <a:moveTo>
                    <a:pt x="24384000" y="0"/>
                  </a:moveTo>
                  <a:lnTo>
                    <a:pt x="0" y="0"/>
                  </a:lnTo>
                  <a:lnTo>
                    <a:pt x="0" y="1005840"/>
                  </a:lnTo>
                  <a:lnTo>
                    <a:pt x="24384000" y="1005840"/>
                  </a:lnTo>
                  <a:lnTo>
                    <a:pt x="24384000" y="0"/>
                  </a:lnTo>
                  <a:close/>
                </a:path>
              </a:pathLst>
            </a:custGeom>
            <a:solidFill>
              <a:srgbClr val="006EC0"/>
            </a:solidFill>
          </p:spPr>
        </p:sp>
      </p:grpSp>
      <p:grpSp>
        <p:nvGrpSpPr>
          <p:cNvPr name="Group 6" id="6"/>
          <p:cNvGrpSpPr/>
          <p:nvPr/>
        </p:nvGrpSpPr>
        <p:grpSpPr>
          <a:xfrm rot="0">
            <a:off x="0" y="9564624"/>
            <a:ext cx="18280761" cy="715289"/>
            <a:chOff x="0" y="0"/>
            <a:chExt cx="24374348" cy="953719"/>
          </a:xfrm>
        </p:grpSpPr>
        <p:sp>
          <p:nvSpPr>
            <p:cNvPr name="Freeform 7" id="7"/>
            <p:cNvSpPr/>
            <p:nvPr/>
          </p:nvSpPr>
          <p:spPr>
            <a:xfrm flipH="false" flipV="false" rot="0">
              <a:off x="0" y="0"/>
              <a:ext cx="24374348" cy="953770"/>
            </a:xfrm>
            <a:custGeom>
              <a:avLst/>
              <a:gdLst/>
              <a:ahLst/>
              <a:cxnLst/>
              <a:rect r="r" b="b" t="t" l="l"/>
              <a:pathLst>
                <a:path h="953770" w="24374348">
                  <a:moveTo>
                    <a:pt x="0" y="0"/>
                  </a:moveTo>
                  <a:lnTo>
                    <a:pt x="24374348" y="0"/>
                  </a:lnTo>
                  <a:lnTo>
                    <a:pt x="24374348" y="953770"/>
                  </a:lnTo>
                  <a:lnTo>
                    <a:pt x="0" y="953770"/>
                  </a:lnTo>
                  <a:lnTo>
                    <a:pt x="0" y="0"/>
                  </a:lnTo>
                  <a:close/>
                </a:path>
              </a:pathLst>
            </a:custGeom>
            <a:blipFill>
              <a:blip r:embed="rId2"/>
              <a:stretch>
                <a:fillRect l="0" t="-914" r="0" b="-909"/>
              </a:stretch>
            </a:blipFill>
          </p:spPr>
        </p:sp>
      </p:grpSp>
      <p:grpSp>
        <p:nvGrpSpPr>
          <p:cNvPr name="Group 8" id="8"/>
          <p:cNvGrpSpPr/>
          <p:nvPr/>
        </p:nvGrpSpPr>
        <p:grpSpPr>
          <a:xfrm rot="0">
            <a:off x="0" y="9532620"/>
            <a:ext cx="18288000" cy="754380"/>
            <a:chOff x="0" y="0"/>
            <a:chExt cx="24384000" cy="1005840"/>
          </a:xfrm>
        </p:grpSpPr>
        <p:sp>
          <p:nvSpPr>
            <p:cNvPr name="Freeform 9" id="9"/>
            <p:cNvSpPr/>
            <p:nvPr/>
          </p:nvSpPr>
          <p:spPr>
            <a:xfrm flipH="false" flipV="false" rot="0">
              <a:off x="0" y="0"/>
              <a:ext cx="24384000" cy="1005840"/>
            </a:xfrm>
            <a:custGeom>
              <a:avLst/>
              <a:gdLst/>
              <a:ahLst/>
              <a:cxnLst/>
              <a:rect r="r" b="b" t="t" l="l"/>
              <a:pathLst>
                <a:path h="1005840" w="24384000">
                  <a:moveTo>
                    <a:pt x="24384000" y="0"/>
                  </a:moveTo>
                  <a:lnTo>
                    <a:pt x="0" y="0"/>
                  </a:lnTo>
                  <a:lnTo>
                    <a:pt x="0" y="1005840"/>
                  </a:lnTo>
                  <a:lnTo>
                    <a:pt x="24384000" y="1005840"/>
                  </a:lnTo>
                  <a:lnTo>
                    <a:pt x="24384000" y="0"/>
                  </a:lnTo>
                  <a:close/>
                </a:path>
              </a:pathLst>
            </a:custGeom>
            <a:solidFill>
              <a:srgbClr val="006EC0"/>
            </a:solidFill>
          </p:spPr>
        </p:sp>
      </p:grpSp>
      <p:graphicFrame>
        <p:nvGraphicFramePr>
          <p:cNvPr name="Table 10" id="10"/>
          <p:cNvGraphicFramePr>
            <a:graphicFrameLocks noGrp="true"/>
          </p:cNvGraphicFramePr>
          <p:nvPr/>
        </p:nvGraphicFramePr>
        <p:xfrm>
          <a:off x="9363648" y="2318099"/>
          <a:ext cx="7695951" cy="4167066"/>
        </p:xfrm>
        <a:graphic>
          <a:graphicData uri="http://schemas.openxmlformats.org/drawingml/2006/table">
            <a:tbl>
              <a:tblPr/>
              <a:tblGrid>
                <a:gridCol w="3597282"/>
                <a:gridCol w="4098669"/>
              </a:tblGrid>
              <a:tr h="773293">
                <a:tc>
                  <a:txBody>
                    <a:bodyPr anchor="t" rtlCol="false"/>
                    <a:lstStyle/>
                    <a:p>
                      <a:pPr algn="ctr">
                        <a:lnSpc>
                          <a:spcPts val="2659"/>
                        </a:lnSpc>
                        <a:defRPr/>
                      </a:pPr>
                      <a:r>
                        <a:rPr lang="en-US" b="1" sz="1899">
                          <a:solidFill>
                            <a:srgbClr val="000000"/>
                          </a:solidFill>
                          <a:latin typeface="Calibri"/>
                          <a:ea typeface="Calibri"/>
                          <a:cs typeface="Calibri"/>
                          <a:sym typeface="Calibri"/>
                        </a:rPr>
                        <a:t>Real-world problem</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B2935B"/>
                    </a:solidFill>
                  </a:tcPr>
                </a:tc>
                <a:tc>
                  <a:txBody>
                    <a:bodyPr anchor="t" rtlCol="false"/>
                    <a:lstStyle/>
                    <a:p>
                      <a:pPr algn="ctr">
                        <a:lnSpc>
                          <a:spcPts val="2659"/>
                        </a:lnSpc>
                        <a:defRPr/>
                      </a:pPr>
                      <a:r>
                        <a:rPr lang="en-US" sz="1899" b="1">
                          <a:solidFill>
                            <a:srgbClr val="000000"/>
                          </a:solidFill>
                          <a:latin typeface="Calibri"/>
                          <a:ea typeface="Calibri"/>
                          <a:cs typeface="Calibri"/>
                          <a:sym typeface="Calibri"/>
                        </a:rPr>
                        <a:t>Wha</a:t>
                      </a:r>
                      <a:r>
                        <a:rPr lang="en-US" b="1" sz="1899">
                          <a:solidFill>
                            <a:srgbClr val="000000"/>
                          </a:solidFill>
                          <a:latin typeface="Calibri"/>
                          <a:ea typeface="Calibri"/>
                          <a:cs typeface="Calibri"/>
                          <a:sym typeface="Calibri"/>
                        </a:rPr>
                        <a:t>t our app does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B2935B"/>
                    </a:solidFill>
                  </a:tcPr>
                </a:tc>
              </a:tr>
              <a:tr h="677824">
                <a:tc>
                  <a:txBody>
                    <a:bodyPr anchor="t" rtlCol="false"/>
                    <a:lstStyle/>
                    <a:p>
                      <a:pPr algn="l">
                        <a:lnSpc>
                          <a:spcPts val="1959"/>
                        </a:lnSpc>
                        <a:defRPr/>
                      </a:pPr>
                      <a:r>
                        <a:rPr lang="en-US" sz="1399">
                          <a:solidFill>
                            <a:srgbClr val="000000"/>
                          </a:solidFill>
                          <a:latin typeface="Calibri"/>
                          <a:ea typeface="Calibri"/>
                          <a:cs typeface="Calibri"/>
                          <a:sym typeface="Calibri"/>
                        </a:rPr>
                        <a:t>Bad light (street lamp / torch)</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959"/>
                        </a:lnSpc>
                        <a:defRPr/>
                      </a:pPr>
                      <a:r>
                        <a:rPr lang="en-US" sz="1399">
                          <a:solidFill>
                            <a:srgbClr val="000000"/>
                          </a:solidFill>
                          <a:latin typeface="Calibri"/>
                          <a:ea typeface="Calibri"/>
                          <a:cs typeface="Calibri"/>
                          <a:sym typeface="Calibri"/>
                        </a:rPr>
                        <a:t>Colou</a:t>
                      </a:r>
                      <a:r>
                        <a:rPr lang="en-US" sz="1399">
                          <a:solidFill>
                            <a:srgbClr val="000000"/>
                          </a:solidFill>
                          <a:latin typeface="Calibri"/>
                          <a:ea typeface="Calibri"/>
                          <a:cs typeface="Calibri"/>
                          <a:sym typeface="Calibri"/>
                        </a:rPr>
                        <a:t>r card fixes the colours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682476">
                <a:tc>
                  <a:txBody>
                    <a:bodyPr anchor="t" rtlCol="false"/>
                    <a:lstStyle/>
                    <a:p>
                      <a:pPr algn="l">
                        <a:lnSpc>
                          <a:spcPts val="1959"/>
                        </a:lnSpc>
                        <a:defRPr/>
                      </a:pPr>
                      <a:r>
                        <a:rPr lang="en-US" sz="1399">
                          <a:solidFill>
                            <a:srgbClr val="000000"/>
                          </a:solidFill>
                          <a:latin typeface="Calibri"/>
                          <a:ea typeface="Calibri"/>
                          <a:cs typeface="Calibri"/>
                          <a:sym typeface="Calibri"/>
                        </a:rPr>
                        <a:t>Shiny</a:t>
                      </a:r>
                      <a:r>
                        <a:rPr lang="en-US" sz="1399">
                          <a:solidFill>
                            <a:srgbClr val="000000"/>
                          </a:solidFill>
                          <a:latin typeface="Calibri"/>
                          <a:ea typeface="Calibri"/>
                          <a:cs typeface="Calibri"/>
                          <a:sym typeface="Calibri"/>
                        </a:rPr>
                        <a:t> or blurry photo, card missing</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959"/>
                        </a:lnSpc>
                        <a:defRPr/>
                      </a:pPr>
                      <a:r>
                        <a:rPr lang="en-US" sz="1399">
                          <a:solidFill>
                            <a:srgbClr val="000000"/>
                          </a:solidFill>
                          <a:latin typeface="Calibri"/>
                          <a:ea typeface="Calibri"/>
                          <a:cs typeface="Calibri"/>
                          <a:sym typeface="Calibri"/>
                        </a:rPr>
                        <a:t>Say</a:t>
                      </a:r>
                      <a:r>
                        <a:rPr lang="en-US" sz="1399">
                          <a:solidFill>
                            <a:srgbClr val="000000"/>
                          </a:solidFill>
                          <a:latin typeface="Calibri"/>
                          <a:ea typeface="Calibri"/>
                          <a:cs typeface="Calibri"/>
                          <a:sym typeface="Calibri"/>
                        </a:rPr>
                        <a:t>s NOT SURE and asks to retake</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677824">
                <a:tc>
                  <a:txBody>
                    <a:bodyPr anchor="t" rtlCol="false"/>
                    <a:lstStyle/>
                    <a:p>
                      <a:pPr algn="l">
                        <a:lnSpc>
                          <a:spcPts val="1959"/>
                        </a:lnSpc>
                        <a:defRPr/>
                      </a:pPr>
                      <a:r>
                        <a:rPr lang="en-US" sz="1399">
                          <a:solidFill>
                            <a:srgbClr val="000000"/>
                          </a:solidFill>
                          <a:latin typeface="Calibri"/>
                          <a:ea typeface="Calibri"/>
                          <a:cs typeface="Calibri"/>
                          <a:sym typeface="Calibri"/>
                        </a:rPr>
                        <a:t>Col</a:t>
                      </a:r>
                      <a:r>
                        <a:rPr lang="en-US" sz="1399">
                          <a:solidFill>
                            <a:srgbClr val="000000"/>
                          </a:solidFill>
                          <a:latin typeface="Calibri"/>
                          <a:ea typeface="Calibri"/>
                          <a:cs typeface="Calibri"/>
                          <a:sym typeface="Calibri"/>
                        </a:rPr>
                        <a:t>our is in between two results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959"/>
                        </a:lnSpc>
                        <a:defRPr/>
                      </a:pPr>
                      <a:r>
                        <a:rPr lang="en-US" sz="1399">
                          <a:solidFill>
                            <a:srgbClr val="000000"/>
                          </a:solidFill>
                          <a:latin typeface="Calibri"/>
                          <a:ea typeface="Calibri"/>
                          <a:cs typeface="Calibri"/>
                          <a:sym typeface="Calibri"/>
                        </a:rPr>
                        <a:t>Says NOT SURE; senior officer checks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677824">
                <a:tc>
                  <a:txBody>
                    <a:bodyPr anchor="t" rtlCol="false"/>
                    <a:lstStyle/>
                    <a:p>
                      <a:pPr algn="l">
                        <a:lnSpc>
                          <a:spcPts val="1959"/>
                        </a:lnSpc>
                        <a:defRPr/>
                      </a:pPr>
                      <a:r>
                        <a:rPr lang="en-US" sz="1399">
                          <a:solidFill>
                            <a:srgbClr val="000000"/>
                          </a:solidFill>
                          <a:latin typeface="Calibri"/>
                          <a:ea typeface="Calibri"/>
                          <a:cs typeface="Calibri"/>
                          <a:sym typeface="Calibri"/>
                        </a:rPr>
                        <a:t>Fake photo or ed</a:t>
                      </a:r>
                      <a:r>
                        <a:rPr lang="en-US" sz="1399">
                          <a:solidFill>
                            <a:srgbClr val="000000"/>
                          </a:solidFill>
                          <a:latin typeface="Calibri"/>
                          <a:ea typeface="Calibri"/>
                          <a:cs typeface="Calibri"/>
                          <a:sym typeface="Calibri"/>
                        </a:rPr>
                        <a:t>ited record</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959"/>
                        </a:lnSpc>
                        <a:defRPr/>
                      </a:pPr>
                      <a:r>
                        <a:rPr lang="en-US" sz="1399">
                          <a:solidFill>
                            <a:srgbClr val="000000"/>
                          </a:solidFill>
                          <a:latin typeface="Calibri"/>
                          <a:ea typeface="Calibri"/>
                          <a:cs typeface="Calibri"/>
                          <a:sym typeface="Calibri"/>
                        </a:rPr>
                        <a:t>In-app camera only + photo fingerprint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677824">
                <a:tc>
                  <a:txBody>
                    <a:bodyPr anchor="t" rtlCol="false"/>
                    <a:lstStyle/>
                    <a:p>
                      <a:pPr algn="l">
                        <a:lnSpc>
                          <a:spcPts val="1959"/>
                        </a:lnSpc>
                        <a:defRPr/>
                      </a:pPr>
                      <a:r>
                        <a:rPr lang="en-US" sz="1399">
                          <a:solidFill>
                            <a:srgbClr val="000000"/>
                          </a:solidFill>
                          <a:latin typeface="Calibri"/>
                          <a:ea typeface="Calibri"/>
                          <a:cs typeface="Calibri"/>
                          <a:sym typeface="Calibri"/>
                        </a:rPr>
                        <a:t>Diff</a:t>
                      </a:r>
                      <a:r>
                        <a:rPr lang="en-US" sz="1399">
                          <a:solidFill>
                            <a:srgbClr val="000000"/>
                          </a:solidFill>
                          <a:latin typeface="Calibri"/>
                          <a:ea typeface="Calibri"/>
                          <a:cs typeface="Calibri"/>
                          <a:sym typeface="Calibri"/>
                        </a:rPr>
                        <a:t>erent kits and phones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959"/>
                        </a:lnSpc>
                        <a:defRPr/>
                      </a:pPr>
                      <a:r>
                        <a:rPr lang="en-US" sz="1399">
                          <a:solidFill>
                            <a:srgbClr val="000000"/>
                          </a:solidFill>
                          <a:latin typeface="Calibri"/>
                          <a:ea typeface="Calibri"/>
                          <a:cs typeface="Calibri"/>
                          <a:sym typeface="Calibri"/>
                        </a:rPr>
                        <a:t>Kit </a:t>
                      </a:r>
                      <a:r>
                        <a:rPr lang="en-US" sz="1399">
                          <a:solidFill>
                            <a:srgbClr val="000000"/>
                          </a:solidFill>
                          <a:latin typeface="Calibri"/>
                          <a:ea typeface="Calibri"/>
                          <a:cs typeface="Calibri"/>
                          <a:sym typeface="Calibri"/>
                        </a:rPr>
                        <a:t>settings + colours fixed every photo</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AutoShape 11" id="11"/>
          <p:cNvSpPr/>
          <p:nvPr/>
        </p:nvSpPr>
        <p:spPr>
          <a:xfrm>
            <a:off x="8899227" y="1857539"/>
            <a:ext cx="0" cy="7193961"/>
          </a:xfrm>
          <a:prstGeom prst="line">
            <a:avLst/>
          </a:prstGeom>
          <a:ln cap="flat" w="19050">
            <a:solidFill>
              <a:srgbClr val="B2935B"/>
            </a:solidFill>
            <a:prstDash val="solid"/>
            <a:headEnd type="none" len="sm" w="sm"/>
            <a:tailEnd type="none" len="sm" w="sm"/>
          </a:ln>
        </p:spPr>
        <p:txBody>
          <a:bodyPr/>
          <a:p/>
        </p:txBody>
      </p:sp>
      <p:sp>
        <p:nvSpPr>
          <p:cNvPr name="AutoShape 12" id="12"/>
          <p:cNvSpPr/>
          <p:nvPr/>
        </p:nvSpPr>
        <p:spPr>
          <a:xfrm>
            <a:off x="414105" y="6018440"/>
            <a:ext cx="8475596" cy="0"/>
          </a:xfrm>
          <a:prstGeom prst="line">
            <a:avLst/>
          </a:prstGeom>
          <a:ln cap="flat" w="19050">
            <a:solidFill>
              <a:srgbClr val="B2935B"/>
            </a:solidFill>
            <a:prstDash val="solid"/>
            <a:headEnd type="none" len="sm" w="sm"/>
            <a:tailEnd type="none" len="sm" w="sm"/>
          </a:ln>
        </p:spPr>
        <p:txBody>
          <a:bodyPr/>
          <a:p/>
        </p:txBody>
      </p:sp>
      <p:sp>
        <p:nvSpPr>
          <p:cNvPr name="Freeform 13" id="13"/>
          <p:cNvSpPr/>
          <p:nvPr/>
        </p:nvSpPr>
        <p:spPr>
          <a:xfrm flipH="false" flipV="false" rot="0">
            <a:off x="391335" y="315011"/>
            <a:ext cx="2629852" cy="1249680"/>
          </a:xfrm>
          <a:custGeom>
            <a:avLst/>
            <a:gdLst/>
            <a:ahLst/>
            <a:cxnLst/>
            <a:rect r="r" b="b" t="t" l="l"/>
            <a:pathLst>
              <a:path h="1249680" w="2629852">
                <a:moveTo>
                  <a:pt x="0" y="0"/>
                </a:moveTo>
                <a:lnTo>
                  <a:pt x="2629852" y="0"/>
                </a:lnTo>
                <a:lnTo>
                  <a:pt x="2629852" y="1249680"/>
                </a:lnTo>
                <a:lnTo>
                  <a:pt x="0" y="12496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Freeform 14" id="14"/>
          <p:cNvSpPr/>
          <p:nvPr/>
        </p:nvSpPr>
        <p:spPr>
          <a:xfrm flipH="false" flipV="false" rot="0">
            <a:off x="502920" y="6675120"/>
            <a:ext cx="3977639" cy="2219604"/>
          </a:xfrm>
          <a:custGeom>
            <a:avLst/>
            <a:gdLst/>
            <a:ahLst/>
            <a:cxnLst/>
            <a:rect r="r" b="b" t="t" l="l"/>
            <a:pathLst>
              <a:path h="2987110" w="5354622">
                <a:moveTo>
                  <a:pt x="0" y="0"/>
                </a:moveTo>
                <a:lnTo>
                  <a:pt x="5354622" y="0"/>
                </a:lnTo>
                <a:lnTo>
                  <a:pt x="5354622" y="2987110"/>
                </a:lnTo>
                <a:lnTo>
                  <a:pt x="0" y="2987110"/>
                </a:lnTo>
                <a:lnTo>
                  <a:pt x="0" y="0"/>
                </a:lnTo>
                <a:close/>
              </a:path>
            </a:pathLst>
          </a:custGeom>
          <a:blipFill>
            <a:blip r:embed="rId5"/>
            <a:stretch>
              <a:fillRect l="-22999" t="-62172" r="-21685" b="-32345"/>
            </a:stretch>
          </a:blipFill>
        </p:spPr>
        <p:txBody>
          <a:bodyPr/>
          <a:p/>
        </p:txBody>
      </p:sp>
      <p:sp>
        <p:nvSpPr>
          <p:cNvPr name="TextBox 15" id="15" descr="$PPTXTitle"/>
          <p:cNvSpPr txBox="true"/>
          <p:nvPr/>
        </p:nvSpPr>
        <p:spPr>
          <a:xfrm rot="0">
            <a:off x="3963967" y="360907"/>
            <a:ext cx="9813370" cy="847725"/>
          </a:xfrm>
          <a:prstGeom prst="rect">
            <a:avLst/>
          </a:prstGeom>
        </p:spPr>
        <p:txBody>
          <a:bodyPr anchor="t" rtlCol="false" tIns="0" lIns="0" bIns="0" rIns="0">
            <a:spAutoFit/>
          </a:bodyPr>
          <a:lstStyle/>
          <a:p>
            <a:pPr algn="l">
              <a:lnSpc>
                <a:spcPts val="6480"/>
              </a:lnSpc>
            </a:pPr>
            <a:r>
              <a:rPr lang="en-US" b="true" sz="5400" spc="-30">
                <a:solidFill>
                  <a:srgbClr val="7A2F00"/>
                </a:solidFill>
                <a:latin typeface="Times New Roman Bold"/>
                <a:ea typeface="Times New Roman Bold"/>
                <a:cs typeface="Times New Roman Bold"/>
                <a:sym typeface="Times New Roman Bold"/>
              </a:rPr>
              <a:t>FEASIBILITY AND VIABILITY</a:t>
            </a:r>
          </a:p>
        </p:txBody>
      </p:sp>
      <p:sp>
        <p:nvSpPr>
          <p:cNvPr name="TextBox 16" id="16"/>
          <p:cNvSpPr txBox="true"/>
          <p:nvPr/>
        </p:nvSpPr>
        <p:spPr>
          <a:xfrm rot="0">
            <a:off x="9144000" y="1809914"/>
            <a:ext cx="3849172" cy="381000"/>
          </a:xfrm>
          <a:prstGeom prst="rect">
            <a:avLst/>
          </a:prstGeom>
        </p:spPr>
        <p:txBody>
          <a:bodyPr anchor="t" rtlCol="false" tIns="0" lIns="0" bIns="0" rIns="0">
            <a:spAutoFit/>
          </a:bodyPr>
          <a:lstStyle/>
          <a:p>
            <a:pPr algn="l">
              <a:lnSpc>
                <a:spcPts val="2640"/>
              </a:lnSpc>
            </a:pPr>
            <a:r>
              <a:rPr lang="en-US" b="1" sz="2200">
                <a:solidFill>
                  <a:srgbClr val="7A2F00"/>
                </a:solidFill>
                <a:latin typeface="Calibri"/>
                <a:ea typeface="Calibri"/>
                <a:cs typeface="Calibri"/>
                <a:sym typeface="Calibri"/>
              </a:rPr>
              <a:t>P</a:t>
            </a:r>
            <a:r>
              <a:rPr lang="en-US" b="1" sz="2200">
                <a:solidFill>
                  <a:srgbClr val="7A2F00"/>
                </a:solidFill>
                <a:latin typeface="Calibri"/>
                <a:ea typeface="Calibri"/>
                <a:cs typeface="Calibri"/>
                <a:sym typeface="Calibri"/>
              </a:rPr>
              <a:t>otential Challenges &amp; Strategies</a:t>
            </a:r>
          </a:p>
        </p:txBody>
      </p:sp>
      <p:sp>
        <p:nvSpPr>
          <p:cNvPr name="TextBox 17" id="17"/>
          <p:cNvSpPr txBox="true"/>
          <p:nvPr/>
        </p:nvSpPr>
        <p:spPr>
          <a:xfrm rot="0">
            <a:off x="17063656" y="9649673"/>
            <a:ext cx="104775" cy="288608"/>
          </a:xfrm>
          <a:prstGeom prst="rect">
            <a:avLst/>
          </a:prstGeom>
        </p:spPr>
        <p:txBody>
          <a:bodyPr anchor="t" rtlCol="false" tIns="0" lIns="0" bIns="0" rIns="0">
            <a:spAutoFit/>
          </a:bodyPr>
          <a:lstStyle/>
          <a:p>
            <a:pPr algn="l">
              <a:lnSpc>
                <a:spcPts val="2137"/>
              </a:lnSpc>
            </a:pPr>
            <a:r>
              <a:rPr lang="en-US" b="true" sz="1800" spc="-75">
                <a:solidFill>
                  <a:srgbClr val="FFFFFF"/>
                </a:solidFill>
                <a:latin typeface="Times New Roman Bold"/>
                <a:ea typeface="Times New Roman Bold"/>
                <a:cs typeface="Times New Roman Bold"/>
                <a:sym typeface="Times New Roman Bold"/>
              </a:rPr>
              <a:t>4</a:t>
            </a:r>
          </a:p>
        </p:txBody>
      </p:sp>
      <p:sp>
        <p:nvSpPr>
          <p:cNvPr name="TextBox 18" id="18" descr="$PPTXTitle"/>
          <p:cNvSpPr txBox="true"/>
          <p:nvPr/>
        </p:nvSpPr>
        <p:spPr>
          <a:xfrm rot="0">
            <a:off x="1074372" y="677913"/>
            <a:ext cx="1461403" cy="466725"/>
          </a:xfrm>
          <a:prstGeom prst="rect">
            <a:avLst/>
          </a:prstGeom>
        </p:spPr>
        <p:txBody>
          <a:bodyPr anchor="t" rtlCol="false" tIns="0" lIns="0" bIns="0" rIns="0">
            <a:spAutoFit/>
          </a:bodyPr>
          <a:lstStyle/>
          <a:p>
            <a:pPr algn="l">
              <a:lnSpc>
                <a:spcPts val="3240"/>
              </a:lnSpc>
            </a:pPr>
            <a:r>
              <a:rPr lang="en-US" b="1" sz="2700" spc="-29">
                <a:solidFill>
                  <a:srgbClr val="7A2F00"/>
                </a:solidFill>
                <a:latin typeface="Calibri"/>
                <a:ea typeface="Calibri"/>
                <a:cs typeface="Calibri"/>
                <a:sym typeface="Calibri"/>
              </a:rPr>
              <a:t>HexTech</a:t>
            </a:r>
          </a:p>
        </p:txBody>
      </p:sp>
      <p:sp>
        <p:nvSpPr>
          <p:cNvPr name="TextBox 19" id="19"/>
          <p:cNvSpPr txBox="true"/>
          <p:nvPr/>
        </p:nvSpPr>
        <p:spPr>
          <a:xfrm rot="0">
            <a:off x="646791" y="6104165"/>
            <a:ext cx="4281964" cy="381000"/>
          </a:xfrm>
          <a:prstGeom prst="rect">
            <a:avLst/>
          </a:prstGeom>
        </p:spPr>
        <p:txBody>
          <a:bodyPr anchor="t" rtlCol="false" tIns="0" lIns="0" bIns="0" rIns="0">
            <a:spAutoFit/>
          </a:bodyPr>
          <a:lstStyle/>
          <a:p>
            <a:pPr algn="l">
              <a:lnSpc>
                <a:spcPts val="2640"/>
              </a:lnSpc>
            </a:pPr>
            <a:r>
              <a:rPr lang="en-US" b="1" sz="2200">
                <a:solidFill>
                  <a:srgbClr val="7A2F00"/>
                </a:solidFill>
                <a:latin typeface="Calibri"/>
                <a:ea typeface="Calibri"/>
                <a:cs typeface="Calibri"/>
                <a:sym typeface="Calibri"/>
              </a:rPr>
              <a:t>Phased Implementation &amp; Scalability</a:t>
            </a:r>
          </a:p>
        </p:txBody>
      </p:sp>
      <p:sp>
        <p:nvSpPr>
          <p:cNvPr name="TextBox 20" id="20"/>
          <p:cNvSpPr txBox="true"/>
          <p:nvPr/>
        </p:nvSpPr>
        <p:spPr>
          <a:xfrm rot="0">
            <a:off x="646791" y="1809914"/>
            <a:ext cx="3064312" cy="381000"/>
          </a:xfrm>
          <a:prstGeom prst="rect">
            <a:avLst/>
          </a:prstGeom>
        </p:spPr>
        <p:txBody>
          <a:bodyPr anchor="t" rtlCol="false" tIns="0" lIns="0" bIns="0" rIns="0">
            <a:spAutoFit/>
          </a:bodyPr>
          <a:lstStyle/>
          <a:p>
            <a:pPr algn="l">
              <a:lnSpc>
                <a:spcPts val="2640"/>
              </a:lnSpc>
            </a:pPr>
            <a:r>
              <a:rPr lang="en-US" sz="2200" b="1">
                <a:solidFill>
                  <a:srgbClr val="7A2F00"/>
                </a:solidFill>
                <a:latin typeface="Calibri"/>
                <a:ea typeface="Calibri"/>
                <a:cs typeface="Calibri"/>
                <a:sym typeface="Calibri"/>
              </a:rPr>
              <a:t>F</a:t>
            </a:r>
            <a:r>
              <a:rPr lang="en-US" b="1" sz="2200">
                <a:solidFill>
                  <a:srgbClr val="7A2F00"/>
                </a:solidFill>
                <a:latin typeface="Calibri"/>
                <a:ea typeface="Calibri"/>
                <a:cs typeface="Calibri"/>
                <a:sym typeface="Calibri"/>
              </a:rPr>
              <a:t>easibility &amp; Sustainability</a:t>
            </a:r>
          </a:p>
        </p:txBody>
      </p:sp>
      <p:sp>
        <p:nvSpPr>
          <p:cNvPr name="TextBox 21" id="21"/>
          <p:cNvSpPr txBox="true"/>
          <p:nvPr/>
        </p:nvSpPr>
        <p:spPr>
          <a:xfrm rot="0">
            <a:off x="471255" y="2271877"/>
            <a:ext cx="8399396" cy="3608451"/>
          </a:xfrm>
          <a:prstGeom prst="rect">
            <a:avLst/>
          </a:prstGeom>
        </p:spPr>
        <p:txBody>
          <a:bodyPr anchor="t" rtlCol="false" tIns="0" lIns="0" bIns="0" rIns="0">
            <a:spAutoFit/>
          </a:bodyPr>
          <a:lstStyle/>
          <a:p>
            <a:pPr algn="l" marL="410209" indent="-205105" lvl="1">
              <a:lnSpc>
                <a:spcPts val="3191"/>
              </a:lnSpc>
              <a:buFont typeface="Arial"/>
              <a:buChar char="•"/>
            </a:pPr>
            <a:r>
              <a:rPr lang="en-US" b="1" sz="1899" spc="-15">
                <a:solidFill>
                  <a:srgbClr val="000000"/>
                </a:solidFill>
                <a:latin typeface="Calibri"/>
                <a:ea typeface="Calibri"/>
                <a:cs typeface="Calibri"/>
                <a:sym typeface="Calibri"/>
              </a:rPr>
              <a:t>Technical</a:t>
            </a:r>
            <a:r>
              <a:rPr lang="en-US" sz="1899" spc="-15">
                <a:solidFill>
                  <a:srgbClr val="000000"/>
                </a:solidFill>
                <a:latin typeface="Calibri"/>
                <a:ea typeface="Calibri"/>
                <a:cs typeface="Calibri"/>
                <a:sym typeface="Calibri"/>
              </a:rPr>
              <a:t> - Core app tested with OpenCV-based colour analysis.</a:t>
            </a:r>
          </a:p>
          <a:p>
            <a:pPr algn="l" marL="410209" indent="-205105" lvl="1">
              <a:lnSpc>
                <a:spcPts val="3191"/>
              </a:lnSpc>
              <a:buFont typeface="Arial"/>
              <a:buChar char="•"/>
            </a:pPr>
            <a:r>
              <a:rPr lang="en-US" b="1" sz="1899" spc="-15">
                <a:solidFill>
                  <a:srgbClr val="000000"/>
                </a:solidFill>
                <a:latin typeface="Calibri"/>
                <a:ea typeface="Calibri"/>
                <a:cs typeface="Calibri"/>
                <a:sym typeface="Calibri"/>
              </a:rPr>
              <a:t>User-Friendly</a:t>
            </a:r>
            <a:r>
              <a:rPr lang="en-US" sz="1899" spc="-15">
                <a:solidFill>
                  <a:srgbClr val="000000"/>
                </a:solidFill>
                <a:latin typeface="Calibri"/>
                <a:ea typeface="Calibri"/>
                <a:cs typeface="Calibri"/>
                <a:sym typeface="Calibri"/>
              </a:rPr>
              <a:t> - Capture o</a:t>
            </a:r>
            <a:r>
              <a:rPr lang="en-US" sz="1899" spc="-15">
                <a:solidFill>
                  <a:srgbClr val="000000"/>
                </a:solidFill>
                <a:latin typeface="Calibri"/>
                <a:ea typeface="Calibri"/>
                <a:cs typeface="Calibri"/>
                <a:sym typeface="Calibri"/>
              </a:rPr>
              <a:t>ne photo and get a result within seconds.</a:t>
            </a:r>
          </a:p>
          <a:p>
            <a:pPr algn="l" marL="410209" indent="-205105" lvl="1">
              <a:lnSpc>
                <a:spcPts val="3191"/>
              </a:lnSpc>
              <a:buFont typeface="Arial"/>
              <a:buChar char="•"/>
            </a:pPr>
            <a:r>
              <a:rPr lang="en-US" b="1" sz="1899" spc="-15">
                <a:solidFill>
                  <a:srgbClr val="000000"/>
                </a:solidFill>
                <a:latin typeface="Calibri"/>
                <a:ea typeface="Calibri"/>
                <a:cs typeface="Calibri"/>
                <a:sym typeface="Calibri"/>
              </a:rPr>
              <a:t>Low Cost</a:t>
            </a:r>
            <a:r>
              <a:rPr lang="en-US" sz="1899" spc="-15">
                <a:solidFill>
                  <a:srgbClr val="000000"/>
                </a:solidFill>
                <a:latin typeface="Calibri"/>
                <a:ea typeface="Calibri"/>
                <a:cs typeface="Calibri"/>
                <a:sym typeface="Calibri"/>
              </a:rPr>
              <a:t> - Uses an existing Android phone, a reusable ~₹10 colour card, and open-source tools.</a:t>
            </a:r>
          </a:p>
          <a:p>
            <a:pPr algn="l" marL="410209" indent="-205105" lvl="1">
              <a:lnSpc>
                <a:spcPts val="3191"/>
              </a:lnSpc>
              <a:buFont typeface="Arial"/>
              <a:buChar char="•"/>
            </a:pPr>
            <a:r>
              <a:rPr lang="en-US" b="1" sz="1899" spc="-15">
                <a:solidFill>
                  <a:srgbClr val="000000"/>
                </a:solidFill>
                <a:latin typeface="Calibri"/>
                <a:ea typeface="Calibri"/>
                <a:cs typeface="Calibri"/>
                <a:sym typeface="Calibri"/>
              </a:rPr>
              <a:t>Op</a:t>
            </a:r>
            <a:r>
              <a:rPr lang="en-US" b="1" sz="1899" spc="-15">
                <a:solidFill>
                  <a:srgbClr val="000000"/>
                </a:solidFill>
                <a:latin typeface="Calibri"/>
                <a:ea typeface="Calibri"/>
                <a:cs typeface="Calibri"/>
                <a:sym typeface="Calibri"/>
              </a:rPr>
              <a:t>erational</a:t>
            </a:r>
            <a:r>
              <a:rPr lang="en-US" sz="1899" spc="-15">
                <a:solidFill>
                  <a:srgbClr val="000000"/>
                </a:solidFill>
                <a:latin typeface="Calibri"/>
                <a:ea typeface="Calibri"/>
                <a:cs typeface="Calibri"/>
                <a:sym typeface="Calibri"/>
              </a:rPr>
              <a:t> - Simple photo-based workflow with minimal training required.</a:t>
            </a:r>
          </a:p>
          <a:p>
            <a:pPr algn="l" marL="410209" indent="-205105" lvl="1">
              <a:lnSpc>
                <a:spcPts val="3191"/>
              </a:lnSpc>
              <a:buFont typeface="Arial"/>
              <a:buChar char="•"/>
            </a:pPr>
            <a:r>
              <a:rPr lang="en-US" b="1" sz="1899" spc="-15">
                <a:solidFill>
                  <a:srgbClr val="000000"/>
                </a:solidFill>
                <a:latin typeface="Calibri"/>
                <a:ea typeface="Calibri"/>
                <a:cs typeface="Calibri"/>
                <a:sym typeface="Calibri"/>
              </a:rPr>
              <a:t>Scalable</a:t>
            </a:r>
            <a:r>
              <a:rPr lang="en-US" sz="1899" spc="-15">
                <a:solidFill>
                  <a:srgbClr val="000000"/>
                </a:solidFill>
                <a:latin typeface="Calibri"/>
                <a:ea typeface="Calibri"/>
                <a:cs typeface="Calibri"/>
                <a:sym typeface="Calibri"/>
              </a:rPr>
              <a:t> - Add new test-kit colour profiles through the Admin website without updating the app.</a:t>
            </a:r>
          </a:p>
          <a:p>
            <a:pPr algn="l" marL="410209" indent="-205105" lvl="1">
              <a:lnSpc>
                <a:spcPts val="3191"/>
              </a:lnSpc>
              <a:buFont typeface="Arial"/>
              <a:buChar char="•"/>
            </a:pPr>
            <a:r>
              <a:rPr lang="en-US" b="1" sz="1899" spc="-15">
                <a:solidFill>
                  <a:srgbClr val="000000"/>
                </a:solidFill>
                <a:latin typeface="Calibri"/>
                <a:ea typeface="Calibri"/>
                <a:cs typeface="Calibri"/>
                <a:sym typeface="Calibri"/>
              </a:rPr>
              <a:t>Sustainable</a:t>
            </a:r>
            <a:r>
              <a:rPr lang="en-US" sz="1899" spc="-15">
                <a:solidFill>
                  <a:srgbClr val="000000"/>
                </a:solidFill>
                <a:latin typeface="Calibri"/>
                <a:ea typeface="Calibri"/>
                <a:cs typeface="Calibri"/>
                <a:sym typeface="Calibri"/>
              </a:rPr>
              <a:t> - Government-cloud hosting, regular profile updates, and secure data storage support long-term use.</a:t>
            </a:r>
          </a:p>
        </p:txBody>
      </p:sp>
      <p:grpSp>
        <p:nvGrpSpPr>
          <p:cNvPr name="Group 22" id="22"/>
          <p:cNvGrpSpPr/>
          <p:nvPr/>
        </p:nvGrpSpPr>
        <p:grpSpPr>
          <a:xfrm rot="0">
            <a:off x="14720116" y="33423"/>
            <a:ext cx="3287373" cy="1531268"/>
            <a:chOff x="0" y="0"/>
            <a:chExt cx="4383164" cy="2041690"/>
          </a:xfrm>
        </p:grpSpPr>
        <p:sp>
          <p:nvSpPr>
            <p:cNvPr name="Freeform 23" id="23"/>
            <p:cNvSpPr/>
            <p:nvPr/>
          </p:nvSpPr>
          <p:spPr>
            <a:xfrm flipH="false" flipV="false" rot="0">
              <a:off x="0" y="0"/>
              <a:ext cx="4383151" cy="2041652"/>
            </a:xfrm>
            <a:custGeom>
              <a:avLst/>
              <a:gdLst/>
              <a:ahLst/>
              <a:cxnLst/>
              <a:rect r="r" b="b" t="t" l="l"/>
              <a:pathLst>
                <a:path h="2041652" w="4383151">
                  <a:moveTo>
                    <a:pt x="0" y="0"/>
                  </a:moveTo>
                  <a:lnTo>
                    <a:pt x="4383151" y="0"/>
                  </a:lnTo>
                  <a:lnTo>
                    <a:pt x="4383151" y="2041652"/>
                  </a:lnTo>
                  <a:lnTo>
                    <a:pt x="0" y="2041652"/>
                  </a:lnTo>
                  <a:lnTo>
                    <a:pt x="0" y="0"/>
                  </a:lnTo>
                  <a:close/>
                </a:path>
              </a:pathLst>
            </a:custGeom>
            <a:blipFill>
              <a:blip r:embed="rId6"/>
              <a:stretch>
                <a:fillRect l="0" t="-106" r="0" b="-108"/>
              </a:stretch>
            </a:blipFill>
          </p:spPr>
        </p:sp>
      </p:grpSp>
      <p:sp>
        <p:nvSpPr>
          <p:cNvPr name="TextBox 24" id="24"/>
          <p:cNvSpPr txBox="true"/>
          <p:nvPr/>
        </p:nvSpPr>
        <p:spPr>
          <a:xfrm rot="0">
            <a:off x="9144000" y="6749314"/>
            <a:ext cx="2830116" cy="381000"/>
          </a:xfrm>
          <a:prstGeom prst="rect">
            <a:avLst/>
          </a:prstGeom>
        </p:spPr>
        <p:txBody>
          <a:bodyPr anchor="t" rtlCol="false" tIns="0" lIns="0" bIns="0" rIns="0">
            <a:spAutoFit/>
          </a:bodyPr>
          <a:lstStyle/>
          <a:p>
            <a:pPr algn="l">
              <a:lnSpc>
                <a:spcPts val="2640"/>
              </a:lnSpc>
            </a:pPr>
            <a:r>
              <a:rPr lang="en-US" sz="2200" b="1">
                <a:solidFill>
                  <a:srgbClr val="7A2F00"/>
                </a:solidFill>
                <a:latin typeface="Calibri"/>
                <a:ea typeface="Calibri"/>
                <a:cs typeface="Calibri"/>
                <a:sym typeface="Calibri"/>
              </a:rPr>
              <a:t>C</a:t>
            </a:r>
            <a:r>
              <a:rPr lang="en-US" b="1" sz="2200">
                <a:solidFill>
                  <a:srgbClr val="7A2F00"/>
                </a:solidFill>
                <a:latin typeface="Calibri"/>
                <a:ea typeface="Calibri"/>
                <a:cs typeface="Calibri"/>
                <a:sym typeface="Calibri"/>
              </a:rPr>
              <a:t>ost &amp; Deployment Plan</a:t>
            </a:r>
          </a:p>
        </p:txBody>
      </p:sp>
      <p:grpSp>
        <p:nvGrpSpPr>
          <p:cNvPr name="Group 25" id="25"/>
          <p:cNvGrpSpPr/>
          <p:nvPr/>
        </p:nvGrpSpPr>
        <p:grpSpPr>
          <a:xfrm rot="0">
            <a:off x="9088924" y="7391299"/>
            <a:ext cx="1606622" cy="1880336"/>
            <a:chOff x="0" y="0"/>
            <a:chExt cx="27419684" cy="32091074"/>
          </a:xfrm>
        </p:grpSpPr>
        <p:sp>
          <p:nvSpPr>
            <p:cNvPr name="Freeform 26" id="26"/>
            <p:cNvSpPr/>
            <p:nvPr/>
          </p:nvSpPr>
          <p:spPr>
            <a:xfrm flipH="false" flipV="false" rot="0">
              <a:off x="0" y="0"/>
              <a:ext cx="27419684" cy="32091074"/>
            </a:xfrm>
            <a:custGeom>
              <a:avLst/>
              <a:gdLst/>
              <a:ahLst/>
              <a:cxnLst/>
              <a:rect r="r" b="b" t="t" l="l"/>
              <a:pathLst>
                <a:path h="32091074" w="2741968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name="TextBox 27" id="27"/>
            <p:cNvSpPr txBox="true"/>
            <p:nvPr/>
          </p:nvSpPr>
          <p:spPr>
            <a:xfrm>
              <a:off x="0" y="-28575"/>
              <a:ext cx="27419684" cy="32119649"/>
            </a:xfrm>
            <a:prstGeom prst="rect">
              <a:avLst/>
            </a:prstGeom>
          </p:spPr>
          <p:txBody>
            <a:bodyPr anchor="ctr" rtlCol="false" tIns="50800" lIns="50800" bIns="50800" rIns="50800"/>
            <a:lstStyle/>
            <a:p>
              <a:pPr algn="ctr">
                <a:lnSpc>
                  <a:spcPts val="2239"/>
                </a:lnSpc>
                <a:spcBef>
                  <a:spcPct val="0"/>
                </a:spcBef>
              </a:pPr>
            </a:p>
          </p:txBody>
        </p:sp>
      </p:grpSp>
      <p:grpSp>
        <p:nvGrpSpPr>
          <p:cNvPr name="Group 28" id="28"/>
          <p:cNvGrpSpPr/>
          <p:nvPr/>
        </p:nvGrpSpPr>
        <p:grpSpPr>
          <a:xfrm rot="0">
            <a:off x="10875719" y="7391299"/>
            <a:ext cx="1606622" cy="1880336"/>
            <a:chOff x="0" y="0"/>
            <a:chExt cx="27419684" cy="32091074"/>
          </a:xfrm>
        </p:grpSpPr>
        <p:sp>
          <p:nvSpPr>
            <p:cNvPr name="Freeform 29" id="29"/>
            <p:cNvSpPr/>
            <p:nvPr/>
          </p:nvSpPr>
          <p:spPr>
            <a:xfrm flipH="false" flipV="false" rot="0">
              <a:off x="0" y="0"/>
              <a:ext cx="27419684" cy="32091074"/>
            </a:xfrm>
            <a:custGeom>
              <a:avLst/>
              <a:gdLst/>
              <a:ahLst/>
              <a:cxnLst/>
              <a:rect r="r" b="b" t="t" l="l"/>
              <a:pathLst>
                <a:path h="32091074" w="2741968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name="TextBox 30" id="30"/>
            <p:cNvSpPr txBox="true"/>
            <p:nvPr/>
          </p:nvSpPr>
          <p:spPr>
            <a:xfrm>
              <a:off x="0" y="-28575"/>
              <a:ext cx="27419684" cy="32119649"/>
            </a:xfrm>
            <a:prstGeom prst="rect">
              <a:avLst/>
            </a:prstGeom>
          </p:spPr>
          <p:txBody>
            <a:bodyPr anchor="ctr" rtlCol="false" tIns="50800" lIns="50800" bIns="50800" rIns="50800"/>
            <a:lstStyle/>
            <a:p>
              <a:pPr algn="ctr">
                <a:lnSpc>
                  <a:spcPts val="2239"/>
                </a:lnSpc>
                <a:spcBef>
                  <a:spcPct val="0"/>
                </a:spcBef>
              </a:pPr>
            </a:p>
          </p:txBody>
        </p:sp>
      </p:grpSp>
      <p:grpSp>
        <p:nvGrpSpPr>
          <p:cNvPr name="Group 31" id="31"/>
          <p:cNvGrpSpPr/>
          <p:nvPr/>
        </p:nvGrpSpPr>
        <p:grpSpPr>
          <a:xfrm rot="0">
            <a:off x="12663316" y="7391299"/>
            <a:ext cx="1606622" cy="1880336"/>
            <a:chOff x="0" y="0"/>
            <a:chExt cx="27419684" cy="32091074"/>
          </a:xfrm>
        </p:grpSpPr>
        <p:sp>
          <p:nvSpPr>
            <p:cNvPr name="Freeform 32" id="32"/>
            <p:cNvSpPr/>
            <p:nvPr/>
          </p:nvSpPr>
          <p:spPr>
            <a:xfrm flipH="false" flipV="false" rot="0">
              <a:off x="0" y="0"/>
              <a:ext cx="27419684" cy="32091074"/>
            </a:xfrm>
            <a:custGeom>
              <a:avLst/>
              <a:gdLst/>
              <a:ahLst/>
              <a:cxnLst/>
              <a:rect r="r" b="b" t="t" l="l"/>
              <a:pathLst>
                <a:path h="32091074" w="2741968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name="TextBox 33" id="33"/>
            <p:cNvSpPr txBox="true"/>
            <p:nvPr/>
          </p:nvSpPr>
          <p:spPr>
            <a:xfrm>
              <a:off x="0" y="-28575"/>
              <a:ext cx="27419684" cy="32119649"/>
            </a:xfrm>
            <a:prstGeom prst="rect">
              <a:avLst/>
            </a:prstGeom>
          </p:spPr>
          <p:txBody>
            <a:bodyPr anchor="ctr" rtlCol="false" tIns="50800" lIns="50800" bIns="50800" rIns="50800"/>
            <a:lstStyle/>
            <a:p>
              <a:pPr algn="ctr">
                <a:lnSpc>
                  <a:spcPts val="2239"/>
                </a:lnSpc>
                <a:spcBef>
                  <a:spcPct val="0"/>
                </a:spcBef>
              </a:pPr>
            </a:p>
          </p:txBody>
        </p:sp>
      </p:grpSp>
      <p:grpSp>
        <p:nvGrpSpPr>
          <p:cNvPr name="Group 34" id="34"/>
          <p:cNvGrpSpPr/>
          <p:nvPr/>
        </p:nvGrpSpPr>
        <p:grpSpPr>
          <a:xfrm rot="0">
            <a:off x="14450913" y="7391299"/>
            <a:ext cx="1606622" cy="1880336"/>
            <a:chOff x="0" y="0"/>
            <a:chExt cx="27419684" cy="32091074"/>
          </a:xfrm>
        </p:grpSpPr>
        <p:sp>
          <p:nvSpPr>
            <p:cNvPr name="Freeform 35" id="35"/>
            <p:cNvSpPr/>
            <p:nvPr/>
          </p:nvSpPr>
          <p:spPr>
            <a:xfrm flipH="false" flipV="false" rot="0">
              <a:off x="0" y="0"/>
              <a:ext cx="27419684" cy="32091074"/>
            </a:xfrm>
            <a:custGeom>
              <a:avLst/>
              <a:gdLst/>
              <a:ahLst/>
              <a:cxnLst/>
              <a:rect r="r" b="b" t="t" l="l"/>
              <a:pathLst>
                <a:path h="32091074" w="2741968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name="TextBox 36" id="36"/>
            <p:cNvSpPr txBox="true"/>
            <p:nvPr/>
          </p:nvSpPr>
          <p:spPr>
            <a:xfrm>
              <a:off x="0" y="-28575"/>
              <a:ext cx="27419684" cy="32119649"/>
            </a:xfrm>
            <a:prstGeom prst="rect">
              <a:avLst/>
            </a:prstGeom>
          </p:spPr>
          <p:txBody>
            <a:bodyPr anchor="ctr" rtlCol="false" tIns="50800" lIns="50800" bIns="50800" rIns="50800"/>
            <a:lstStyle/>
            <a:p>
              <a:pPr algn="ctr">
                <a:lnSpc>
                  <a:spcPts val="2239"/>
                </a:lnSpc>
                <a:spcBef>
                  <a:spcPct val="0"/>
                </a:spcBef>
              </a:pPr>
            </a:p>
          </p:txBody>
        </p:sp>
      </p:grpSp>
      <p:grpSp>
        <p:nvGrpSpPr>
          <p:cNvPr name="Group 37" id="37"/>
          <p:cNvGrpSpPr/>
          <p:nvPr/>
        </p:nvGrpSpPr>
        <p:grpSpPr>
          <a:xfrm rot="0">
            <a:off x="16238511" y="7391299"/>
            <a:ext cx="1606622" cy="1880336"/>
            <a:chOff x="0" y="0"/>
            <a:chExt cx="27419684" cy="32091074"/>
          </a:xfrm>
        </p:grpSpPr>
        <p:sp>
          <p:nvSpPr>
            <p:cNvPr name="Freeform 38" id="38"/>
            <p:cNvSpPr/>
            <p:nvPr/>
          </p:nvSpPr>
          <p:spPr>
            <a:xfrm flipH="false" flipV="false" rot="0">
              <a:off x="0" y="0"/>
              <a:ext cx="27419684" cy="32091074"/>
            </a:xfrm>
            <a:custGeom>
              <a:avLst/>
              <a:gdLst/>
              <a:ahLst/>
              <a:cxnLst/>
              <a:rect r="r" b="b" t="t" l="l"/>
              <a:pathLst>
                <a:path h="32091074" w="2741968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name="TextBox 39" id="39"/>
            <p:cNvSpPr txBox="true"/>
            <p:nvPr/>
          </p:nvSpPr>
          <p:spPr>
            <a:xfrm>
              <a:off x="0" y="-28575"/>
              <a:ext cx="27419684" cy="32119649"/>
            </a:xfrm>
            <a:prstGeom prst="rect">
              <a:avLst/>
            </a:prstGeom>
          </p:spPr>
          <p:txBody>
            <a:bodyPr anchor="ctr" rtlCol="false" tIns="50800" lIns="50800" bIns="50800" rIns="50800"/>
            <a:lstStyle/>
            <a:p>
              <a:pPr algn="ctr">
                <a:lnSpc>
                  <a:spcPts val="2239"/>
                </a:lnSpc>
                <a:spcBef>
                  <a:spcPct val="0"/>
                </a:spcBef>
              </a:pPr>
            </a:p>
          </p:txBody>
        </p:sp>
      </p:grpSp>
      <p:sp>
        <p:nvSpPr>
          <p:cNvPr name="TextBox 40" id="40"/>
          <p:cNvSpPr txBox="true"/>
          <p:nvPr/>
        </p:nvSpPr>
        <p:spPr>
          <a:xfrm rot="0">
            <a:off x="9088924" y="7516404"/>
            <a:ext cx="1606622" cy="323850"/>
          </a:xfrm>
          <a:prstGeom prst="rect">
            <a:avLst/>
          </a:prstGeom>
        </p:spPr>
        <p:txBody>
          <a:bodyPr anchor="t" rtlCol="false" tIns="0" lIns="0" bIns="0" rIns="0" wrap="none">
            <a:noAutofit/>
          </a:bodyPr>
          <a:lstStyle/>
          <a:p>
            <a:pPr algn="ctr">
              <a:lnSpc>
                <a:spcPts val="2280"/>
              </a:lnSpc>
              <a:spcBef>
                <a:spcPct val="0"/>
              </a:spcBef>
            </a:pPr>
            <a:r>
              <a:rPr lang="en-US" sz="1900" spc="-21">
                <a:solidFill>
                  <a:srgbClr val="974826"/>
                </a:solidFill>
                <a:latin typeface="Calibri"/>
                <a:ea typeface="Calibri"/>
                <a:cs typeface="Calibri"/>
                <a:sym typeface="Calibri"/>
              </a:rPr>
              <a:t>COST</a:t>
            </a:r>
          </a:p>
        </p:txBody>
      </p:sp>
      <p:sp>
        <p:nvSpPr>
          <p:cNvPr name="TextBox 41" id="41"/>
          <p:cNvSpPr txBox="true"/>
          <p:nvPr/>
        </p:nvSpPr>
        <p:spPr>
          <a:xfrm rot="0">
            <a:off x="10875719" y="7516404"/>
            <a:ext cx="1606622" cy="323850"/>
          </a:xfrm>
          <a:prstGeom prst="rect">
            <a:avLst/>
          </a:prstGeom>
        </p:spPr>
        <p:txBody>
          <a:bodyPr anchor="t" rtlCol="false" tIns="0" lIns="0" bIns="0" rIns="0" wrap="none">
            <a:noAutofit/>
          </a:bodyPr>
          <a:lstStyle/>
          <a:p>
            <a:pPr algn="ctr">
              <a:lnSpc>
                <a:spcPts val="2280"/>
              </a:lnSpc>
              <a:spcBef>
                <a:spcPct val="0"/>
              </a:spcBef>
            </a:pPr>
            <a:r>
              <a:rPr lang="en-US" sz="1900" spc="-21">
                <a:solidFill>
                  <a:srgbClr val="974826"/>
                </a:solidFill>
                <a:latin typeface="Calibri"/>
                <a:ea typeface="Calibri"/>
                <a:cs typeface="Calibri"/>
                <a:sym typeface="Calibri"/>
              </a:rPr>
              <a:t>H</a:t>
            </a:r>
            <a:r>
              <a:rPr lang="en-US" sz="1900" spc="-21">
                <a:solidFill>
                  <a:srgbClr val="974826"/>
                </a:solidFill>
                <a:latin typeface="Calibri"/>
                <a:ea typeface="Calibri"/>
                <a:cs typeface="Calibri"/>
                <a:sym typeface="Calibri"/>
              </a:rPr>
              <a:t>OSTING</a:t>
            </a:r>
          </a:p>
        </p:txBody>
      </p:sp>
      <p:sp>
        <p:nvSpPr>
          <p:cNvPr name="TextBox 42" id="42"/>
          <p:cNvSpPr txBox="true"/>
          <p:nvPr/>
        </p:nvSpPr>
        <p:spPr>
          <a:xfrm rot="0">
            <a:off x="12663316" y="7516404"/>
            <a:ext cx="1606622" cy="323850"/>
          </a:xfrm>
          <a:prstGeom prst="rect">
            <a:avLst/>
          </a:prstGeom>
        </p:spPr>
        <p:txBody>
          <a:bodyPr anchor="t" rtlCol="false" tIns="0" lIns="0" bIns="0" rIns="0" wrap="none">
            <a:noAutofit/>
          </a:bodyPr>
          <a:lstStyle/>
          <a:p>
            <a:pPr algn="ctr">
              <a:lnSpc>
                <a:spcPts val="2280"/>
              </a:lnSpc>
              <a:spcBef>
                <a:spcPct val="0"/>
              </a:spcBef>
            </a:pPr>
            <a:r>
              <a:rPr lang="en-US" sz="1900" spc="-21">
                <a:solidFill>
                  <a:srgbClr val="974826"/>
                </a:solidFill>
                <a:latin typeface="Calibri"/>
                <a:ea typeface="Calibri"/>
                <a:cs typeface="Calibri"/>
                <a:sym typeface="Calibri"/>
              </a:rPr>
              <a:t>MAINTENAN</a:t>
            </a:r>
            <a:r>
              <a:rPr lang="en-US" sz="1900" spc="-21">
                <a:solidFill>
                  <a:srgbClr val="974826"/>
                </a:solidFill>
                <a:latin typeface="Calibri"/>
                <a:ea typeface="Calibri"/>
                <a:cs typeface="Calibri"/>
                <a:sym typeface="Calibri"/>
              </a:rPr>
              <a:t>CE</a:t>
            </a:r>
          </a:p>
        </p:txBody>
      </p:sp>
      <p:sp>
        <p:nvSpPr>
          <p:cNvPr name="TextBox 43" id="43"/>
          <p:cNvSpPr txBox="true"/>
          <p:nvPr/>
        </p:nvSpPr>
        <p:spPr>
          <a:xfrm rot="0">
            <a:off x="14450913" y="7516404"/>
            <a:ext cx="1606622" cy="323850"/>
          </a:xfrm>
          <a:prstGeom prst="rect">
            <a:avLst/>
          </a:prstGeom>
        </p:spPr>
        <p:txBody>
          <a:bodyPr anchor="t" rtlCol="false" tIns="0" lIns="0" bIns="0" rIns="0" wrap="none">
            <a:noAutofit/>
          </a:bodyPr>
          <a:lstStyle/>
          <a:p>
            <a:pPr algn="ctr">
              <a:lnSpc>
                <a:spcPts val="2280"/>
              </a:lnSpc>
              <a:spcBef>
                <a:spcPct val="0"/>
              </a:spcBef>
            </a:pPr>
            <a:r>
              <a:rPr lang="en-US" sz="1900" spc="-21">
                <a:solidFill>
                  <a:srgbClr val="974826"/>
                </a:solidFill>
                <a:latin typeface="Calibri"/>
                <a:ea typeface="Calibri"/>
                <a:cs typeface="Calibri"/>
                <a:sym typeface="Calibri"/>
              </a:rPr>
              <a:t>DEPL</a:t>
            </a:r>
            <a:r>
              <a:rPr lang="en-US" sz="1900" spc="-21">
                <a:solidFill>
                  <a:srgbClr val="974826"/>
                </a:solidFill>
                <a:latin typeface="Calibri"/>
                <a:ea typeface="Calibri"/>
                <a:cs typeface="Calibri"/>
                <a:sym typeface="Calibri"/>
              </a:rPr>
              <a:t>OYMENT</a:t>
            </a:r>
          </a:p>
        </p:txBody>
      </p:sp>
      <p:sp>
        <p:nvSpPr>
          <p:cNvPr name="TextBox 44" id="44"/>
          <p:cNvSpPr txBox="true"/>
          <p:nvPr/>
        </p:nvSpPr>
        <p:spPr>
          <a:xfrm rot="0">
            <a:off x="16238511" y="7516404"/>
            <a:ext cx="1606622" cy="323850"/>
          </a:xfrm>
          <a:prstGeom prst="rect">
            <a:avLst/>
          </a:prstGeom>
        </p:spPr>
        <p:txBody>
          <a:bodyPr anchor="t" rtlCol="false" tIns="0" lIns="0" bIns="0" rIns="0" wrap="none">
            <a:noAutofit/>
          </a:bodyPr>
          <a:lstStyle/>
          <a:p>
            <a:pPr algn="ctr">
              <a:lnSpc>
                <a:spcPts val="2280"/>
              </a:lnSpc>
              <a:spcBef>
                <a:spcPct val="0"/>
              </a:spcBef>
            </a:pPr>
            <a:r>
              <a:rPr lang="en-US" sz="1900" spc="-21">
                <a:solidFill>
                  <a:srgbClr val="974826"/>
                </a:solidFill>
                <a:latin typeface="Calibri"/>
                <a:ea typeface="Calibri"/>
                <a:cs typeface="Calibri"/>
                <a:sym typeface="Calibri"/>
              </a:rPr>
              <a:t>S</a:t>
            </a:r>
            <a:r>
              <a:rPr lang="en-US" sz="1900" spc="-21">
                <a:solidFill>
                  <a:srgbClr val="974826"/>
                </a:solidFill>
                <a:latin typeface="Calibri"/>
                <a:ea typeface="Calibri"/>
                <a:cs typeface="Calibri"/>
                <a:sym typeface="Calibri"/>
              </a:rPr>
              <a:t>CALE</a:t>
            </a:r>
          </a:p>
        </p:txBody>
      </p:sp>
      <p:sp>
        <p:nvSpPr>
          <p:cNvPr name="TextBox 45" id="45"/>
          <p:cNvSpPr txBox="true"/>
          <p:nvPr/>
        </p:nvSpPr>
        <p:spPr>
          <a:xfrm rot="0">
            <a:off x="9157881" y="7925979"/>
            <a:ext cx="1468708" cy="1181100"/>
          </a:xfrm>
          <a:prstGeom prst="rect">
            <a:avLst/>
          </a:prstGeom>
        </p:spPr>
        <p:txBody>
          <a:bodyPr anchor="t" rtlCol="false" tIns="0" lIns="0" bIns="0" rIns="0">
            <a:spAutoFit/>
          </a:bodyPr>
          <a:lstStyle/>
          <a:p>
            <a:pPr algn="ctr">
              <a:lnSpc>
                <a:spcPts val="1800"/>
              </a:lnSpc>
              <a:spcBef>
                <a:spcPct val="0"/>
              </a:spcBef>
            </a:pPr>
            <a:r>
              <a:rPr lang="en-US" sz="1500" spc="-16">
                <a:solidFill>
                  <a:srgbClr val="000000"/>
                </a:solidFill>
                <a:latin typeface="Calibri"/>
                <a:ea typeface="Calibri"/>
                <a:cs typeface="Calibri"/>
                <a:sym typeface="Calibri"/>
              </a:rPr>
              <a:t>Uses an existing p</a:t>
            </a:r>
            <a:r>
              <a:rPr lang="en-US" sz="1500" spc="-16">
                <a:solidFill>
                  <a:srgbClr val="000000"/>
                </a:solidFill>
                <a:latin typeface="Calibri"/>
                <a:ea typeface="Calibri"/>
                <a:cs typeface="Calibri"/>
                <a:sym typeface="Calibri"/>
              </a:rPr>
              <a:t>hone, ₹10 reusable colour card, and open-source software.</a:t>
            </a:r>
          </a:p>
        </p:txBody>
      </p:sp>
      <p:sp>
        <p:nvSpPr>
          <p:cNvPr name="TextBox 46" id="46"/>
          <p:cNvSpPr txBox="true"/>
          <p:nvPr/>
        </p:nvSpPr>
        <p:spPr>
          <a:xfrm rot="0">
            <a:off x="10943196" y="7925979"/>
            <a:ext cx="1468708" cy="1181100"/>
          </a:xfrm>
          <a:prstGeom prst="rect">
            <a:avLst/>
          </a:prstGeom>
        </p:spPr>
        <p:txBody>
          <a:bodyPr anchor="t" rtlCol="false" tIns="0" lIns="0" bIns="0" rIns="0">
            <a:spAutoFit/>
          </a:bodyPr>
          <a:lstStyle/>
          <a:p>
            <a:pPr algn="ctr">
              <a:lnSpc>
                <a:spcPts val="1800"/>
              </a:lnSpc>
              <a:spcBef>
                <a:spcPct val="0"/>
              </a:spcBef>
            </a:pPr>
            <a:r>
              <a:rPr lang="en-US" sz="1500" spc="-16">
                <a:solidFill>
                  <a:srgbClr val="000000"/>
                </a:solidFill>
                <a:latin typeface="Calibri"/>
                <a:ea typeface="Calibri"/>
                <a:cs typeface="Calibri"/>
                <a:sym typeface="Calibri"/>
              </a:rPr>
              <a:t>Runs on g</a:t>
            </a:r>
            <a:r>
              <a:rPr lang="en-US" sz="1500" spc="-16">
                <a:solidFill>
                  <a:srgbClr val="000000"/>
                </a:solidFill>
                <a:latin typeface="Calibri"/>
                <a:ea typeface="Calibri"/>
                <a:cs typeface="Calibri"/>
                <a:sym typeface="Calibri"/>
              </a:rPr>
              <a:t>overnment cloud for the app, database, and admin dashboard.</a:t>
            </a:r>
          </a:p>
        </p:txBody>
      </p:sp>
      <p:sp>
        <p:nvSpPr>
          <p:cNvPr name="TextBox 47" id="47"/>
          <p:cNvSpPr txBox="true"/>
          <p:nvPr/>
        </p:nvSpPr>
        <p:spPr>
          <a:xfrm rot="0">
            <a:off x="12705981" y="8040279"/>
            <a:ext cx="1468708" cy="952500"/>
          </a:xfrm>
          <a:prstGeom prst="rect">
            <a:avLst/>
          </a:prstGeom>
        </p:spPr>
        <p:txBody>
          <a:bodyPr anchor="t" rtlCol="false" tIns="0" lIns="0" bIns="0" rIns="0">
            <a:spAutoFit/>
          </a:bodyPr>
          <a:lstStyle/>
          <a:p>
            <a:pPr algn="ctr">
              <a:lnSpc>
                <a:spcPts val="1800"/>
              </a:lnSpc>
              <a:spcBef>
                <a:spcPct val="0"/>
              </a:spcBef>
            </a:pPr>
            <a:r>
              <a:rPr lang="en-US" sz="1500" spc="-16">
                <a:solidFill>
                  <a:srgbClr val="000000"/>
                </a:solidFill>
                <a:latin typeface="Calibri"/>
                <a:ea typeface="Calibri"/>
                <a:cs typeface="Calibri"/>
                <a:sym typeface="Calibri"/>
              </a:rPr>
              <a:t>Regular security upd</a:t>
            </a:r>
            <a:r>
              <a:rPr lang="en-US" sz="1500" spc="-16">
                <a:solidFill>
                  <a:srgbClr val="000000"/>
                </a:solidFill>
                <a:latin typeface="Calibri"/>
                <a:ea typeface="Calibri"/>
                <a:cs typeface="Calibri"/>
                <a:sym typeface="Calibri"/>
              </a:rPr>
              <a:t>ates and easy kit-profile updates as needed.</a:t>
            </a:r>
          </a:p>
        </p:txBody>
      </p:sp>
      <p:sp>
        <p:nvSpPr>
          <p:cNvPr name="TextBox 48" id="48"/>
          <p:cNvSpPr txBox="true"/>
          <p:nvPr/>
        </p:nvSpPr>
        <p:spPr>
          <a:xfrm rot="0">
            <a:off x="14519871" y="8040279"/>
            <a:ext cx="1468708" cy="952500"/>
          </a:xfrm>
          <a:prstGeom prst="rect">
            <a:avLst/>
          </a:prstGeom>
        </p:spPr>
        <p:txBody>
          <a:bodyPr anchor="t" rtlCol="false" tIns="0" lIns="0" bIns="0" rIns="0">
            <a:spAutoFit/>
          </a:bodyPr>
          <a:lstStyle/>
          <a:p>
            <a:pPr algn="ctr">
              <a:lnSpc>
                <a:spcPts val="1800"/>
              </a:lnSpc>
              <a:spcBef>
                <a:spcPct val="0"/>
              </a:spcBef>
            </a:pPr>
            <a:r>
              <a:rPr lang="en-US" sz="1500" spc="-16">
                <a:solidFill>
                  <a:srgbClr val="000000"/>
                </a:solidFill>
                <a:latin typeface="Calibri"/>
                <a:ea typeface="Calibri"/>
                <a:cs typeface="Calibri"/>
                <a:sym typeface="Calibri"/>
              </a:rPr>
              <a:t>Start with a pilot, test in the fi</a:t>
            </a:r>
            <a:r>
              <a:rPr lang="en-US" sz="1500" spc="-16">
                <a:solidFill>
                  <a:srgbClr val="000000"/>
                </a:solidFill>
                <a:latin typeface="Calibri"/>
                <a:ea typeface="Calibri"/>
                <a:cs typeface="Calibri"/>
                <a:sym typeface="Calibri"/>
              </a:rPr>
              <a:t>eld, then expand deployment.</a:t>
            </a:r>
          </a:p>
        </p:txBody>
      </p:sp>
      <p:sp>
        <p:nvSpPr>
          <p:cNvPr name="TextBox 49" id="49"/>
          <p:cNvSpPr txBox="true"/>
          <p:nvPr/>
        </p:nvSpPr>
        <p:spPr>
          <a:xfrm rot="0">
            <a:off x="16329303" y="7925979"/>
            <a:ext cx="1468708" cy="1181100"/>
          </a:xfrm>
          <a:prstGeom prst="rect">
            <a:avLst/>
          </a:prstGeom>
        </p:spPr>
        <p:txBody>
          <a:bodyPr anchor="t" rtlCol="false" tIns="0" lIns="0" bIns="0" rIns="0">
            <a:spAutoFit/>
          </a:bodyPr>
          <a:lstStyle/>
          <a:p>
            <a:pPr algn="ctr">
              <a:lnSpc>
                <a:spcPts val="1800"/>
              </a:lnSpc>
              <a:spcBef>
                <a:spcPct val="0"/>
              </a:spcBef>
            </a:pPr>
            <a:r>
              <a:rPr lang="en-US" sz="1500" spc="-16">
                <a:solidFill>
                  <a:srgbClr val="000000"/>
                </a:solidFill>
                <a:latin typeface="Calibri"/>
                <a:ea typeface="Calibri"/>
                <a:cs typeface="Calibri"/>
                <a:sym typeface="Calibri"/>
              </a:rPr>
              <a:t>New test kits c</a:t>
            </a:r>
            <a:r>
              <a:rPr lang="en-US" sz="1500" spc="-16">
                <a:solidFill>
                  <a:srgbClr val="000000"/>
                </a:solidFill>
                <a:latin typeface="Calibri"/>
                <a:ea typeface="Calibri"/>
                <a:cs typeface="Calibri"/>
                <a:sym typeface="Calibri"/>
              </a:rPr>
              <a:t>an be added through the website without updating the app.</a:t>
            </a:r>
          </a:p>
        </p:txBody>
      </p:sp>
      <p:sp>
        <p:nvSpPr>
          <p:cNvPr name="AutoShape 50" id="50"/>
          <p:cNvSpPr/>
          <p:nvPr/>
        </p:nvSpPr>
        <p:spPr>
          <a:xfrm>
            <a:off x="10691338" y="8324540"/>
            <a:ext cx="184381" cy="0"/>
          </a:xfrm>
          <a:prstGeom prst="line">
            <a:avLst/>
          </a:prstGeom>
          <a:ln cap="flat" w="19050">
            <a:solidFill>
              <a:srgbClr val="B2935B"/>
            </a:solidFill>
            <a:prstDash val="solid"/>
            <a:headEnd type="none" len="sm" w="sm"/>
            <a:tailEnd type="arrow" len="sm" w="med"/>
          </a:ln>
        </p:spPr>
        <p:txBody>
          <a:bodyPr/>
          <a:p/>
        </p:txBody>
      </p:sp>
      <p:sp>
        <p:nvSpPr>
          <p:cNvPr name="AutoShape 51" id="51"/>
          <p:cNvSpPr/>
          <p:nvPr/>
        </p:nvSpPr>
        <p:spPr>
          <a:xfrm>
            <a:off x="12478935" y="8340992"/>
            <a:ext cx="184381" cy="0"/>
          </a:xfrm>
          <a:prstGeom prst="line">
            <a:avLst/>
          </a:prstGeom>
          <a:ln cap="flat" w="19050">
            <a:solidFill>
              <a:srgbClr val="B2935B"/>
            </a:solidFill>
            <a:prstDash val="solid"/>
            <a:headEnd type="none" len="sm" w="sm"/>
            <a:tailEnd type="arrow" len="sm" w="med"/>
          </a:ln>
        </p:spPr>
        <p:txBody>
          <a:bodyPr/>
          <a:p/>
        </p:txBody>
      </p:sp>
      <p:sp>
        <p:nvSpPr>
          <p:cNvPr name="AutoShape 52" id="52"/>
          <p:cNvSpPr/>
          <p:nvPr/>
        </p:nvSpPr>
        <p:spPr>
          <a:xfrm>
            <a:off x="14269938" y="8321942"/>
            <a:ext cx="184381" cy="0"/>
          </a:xfrm>
          <a:prstGeom prst="line">
            <a:avLst/>
          </a:prstGeom>
          <a:ln cap="flat" w="19050">
            <a:solidFill>
              <a:srgbClr val="B2935B"/>
            </a:solidFill>
            <a:prstDash val="solid"/>
            <a:headEnd type="none" len="sm" w="sm"/>
            <a:tailEnd type="arrow" len="sm" w="med"/>
          </a:ln>
        </p:spPr>
        <p:txBody>
          <a:bodyPr/>
          <a:p/>
        </p:txBody>
      </p:sp>
      <p:sp>
        <p:nvSpPr>
          <p:cNvPr name="AutoShape 53" id="53"/>
          <p:cNvSpPr/>
          <p:nvPr/>
        </p:nvSpPr>
        <p:spPr>
          <a:xfrm>
            <a:off x="16057536" y="8331467"/>
            <a:ext cx="184381" cy="0"/>
          </a:xfrm>
          <a:prstGeom prst="line">
            <a:avLst/>
          </a:prstGeom>
          <a:ln cap="flat" w="19050">
            <a:solidFill>
              <a:srgbClr val="B2935B"/>
            </a:solidFill>
            <a:prstDash val="solid"/>
            <a:headEnd type="none" len="sm" w="sm"/>
            <a:tailEnd type="arrow" len="sm" w="med"/>
          </a:ln>
        </p:spPr>
        <p:txBody>
          <a:bodyPr/>
          <a:p/>
        </p:txBody>
      </p:sp>
      <p:sp>
        <p:nvSpPr>
          <p:cNvPr name="TextBox 19" id="54"/>
          <p:cNvSpPr txBox="true"/>
          <p:nvPr/>
        </p:nvSpPr>
        <p:spPr>
          <a:xfrm rot="0">
            <a:off x="4572000" y="6492240"/>
            <a:ext cx="4206240" cy="384048"/>
          </a:xfrm>
          <a:prstGeom prst="rect">
            <a:avLst/>
          </a:prstGeom>
        </p:spPr>
        <p:txBody>
          <a:bodyPr anchor="t" rtlCol="false" tIns="0" lIns="0" bIns="0" rIns="0" wrap="none">
            <a:noAutofit/>
          </a:bodyPr>
          <a:lstStyle/>
          <a:p>
            <a:pPr algn="l">
              <a:lnSpc>
                <a:spcPts val="2640"/>
              </a:lnSpc>
            </a:pPr>
            <a:r>
              <a:rPr lang="en-US" b="1" sz="2200">
                <a:solidFill>
                  <a:srgbClr val="7A2F00"/>
                </a:solidFill>
                <a:latin typeface="Calibri"/>
                <a:ea typeface="Calibri"/>
                <a:cs typeface="Calibri"/>
                <a:sym typeface="Calibri"/>
              </a:rPr>
              <a:t>Pilot Plan (proposed)</a:t>
            </a:r>
          </a:p>
        </p:txBody>
      </p:sp>
      <p:sp>
        <p:nvSpPr>
          <p:cNvPr name="TextBox 21" id="55"/>
          <p:cNvSpPr txBox="true"/>
          <p:nvPr/>
        </p:nvSpPr>
        <p:spPr>
          <a:xfrm rot="0">
            <a:off x="4526280" y="6931152"/>
            <a:ext cx="4315968" cy="2487168"/>
          </a:xfrm>
          <a:prstGeom prst="rect">
            <a:avLst/>
          </a:prstGeom>
        </p:spPr>
        <p:txBody>
          <a:bodyPr anchor="t" rtlCol="false" tIns="0" lIns="0" bIns="0" rIns="0" wrap="square">
            <a:noAutofit/>
          </a:bodyPr>
          <a:lstStyle/>
          <a:p>
            <a:pPr algn="l" marL="410209" indent="-205105" lvl="1">
              <a:lnSpc>
                <a:spcPct val="115000"/>
              </a:lnSpc>
              <a:buFont typeface="Arial"/>
              <a:buChar char="•"/>
            </a:pPr>
            <a:r>
              <a:rPr lang="en-US" b="1" sz="1400" spc="-15">
                <a:solidFill>
                  <a:srgbClr val="000000"/>
                </a:solidFill>
                <a:latin typeface="Calibri"/>
                <a:ea typeface="Calibri"/>
                <a:cs typeface="Calibri"/>
                <a:sym typeface="Calibri"/>
              </a:rPr>
              <a:t>Where</a:t>
            </a:r>
            <a:r>
              <a:rPr lang="en-US" sz="1400" spc="-15">
                <a:solidFill>
                  <a:srgbClr val="000000"/>
                </a:solidFill>
                <a:latin typeface="Calibri"/>
                <a:ea typeface="Calibri"/>
                <a:cs typeface="Calibri"/>
                <a:sym typeface="Calibri"/>
              </a:rPr>
              <a:t> - 1 district in Tamil Nadu, with local police and the nearest FSL</a:t>
            </a:r>
          </a:p>
          <a:p>
            <a:pPr algn="l" marL="410209" indent="-205105" lvl="1">
              <a:lnSpc>
                <a:spcPct val="115000"/>
              </a:lnSpc>
              <a:buFont typeface="Arial"/>
              <a:buChar char="•"/>
            </a:pPr>
            <a:r>
              <a:rPr lang="en-US" b="1" sz="1400" spc="-15">
                <a:solidFill>
                  <a:srgbClr val="000000"/>
                </a:solidFill>
                <a:latin typeface="Calibri"/>
                <a:ea typeface="Calibri"/>
                <a:cs typeface="Calibri"/>
                <a:sym typeface="Calibri"/>
              </a:rPr>
              <a:t>Who</a:t>
            </a:r>
            <a:r>
              <a:rPr lang="en-US" sz="1400" spc="-15">
                <a:solidFill>
                  <a:srgbClr val="000000"/>
                </a:solidFill>
                <a:latin typeface="Calibri"/>
                <a:ea typeface="Calibri"/>
                <a:cs typeface="Calibri"/>
                <a:sym typeface="Calibri"/>
              </a:rPr>
              <a:t> - 20 officers, for 3 months</a:t>
            </a:r>
          </a:p>
          <a:p>
            <a:pPr algn="l" marL="410209" indent="-205105" lvl="1">
              <a:lnSpc>
                <a:spcPct val="115000"/>
              </a:lnSpc>
              <a:buFont typeface="Arial"/>
              <a:buChar char="•"/>
            </a:pPr>
            <a:r>
              <a:rPr lang="en-US" b="1" sz="1400" spc="-15">
                <a:solidFill>
                  <a:srgbClr val="000000"/>
                </a:solidFill>
                <a:latin typeface="Calibri"/>
                <a:ea typeface="Calibri"/>
                <a:cs typeface="Calibri"/>
                <a:sym typeface="Calibri"/>
              </a:rPr>
              <a:t>Check</a:t>
            </a:r>
            <a:r>
              <a:rPr lang="en-US" sz="1400" spc="-15">
                <a:solidFill>
                  <a:srgbClr val="000000"/>
                </a:solidFill>
                <a:latin typeface="Calibri"/>
                <a:ea typeface="Calibri"/>
                <a:cs typeface="Calibri"/>
                <a:sym typeface="Calibri"/>
              </a:rPr>
              <a:t> - every field result is checked again in the FSL lab</a:t>
            </a:r>
          </a:p>
          <a:p>
            <a:pPr algn="l" marL="410209" indent="-205105" lvl="1">
              <a:lnSpc>
                <a:spcPct val="115000"/>
              </a:lnSpc>
              <a:buFont typeface="Arial"/>
              <a:buChar char="•"/>
            </a:pPr>
            <a:r>
              <a:rPr lang="en-US" b="1" sz="1400" spc="-15">
                <a:solidFill>
                  <a:srgbClr val="000000"/>
                </a:solidFill>
                <a:latin typeface="Calibri"/>
                <a:ea typeface="Calibri"/>
                <a:cs typeface="Calibri"/>
                <a:sym typeface="Calibri"/>
              </a:rPr>
              <a:t>Success</a:t>
            </a:r>
            <a:r>
              <a:rPr lang="en-US" sz="1400" spc="-15">
                <a:solidFill>
                  <a:srgbClr val="000000"/>
                </a:solidFill>
                <a:latin typeface="Calibri"/>
                <a:ea typeface="Calibri"/>
                <a:cs typeface="Calibri"/>
                <a:sym typeface="Calibri"/>
              </a:rPr>
              <a:t> - 95% or more same as lab, NOT SURE below 10%, every record passes the check</a:t>
            </a:r>
          </a:p>
          <a:p>
            <a:pPr algn="l" marL="410209" indent="-205105" lvl="1">
              <a:lnSpc>
                <a:spcPct val="115000"/>
              </a:lnSpc>
              <a:buFont typeface="Arial"/>
              <a:buChar char="•"/>
            </a:pPr>
            <a:r>
              <a:rPr lang="en-US" b="1" sz="1400" spc="-15">
                <a:solidFill>
                  <a:srgbClr val="000000"/>
                </a:solidFill>
                <a:latin typeface="Calibri"/>
                <a:ea typeface="Calibri"/>
                <a:cs typeface="Calibri"/>
                <a:sym typeface="Calibri"/>
              </a:rPr>
              <a:t>Then</a:t>
            </a:r>
            <a:r>
              <a:rPr lang="en-US" sz="1400" spc="-15">
                <a:solidFill>
                  <a:srgbClr val="000000"/>
                </a:solidFill>
                <a:latin typeface="Calibri"/>
                <a:ea typeface="Calibri"/>
                <a:cs typeface="Calibri"/>
                <a:sym typeface="Calibri"/>
              </a:rPr>
              <a:t> - first district, then state, then whole country (phases on the left)</a:t>
            </a:r>
          </a:p>
          <a:p>
            <a:pPr algn="l" marL="410209" indent="-205105" lvl="1">
              <a:lnSpc>
                <a:spcPct val="115000"/>
              </a:lnSpc>
              <a:buFont typeface="Arial"/>
              <a:buChar char="•"/>
            </a:pPr>
            <a:r>
              <a:rPr lang="en-US" b="1" sz="1400" spc="-15">
                <a:solidFill>
                  <a:srgbClr val="000000"/>
                </a:solidFill>
                <a:latin typeface="Calibri"/>
                <a:ea typeface="Calibri"/>
                <a:cs typeface="Calibri"/>
                <a:sym typeface="Calibri"/>
              </a:rPr>
              <a:t>Cost</a:t>
            </a:r>
            <a:r>
              <a:rPr lang="en-US" sz="1400" spc="-15">
                <a:solidFill>
                  <a:srgbClr val="000000"/>
                </a:solidFill>
                <a:latin typeface="Calibri"/>
                <a:ea typeface="Calibri"/>
                <a:cs typeface="Calibri"/>
                <a:sym typeface="Calibri"/>
              </a:rPr>
              <a:t> - around ₹10,000 for 3 months, for cards and server (rough estimate)</a:t>
            </a:r>
          </a:p>
        </p:txBody>
      </p:sp>
      <p:sp>
        <p:nvSpPr>
          <p:cNvPr id="56" name="TextBox 55"/>
          <p:cNvSpPr txBox="1"/>
          <p:nvPr/>
        </p:nvSpPr>
        <p:spPr>
          <a:xfrm>
            <a:off x="12481560" y="6731026"/>
            <a:ext cx="5394960" cy="475488"/>
          </a:xfrm>
          <a:prstGeom prst="rect">
            <a:avLst/>
          </a:prstGeom>
          <a:noFill/>
        </p:spPr>
        <p:txBody>
          <a:bodyPr wrap="square" lIns="27432" rIns="27432" tIns="9144" bIns="9144">
            <a:noAutofit/>
          </a:bodyPr>
          <a:lstStyle/>
          <a:p>
            <a:r>
              <a:rPr sz="1300" b="1">
                <a:solidFill>
                  <a:srgbClr val="555555"/>
                </a:solidFill>
                <a:latin typeface="Calibri"/>
              </a:rPr>
              <a:t>After pilot, </a:t>
            </a:r>
            <a:r>
              <a:rPr sz="1300" b="0">
                <a:solidFill>
                  <a:srgbClr val="555555"/>
                </a:solidFill>
                <a:latin typeface="Calibri"/>
              </a:rPr>
              <a:t>the state police or NCB IT budget can pay for it.</a:t>
            </a:r>
          </a:p>
          <a:p>
            <a:r>
              <a:rPr sz="1300" b="0">
                <a:solidFill>
                  <a:srgbClr val="555555"/>
                </a:solidFill>
                <a:latin typeface="Calibri"/>
              </a:rPr>
              <a:t>It is open source with no licence fee, so running cost is low.</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64624"/>
            <a:ext cx="18280761" cy="715289"/>
            <a:chOff x="0" y="0"/>
            <a:chExt cx="24374348" cy="953719"/>
          </a:xfrm>
        </p:grpSpPr>
        <p:sp>
          <p:nvSpPr>
            <p:cNvPr name="Freeform 3" id="3"/>
            <p:cNvSpPr/>
            <p:nvPr/>
          </p:nvSpPr>
          <p:spPr>
            <a:xfrm flipH="false" flipV="false" rot="0">
              <a:off x="0" y="0"/>
              <a:ext cx="24374348" cy="953770"/>
            </a:xfrm>
            <a:custGeom>
              <a:avLst/>
              <a:gdLst/>
              <a:ahLst/>
              <a:cxnLst/>
              <a:rect r="r" b="b" t="t" l="l"/>
              <a:pathLst>
                <a:path h="953770" w="24374348">
                  <a:moveTo>
                    <a:pt x="0" y="0"/>
                  </a:moveTo>
                  <a:lnTo>
                    <a:pt x="24374348" y="0"/>
                  </a:lnTo>
                  <a:lnTo>
                    <a:pt x="24374348" y="953770"/>
                  </a:lnTo>
                  <a:lnTo>
                    <a:pt x="0" y="953770"/>
                  </a:lnTo>
                  <a:lnTo>
                    <a:pt x="0" y="0"/>
                  </a:lnTo>
                  <a:close/>
                </a:path>
              </a:pathLst>
            </a:custGeom>
            <a:blipFill>
              <a:blip r:embed="rId2"/>
              <a:stretch>
                <a:fillRect l="0" t="-914" r="0" b="-909"/>
              </a:stretch>
            </a:blipFill>
          </p:spPr>
        </p:sp>
      </p:grpSp>
      <p:grpSp>
        <p:nvGrpSpPr>
          <p:cNvPr name="Group 4" id="4"/>
          <p:cNvGrpSpPr/>
          <p:nvPr/>
        </p:nvGrpSpPr>
        <p:grpSpPr>
          <a:xfrm rot="0">
            <a:off x="0" y="9532620"/>
            <a:ext cx="18288000" cy="754380"/>
            <a:chOff x="0" y="0"/>
            <a:chExt cx="24384000" cy="1005840"/>
          </a:xfrm>
        </p:grpSpPr>
        <p:sp>
          <p:nvSpPr>
            <p:cNvPr name="Freeform 5" id="5"/>
            <p:cNvSpPr/>
            <p:nvPr/>
          </p:nvSpPr>
          <p:spPr>
            <a:xfrm flipH="false" flipV="false" rot="0">
              <a:off x="0" y="0"/>
              <a:ext cx="24384000" cy="1005840"/>
            </a:xfrm>
            <a:custGeom>
              <a:avLst/>
              <a:gdLst/>
              <a:ahLst/>
              <a:cxnLst/>
              <a:rect r="r" b="b" t="t" l="l"/>
              <a:pathLst>
                <a:path h="1005840" w="24384000">
                  <a:moveTo>
                    <a:pt x="24384000" y="0"/>
                  </a:moveTo>
                  <a:lnTo>
                    <a:pt x="0" y="0"/>
                  </a:lnTo>
                  <a:lnTo>
                    <a:pt x="0" y="1005840"/>
                  </a:lnTo>
                  <a:lnTo>
                    <a:pt x="24384000" y="1005840"/>
                  </a:lnTo>
                  <a:lnTo>
                    <a:pt x="24384000" y="0"/>
                  </a:lnTo>
                  <a:close/>
                </a:path>
              </a:pathLst>
            </a:custGeom>
            <a:solidFill>
              <a:srgbClr val="006EC0"/>
            </a:solidFill>
          </p:spPr>
        </p:sp>
      </p:grpSp>
      <p:sp>
        <p:nvSpPr>
          <p:cNvPr name="Freeform 6" id="6"/>
          <p:cNvSpPr/>
          <p:nvPr/>
        </p:nvSpPr>
        <p:spPr>
          <a:xfrm flipH="false" flipV="false" rot="0">
            <a:off x="391335" y="315011"/>
            <a:ext cx="2629852" cy="1249680"/>
          </a:xfrm>
          <a:custGeom>
            <a:avLst/>
            <a:gdLst/>
            <a:ahLst/>
            <a:cxnLst/>
            <a:rect r="r" b="b" t="t" l="l"/>
            <a:pathLst>
              <a:path h="1249680" w="2629852">
                <a:moveTo>
                  <a:pt x="0" y="0"/>
                </a:moveTo>
                <a:lnTo>
                  <a:pt x="2629852" y="0"/>
                </a:lnTo>
                <a:lnTo>
                  <a:pt x="2629852" y="1249680"/>
                </a:lnTo>
                <a:lnTo>
                  <a:pt x="0" y="12496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grpSp>
        <p:nvGrpSpPr>
          <p:cNvPr name="Group 7" id="7"/>
          <p:cNvGrpSpPr/>
          <p:nvPr/>
        </p:nvGrpSpPr>
        <p:grpSpPr>
          <a:xfrm rot="0">
            <a:off x="852866" y="2000650"/>
            <a:ext cx="9090296" cy="2418586"/>
            <a:chOff x="0" y="0"/>
            <a:chExt cx="180762863" cy="48094198"/>
          </a:xfrm>
        </p:grpSpPr>
        <p:sp>
          <p:nvSpPr>
            <p:cNvPr name="Freeform 8" id="8"/>
            <p:cNvSpPr/>
            <p:nvPr/>
          </p:nvSpPr>
          <p:spPr>
            <a:xfrm flipH="false" flipV="false" rot="0">
              <a:off x="0" y="0"/>
              <a:ext cx="180762870" cy="48094196"/>
            </a:xfrm>
            <a:custGeom>
              <a:avLst/>
              <a:gdLst/>
              <a:ahLst/>
              <a:cxnLst/>
              <a:rect r="r" b="b" t="t" l="l"/>
              <a:pathLst>
                <a:path h="48094196" w="180762870">
                  <a:moveTo>
                    <a:pt x="8517" y="0"/>
                  </a:moveTo>
                  <a:lnTo>
                    <a:pt x="180754350" y="0"/>
                  </a:lnTo>
                  <a:cubicBezTo>
                    <a:pt x="180759063" y="0"/>
                    <a:pt x="180762870" y="3813"/>
                    <a:pt x="180762870" y="8517"/>
                  </a:cubicBezTo>
                  <a:lnTo>
                    <a:pt x="180762870" y="48085679"/>
                  </a:lnTo>
                  <a:cubicBezTo>
                    <a:pt x="180762870" y="48090382"/>
                    <a:pt x="180759063" y="48094196"/>
                    <a:pt x="180754350" y="48094196"/>
                  </a:cubicBezTo>
                  <a:lnTo>
                    <a:pt x="8517" y="48094196"/>
                  </a:lnTo>
                  <a:cubicBezTo>
                    <a:pt x="3813" y="48094196"/>
                    <a:pt x="0" y="48090382"/>
                    <a:pt x="0" y="48085679"/>
                  </a:cubicBezTo>
                  <a:lnTo>
                    <a:pt x="0" y="8517"/>
                  </a:lnTo>
                  <a:cubicBezTo>
                    <a:pt x="0" y="3813"/>
                    <a:pt x="3813" y="0"/>
                    <a:pt x="8517" y="0"/>
                  </a:cubicBezTo>
                  <a:close/>
                </a:path>
              </a:pathLst>
            </a:custGeom>
            <a:solidFill>
              <a:srgbClr val="FFFFFF"/>
            </a:solidFill>
            <a:ln w="38100" cap="sq">
              <a:solidFill>
                <a:srgbClr val="7A2F00"/>
              </a:solidFill>
              <a:prstDash val="solid"/>
              <a:miter/>
            </a:ln>
          </p:spPr>
        </p:sp>
        <p:sp>
          <p:nvSpPr>
            <p:cNvPr name="TextBox 9" id="9"/>
            <p:cNvSpPr txBox="true"/>
            <p:nvPr/>
          </p:nvSpPr>
          <p:spPr>
            <a:xfrm>
              <a:off x="0" y="-76200"/>
              <a:ext cx="180762863" cy="48170398"/>
            </a:xfrm>
            <a:prstGeom prst="rect">
              <a:avLst/>
            </a:prstGeom>
          </p:spPr>
          <p:txBody>
            <a:bodyPr anchor="ctr" rtlCol="false" tIns="50800" lIns="50800" bIns="50800" rIns="50800"/>
            <a:lstStyle/>
            <a:p>
              <a:pPr algn="ctr">
                <a:lnSpc>
                  <a:spcPts val="5320"/>
                </a:lnSpc>
                <a:spcBef>
                  <a:spcPct val="0"/>
                </a:spcBef>
              </a:pPr>
            </a:p>
          </p:txBody>
        </p:sp>
      </p:grpSp>
      <p:sp>
        <p:nvSpPr>
          <p:cNvPr name="Freeform 10" id="10"/>
          <p:cNvSpPr/>
          <p:nvPr/>
        </p:nvSpPr>
        <p:spPr>
          <a:xfrm flipH="false" flipV="false" rot="0">
            <a:off x="712566" y="4836047"/>
            <a:ext cx="4685447" cy="4615775"/>
          </a:xfrm>
          <a:custGeom>
            <a:avLst/>
            <a:gdLst/>
            <a:ahLst/>
            <a:cxnLst/>
            <a:rect r="r" b="b" t="t" l="l"/>
            <a:pathLst>
              <a:path h="4615775" w="4685447">
                <a:moveTo>
                  <a:pt x="0" y="0"/>
                </a:moveTo>
                <a:lnTo>
                  <a:pt x="4685448" y="0"/>
                </a:lnTo>
                <a:lnTo>
                  <a:pt x="4685448" y="4615775"/>
                </a:lnTo>
                <a:lnTo>
                  <a:pt x="0" y="4615775"/>
                </a:lnTo>
                <a:lnTo>
                  <a:pt x="0" y="0"/>
                </a:lnTo>
                <a:close/>
              </a:path>
            </a:pathLst>
          </a:custGeom>
          <a:blipFill>
            <a:blip r:embed="rId5"/>
            <a:stretch>
              <a:fillRect l="0" t="0" r="0" b="0"/>
            </a:stretch>
          </a:blipFill>
        </p:spPr>
        <p:txBody>
          <a:bodyPr/>
          <a:p/>
        </p:txBody>
      </p:sp>
      <p:grpSp>
        <p:nvGrpSpPr>
          <p:cNvPr name="Group 11" id="11"/>
          <p:cNvGrpSpPr/>
          <p:nvPr/>
        </p:nvGrpSpPr>
        <p:grpSpPr>
          <a:xfrm rot="0">
            <a:off x="10649712" y="7644185"/>
            <a:ext cx="6735059" cy="1810710"/>
            <a:chOff x="0" y="0"/>
            <a:chExt cx="133928377" cy="65512658"/>
          </a:xfrm>
        </p:grpSpPr>
        <p:sp>
          <p:nvSpPr>
            <p:cNvPr name="Freeform 12" id="12"/>
            <p:cNvSpPr/>
            <p:nvPr/>
          </p:nvSpPr>
          <p:spPr>
            <a:xfrm flipH="false" flipV="false" rot="0">
              <a:off x="0" y="0"/>
              <a:ext cx="133928383" cy="65512659"/>
            </a:xfrm>
            <a:custGeom>
              <a:avLst/>
              <a:gdLst/>
              <a:ahLst/>
              <a:cxnLst/>
              <a:rect r="r" b="b" t="t" l="l"/>
              <a:pathLst>
                <a:path h="65512659" w="133928383">
                  <a:moveTo>
                    <a:pt x="11495" y="0"/>
                  </a:moveTo>
                  <a:lnTo>
                    <a:pt x="133916886" y="0"/>
                  </a:lnTo>
                  <a:cubicBezTo>
                    <a:pt x="133919937" y="0"/>
                    <a:pt x="133922864" y="1211"/>
                    <a:pt x="133925022" y="3367"/>
                  </a:cubicBezTo>
                  <a:cubicBezTo>
                    <a:pt x="133927168" y="5523"/>
                    <a:pt x="133928383" y="8446"/>
                    <a:pt x="133928383" y="11495"/>
                  </a:cubicBezTo>
                  <a:lnTo>
                    <a:pt x="133928383" y="65501162"/>
                  </a:lnTo>
                  <a:cubicBezTo>
                    <a:pt x="133928383" y="65507512"/>
                    <a:pt x="133923236" y="65512659"/>
                    <a:pt x="133916886" y="65512659"/>
                  </a:cubicBezTo>
                  <a:lnTo>
                    <a:pt x="11495" y="65512659"/>
                  </a:lnTo>
                  <a:cubicBezTo>
                    <a:pt x="8446" y="65512659"/>
                    <a:pt x="5523" y="65511449"/>
                    <a:pt x="3367" y="65509291"/>
                  </a:cubicBezTo>
                  <a:cubicBezTo>
                    <a:pt x="1211" y="65507133"/>
                    <a:pt x="0" y="65504213"/>
                    <a:pt x="0" y="65501162"/>
                  </a:cubicBezTo>
                  <a:lnTo>
                    <a:pt x="0" y="11495"/>
                  </a:lnTo>
                  <a:cubicBezTo>
                    <a:pt x="0" y="8446"/>
                    <a:pt x="1211" y="5523"/>
                    <a:pt x="3367" y="3367"/>
                  </a:cubicBezTo>
                  <a:cubicBezTo>
                    <a:pt x="5523" y="1211"/>
                    <a:pt x="8446" y="0"/>
                    <a:pt x="11495" y="0"/>
                  </a:cubicBezTo>
                  <a:close/>
                </a:path>
              </a:pathLst>
            </a:custGeom>
            <a:solidFill>
              <a:srgbClr val="FFFFFF"/>
            </a:solidFill>
            <a:ln w="38100" cap="sq">
              <a:solidFill>
                <a:srgbClr val="7A2F00"/>
              </a:solidFill>
              <a:prstDash val="solid"/>
              <a:miter/>
            </a:ln>
          </p:spPr>
        </p:sp>
        <p:sp>
          <p:nvSpPr>
            <p:cNvPr name="TextBox 13" id="13"/>
            <p:cNvSpPr txBox="true"/>
            <p:nvPr/>
          </p:nvSpPr>
          <p:spPr>
            <a:xfrm>
              <a:off x="0" y="-76200"/>
              <a:ext cx="133928377" cy="65588858"/>
            </a:xfrm>
            <a:prstGeom prst="rect">
              <a:avLst/>
            </a:prstGeom>
          </p:spPr>
          <p:txBody>
            <a:bodyPr anchor="ctr" rtlCol="false" tIns="50800" lIns="50800" bIns="50800" rIns="50800"/>
            <a:lstStyle/>
            <a:p>
              <a:pPr algn="ctr">
                <a:lnSpc>
                  <a:spcPts val="5320"/>
                </a:lnSpc>
                <a:spcBef>
                  <a:spcPct val="0"/>
                </a:spcBef>
              </a:pPr>
            </a:p>
          </p:txBody>
        </p:sp>
      </p:grpSp>
      <p:sp>
        <p:nvSpPr>
          <p:cNvPr name="AutoShape 14" id="14"/>
          <p:cNvSpPr/>
          <p:nvPr/>
        </p:nvSpPr>
        <p:spPr>
          <a:xfrm>
            <a:off x="4699814" y="2426368"/>
            <a:ext cx="0" cy="1839760"/>
          </a:xfrm>
          <a:prstGeom prst="line">
            <a:avLst/>
          </a:prstGeom>
          <a:ln cap="flat" w="19050">
            <a:solidFill>
              <a:srgbClr val="B2935B"/>
            </a:solidFill>
            <a:prstDash val="solid"/>
            <a:headEnd type="none" len="sm" w="sm"/>
            <a:tailEnd type="none" len="sm" w="sm"/>
          </a:ln>
        </p:spPr>
        <p:txBody>
          <a:bodyPr/>
          <a:p/>
        </p:txBody>
      </p:sp>
      <p:sp>
        <p:nvSpPr>
          <p:cNvPr name="Freeform 15" id="15"/>
          <p:cNvSpPr/>
          <p:nvPr/>
        </p:nvSpPr>
        <p:spPr>
          <a:xfrm flipH="false" flipV="false" rot="-1874657">
            <a:off x="4845967" y="5598832"/>
            <a:ext cx="1557904" cy="1324218"/>
          </a:xfrm>
          <a:custGeom>
            <a:avLst/>
            <a:gdLst/>
            <a:ahLst/>
            <a:cxnLst/>
            <a:rect r="r" b="b" t="t" l="l"/>
            <a:pathLst>
              <a:path h="1324218" w="1557904">
                <a:moveTo>
                  <a:pt x="0" y="0"/>
                </a:moveTo>
                <a:lnTo>
                  <a:pt x="1557904" y="0"/>
                </a:lnTo>
                <a:lnTo>
                  <a:pt x="1557904" y="1324219"/>
                </a:lnTo>
                <a:lnTo>
                  <a:pt x="0" y="13242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txBody>
          <a:bodyPr/>
          <a:p/>
        </p:txBody>
      </p:sp>
      <p:sp>
        <p:nvSpPr>
          <p:cNvPr name="Freeform 16" id="16"/>
          <p:cNvSpPr/>
          <p:nvPr/>
        </p:nvSpPr>
        <p:spPr>
          <a:xfrm flipH="false" flipV="false" rot="0">
            <a:off x="6524601" y="5010285"/>
            <a:ext cx="3418560" cy="4441537"/>
          </a:xfrm>
          <a:custGeom>
            <a:avLst/>
            <a:gdLst/>
            <a:ahLst/>
            <a:cxnLst/>
            <a:rect r="r" b="b" t="t" l="l"/>
            <a:pathLst>
              <a:path h="4441537" w="3418560">
                <a:moveTo>
                  <a:pt x="0" y="0"/>
                </a:moveTo>
                <a:lnTo>
                  <a:pt x="3418560" y="0"/>
                </a:lnTo>
                <a:lnTo>
                  <a:pt x="3418560" y="4441537"/>
                </a:lnTo>
                <a:lnTo>
                  <a:pt x="0" y="4441537"/>
                </a:lnTo>
                <a:lnTo>
                  <a:pt x="0" y="0"/>
                </a:lnTo>
                <a:close/>
              </a:path>
            </a:pathLst>
          </a:custGeom>
          <a:blipFill>
            <a:blip r:embed="rId8"/>
            <a:stretch>
              <a:fillRect l="0" t="-721" r="0" b="-9940"/>
            </a:stretch>
          </a:blipFill>
        </p:spPr>
        <p:txBody>
          <a:bodyPr/>
          <a:p/>
        </p:txBody>
      </p:sp>
      <p:grpSp>
        <p:nvGrpSpPr>
          <p:cNvPr name="Group 17" id="17"/>
          <p:cNvGrpSpPr/>
          <p:nvPr/>
        </p:nvGrpSpPr>
        <p:grpSpPr>
          <a:xfrm rot="0">
            <a:off x="14720116" y="33423"/>
            <a:ext cx="3287373" cy="1531268"/>
            <a:chOff x="0" y="0"/>
            <a:chExt cx="4383164" cy="2041690"/>
          </a:xfrm>
        </p:grpSpPr>
        <p:sp>
          <p:nvSpPr>
            <p:cNvPr name="Freeform 18" id="18"/>
            <p:cNvSpPr/>
            <p:nvPr/>
          </p:nvSpPr>
          <p:spPr>
            <a:xfrm flipH="false" flipV="false" rot="0">
              <a:off x="0" y="0"/>
              <a:ext cx="4383151" cy="2041652"/>
            </a:xfrm>
            <a:custGeom>
              <a:avLst/>
              <a:gdLst/>
              <a:ahLst/>
              <a:cxnLst/>
              <a:rect r="r" b="b" t="t" l="l"/>
              <a:pathLst>
                <a:path h="2041652" w="4383151">
                  <a:moveTo>
                    <a:pt x="0" y="0"/>
                  </a:moveTo>
                  <a:lnTo>
                    <a:pt x="4383151" y="0"/>
                  </a:lnTo>
                  <a:lnTo>
                    <a:pt x="4383151" y="2041652"/>
                  </a:lnTo>
                  <a:lnTo>
                    <a:pt x="0" y="2041652"/>
                  </a:lnTo>
                  <a:lnTo>
                    <a:pt x="0" y="0"/>
                  </a:lnTo>
                  <a:close/>
                </a:path>
              </a:pathLst>
            </a:custGeom>
            <a:blipFill>
              <a:blip r:embed="rId9"/>
              <a:stretch>
                <a:fillRect l="0" t="-106" r="0" b="-108"/>
              </a:stretch>
            </a:blipFill>
          </p:spPr>
        </p:sp>
      </p:grpSp>
      <p:sp>
        <p:nvSpPr>
          <p:cNvPr name="Freeform 19" id="19"/>
          <p:cNvSpPr/>
          <p:nvPr/>
        </p:nvSpPr>
        <p:spPr>
          <a:xfrm flipH="false" flipV="false" rot="0">
            <a:off x="10649712" y="2304288"/>
            <a:ext cx="6735059" cy="2354471"/>
          </a:xfrm>
          <a:custGeom>
            <a:avLst/>
            <a:gdLst/>
            <a:ahLst/>
            <a:cxnLst/>
            <a:rect r="r" b="b" t="t" l="l"/>
            <a:pathLst>
              <a:path h="3360331" w="6095839">
                <a:moveTo>
                  <a:pt x="0" y="0"/>
                </a:moveTo>
                <a:lnTo>
                  <a:pt x="6095839" y="0"/>
                </a:lnTo>
                <a:lnTo>
                  <a:pt x="6095839" y="3360331"/>
                </a:lnTo>
                <a:lnTo>
                  <a:pt x="0" y="3360331"/>
                </a:lnTo>
                <a:lnTo>
                  <a:pt x="0" y="0"/>
                </a:lnTo>
                <a:close/>
              </a:path>
            </a:pathLst>
          </a:custGeom>
          <a:blipFill>
            <a:blip r:embed="rId10"/>
            <a:srcRect l="17800" t="10000" r="1500" b="38900"/>
            <a:stretch>
              <a:fillRect l="0" t="0" r="0" b="0"/>
            </a:stretch>
          </a:blipFill>
        </p:spPr>
        <p:txBody>
          <a:bodyPr/>
          <a:p/>
        </p:txBody>
      </p:sp>
      <p:sp>
        <p:nvSpPr>
          <p:cNvPr name="TextBox 20" id="20" descr="$PPTXTitle"/>
          <p:cNvSpPr txBox="true"/>
          <p:nvPr/>
        </p:nvSpPr>
        <p:spPr>
          <a:xfrm rot="0">
            <a:off x="4912538" y="346300"/>
            <a:ext cx="7916228" cy="876938"/>
          </a:xfrm>
          <a:prstGeom prst="rect">
            <a:avLst/>
          </a:prstGeom>
        </p:spPr>
        <p:txBody>
          <a:bodyPr anchor="t" rtlCol="false" tIns="0" lIns="0" bIns="0" rIns="0">
            <a:spAutoFit/>
          </a:bodyPr>
          <a:lstStyle/>
          <a:p>
            <a:pPr algn="l">
              <a:lnSpc>
                <a:spcPts val="6480"/>
              </a:lnSpc>
            </a:pPr>
            <a:r>
              <a:rPr lang="en-US" b="true" sz="5400" spc="-15">
                <a:solidFill>
                  <a:srgbClr val="7A2F00"/>
                </a:solidFill>
                <a:latin typeface="Times New Roman Bold"/>
                <a:ea typeface="Times New Roman Bold"/>
                <a:cs typeface="Times New Roman Bold"/>
                <a:sym typeface="Times New Roman Bold"/>
              </a:rPr>
              <a:t>IMPACT AND BENEFITS</a:t>
            </a:r>
          </a:p>
        </p:txBody>
      </p:sp>
      <p:sp>
        <p:nvSpPr>
          <p:cNvPr name="TextBox 21" id="21"/>
          <p:cNvSpPr txBox="true"/>
          <p:nvPr/>
        </p:nvSpPr>
        <p:spPr>
          <a:xfrm rot="0">
            <a:off x="17063656" y="9649673"/>
            <a:ext cx="104775" cy="288608"/>
          </a:xfrm>
          <a:prstGeom prst="rect">
            <a:avLst/>
          </a:prstGeom>
        </p:spPr>
        <p:txBody>
          <a:bodyPr anchor="t" rtlCol="false" tIns="0" lIns="0" bIns="0" rIns="0">
            <a:spAutoFit/>
          </a:bodyPr>
          <a:lstStyle/>
          <a:p>
            <a:pPr algn="l">
              <a:lnSpc>
                <a:spcPts val="2137"/>
              </a:lnSpc>
            </a:pPr>
            <a:r>
              <a:rPr lang="en-US" b="true" sz="1800" spc="-75">
                <a:solidFill>
                  <a:srgbClr val="FFFFFF"/>
                </a:solidFill>
                <a:latin typeface="Times New Roman Bold"/>
                <a:ea typeface="Times New Roman Bold"/>
                <a:cs typeface="Times New Roman Bold"/>
                <a:sym typeface="Times New Roman Bold"/>
              </a:rPr>
              <a:t>5</a:t>
            </a:r>
          </a:p>
        </p:txBody>
      </p:sp>
      <p:sp>
        <p:nvSpPr>
          <p:cNvPr name="TextBox 22" id="22"/>
          <p:cNvSpPr txBox="true"/>
          <p:nvPr/>
        </p:nvSpPr>
        <p:spPr>
          <a:xfrm rot="0">
            <a:off x="10695384" y="8046521"/>
            <a:ext cx="6689387" cy="2745720"/>
          </a:xfrm>
          <a:prstGeom prst="rect">
            <a:avLst/>
          </a:prstGeom>
        </p:spPr>
        <p:txBody>
          <a:bodyPr anchor="t" rtlCol="false" tIns="0" lIns="0" bIns="0" rIns="0">
            <a:spAutoFit/>
          </a:bodyPr>
          <a:lstStyle/>
          <a:p>
            <a:pPr algn="l" marL="376968" indent="-188484" lvl="1">
              <a:lnSpc>
                <a:spcPct val="105000"/>
              </a:lnSpc>
              <a:buFont typeface="Arial"/>
              <a:buChar char="•"/>
            </a:pPr>
            <a:r>
              <a:rPr lang="en-US" sz="1400" spc="-8">
                <a:solidFill>
                  <a:srgbClr val="000000"/>
                </a:solidFill>
                <a:latin typeface="Calibri"/>
                <a:ea typeface="Calibri"/>
                <a:cs typeface="Calibri"/>
                <a:sym typeface="Calibri"/>
              </a:rPr>
              <a:t>O</a:t>
            </a:r>
            <a:r>
              <a:rPr lang="en-US" sz="1400" spc="-8">
                <a:solidFill>
                  <a:srgbClr val="000000"/>
                </a:solidFill>
                <a:latin typeface="Calibri"/>
                <a:ea typeface="Calibri"/>
                <a:cs typeface="Calibri"/>
                <a:sym typeface="Calibri"/>
              </a:rPr>
              <a:t>ffline Mode - Test even without internet and sync data later.</a:t>
            </a:r>
          </a:p>
          <a:p>
            <a:pPr algn="l" marL="376968" indent="-188484" lvl="1">
              <a:lnSpc>
                <a:spcPct val="105000"/>
              </a:lnSpc>
              <a:buFont typeface="Arial"/>
              <a:buChar char="•"/>
            </a:pPr>
            <a:r>
              <a:rPr lang="en-US" sz="1400" spc="-8">
                <a:solidFill>
                  <a:srgbClr val="000000"/>
                </a:solidFill>
                <a:latin typeface="Calibri"/>
                <a:ea typeface="Calibri"/>
                <a:cs typeface="Calibri"/>
                <a:sym typeface="Calibri"/>
              </a:rPr>
              <a:t>Pho</a:t>
            </a:r>
            <a:r>
              <a:rPr lang="en-US" sz="1400" spc="-8">
                <a:solidFill>
                  <a:srgbClr val="000000"/>
                </a:solidFill>
                <a:latin typeface="Calibri"/>
                <a:ea typeface="Calibri"/>
                <a:cs typeface="Calibri"/>
                <a:sym typeface="Calibri"/>
              </a:rPr>
              <a:t>ne Security - Use the phone’s security chip to sign each test.</a:t>
            </a:r>
          </a:p>
          <a:p>
            <a:pPr algn="l" marL="376968" indent="-188484" lvl="1">
              <a:lnSpc>
                <a:spcPct val="105000"/>
              </a:lnSpc>
              <a:buFont typeface="Arial"/>
              <a:buChar char="•"/>
            </a:pPr>
            <a:r>
              <a:rPr lang="en-US" sz="1400" spc="-8">
                <a:solidFill>
                  <a:srgbClr val="000000"/>
                </a:solidFill>
                <a:latin typeface="Calibri"/>
                <a:ea typeface="Calibri"/>
                <a:cs typeface="Calibri"/>
                <a:sym typeface="Calibri"/>
              </a:rPr>
              <a:t>Police System Integration - our CSV export already has time, GPS, officer, result, photo hash and verify link. Linking with e-Sakshya and CCTNS needs NIC or MHA approval.</a:t>
            </a:r>
            <a:r>
              <a:rPr lang="en-US" sz="1400" spc="-8">
                <a:solidFill>
                  <a:srgbClr val="000000"/>
                </a:solidFill>
                <a:latin typeface="Calibri"/>
                <a:ea typeface="Calibri"/>
                <a:cs typeface="Calibri"/>
                <a:sym typeface="Calibri"/>
              </a:rPr>
              <a:t/>
            </a:r>
          </a:p>
          <a:p>
            <a:pPr algn="l" marL="376968" indent="-188484" lvl="1">
              <a:lnSpc>
                <a:spcPct val="105000"/>
              </a:lnSpc>
              <a:buFont typeface="Arial"/>
              <a:buChar char="•"/>
            </a:pPr>
            <a:r>
              <a:rPr lang="en-US" sz="1400" spc="-8">
                <a:solidFill>
                  <a:srgbClr val="000000"/>
                </a:solidFill>
                <a:latin typeface="Calibri"/>
                <a:ea typeface="Calibri"/>
                <a:cs typeface="Calibri"/>
                <a:sym typeface="Calibri"/>
              </a:rPr>
              <a:t>L</a:t>
            </a:r>
            <a:r>
              <a:rPr lang="en-US" sz="1400" spc="-8">
                <a:solidFill>
                  <a:srgbClr val="000000"/>
                </a:solidFill>
                <a:latin typeface="Calibri"/>
                <a:ea typeface="Calibri"/>
                <a:cs typeface="Calibri"/>
                <a:sym typeface="Calibri"/>
              </a:rPr>
              <a:t>ab Comparison - Compare field results with lab</a:t>
            </a:r>
            <a:r>
              <a:rPr lang="en-US" sz="1400" spc="-8">
                <a:solidFill>
                  <a:srgbClr val="000000"/>
                </a:solidFill>
                <a:latin typeface="Calibri"/>
                <a:ea typeface="Calibri"/>
                <a:cs typeface="Calibri"/>
                <a:sym typeface="Calibri"/>
              </a:rPr>
              <a:t> results to improve accuracy.</a:t>
            </a:r>
          </a:p>
          <a:p>
            <a:pPr algn="l" marL="376968" indent="-188484" lvl="1">
              <a:lnSpc>
                <a:spcPct val="105000"/>
              </a:lnSpc>
              <a:buFont typeface="Arial"/>
              <a:buChar char="•"/>
            </a:pPr>
            <a:r>
              <a:rPr lang="en-US" sz="1400" spc="-8">
                <a:solidFill>
                  <a:srgbClr val="000000"/>
                </a:solidFill>
                <a:latin typeface="Calibri"/>
                <a:ea typeface="Calibri"/>
                <a:cs typeface="Calibri"/>
                <a:sym typeface="Calibri"/>
              </a:rPr>
              <a:t>Regional Languages - Support Hindi and regional languages with voice assistance.</a:t>
            </a:r>
          </a:p>
        </p:txBody>
      </p:sp>
      <p:sp>
        <p:nvSpPr>
          <p:cNvPr name="TextBox 23" id="23" descr="$PPTXTitle"/>
          <p:cNvSpPr txBox="true"/>
          <p:nvPr/>
        </p:nvSpPr>
        <p:spPr>
          <a:xfrm rot="0">
            <a:off x="1074372" y="677913"/>
            <a:ext cx="1461403" cy="466725"/>
          </a:xfrm>
          <a:prstGeom prst="rect">
            <a:avLst/>
          </a:prstGeom>
        </p:spPr>
        <p:txBody>
          <a:bodyPr anchor="t" rtlCol="false" tIns="0" lIns="0" bIns="0" rIns="0">
            <a:spAutoFit/>
          </a:bodyPr>
          <a:lstStyle/>
          <a:p>
            <a:pPr algn="l">
              <a:lnSpc>
                <a:spcPts val="3240"/>
              </a:lnSpc>
            </a:pPr>
            <a:r>
              <a:rPr lang="en-US" b="1" sz="2700" spc="-29">
                <a:solidFill>
                  <a:srgbClr val="7A2F00"/>
                </a:solidFill>
                <a:latin typeface="Calibri"/>
                <a:ea typeface="Calibri"/>
                <a:cs typeface="Calibri"/>
                <a:sym typeface="Calibri"/>
              </a:rPr>
              <a:t>HexTech</a:t>
            </a:r>
          </a:p>
        </p:txBody>
      </p:sp>
      <p:sp>
        <p:nvSpPr>
          <p:cNvPr name="TextBox 24" id="24"/>
          <p:cNvSpPr txBox="true"/>
          <p:nvPr/>
        </p:nvSpPr>
        <p:spPr>
          <a:xfrm rot="0">
            <a:off x="852866" y="2433353"/>
            <a:ext cx="3762650" cy="1744244"/>
          </a:xfrm>
          <a:prstGeom prst="rect">
            <a:avLst/>
          </a:prstGeom>
        </p:spPr>
        <p:txBody>
          <a:bodyPr anchor="t" rtlCol="false" tIns="0" lIns="0" bIns="0" rIns="0">
            <a:spAutoFit/>
          </a:bodyPr>
          <a:lstStyle/>
          <a:p>
            <a:pPr algn="l" marL="413775" indent="-206888" lvl="1">
              <a:lnSpc>
                <a:spcPts val="2740"/>
              </a:lnSpc>
              <a:buFont typeface="Arial"/>
              <a:buChar char="•"/>
            </a:pPr>
            <a:r>
              <a:rPr lang="en-US" sz="1916" spc="-21">
                <a:solidFill>
                  <a:srgbClr val="000000"/>
                </a:solidFill>
                <a:latin typeface="Calibri"/>
                <a:ea typeface="Calibri"/>
                <a:cs typeface="Calibri"/>
                <a:sym typeface="Calibri"/>
              </a:rPr>
              <a:t>Faster, more consist</a:t>
            </a:r>
            <a:r>
              <a:rPr lang="en-US" sz="1916" spc="-21">
                <a:solidFill>
                  <a:srgbClr val="000000"/>
                </a:solidFill>
                <a:latin typeface="Calibri"/>
                <a:ea typeface="Calibri"/>
                <a:cs typeface="Calibri"/>
                <a:sym typeface="Calibri"/>
              </a:rPr>
              <a:t>ent testing</a:t>
            </a:r>
          </a:p>
          <a:p>
            <a:pPr algn="l" marL="413775" indent="-206888" lvl="1">
              <a:lnSpc>
                <a:spcPts val="2740"/>
              </a:lnSpc>
              <a:buFont typeface="Arial"/>
              <a:buChar char="•"/>
            </a:pPr>
            <a:r>
              <a:rPr lang="en-US" sz="1916" spc="-21">
                <a:solidFill>
                  <a:srgbClr val="000000"/>
                </a:solidFill>
                <a:latin typeface="Calibri"/>
                <a:ea typeface="Calibri"/>
                <a:cs typeface="Calibri"/>
                <a:sym typeface="Calibri"/>
              </a:rPr>
              <a:t>Less manual colour checking</a:t>
            </a:r>
          </a:p>
          <a:p>
            <a:pPr algn="l" marL="413775" indent="-206888" lvl="1">
              <a:lnSpc>
                <a:spcPts val="2740"/>
              </a:lnSpc>
              <a:buFont typeface="Arial"/>
              <a:buChar char="•"/>
            </a:pPr>
            <a:r>
              <a:rPr lang="en-US" sz="1916" spc="-21">
                <a:solidFill>
                  <a:srgbClr val="000000"/>
                </a:solidFill>
                <a:latin typeface="Calibri"/>
                <a:ea typeface="Calibri"/>
                <a:cs typeface="Calibri"/>
                <a:sym typeface="Calibri"/>
              </a:rPr>
              <a:t>INCONCLUSIVE when unclear</a:t>
            </a:r>
          </a:p>
          <a:p>
            <a:pPr algn="l" marL="413775" indent="-206888" lvl="1">
              <a:lnSpc>
                <a:spcPts val="2740"/>
              </a:lnSpc>
              <a:buFont typeface="Arial"/>
              <a:buChar char="•"/>
            </a:pPr>
            <a:r>
              <a:rPr lang="en-US" sz="1916" spc="-21">
                <a:solidFill>
                  <a:srgbClr val="000000"/>
                </a:solidFill>
                <a:latin typeface="Calibri"/>
                <a:ea typeface="Calibri"/>
                <a:cs typeface="Calibri"/>
                <a:sym typeface="Calibri"/>
              </a:rPr>
              <a:t>Easy digital test records</a:t>
            </a:r>
          </a:p>
          <a:p>
            <a:pPr algn="l" marL="413775" indent="-206888" lvl="1">
              <a:lnSpc>
                <a:spcPts val="2740"/>
              </a:lnSpc>
              <a:buFont typeface="Arial"/>
              <a:buChar char="•"/>
            </a:pPr>
            <a:r>
              <a:rPr lang="en-US" sz="1916" spc="-21">
                <a:solidFill>
                  <a:srgbClr val="000000"/>
                </a:solidFill>
                <a:latin typeface="Calibri"/>
                <a:ea typeface="Calibri"/>
                <a:cs typeface="Calibri"/>
                <a:sym typeface="Calibri"/>
              </a:rPr>
              <a:t>Quic</a:t>
            </a:r>
            <a:r>
              <a:rPr lang="en-US" sz="1916" spc="-21">
                <a:solidFill>
                  <a:srgbClr val="000000"/>
                </a:solidFill>
                <a:latin typeface="Calibri"/>
                <a:ea typeface="Calibri"/>
                <a:cs typeface="Calibri"/>
                <a:sym typeface="Calibri"/>
              </a:rPr>
              <a:t>k access to past test records</a:t>
            </a:r>
          </a:p>
        </p:txBody>
      </p:sp>
      <p:sp>
        <p:nvSpPr>
          <p:cNvPr name="TextBox 25" id="25"/>
          <p:cNvSpPr txBox="true"/>
          <p:nvPr/>
        </p:nvSpPr>
        <p:spPr>
          <a:xfrm rot="0">
            <a:off x="4784113" y="2433353"/>
            <a:ext cx="5051078" cy="1744142"/>
          </a:xfrm>
          <a:prstGeom prst="rect">
            <a:avLst/>
          </a:prstGeom>
        </p:spPr>
        <p:txBody>
          <a:bodyPr anchor="t" rtlCol="false" tIns="0" lIns="0" bIns="0" rIns="0">
            <a:spAutoFit/>
          </a:bodyPr>
          <a:lstStyle/>
          <a:p>
            <a:pPr algn="l" marL="414528" indent="-207264" lvl="1">
              <a:lnSpc>
                <a:spcPts val="2745"/>
              </a:lnSpc>
              <a:buFont typeface="Arial"/>
              <a:buChar char="•"/>
            </a:pPr>
            <a:r>
              <a:rPr lang="en-US" sz="1920" spc="-21">
                <a:solidFill>
                  <a:srgbClr val="000000"/>
                </a:solidFill>
                <a:latin typeface="Calibri"/>
                <a:ea typeface="Calibri"/>
                <a:cs typeface="Calibri"/>
                <a:sym typeface="Calibri"/>
              </a:rPr>
              <a:t>Proof of every t</a:t>
            </a:r>
            <a:r>
              <a:rPr lang="en-US" sz="1920" spc="-21">
                <a:solidFill>
                  <a:srgbClr val="000000"/>
                </a:solidFill>
                <a:latin typeface="Calibri"/>
                <a:ea typeface="Calibri"/>
                <a:cs typeface="Calibri"/>
                <a:sym typeface="Calibri"/>
              </a:rPr>
              <a:t>est: time, place, officer &amp; photo</a:t>
            </a:r>
          </a:p>
          <a:p>
            <a:pPr algn="l" marL="414528" indent="-207264" lvl="1">
              <a:lnSpc>
                <a:spcPts val="2745"/>
              </a:lnSpc>
              <a:buFont typeface="Arial"/>
              <a:buChar char="•"/>
            </a:pPr>
            <a:r>
              <a:rPr lang="en-US" sz="1920" spc="-21">
                <a:solidFill>
                  <a:srgbClr val="000000"/>
                </a:solidFill>
                <a:latin typeface="Calibri"/>
                <a:ea typeface="Calibri"/>
                <a:cs typeface="Calibri"/>
                <a:sym typeface="Calibri"/>
              </a:rPr>
              <a:t>Secure and verifiable records</a:t>
            </a:r>
          </a:p>
          <a:p>
            <a:pPr algn="l" marL="414528" indent="-207264" lvl="1">
              <a:lnSpc>
                <a:spcPts val="2745"/>
              </a:lnSpc>
              <a:buFont typeface="Arial"/>
              <a:buChar char="•"/>
            </a:pPr>
            <a:r>
              <a:rPr lang="en-US" sz="1920" spc="-21">
                <a:solidFill>
                  <a:srgbClr val="000000"/>
                </a:solidFill>
                <a:latin typeface="Calibri"/>
                <a:ea typeface="Calibri"/>
                <a:cs typeface="Calibri"/>
                <a:sym typeface="Calibri"/>
              </a:rPr>
              <a:t>Less paperw</a:t>
            </a:r>
            <a:r>
              <a:rPr lang="en-US" sz="1920" spc="-21">
                <a:solidFill>
                  <a:srgbClr val="000000"/>
                </a:solidFill>
                <a:latin typeface="Calibri"/>
                <a:ea typeface="Calibri"/>
                <a:cs typeface="Calibri"/>
                <a:sym typeface="Calibri"/>
              </a:rPr>
              <a:t>ork with PDF &amp; QR</a:t>
            </a:r>
          </a:p>
          <a:p>
            <a:pPr algn="l" marL="414528" indent="-207264" lvl="1">
              <a:lnSpc>
                <a:spcPts val="2745"/>
              </a:lnSpc>
              <a:buFont typeface="Arial"/>
              <a:buChar char="•"/>
            </a:pPr>
            <a:r>
              <a:rPr lang="en-US" sz="1920" spc="-21">
                <a:solidFill>
                  <a:srgbClr val="000000"/>
                </a:solidFill>
                <a:latin typeface="Calibri"/>
                <a:ea typeface="Calibri"/>
                <a:cs typeface="Calibri"/>
                <a:sym typeface="Calibri"/>
              </a:rPr>
              <a:t>Easy search, reports and monitoring</a:t>
            </a:r>
          </a:p>
          <a:p>
            <a:pPr algn="l" marL="414528" indent="-207264" lvl="1">
              <a:lnSpc>
                <a:spcPts val="2745"/>
              </a:lnSpc>
              <a:buFont typeface="Arial"/>
              <a:buChar char="•"/>
            </a:pPr>
            <a:r>
              <a:rPr lang="en-US" sz="1920" spc="-21">
                <a:solidFill>
                  <a:srgbClr val="000000"/>
                </a:solidFill>
                <a:latin typeface="Calibri"/>
                <a:ea typeface="Calibri"/>
                <a:cs typeface="Calibri"/>
                <a:sym typeface="Calibri"/>
              </a:rPr>
              <a:t>Better field-test documentation</a:t>
            </a:r>
          </a:p>
        </p:txBody>
      </p:sp>
      <p:sp>
        <p:nvSpPr>
          <p:cNvPr name="TextBox 26" id="26"/>
          <p:cNvSpPr txBox="true"/>
          <p:nvPr/>
        </p:nvSpPr>
        <p:spPr>
          <a:xfrm rot="0">
            <a:off x="1774430" y="2079685"/>
            <a:ext cx="1919520" cy="342900"/>
          </a:xfrm>
          <a:prstGeom prst="rect">
            <a:avLst/>
          </a:prstGeom>
        </p:spPr>
        <p:txBody>
          <a:bodyPr anchor="t" rtlCol="false" tIns="0" lIns="0" bIns="0" rIns="0">
            <a:spAutoFit/>
          </a:bodyPr>
          <a:lstStyle/>
          <a:p>
            <a:pPr algn="ctr">
              <a:lnSpc>
                <a:spcPts val="2471"/>
              </a:lnSpc>
              <a:spcBef>
                <a:spcPct val="0"/>
              </a:spcBef>
            </a:pPr>
            <a:r>
              <a:rPr lang="en-US" b="1" sz="2059" spc="-22">
                <a:solidFill>
                  <a:srgbClr val="974826"/>
                </a:solidFill>
                <a:latin typeface="Calibri"/>
                <a:ea typeface="Calibri"/>
                <a:cs typeface="Calibri"/>
                <a:sym typeface="Calibri"/>
              </a:rPr>
              <a:t>Inspector Benefits</a:t>
            </a:r>
          </a:p>
        </p:txBody>
      </p:sp>
      <p:sp>
        <p:nvSpPr>
          <p:cNvPr name="TextBox 27" id="27"/>
          <p:cNvSpPr txBox="true"/>
          <p:nvPr/>
        </p:nvSpPr>
        <p:spPr>
          <a:xfrm rot="0">
            <a:off x="5853724" y="2085531"/>
            <a:ext cx="2355832" cy="342900"/>
          </a:xfrm>
          <a:prstGeom prst="rect">
            <a:avLst/>
          </a:prstGeom>
        </p:spPr>
        <p:txBody>
          <a:bodyPr anchor="t" rtlCol="false" tIns="0" lIns="0" bIns="0" rIns="0">
            <a:spAutoFit/>
          </a:bodyPr>
          <a:lstStyle/>
          <a:p>
            <a:pPr algn="ctr">
              <a:lnSpc>
                <a:spcPts val="2471"/>
              </a:lnSpc>
              <a:spcBef>
                <a:spcPct val="0"/>
              </a:spcBef>
            </a:pPr>
            <a:r>
              <a:rPr lang="en-US" b="1" sz="2059" spc="-22">
                <a:solidFill>
                  <a:srgbClr val="974826"/>
                </a:solidFill>
                <a:latin typeface="Calibri"/>
                <a:ea typeface="Calibri"/>
                <a:cs typeface="Calibri"/>
                <a:sym typeface="Calibri"/>
              </a:rPr>
              <a:t>Organisation Benefits</a:t>
            </a:r>
          </a:p>
        </p:txBody>
      </p:sp>
      <p:sp>
        <p:nvSpPr>
          <p:cNvPr name="TextBox 28" id="28"/>
          <p:cNvSpPr txBox="true"/>
          <p:nvPr/>
        </p:nvSpPr>
        <p:spPr>
          <a:xfrm rot="0">
            <a:off x="10830810" y="7680761"/>
            <a:ext cx="1661190" cy="371475"/>
          </a:xfrm>
          <a:prstGeom prst="rect">
            <a:avLst/>
          </a:prstGeom>
        </p:spPr>
        <p:txBody>
          <a:bodyPr anchor="t" rtlCol="false" tIns="0" lIns="0" bIns="0" rIns="0">
            <a:spAutoFit/>
          </a:bodyPr>
          <a:lstStyle/>
          <a:p>
            <a:pPr algn="ctr">
              <a:lnSpc>
                <a:spcPts val="2608"/>
              </a:lnSpc>
              <a:spcBef>
                <a:spcPct val="0"/>
              </a:spcBef>
            </a:pPr>
            <a:r>
              <a:rPr lang="en-US" b="1" sz="2173" spc="-24">
                <a:solidFill>
                  <a:srgbClr val="974826"/>
                </a:solidFill>
                <a:latin typeface="Calibri"/>
                <a:ea typeface="Calibri"/>
                <a:cs typeface="Calibri"/>
                <a:sym typeface="Calibri"/>
              </a:rPr>
              <a:t>Future Scope</a:t>
            </a:r>
          </a:p>
        </p:txBody>
      </p:sp>
      <p:sp>
        <p:nvSpPr>
          <p:cNvPr name="TextBox 29" id="29"/>
          <p:cNvSpPr txBox="true"/>
          <p:nvPr/>
        </p:nvSpPr>
        <p:spPr>
          <a:xfrm rot="0">
            <a:off x="10649712" y="1938528"/>
            <a:ext cx="694643" cy="342900"/>
          </a:xfrm>
          <a:prstGeom prst="rect">
            <a:avLst/>
          </a:prstGeom>
        </p:spPr>
        <p:txBody>
          <a:bodyPr anchor="t" rtlCol="false" tIns="0" lIns="0" bIns="0" rIns="0">
            <a:spAutoFit/>
          </a:bodyPr>
          <a:lstStyle/>
          <a:p>
            <a:pPr algn="ctr">
              <a:lnSpc>
                <a:spcPts val="2471"/>
              </a:lnSpc>
              <a:spcBef>
                <a:spcPct val="0"/>
              </a:spcBef>
            </a:pPr>
            <a:r>
              <a:rPr lang="en-US" b="1" sz="2059" spc="-22">
                <a:solidFill>
                  <a:srgbClr val="974826"/>
                </a:solidFill>
                <a:latin typeface="Calibri"/>
                <a:ea typeface="Calibri"/>
                <a:cs typeface="Calibri"/>
                <a:sym typeface="Calibri"/>
              </a:rPr>
              <a:t>Map -</a:t>
            </a:r>
          </a:p>
        </p:txBody>
      </p:sp>
      <p:sp>
        <p:nvSpPr>
          <p:cNvPr name="TextBox 30" id="30"/>
          <p:cNvSpPr txBox="true"/>
          <p:nvPr/>
        </p:nvSpPr>
        <p:spPr>
          <a:xfrm rot="0">
            <a:off x="3973677" y="4553085"/>
            <a:ext cx="3302484" cy="342900"/>
          </a:xfrm>
          <a:prstGeom prst="rect">
            <a:avLst/>
          </a:prstGeom>
        </p:spPr>
        <p:txBody>
          <a:bodyPr anchor="t" rtlCol="false" tIns="0" lIns="0" bIns="0" rIns="0">
            <a:spAutoFit/>
          </a:bodyPr>
          <a:lstStyle/>
          <a:p>
            <a:pPr algn="ctr">
              <a:lnSpc>
                <a:spcPts val="2471"/>
              </a:lnSpc>
              <a:spcBef>
                <a:spcPct val="0"/>
              </a:spcBef>
            </a:pPr>
            <a:r>
              <a:rPr lang="en-US" b="1" sz="2059" spc="-22">
                <a:solidFill>
                  <a:srgbClr val="974826"/>
                </a:solidFill>
                <a:latin typeface="Calibri"/>
                <a:ea typeface="Calibri"/>
                <a:cs typeface="Calibri"/>
                <a:sym typeface="Calibri"/>
              </a:rPr>
              <a:t>QR-Based Record Verification</a:t>
            </a:r>
          </a:p>
        </p:txBody>
      </p:sp>
      <p:sp>
        <p:nvSpPr>
          <p:cNvPr name="TextBox 31" id="31"/>
          <p:cNvSpPr txBox="true"/>
          <p:nvPr/>
        </p:nvSpPr>
        <p:spPr>
          <a:xfrm rot="0">
            <a:off x="11372088" y="1975104"/>
            <a:ext cx="2004464" cy="295275"/>
          </a:xfrm>
          <a:prstGeom prst="rect">
            <a:avLst/>
          </a:prstGeom>
        </p:spPr>
        <p:txBody>
          <a:bodyPr anchor="t" rtlCol="false" tIns="0" lIns="0" bIns="0" rIns="0">
            <a:spAutoFit/>
          </a:bodyPr>
          <a:lstStyle/>
          <a:p>
            <a:pPr algn="l">
              <a:lnSpc>
                <a:spcPts val="2040"/>
              </a:lnSpc>
              <a:spcBef>
                <a:spcPct val="0"/>
              </a:spcBef>
            </a:pPr>
            <a:r>
              <a:rPr lang="en-US" sz="1700" spc="-18">
                <a:solidFill>
                  <a:srgbClr val="000000"/>
                </a:solidFill>
                <a:latin typeface="Calibri"/>
                <a:ea typeface="Calibri"/>
                <a:cs typeface="Calibri"/>
                <a:sym typeface="Calibri"/>
              </a:rPr>
              <a:t>Geo-Tagged test result</a:t>
            </a:r>
          </a:p>
        </p:txBody>
      </p:sp>
      <p:sp>
        <p:nvSpPr>
          <p:cNvPr name="TextBox 29" id="32"/>
          <p:cNvSpPr txBox="true"/>
          <p:nvPr/>
        </p:nvSpPr>
        <p:spPr>
          <a:xfrm rot="0">
            <a:off x="10649712" y="4750199"/>
            <a:ext cx="1828800" cy="365760"/>
          </a:xfrm>
          <a:prstGeom prst="rect">
            <a:avLst/>
          </a:prstGeom>
        </p:spPr>
        <p:txBody>
          <a:bodyPr anchor="t" rtlCol="false" tIns="0" lIns="0" bIns="0" rIns="0" wrap="none">
            <a:noAutofit/>
          </a:bodyPr>
          <a:lstStyle/>
          <a:p>
            <a:pPr algn="ctr">
              <a:lnSpc>
                <a:spcPts val="2471"/>
              </a:lnSpc>
              <a:spcBef>
                <a:spcPct val="0"/>
              </a:spcBef>
            </a:pPr>
            <a:r>
              <a:rPr lang="en-US" b="1" sz="2059" spc="-22">
                <a:solidFill>
                  <a:srgbClr val="974826"/>
                </a:solidFill>
                <a:latin typeface="Calibri"/>
                <a:ea typeface="Calibri"/>
                <a:cs typeface="Calibri"/>
                <a:sym typeface="Calibri"/>
              </a:rPr>
              <a:t>Tamper Test -</a:t>
            </a:r>
          </a:p>
        </p:txBody>
      </p:sp>
      <p:sp>
        <p:nvSpPr>
          <p:cNvPr name="TextBox 31" id="33"/>
          <p:cNvSpPr txBox="true"/>
          <p:nvPr/>
        </p:nvSpPr>
        <p:spPr>
          <a:xfrm rot="0">
            <a:off x="12368784" y="4786775"/>
            <a:ext cx="4937760" cy="310896"/>
          </a:xfrm>
          <a:prstGeom prst="rect">
            <a:avLst/>
          </a:prstGeom>
        </p:spPr>
        <p:txBody>
          <a:bodyPr anchor="t" rtlCol="false" tIns="0" lIns="0" bIns="0" rIns="0" wrap="none">
            <a:noAutofit/>
          </a:bodyPr>
          <a:lstStyle/>
          <a:p>
            <a:pPr algn="l">
              <a:lnSpc>
                <a:spcPts val="2040"/>
              </a:lnSpc>
              <a:spcBef>
                <a:spcPct val="0"/>
              </a:spcBef>
            </a:pPr>
            <a:r>
              <a:rPr lang="en-US" sz="1700" spc="-18">
                <a:solidFill>
                  <a:srgbClr val="000000"/>
                </a:solidFill>
                <a:latin typeface="Calibri"/>
                <a:ea typeface="Calibri"/>
                <a:cs typeface="Calibri"/>
                <a:sym typeface="Calibri"/>
              </a:rPr>
              <a:t>we tried it on our saved records</a:t>
            </a:r>
          </a:p>
        </p:txBody>
      </p:sp>
      <p:pic>
        <p:nvPicPr>
          <p:cNvPr id="34" name="Tamper proof" descr="tamper_proof_tall.png"/>
          <p:cNvPicPr>
            <a:picLocks noChangeAspect="1"/>
          </p:cNvPicPr>
          <p:nvPr/>
        </p:nvPicPr>
        <p:blipFill>
          <a:blip r:embed="rId14"/>
          <a:stretch>
            <a:fillRect/>
          </a:stretch>
        </p:blipFill>
        <p:spPr>
          <a:xfrm>
            <a:off x="10649712" y="5115959"/>
            <a:ext cx="6735059" cy="2418498"/>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64624"/>
            <a:ext cx="18280761" cy="715289"/>
            <a:chOff x="0" y="0"/>
            <a:chExt cx="24374348" cy="953719"/>
          </a:xfrm>
        </p:grpSpPr>
        <p:sp>
          <p:nvSpPr>
            <p:cNvPr name="Freeform 3" id="3"/>
            <p:cNvSpPr/>
            <p:nvPr/>
          </p:nvSpPr>
          <p:spPr>
            <a:xfrm flipH="false" flipV="false" rot="0">
              <a:off x="0" y="0"/>
              <a:ext cx="24374348" cy="953770"/>
            </a:xfrm>
            <a:custGeom>
              <a:avLst/>
              <a:gdLst/>
              <a:ahLst/>
              <a:cxnLst/>
              <a:rect r="r" b="b" t="t" l="l"/>
              <a:pathLst>
                <a:path h="953770" w="24374348">
                  <a:moveTo>
                    <a:pt x="0" y="0"/>
                  </a:moveTo>
                  <a:lnTo>
                    <a:pt x="24374348" y="0"/>
                  </a:lnTo>
                  <a:lnTo>
                    <a:pt x="24374348" y="953770"/>
                  </a:lnTo>
                  <a:lnTo>
                    <a:pt x="0" y="953770"/>
                  </a:lnTo>
                  <a:lnTo>
                    <a:pt x="0" y="0"/>
                  </a:lnTo>
                  <a:close/>
                </a:path>
              </a:pathLst>
            </a:custGeom>
            <a:blipFill>
              <a:blip r:embed="rId2"/>
              <a:stretch>
                <a:fillRect l="0" t="-914" r="0" b="-909"/>
              </a:stretch>
            </a:blipFill>
          </p:spPr>
        </p:sp>
      </p:grpSp>
      <p:grpSp>
        <p:nvGrpSpPr>
          <p:cNvPr name="Group 4" id="4"/>
          <p:cNvGrpSpPr/>
          <p:nvPr/>
        </p:nvGrpSpPr>
        <p:grpSpPr>
          <a:xfrm rot="0">
            <a:off x="0" y="9532620"/>
            <a:ext cx="18288000" cy="754380"/>
            <a:chOff x="0" y="0"/>
            <a:chExt cx="24384000" cy="1005840"/>
          </a:xfrm>
        </p:grpSpPr>
        <p:sp>
          <p:nvSpPr>
            <p:cNvPr name="Freeform 5" id="5"/>
            <p:cNvSpPr/>
            <p:nvPr/>
          </p:nvSpPr>
          <p:spPr>
            <a:xfrm flipH="false" flipV="false" rot="0">
              <a:off x="0" y="0"/>
              <a:ext cx="24384000" cy="1005840"/>
            </a:xfrm>
            <a:custGeom>
              <a:avLst/>
              <a:gdLst/>
              <a:ahLst/>
              <a:cxnLst/>
              <a:rect r="r" b="b" t="t" l="l"/>
              <a:pathLst>
                <a:path h="1005840" w="24384000">
                  <a:moveTo>
                    <a:pt x="24384000" y="0"/>
                  </a:moveTo>
                  <a:lnTo>
                    <a:pt x="0" y="0"/>
                  </a:lnTo>
                  <a:lnTo>
                    <a:pt x="0" y="1005840"/>
                  </a:lnTo>
                  <a:lnTo>
                    <a:pt x="24384000" y="1005840"/>
                  </a:lnTo>
                  <a:lnTo>
                    <a:pt x="24384000" y="0"/>
                  </a:lnTo>
                  <a:close/>
                </a:path>
              </a:pathLst>
            </a:custGeom>
            <a:solidFill>
              <a:srgbClr val="006EC0"/>
            </a:solidFill>
          </p:spPr>
        </p:sp>
      </p:grpSp>
      <p:sp>
        <p:nvSpPr>
          <p:cNvPr name="Freeform 6" id="6"/>
          <p:cNvSpPr/>
          <p:nvPr/>
        </p:nvSpPr>
        <p:spPr>
          <a:xfrm flipH="false" flipV="false" rot="0">
            <a:off x="391335" y="315011"/>
            <a:ext cx="2629852" cy="1249680"/>
          </a:xfrm>
          <a:custGeom>
            <a:avLst/>
            <a:gdLst/>
            <a:ahLst/>
            <a:cxnLst/>
            <a:rect r="r" b="b" t="t" l="l"/>
            <a:pathLst>
              <a:path h="1249680" w="2629852">
                <a:moveTo>
                  <a:pt x="0" y="0"/>
                </a:moveTo>
                <a:lnTo>
                  <a:pt x="2629852" y="0"/>
                </a:lnTo>
                <a:lnTo>
                  <a:pt x="2629852" y="1249680"/>
                </a:lnTo>
                <a:lnTo>
                  <a:pt x="0" y="12496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aphicFrame>
        <p:nvGraphicFramePr>
          <p:cNvPr name="Table 7" id="7"/>
          <p:cNvGraphicFramePr>
            <a:graphicFrameLocks noGrp="true"/>
          </p:cNvGraphicFramePr>
          <p:nvPr/>
        </p:nvGraphicFramePr>
        <p:xfrm>
          <a:off x="685800" y="1920240"/>
          <a:ext cx="16916400" cy="7406640"/>
        </p:xfrm>
        <a:graphic>
          <a:graphicData uri="http://schemas.openxmlformats.org/drawingml/2006/table">
            <a:tbl>
              <a:tblPr/>
              <a:tblGrid>
                <a:gridCol w="6400800"/>
                <a:gridCol w="4114800"/>
                <a:gridCol w="6400800"/>
              </a:tblGrid>
              <a:tr h="777240">
                <a:tc>
                  <a:txBody>
                    <a:bodyPr anchor="t" rtlCol="false"/>
                    <a:lstStyle/>
                    <a:p>
                      <a:pPr algn="ctr">
                        <a:lnSpc>
                          <a:spcPts val="2519"/>
                        </a:lnSpc>
                        <a:defRPr/>
                      </a:pPr>
                      <a:r>
                        <a:rPr lang="en-US" sz="1799">
                          <a:solidFill>
                            <a:srgbClr val="000000"/>
                          </a:solidFill>
                          <a:latin typeface="Arimo"/>
                          <a:ea typeface="Arimo"/>
                          <a:cs typeface="Arimo"/>
                          <a:sym typeface="Arimo"/>
                        </a:rPr>
                        <a:t>What they found</a:t>
                      </a:r>
                      <a:endParaRPr lang="en-US" sz="1100"/>
                    </a:p>
                  </a:txBody>
                  <a:tcPr marL="190500" marR="190500" marT="190500" marB="190500" anchor="ctr">
                    <a:lnL cmpd="sng" algn="ctr" cap="flat" w="19050">
                      <a:solidFill>
                        <a:srgbClr val="7A2F00"/>
                      </a:solidFill>
                      <a:prstDash val="solid"/>
                      <a:round/>
                      <a:headEnd type="none" w="med" len="med"/>
                      <a:tailEnd type="none" w="med" len="med"/>
                    </a:lnL>
                    <a:lnR cmpd="sng" algn="ctr" cap="flat" w="19050">
                      <a:solidFill>
                        <a:srgbClr val="7A2F00"/>
                      </a:solidFill>
                      <a:prstDash val="solid"/>
                      <a:round/>
                      <a:headEnd type="none" w="med" len="med"/>
                      <a:tailEnd type="none" w="med" len="med"/>
                    </a:lnR>
                    <a:lnT cmpd="sng" algn="ctr" cap="flat" w="19050">
                      <a:solidFill>
                        <a:srgbClr val="7A2F00"/>
                      </a:solidFill>
                      <a:prstDash val="solid"/>
                      <a:round/>
                      <a:headEnd type="none" w="med" len="med"/>
                      <a:tailEnd type="none" w="med" len="med"/>
                    </a:lnT>
                    <a:lnB cmpd="sng" algn="ctr" cap="flat" w="19050">
                      <a:solidFill>
                        <a:srgbClr val="7A2F00"/>
                      </a:solidFill>
                      <a:prstDash val="solid"/>
                      <a:round/>
                      <a:headEnd type="none" w="med" len="med"/>
                      <a:tailEnd type="none" w="med" len="med"/>
                    </a:lnB>
                    <a:solidFill>
                      <a:srgbClr val="B2935B"/>
                    </a:solidFill>
                  </a:tcPr>
                </a:tc>
                <a:tc>
                  <a:txBody>
                    <a:bodyPr anchor="t" rtlCol="false"/>
                    <a:lstStyle/>
                    <a:p>
                      <a:pPr algn="ctr">
                        <a:lnSpc>
                          <a:spcPts val="2519"/>
                        </a:lnSpc>
                        <a:defRPr/>
                      </a:pPr>
                      <a:r>
                        <a:rPr lang="en-US" sz="1799">
                          <a:solidFill>
                            <a:srgbClr val="000000"/>
                          </a:solidFill>
                          <a:latin typeface="Arimo"/>
                          <a:ea typeface="Arimo"/>
                          <a:cs typeface="Arimo"/>
                          <a:sym typeface="Arimo"/>
                        </a:rPr>
                        <a:t>How we use it</a:t>
                      </a:r>
                      <a:endParaRPr lang="en-US" sz="1100"/>
                    </a:p>
                  </a:txBody>
                  <a:tcPr marL="190500" marR="190500" marT="190500" marB="190500" anchor="ctr">
                    <a:lnL cmpd="sng" algn="ctr" cap="flat" w="19050">
                      <a:solidFill>
                        <a:srgbClr val="7A2F00"/>
                      </a:solidFill>
                      <a:prstDash val="solid"/>
                      <a:round/>
                      <a:headEnd type="none" w="med" len="med"/>
                      <a:tailEnd type="none" w="med" len="med"/>
                    </a:lnL>
                    <a:lnR cmpd="sng" algn="ctr" cap="flat" w="19050">
                      <a:solidFill>
                        <a:srgbClr val="7A2F00"/>
                      </a:solidFill>
                      <a:prstDash val="solid"/>
                      <a:round/>
                      <a:headEnd type="none" w="med" len="med"/>
                      <a:tailEnd type="none" w="med" len="med"/>
                    </a:lnR>
                    <a:lnT cmpd="sng" algn="ctr" cap="flat" w="19050">
                      <a:solidFill>
                        <a:srgbClr val="7A2F00"/>
                      </a:solidFill>
                      <a:prstDash val="solid"/>
                      <a:round/>
                      <a:headEnd type="none" w="med" len="med"/>
                      <a:tailEnd type="none" w="med" len="med"/>
                    </a:lnT>
                    <a:lnB cmpd="sng" algn="ctr" cap="flat" w="19050">
                      <a:solidFill>
                        <a:srgbClr val="7A2F00"/>
                      </a:solidFill>
                      <a:prstDash val="solid"/>
                      <a:round/>
                      <a:headEnd type="none" w="med" len="med"/>
                      <a:tailEnd type="none" w="med" len="med"/>
                    </a:lnB>
                    <a:solidFill>
                      <a:srgbClr val="B2935B"/>
                    </a:solidFill>
                  </a:tcPr>
                </a:tc>
                <a:tc>
                  <a:txBody>
                    <a:bodyPr anchor="t" rtlCol="false"/>
                    <a:lstStyle/>
                    <a:p>
                      <a:pPr algn="ctr">
                        <a:lnSpc>
                          <a:spcPts val="2519"/>
                        </a:lnSpc>
                        <a:defRPr/>
                      </a:pPr>
                      <a:r>
                        <a:rPr lang="en-US" sz="1799">
                          <a:solidFill>
                            <a:srgbClr val="000000"/>
                          </a:solidFill>
                          <a:latin typeface="Arimo"/>
                          <a:ea typeface="Arimo"/>
                          <a:cs typeface="Arimo"/>
                          <a:sym typeface="Arimo"/>
                        </a:rPr>
                        <a:t>Research</a:t>
                      </a:r>
                      <a:endParaRPr lang="en-US" sz="1100"/>
                    </a:p>
                  </a:txBody>
                  <a:tcPr marL="190500" marR="190500" marT="190500" marB="190500" anchor="ctr">
                    <a:lnL cmpd="sng" algn="ctr" cap="flat" w="19050">
                      <a:solidFill>
                        <a:srgbClr val="7A2F00"/>
                      </a:solidFill>
                      <a:prstDash val="solid"/>
                      <a:round/>
                      <a:headEnd type="none" w="med" len="med"/>
                      <a:tailEnd type="none" w="med" len="med"/>
                    </a:lnL>
                    <a:lnR cmpd="sng" algn="ctr" cap="flat" w="19050">
                      <a:solidFill>
                        <a:srgbClr val="7A2F00"/>
                      </a:solidFill>
                      <a:prstDash val="solid"/>
                      <a:round/>
                      <a:headEnd type="none" w="med" len="med"/>
                      <a:tailEnd type="none" w="med" len="med"/>
                    </a:lnR>
                    <a:lnT cmpd="sng" algn="ctr" cap="flat" w="19050">
                      <a:solidFill>
                        <a:srgbClr val="7A2F00"/>
                      </a:solidFill>
                      <a:prstDash val="solid"/>
                      <a:round/>
                      <a:headEnd type="none" w="med" len="med"/>
                      <a:tailEnd type="none" w="med" len="med"/>
                    </a:lnT>
                    <a:lnB cmpd="sng" algn="ctr" cap="flat" w="19050">
                      <a:solidFill>
                        <a:srgbClr val="7A2F00"/>
                      </a:solidFill>
                      <a:prstDash val="solid"/>
                      <a:round/>
                      <a:headEnd type="none" w="med" len="med"/>
                      <a:tailEnd type="none" w="med" len="med"/>
                    </a:lnB>
                    <a:solidFill>
                      <a:srgbClr val="B2935B"/>
                    </a:solidFill>
                  </a:tcPr>
                </a:tc>
              </a:tr>
              <a:tr h="1325880">
                <a:tc>
                  <a:txBody>
                    <a:bodyPr anchor="t" rtlCol="false"/>
                    <a:lstStyle/>
                    <a:p>
                      <a:pPr algn="l">
                        <a:spcAft>
                          <a:spcPts val="600"/>
                        </a:spcAft>
                      </a:pPr>
                      <a:r>
                        <a:rPr lang="en-US" sz="1500" spc="-16" b="1">
                          <a:solidFill>
                            <a:srgbClr val="000000"/>
                          </a:solidFill>
                          <a:latin typeface="Calibri"/>
                          <a:ea typeface="Calibri"/>
                          <a:cs typeface="Calibri"/>
                          <a:sym typeface="Calibri"/>
                        </a:rPr>
                        <a:t>IEEE EMBC 2016</a:t>
                      </a:r>
                    </a:p>
                    <a:p>
                      <a:pPr algn="l">
                        <a:lnSpc>
                          <a:spcPts val="1679"/>
                        </a:lnSpc>
                        <a:defRPr/>
                      </a:pPr>
                      <a:r>
                        <a:rPr lang="en-US" sz="1400">
                          <a:solidFill>
                            <a:srgbClr val="000000"/>
                          </a:solidFill>
                          <a:latin typeface="Calibri"/>
                          <a:ea typeface="Calibri"/>
                          <a:cs typeface="Calibri"/>
                          <a:sym typeface="Calibri"/>
                        </a:rPr>
                        <a:t>Phone camera colours change with light and phone model; reference colours can help handle this.</a:t>
                      </a:r>
                      <a:endParaRPr lang="en-US" sz="1100"/>
                    </a:p>
                  </a:txBody>
                  <a:tcPr marL="190500" marR="190500" marT="190500" marB="190500" anchor="ctr">
                    <a:lnL cmpd="sng" algn="ctr" cap="flat" w="19050">
                      <a:solidFill>
                        <a:srgbClr val="7A2F00"/>
                      </a:solidFill>
                      <a:prstDash val="solid"/>
                      <a:round/>
                      <a:headEnd type="none" w="med" len="med"/>
                      <a:tailEnd type="none" w="med" len="med"/>
                    </a:lnL>
                    <a:lnR cmpd="sng" algn="ctr" cap="flat" w="19050">
                      <a:solidFill>
                        <a:srgbClr val="7A2F00"/>
                      </a:solidFill>
                      <a:prstDash val="solid"/>
                      <a:round/>
                      <a:headEnd type="none" w="med" len="med"/>
                      <a:tailEnd type="none" w="med" len="med"/>
                    </a:lnR>
                    <a:lnT cmpd="sng" algn="ctr" cap="flat" w="19050">
                      <a:solidFill>
                        <a:srgbClr val="7A2F00"/>
                      </a:solidFill>
                      <a:prstDash val="solid"/>
                      <a:round/>
                      <a:headEnd type="none" w="med" len="med"/>
                      <a:tailEnd type="none" w="med" len="med"/>
                    </a:lnT>
                    <a:lnB cmpd="sng" algn="ctr" cap="flat" w="19050">
                      <a:solidFill>
                        <a:srgbClr val="7A2F00"/>
                      </a:solidFill>
                      <a:prstDash val="solid"/>
                      <a:round/>
                      <a:headEnd type="none" w="med" len="med"/>
                      <a:tailEnd type="none" w="med" len="med"/>
                    </a:lnB>
                  </a:tcPr>
                </a:tc>
                <a:tc>
                  <a:txBody>
                    <a:bodyPr anchor="t" rtlCol="false"/>
                    <a:lstStyle/>
                    <a:p>
                      <a:pPr algn="l">
                        <a:lnSpc>
                          <a:spcPts val="1679"/>
                        </a:lnSpc>
                        <a:defRPr/>
                      </a:pPr>
                      <a:r>
                        <a:rPr lang="en-US" sz="1400">
                          <a:solidFill>
                            <a:srgbClr val="000000"/>
                          </a:solidFill>
                          <a:latin typeface="Calibri"/>
                          <a:ea typeface="Calibri"/>
                          <a:cs typeface="Calibri"/>
                          <a:sym typeface="Calibri"/>
                        </a:rPr>
                        <a:t>Our ₹10 colour card fixes colours in every test</a:t>
                      </a:r>
                      <a:endParaRPr lang="en-US" sz="1100"/>
                    </a:p>
                  </a:txBody>
                  <a:tcPr marL="190500" marR="190500" marT="190500" marB="190500" anchor="ctr">
                    <a:lnL cmpd="sng" algn="ctr" cap="flat" w="19050">
                      <a:solidFill>
                        <a:srgbClr val="7A2F00"/>
                      </a:solidFill>
                      <a:prstDash val="solid"/>
                      <a:round/>
                      <a:headEnd type="none" w="med" len="med"/>
                      <a:tailEnd type="none" w="med" len="med"/>
                    </a:lnL>
                    <a:lnR cmpd="sng" algn="ctr" cap="flat" w="19050">
                      <a:solidFill>
                        <a:srgbClr val="7A2F00"/>
                      </a:solidFill>
                      <a:prstDash val="solid"/>
                      <a:round/>
                      <a:headEnd type="none" w="med" len="med"/>
                      <a:tailEnd type="none" w="med" len="med"/>
                    </a:lnR>
                    <a:lnT cmpd="sng" algn="ctr" cap="flat" w="19050">
                      <a:solidFill>
                        <a:srgbClr val="7A2F00"/>
                      </a:solidFill>
                      <a:prstDash val="solid"/>
                      <a:round/>
                      <a:headEnd type="none" w="med" len="med"/>
                      <a:tailEnd type="none" w="med" len="med"/>
                    </a:lnT>
                    <a:lnB cmpd="sng" algn="ctr" cap="flat" w="19050">
                      <a:solidFill>
                        <a:srgbClr val="7A2F00"/>
                      </a:solidFill>
                      <a:prstDash val="solid"/>
                      <a:round/>
                      <a:headEnd type="none" w="med" len="med"/>
                      <a:tailEnd type="none" w="med" len="med"/>
                    </a:lnB>
                  </a:tcPr>
                </a:tc>
                <a:tc>
                  <a:txBody>
                    <a:bodyPr anchor="t" rtlCol="false"/>
                    <a:lstStyle/>
                    <a:p>
                      <a:pPr algn="l">
                        <a:lnSpc>
                          <a:spcPts val="1819"/>
                        </a:lnSpc>
                      </a:pPr>
                      <a:r>
                        <a:rPr lang="en-US" sz="1400" u="sng">
                          <a:solidFill>
                            <a:srgbClr val="1F477B"/>
                          </a:solidFill>
                          <a:latin typeface="Calibri"/>
                          <a:ea typeface="Arimo"/>
                          <a:cs typeface="Arimo"/>
                          <a:sym typeface="Arimo"/>
                          <a:hlinkClick r:id="rId5" tooltip="https://pubmed.ncbi.nlm.nih.gov/28269432/"/>
                        </a:rPr>
                        <a:t>IEEE EMBC 2016 – Illumination and device independence for colorimetric detection of urinary biomarkers with smartphone</a:t>
                      </a:r>
                    </a:p>
                  </a:txBody>
                  <a:tcPr marL="190500" marR="190500" marT="190500" marB="190500" anchor="ctr">
                    <a:lnL cmpd="sng" algn="ctr" cap="flat" w="19050">
                      <a:solidFill>
                        <a:srgbClr val="7A2F00"/>
                      </a:solidFill>
                      <a:prstDash val="solid"/>
                      <a:round/>
                      <a:headEnd type="none" w="med" len="med"/>
                      <a:tailEnd type="none" w="med" len="med"/>
                    </a:lnL>
                    <a:lnR cmpd="sng" algn="ctr" cap="flat" w="19050">
                      <a:solidFill>
                        <a:srgbClr val="7A2F00"/>
                      </a:solidFill>
                      <a:prstDash val="solid"/>
                      <a:round/>
                      <a:headEnd type="none" w="med" len="med"/>
                      <a:tailEnd type="none" w="med" len="med"/>
                    </a:lnR>
                    <a:lnT cmpd="sng" algn="ctr" cap="flat" w="19050">
                      <a:solidFill>
                        <a:srgbClr val="7A2F00"/>
                      </a:solidFill>
                      <a:prstDash val="solid"/>
                      <a:round/>
                      <a:headEnd type="none" w="med" len="med"/>
                      <a:tailEnd type="none" w="med" len="med"/>
                    </a:lnT>
                    <a:lnB cmpd="sng" algn="ctr" cap="flat" w="19050">
                      <a:solidFill>
                        <a:srgbClr val="7A2F00"/>
                      </a:solidFill>
                      <a:prstDash val="solid"/>
                      <a:round/>
                      <a:headEnd type="none" w="med" len="med"/>
                      <a:tailEnd type="none" w="med" len="med"/>
                    </a:lnB>
                  </a:tcPr>
                </a:tc>
              </a:tr>
              <a:tr h="1325880">
                <a:tc>
                  <a:txBody>
                    <a:bodyPr anchor="t" rtlCol="false"/>
                    <a:lstStyle/>
                    <a:p>
                      <a:pPr algn="l">
                        <a:spcAft>
                          <a:spcPts val="600"/>
                        </a:spcAft>
                      </a:pPr>
                      <a:r>
                        <a:rPr lang="en-US" sz="1500" spc="-16" b="1">
                          <a:solidFill>
                            <a:srgbClr val="000000"/>
                          </a:solidFill>
                          <a:latin typeface="Calibri"/>
                          <a:ea typeface="Calibri"/>
                          <a:cs typeface="Calibri"/>
                          <a:sym typeface="Calibri"/>
                        </a:rPr>
                        <a:t>IEEE TPS-ISA 2024</a:t>
                      </a:r>
                    </a:p>
                    <a:p>
                      <a:pPr algn="l">
                        <a:lnSpc>
                          <a:spcPts val="1679"/>
                        </a:lnSpc>
                        <a:defRPr/>
                      </a:pPr>
                      <a:r>
                        <a:rPr lang="en-US" sz="1400">
                          <a:solidFill>
                            <a:srgbClr val="000000"/>
                          </a:solidFill>
                          <a:latin typeface="Calibri"/>
                          <a:ea typeface="Calibri"/>
                          <a:cs typeface="Calibri"/>
                          <a:sym typeface="Calibri"/>
                        </a:rPr>
                        <a:t>Digital evidence must maintain integrity and show how it was handled.</a:t>
                      </a:r>
                      <a:endParaRPr lang="en-US" sz="1100"/>
                    </a:p>
                  </a:txBody>
                  <a:tcPr marL="190500" marR="190500" marT="190500" marB="190500" anchor="ctr">
                    <a:lnL cmpd="sng" algn="ctr" cap="flat" w="19050">
                      <a:solidFill>
                        <a:srgbClr val="7A2F00"/>
                      </a:solidFill>
                      <a:prstDash val="solid"/>
                      <a:round/>
                      <a:headEnd type="none" w="med" len="med"/>
                      <a:tailEnd type="none" w="med" len="med"/>
                    </a:lnL>
                    <a:lnR cmpd="sng" algn="ctr" cap="flat" w="19050">
                      <a:solidFill>
                        <a:srgbClr val="7A2F00"/>
                      </a:solidFill>
                      <a:prstDash val="solid"/>
                      <a:round/>
                      <a:headEnd type="none" w="med" len="med"/>
                      <a:tailEnd type="none" w="med" len="med"/>
                    </a:lnR>
                    <a:lnT cmpd="sng" algn="ctr" cap="flat" w="19050">
                      <a:solidFill>
                        <a:srgbClr val="7A2F00"/>
                      </a:solidFill>
                      <a:prstDash val="solid"/>
                      <a:round/>
                      <a:headEnd type="none" w="med" len="med"/>
                      <a:tailEnd type="none" w="med" len="med"/>
                    </a:lnT>
                    <a:lnB cmpd="sng" algn="ctr" cap="flat" w="19050">
                      <a:solidFill>
                        <a:srgbClr val="7A2F00"/>
                      </a:solidFill>
                      <a:prstDash val="solid"/>
                      <a:round/>
                      <a:headEnd type="none" w="med" len="med"/>
                      <a:tailEnd type="none" w="med" len="med"/>
                    </a:lnB>
                  </a:tcPr>
                </a:tc>
                <a:tc>
                  <a:txBody>
                    <a:bodyPr anchor="t" rtlCol="false"/>
                    <a:lstStyle/>
                    <a:p>
                      <a:pPr algn="l">
                        <a:lnSpc>
                          <a:spcPts val="1679"/>
                        </a:lnSpc>
                        <a:defRPr/>
                      </a:pPr>
                      <a:r>
                        <a:rPr lang="en-US" sz="1400">
                          <a:solidFill>
                            <a:srgbClr val="000000"/>
                          </a:solidFill>
                          <a:latin typeface="Calibri"/>
                          <a:ea typeface="Calibri"/>
                          <a:cs typeface="Calibri"/>
                          <a:sym typeface="Calibri"/>
                        </a:rPr>
                        <a:t>Photo fingerprint + signature + chained log</a:t>
                      </a:r>
                      <a:endParaRPr lang="en-US" sz="1100"/>
                    </a:p>
                  </a:txBody>
                  <a:tcPr marL="190500" marR="190500" marT="190500" marB="190500" anchor="ctr">
                    <a:lnL cmpd="sng" algn="ctr" cap="flat" w="19050">
                      <a:solidFill>
                        <a:srgbClr val="7A2F00"/>
                      </a:solidFill>
                      <a:prstDash val="solid"/>
                      <a:round/>
                      <a:headEnd type="none" w="med" len="med"/>
                      <a:tailEnd type="none" w="med" len="med"/>
                    </a:lnL>
                    <a:lnR cmpd="sng" algn="ctr" cap="flat" w="19050">
                      <a:solidFill>
                        <a:srgbClr val="7A2F00"/>
                      </a:solidFill>
                      <a:prstDash val="solid"/>
                      <a:round/>
                      <a:headEnd type="none" w="med" len="med"/>
                      <a:tailEnd type="none" w="med" len="med"/>
                    </a:lnR>
                    <a:lnT cmpd="sng" algn="ctr" cap="flat" w="19050">
                      <a:solidFill>
                        <a:srgbClr val="7A2F00"/>
                      </a:solidFill>
                      <a:prstDash val="solid"/>
                      <a:round/>
                      <a:headEnd type="none" w="med" len="med"/>
                      <a:tailEnd type="none" w="med" len="med"/>
                    </a:lnT>
                    <a:lnB cmpd="sng" algn="ctr" cap="flat" w="19050">
                      <a:solidFill>
                        <a:srgbClr val="7A2F00"/>
                      </a:solidFill>
                      <a:prstDash val="solid"/>
                      <a:round/>
                      <a:headEnd type="none" w="med" len="med"/>
                      <a:tailEnd type="none" w="med" len="med"/>
                    </a:lnB>
                  </a:tcPr>
                </a:tc>
                <a:tc>
                  <a:txBody>
                    <a:bodyPr anchor="t" rtlCol="false"/>
                    <a:lstStyle/>
                    <a:p>
                      <a:pPr algn="l">
                        <a:lnSpc>
                          <a:spcPts val="1819"/>
                        </a:lnSpc>
                      </a:pPr>
                      <a:r>
                        <a:rPr lang="en-US" sz="1400" u="sng">
                          <a:solidFill>
                            <a:srgbClr val="1F477B"/>
                          </a:solidFill>
                          <a:latin typeface="Calibri"/>
                          <a:ea typeface="Arimo"/>
                          <a:cs typeface="Arimo"/>
                          <a:sym typeface="Arimo"/>
                          <a:hlinkClick r:id="rId6" tooltip="https://www.researchgate.net/publication/386361522_Digital_Evidence_Chain_of_Custody_Navigating_New_Realities_of_Digital_Forensics"/>
                        </a:rPr>
                        <a:t>IEEE TPS-ISA 2024 – Digital Evidence Chain of Custody: Navigating New Realities of Digital Forensics</a:t>
                      </a:r>
                    </a:p>
                  </a:txBody>
                  <a:tcPr marL="190500" marR="190500" marT="190500" marB="190500" anchor="ctr">
                    <a:lnL cmpd="sng" algn="ctr" cap="flat" w="19050">
                      <a:solidFill>
                        <a:srgbClr val="7A2F00"/>
                      </a:solidFill>
                      <a:prstDash val="solid"/>
                      <a:round/>
                      <a:headEnd type="none" w="med" len="med"/>
                      <a:tailEnd type="none" w="med" len="med"/>
                    </a:lnL>
                    <a:lnR cmpd="sng" algn="ctr" cap="flat" w="19050">
                      <a:solidFill>
                        <a:srgbClr val="7A2F00"/>
                      </a:solidFill>
                      <a:prstDash val="solid"/>
                      <a:round/>
                      <a:headEnd type="none" w="med" len="med"/>
                      <a:tailEnd type="none" w="med" len="med"/>
                    </a:lnR>
                    <a:lnT cmpd="sng" algn="ctr" cap="flat" w="19050">
                      <a:solidFill>
                        <a:srgbClr val="7A2F00"/>
                      </a:solidFill>
                      <a:prstDash val="solid"/>
                      <a:round/>
                      <a:headEnd type="none" w="med" len="med"/>
                      <a:tailEnd type="none" w="med" len="med"/>
                    </a:lnT>
                    <a:lnB cmpd="sng" algn="ctr" cap="flat" w="19050">
                      <a:solidFill>
                        <a:srgbClr val="7A2F00"/>
                      </a:solidFill>
                      <a:prstDash val="solid"/>
                      <a:round/>
                      <a:headEnd type="none" w="med" len="med"/>
                      <a:tailEnd type="none" w="med" len="med"/>
                    </a:lnB>
                  </a:tcPr>
                </a:tc>
              </a:tr>
              <a:tr h="1325880">
                <a:tc>
                  <a:txBody>
                    <a:bodyPr anchor="t" rtlCol="false"/>
                    <a:lstStyle/>
                    <a:p>
                      <a:pPr algn="l">
                        <a:spcAft>
                          <a:spcPts val="600"/>
                        </a:spcAft>
                      </a:pPr>
                      <a:r>
                        <a:rPr lang="en-US" sz="1500" spc="-16" b="1">
                          <a:solidFill>
                            <a:srgbClr val="000000"/>
                          </a:solidFill>
                          <a:latin typeface="Calibri"/>
                          <a:ea typeface="Calibri"/>
                          <a:cs typeface="Calibri"/>
                          <a:sym typeface="Calibri"/>
                        </a:rPr>
                        <a:t>Forensic Science </a:t>
                      </a:r>
                      <a:r>
                        <a:rPr lang="en-US" sz="1500" spc="-16" b="1">
                          <a:solidFill>
                            <a:srgbClr val="000000"/>
                          </a:solidFill>
                          <a:latin typeface="Calibri"/>
                          <a:ea typeface="Calibri"/>
                          <a:cs typeface="Calibri"/>
                          <a:sym typeface="Calibri"/>
                        </a:rPr>
                        <a:t>International 2014</a:t>
                      </a:r>
                    </a:p>
                    <a:p>
                      <a:pPr algn="l">
                        <a:lnSpc>
                          <a:spcPts val="1679"/>
                        </a:lnSpc>
                        <a:defRPr/>
                      </a:pPr>
                      <a:r>
                        <a:rPr lang="en-US" sz="1400">
                          <a:solidFill>
                            <a:srgbClr val="000000"/>
                          </a:solidFill>
                          <a:latin typeface="Calibri"/>
                          <a:ea typeface="Calibri"/>
                          <a:cs typeface="Calibri"/>
                          <a:sym typeface="Calibri"/>
                        </a:rPr>
                        <a:t>A mobile phone camera can measure drug-test colours using RGB values.</a:t>
                      </a:r>
                      <a:endParaRPr lang="en-US" sz="1100"/>
                    </a:p>
                  </a:txBody>
                  <a:tcPr marL="190500" marR="190500" marT="190500" marB="190500" anchor="ctr">
                    <a:lnL cmpd="sng" algn="ctr" cap="flat" w="19050">
                      <a:solidFill>
                        <a:srgbClr val="7A2F00"/>
                      </a:solidFill>
                      <a:prstDash val="solid"/>
                      <a:round/>
                      <a:headEnd type="none" w="med" len="med"/>
                      <a:tailEnd type="none" w="med" len="med"/>
                    </a:lnL>
                    <a:lnR cmpd="sng" algn="ctr" cap="flat" w="19050">
                      <a:solidFill>
                        <a:srgbClr val="7A2F00"/>
                      </a:solidFill>
                      <a:prstDash val="solid"/>
                      <a:round/>
                      <a:headEnd type="none" w="med" len="med"/>
                      <a:tailEnd type="none" w="med" len="med"/>
                    </a:lnR>
                    <a:lnT cmpd="sng" algn="ctr" cap="flat" w="19050">
                      <a:solidFill>
                        <a:srgbClr val="7A2F00"/>
                      </a:solidFill>
                      <a:prstDash val="solid"/>
                      <a:round/>
                      <a:headEnd type="none" w="med" len="med"/>
                      <a:tailEnd type="none" w="med" len="med"/>
                    </a:lnT>
                    <a:lnB cmpd="sng" algn="ctr" cap="flat" w="19050">
                      <a:solidFill>
                        <a:srgbClr val="7A2F00"/>
                      </a:solidFill>
                      <a:prstDash val="solid"/>
                      <a:round/>
                      <a:headEnd type="none" w="med" len="med"/>
                      <a:tailEnd type="none" w="med" len="med"/>
                    </a:lnB>
                  </a:tcPr>
                </a:tc>
                <a:tc>
                  <a:txBody>
                    <a:bodyPr anchor="t" rtlCol="false"/>
                    <a:lstStyle/>
                    <a:p>
                      <a:pPr algn="l">
                        <a:lnSpc>
                          <a:spcPts val="1679"/>
                        </a:lnSpc>
                        <a:defRPr/>
                      </a:pPr>
                      <a:r>
                        <a:rPr lang="en-US" sz="1400">
                          <a:solidFill>
                            <a:srgbClr val="000000"/>
                          </a:solidFill>
                          <a:latin typeface="Calibri"/>
                          <a:ea typeface="Calibri"/>
                          <a:cs typeface="Calibri"/>
                          <a:sym typeface="Calibri"/>
                        </a:rPr>
                        <a:t>Our app reads the test colour as a number</a:t>
                      </a:r>
                      <a:endParaRPr lang="en-US" sz="1100"/>
                    </a:p>
                  </a:txBody>
                  <a:tcPr marL="190500" marR="190500" marT="190500" marB="190500" anchor="ctr">
                    <a:lnL cmpd="sng" algn="ctr" cap="flat" w="19050">
                      <a:solidFill>
                        <a:srgbClr val="7A2F00"/>
                      </a:solidFill>
                      <a:prstDash val="solid"/>
                      <a:round/>
                      <a:headEnd type="none" w="med" len="med"/>
                      <a:tailEnd type="none" w="med" len="med"/>
                    </a:lnL>
                    <a:lnR cmpd="sng" algn="ctr" cap="flat" w="19050">
                      <a:solidFill>
                        <a:srgbClr val="7A2F00"/>
                      </a:solidFill>
                      <a:prstDash val="solid"/>
                      <a:round/>
                      <a:headEnd type="none" w="med" len="med"/>
                      <a:tailEnd type="none" w="med" len="med"/>
                    </a:lnR>
                    <a:lnT cmpd="sng" algn="ctr" cap="flat" w="19050">
                      <a:solidFill>
                        <a:srgbClr val="7A2F00"/>
                      </a:solidFill>
                      <a:prstDash val="solid"/>
                      <a:round/>
                      <a:headEnd type="none" w="med" len="med"/>
                      <a:tailEnd type="none" w="med" len="med"/>
                    </a:lnT>
                    <a:lnB cmpd="sng" algn="ctr" cap="flat" w="19050">
                      <a:solidFill>
                        <a:srgbClr val="7A2F00"/>
                      </a:solidFill>
                      <a:prstDash val="solid"/>
                      <a:round/>
                      <a:headEnd type="none" w="med" len="med"/>
                      <a:tailEnd type="none" w="med" len="med"/>
                    </a:lnB>
                  </a:tcPr>
                </a:tc>
                <a:tc>
                  <a:txBody>
                    <a:bodyPr anchor="t" rtlCol="false"/>
                    <a:lstStyle/>
                    <a:p>
                      <a:pPr algn="l">
                        <a:lnSpc>
                          <a:spcPts val="1819"/>
                        </a:lnSpc>
                      </a:pPr>
                      <a:r>
                        <a:rPr lang="en-US" sz="1400" u="sng">
                          <a:solidFill>
                            <a:srgbClr val="1F477B"/>
                          </a:solidFill>
                          <a:latin typeface="Calibri"/>
                          <a:ea typeface="Arimo"/>
                          <a:cs typeface="Arimo"/>
                          <a:sym typeface="Arimo"/>
                          <a:hlinkClick r:id="rId7" tooltip="https://www.researchgate.net/publication/259845901_Real_time_quantitative_colorimetric_test_for_methamphetamine_detection_using_digital_and_mobile_phone_technology"/>
                        </a:rPr>
                        <a:t>Forensic Science International 2014 – Real-time quantitative colorimetric test for methamphetamine detection using digital and mobile phone technology</a:t>
                      </a:r>
                    </a:p>
                  </a:txBody>
                  <a:tcPr marL="190500" marR="190500" marT="190500" marB="190500" anchor="ctr">
                    <a:lnL cmpd="sng" algn="ctr" cap="flat" w="19050">
                      <a:solidFill>
                        <a:srgbClr val="7A2F00"/>
                      </a:solidFill>
                      <a:prstDash val="solid"/>
                      <a:round/>
                      <a:headEnd type="none" w="med" len="med"/>
                      <a:tailEnd type="none" w="med" len="med"/>
                    </a:lnL>
                    <a:lnR cmpd="sng" algn="ctr" cap="flat" w="19050">
                      <a:solidFill>
                        <a:srgbClr val="7A2F00"/>
                      </a:solidFill>
                      <a:prstDash val="solid"/>
                      <a:round/>
                      <a:headEnd type="none" w="med" len="med"/>
                      <a:tailEnd type="none" w="med" len="med"/>
                    </a:lnR>
                    <a:lnT cmpd="sng" algn="ctr" cap="flat" w="19050">
                      <a:solidFill>
                        <a:srgbClr val="7A2F00"/>
                      </a:solidFill>
                      <a:prstDash val="solid"/>
                      <a:round/>
                      <a:headEnd type="none" w="med" len="med"/>
                      <a:tailEnd type="none" w="med" len="med"/>
                    </a:lnT>
                    <a:lnB cmpd="sng" algn="ctr" cap="flat" w="19050">
                      <a:solidFill>
                        <a:srgbClr val="7A2F00"/>
                      </a:solidFill>
                      <a:prstDash val="solid"/>
                      <a:round/>
                      <a:headEnd type="none" w="med" len="med"/>
                      <a:tailEnd type="none" w="med" len="med"/>
                    </a:lnB>
                  </a:tcPr>
                </a:tc>
              </a:tr>
              <a:tr h="1325880">
                <a:tc>
                  <a:txBody>
                    <a:bodyPr anchor="t" rtlCol="false"/>
                    <a:lstStyle/>
                    <a:p>
                      <a:pPr algn="l">
                        <a:spcAft>
                          <a:spcPts val="600"/>
                        </a:spcAft>
                      </a:pPr>
                      <a:r>
                        <a:rPr lang="en-US" sz="1500" spc="-16" b="1">
                          <a:solidFill>
                            <a:srgbClr val="000000"/>
                          </a:solidFill>
                          <a:latin typeface="Calibri"/>
                          <a:ea typeface="Calibri"/>
                          <a:cs typeface="Calibri"/>
                          <a:sym typeface="Calibri"/>
                        </a:rPr>
                        <a:t>Analytical</a:t>
                      </a:r>
                      <a:r>
                        <a:rPr lang="en-US" sz="1500" spc="-16" b="1">
                          <a:solidFill>
                            <a:srgbClr val="000000"/>
                          </a:solidFill>
                          <a:latin typeface="Calibri"/>
                          <a:ea typeface="Calibri"/>
                          <a:cs typeface="Calibri"/>
                          <a:sym typeface="Calibri"/>
                        </a:rPr>
                        <a:t> Chemistry 2016</a:t>
                      </a:r>
                    </a:p>
                    <a:p>
                      <a:pPr algn="l">
                        <a:lnSpc>
                          <a:spcPts val="1679"/>
                        </a:lnSpc>
                        <a:defRPr/>
                      </a:pPr>
                      <a:r>
                        <a:rPr lang="en-US" sz="1400">
                          <a:solidFill>
                            <a:srgbClr val="000000"/>
                          </a:solidFill>
                          <a:latin typeface="Calibri"/>
                          <a:ea typeface="Calibri"/>
                          <a:cs typeface="Calibri"/>
                          <a:sym typeface="Calibri"/>
                        </a:rPr>
                        <a:t>By-eye colour interpretation is subjective; smartphone image analysis can provide objective analysis.</a:t>
                      </a:r>
                      <a:endParaRPr lang="en-US" sz="1100"/>
                    </a:p>
                  </a:txBody>
                  <a:tcPr marL="190500" marR="190500" marT="190500" marB="190500" anchor="ctr">
                    <a:lnL cmpd="sng" algn="ctr" cap="flat" w="19050">
                      <a:solidFill>
                        <a:srgbClr val="7A2F00"/>
                      </a:solidFill>
                      <a:prstDash val="solid"/>
                      <a:round/>
                      <a:headEnd type="none" w="med" len="med"/>
                      <a:tailEnd type="none" w="med" len="med"/>
                    </a:lnL>
                    <a:lnR cmpd="sng" algn="ctr" cap="flat" w="19050">
                      <a:solidFill>
                        <a:srgbClr val="7A2F00"/>
                      </a:solidFill>
                      <a:prstDash val="solid"/>
                      <a:round/>
                      <a:headEnd type="none" w="med" len="med"/>
                      <a:tailEnd type="none" w="med" len="med"/>
                    </a:lnR>
                    <a:lnT cmpd="sng" algn="ctr" cap="flat" w="19050">
                      <a:solidFill>
                        <a:srgbClr val="7A2F00"/>
                      </a:solidFill>
                      <a:prstDash val="solid"/>
                      <a:round/>
                      <a:headEnd type="none" w="med" len="med"/>
                      <a:tailEnd type="none" w="med" len="med"/>
                    </a:lnT>
                    <a:lnB cmpd="sng" algn="ctr" cap="flat" w="19050">
                      <a:solidFill>
                        <a:srgbClr val="7A2F00"/>
                      </a:solidFill>
                      <a:prstDash val="solid"/>
                      <a:round/>
                      <a:headEnd type="none" w="med" len="med"/>
                      <a:tailEnd type="none" w="med" len="med"/>
                    </a:lnB>
                  </a:tcPr>
                </a:tc>
                <a:tc>
                  <a:txBody>
                    <a:bodyPr anchor="t" rtlCol="false"/>
                    <a:lstStyle/>
                    <a:p>
                      <a:pPr algn="l">
                        <a:lnSpc>
                          <a:spcPts val="1679"/>
                        </a:lnSpc>
                        <a:defRPr/>
                      </a:pPr>
                      <a:r>
                        <a:rPr lang="en-US" sz="1400">
                          <a:solidFill>
                            <a:srgbClr val="000000"/>
                          </a:solidFill>
                          <a:latin typeface="Calibri"/>
                          <a:ea typeface="Arimo"/>
                          <a:cs typeface="Arimo"/>
                          <a:sym typeface="Arimo"/>
                        </a:rPr>
                        <a:t>App gives </a:t>
                      </a:r>
                      <a:r>
                        <a:rPr lang="en-US" sz="1400">
                          <a:solidFill>
                            <a:srgbClr val="000000"/>
                          </a:solidFill>
                          <a:latin typeface="Calibri"/>
                          <a:ea typeface="Arimo"/>
                          <a:cs typeface="Arimo"/>
                          <a:sym typeface="Arimo"/>
                        </a:rPr>
                        <a:t>POSITIVE / NEGATIVE / NOT SURE</a:t>
                      </a:r>
                      <a:endParaRPr lang="en-US" sz="1100"/>
                    </a:p>
                  </a:txBody>
                  <a:tcPr marL="190500" marR="190500" marT="190500" marB="190500" anchor="ctr">
                    <a:lnL cmpd="sng" algn="ctr" cap="flat" w="19050">
                      <a:solidFill>
                        <a:srgbClr val="7A2F00"/>
                      </a:solidFill>
                      <a:prstDash val="solid"/>
                      <a:round/>
                      <a:headEnd type="none" w="med" len="med"/>
                      <a:tailEnd type="none" w="med" len="med"/>
                    </a:lnL>
                    <a:lnR cmpd="sng" algn="ctr" cap="flat" w="19050">
                      <a:solidFill>
                        <a:srgbClr val="7A2F00"/>
                      </a:solidFill>
                      <a:prstDash val="solid"/>
                      <a:round/>
                      <a:headEnd type="none" w="med" len="med"/>
                      <a:tailEnd type="none" w="med" len="med"/>
                    </a:lnR>
                    <a:lnT cmpd="sng" algn="ctr" cap="flat" w="19050">
                      <a:solidFill>
                        <a:srgbClr val="7A2F00"/>
                      </a:solidFill>
                      <a:prstDash val="solid"/>
                      <a:round/>
                      <a:headEnd type="none" w="med" len="med"/>
                      <a:tailEnd type="none" w="med" len="med"/>
                    </a:lnT>
                    <a:lnB cmpd="sng" algn="ctr" cap="flat" w="19050">
                      <a:solidFill>
                        <a:srgbClr val="7A2F00"/>
                      </a:solidFill>
                      <a:prstDash val="solid"/>
                      <a:round/>
                      <a:headEnd type="none" w="med" len="med"/>
                      <a:tailEnd type="none" w="med" len="med"/>
                    </a:lnB>
                  </a:tcPr>
                </a:tc>
                <a:tc>
                  <a:txBody>
                    <a:bodyPr anchor="t" rtlCol="false"/>
                    <a:lstStyle/>
                    <a:p>
                      <a:pPr algn="l">
                        <a:lnSpc>
                          <a:spcPts val="1819"/>
                        </a:lnSpc>
                      </a:pPr>
                      <a:r>
                        <a:rPr lang="en-US" sz="1400" u="sng">
                          <a:solidFill>
                            <a:srgbClr val="1F477B"/>
                          </a:solidFill>
                          <a:latin typeface="Calibri"/>
                          <a:ea typeface="Arimo"/>
                          <a:cs typeface="Arimo"/>
                          <a:sym typeface="Arimo"/>
                          <a:hlinkClick r:id="rId8" tooltip="https://nij.ojp.gov/library/publications/objective-method-presumptive-field-testing-illicit-drug-possession-using-0?utm_source=chatgpt.com"/>
                        </a:rPr>
                        <a:t>Analytical Chemistry 2016 – Objective Method for Presumptive Field-Testing of Illicit Drug Possession Using Centrifugal Microdevices and Smartphone Analysis</a:t>
                      </a:r>
                    </a:p>
                  </a:txBody>
                  <a:tcPr marL="190500" marR="190500" marT="190500" marB="190500" anchor="ctr">
                    <a:lnL cmpd="sng" algn="ctr" cap="flat" w="19050">
                      <a:solidFill>
                        <a:srgbClr val="7A2F00"/>
                      </a:solidFill>
                      <a:prstDash val="solid"/>
                      <a:round/>
                      <a:headEnd type="none" w="med" len="med"/>
                      <a:tailEnd type="none" w="med" len="med"/>
                    </a:lnL>
                    <a:lnR cmpd="sng" algn="ctr" cap="flat" w="19050">
                      <a:solidFill>
                        <a:srgbClr val="7A2F00"/>
                      </a:solidFill>
                      <a:prstDash val="solid"/>
                      <a:round/>
                      <a:headEnd type="none" w="med" len="med"/>
                      <a:tailEnd type="none" w="med" len="med"/>
                    </a:lnR>
                    <a:lnT cmpd="sng" algn="ctr" cap="flat" w="19050">
                      <a:solidFill>
                        <a:srgbClr val="7A2F00"/>
                      </a:solidFill>
                      <a:prstDash val="solid"/>
                      <a:round/>
                      <a:headEnd type="none" w="med" len="med"/>
                      <a:tailEnd type="none" w="med" len="med"/>
                    </a:lnT>
                    <a:lnB cmpd="sng" algn="ctr" cap="flat" w="19050">
                      <a:solidFill>
                        <a:srgbClr val="7A2F00"/>
                      </a:solidFill>
                      <a:prstDash val="solid"/>
                      <a:round/>
                      <a:headEnd type="none" w="med" len="med"/>
                      <a:tailEnd type="none" w="med" len="med"/>
                    </a:lnB>
                  </a:tcPr>
                </a:tc>
              </a:tr>
              <a:tr h="1325880">
                <a:tc>
                  <a:txBody>
                    <a:bodyPr anchor="t" rtlCol="false"/>
                    <a:lstStyle/>
                    <a:p>
                      <a:pPr algn="l">
                        <a:spcAft>
                          <a:spcPts val="600"/>
                        </a:spcAft>
                      </a:pPr>
                      <a:r>
                        <a:rPr lang="en-US" sz="1500" spc="-16" b="1">
                          <a:solidFill>
                            <a:srgbClr val="000000"/>
                          </a:solidFill>
                          <a:latin typeface="Calibri"/>
                          <a:ea typeface="Calibri"/>
                          <a:cs typeface="Calibri"/>
                          <a:sym typeface="Calibri"/>
                        </a:rPr>
                        <a:t>Digital</a:t>
                      </a:r>
                      <a:r>
                        <a:rPr lang="en-US" sz="1500" spc="-16" b="1">
                          <a:solidFill>
                            <a:srgbClr val="000000"/>
                          </a:solidFill>
                          <a:latin typeface="Calibri"/>
                          <a:ea typeface="Calibri"/>
                          <a:cs typeface="Calibri"/>
                          <a:sym typeface="Calibri"/>
                        </a:rPr>
                        <a:t> Discovery 2023</a:t>
                      </a:r>
                    </a:p>
                    <a:p>
                      <a:pPr algn="l">
                        <a:lnSpc>
                          <a:spcPts val="1679"/>
                        </a:lnSpc>
                        <a:defRPr/>
                      </a:pPr>
                      <a:r>
                        <a:rPr lang="en-US" sz="1400">
                          <a:solidFill>
                            <a:srgbClr val="000000"/>
                          </a:solidFill>
                          <a:latin typeface="Calibri"/>
                          <a:ea typeface="Calibri"/>
                          <a:cs typeface="Calibri"/>
                          <a:sym typeface="Calibri"/>
                        </a:rPr>
                        <a:t>Computer vision can quantify and compare colour changes that may look similar by eye.</a:t>
                      </a:r>
                      <a:endParaRPr lang="en-US" sz="1100"/>
                    </a:p>
                  </a:txBody>
                  <a:tcPr marL="190500" marR="190500" marT="190500" marB="190500" anchor="ctr">
                    <a:lnL cmpd="sng" algn="ctr" cap="flat" w="19050">
                      <a:solidFill>
                        <a:srgbClr val="7A2F00"/>
                      </a:solidFill>
                      <a:prstDash val="solid"/>
                      <a:round/>
                      <a:headEnd type="none" w="med" len="med"/>
                      <a:tailEnd type="none" w="med" len="med"/>
                    </a:lnL>
                    <a:lnR cmpd="sng" algn="ctr" cap="flat" w="19050">
                      <a:solidFill>
                        <a:srgbClr val="7A2F00"/>
                      </a:solidFill>
                      <a:prstDash val="solid"/>
                      <a:round/>
                      <a:headEnd type="none" w="med" len="med"/>
                      <a:tailEnd type="none" w="med" len="med"/>
                    </a:lnR>
                    <a:lnT cmpd="sng" algn="ctr" cap="flat" w="19050">
                      <a:solidFill>
                        <a:srgbClr val="7A2F00"/>
                      </a:solidFill>
                      <a:prstDash val="solid"/>
                      <a:round/>
                      <a:headEnd type="none" w="med" len="med"/>
                      <a:tailEnd type="none" w="med" len="med"/>
                    </a:lnT>
                    <a:lnB cmpd="sng" algn="ctr" cap="flat" w="19050">
                      <a:solidFill>
                        <a:srgbClr val="7A2F00"/>
                      </a:solidFill>
                      <a:prstDash val="solid"/>
                      <a:round/>
                      <a:headEnd type="none" w="med" len="med"/>
                      <a:tailEnd type="none" w="med" len="med"/>
                    </a:lnB>
                  </a:tcPr>
                </a:tc>
                <a:tc>
                  <a:txBody>
                    <a:bodyPr anchor="t" rtlCol="false"/>
                    <a:lstStyle/>
                    <a:p>
                      <a:pPr algn="l">
                        <a:lnSpc>
                          <a:spcPts val="1679"/>
                        </a:lnSpc>
                        <a:defRPr/>
                      </a:pPr>
                      <a:r>
                        <a:rPr lang="en-US" sz="1400">
                          <a:solidFill>
                            <a:srgbClr val="000000"/>
                          </a:solidFill>
                          <a:latin typeface="Calibri"/>
                          <a:ea typeface="Calibri"/>
                          <a:cs typeface="Calibri"/>
                          <a:sym typeface="Calibri"/>
                        </a:rPr>
                        <a:t>App shows photo colour next to kit colours</a:t>
                      </a:r>
                      <a:endParaRPr lang="en-US" sz="1100"/>
                    </a:p>
                  </a:txBody>
                  <a:tcPr marL="190500" marR="190500" marT="190500" marB="190500" anchor="ctr">
                    <a:lnL cmpd="sng" algn="ctr" cap="flat" w="19050">
                      <a:solidFill>
                        <a:srgbClr val="7A2F00"/>
                      </a:solidFill>
                      <a:prstDash val="solid"/>
                      <a:round/>
                      <a:headEnd type="none" w="med" len="med"/>
                      <a:tailEnd type="none" w="med" len="med"/>
                    </a:lnL>
                    <a:lnR cmpd="sng" algn="ctr" cap="flat" w="19050">
                      <a:solidFill>
                        <a:srgbClr val="7A2F00"/>
                      </a:solidFill>
                      <a:prstDash val="solid"/>
                      <a:round/>
                      <a:headEnd type="none" w="med" len="med"/>
                      <a:tailEnd type="none" w="med" len="med"/>
                    </a:lnR>
                    <a:lnT cmpd="sng" algn="ctr" cap="flat" w="19050">
                      <a:solidFill>
                        <a:srgbClr val="7A2F00"/>
                      </a:solidFill>
                      <a:prstDash val="solid"/>
                      <a:round/>
                      <a:headEnd type="none" w="med" len="med"/>
                      <a:tailEnd type="none" w="med" len="med"/>
                    </a:lnT>
                    <a:lnB cmpd="sng" algn="ctr" cap="flat" w="19050">
                      <a:solidFill>
                        <a:srgbClr val="7A2F00"/>
                      </a:solidFill>
                      <a:prstDash val="solid"/>
                      <a:round/>
                      <a:headEnd type="none" w="med" len="med"/>
                      <a:tailEnd type="none" w="med" len="med"/>
                    </a:lnB>
                  </a:tcPr>
                </a:tc>
                <a:tc>
                  <a:txBody>
                    <a:bodyPr anchor="t" rtlCol="false"/>
                    <a:lstStyle/>
                    <a:p>
                      <a:pPr algn="l">
                        <a:lnSpc>
                          <a:spcPts val="1819"/>
                        </a:lnSpc>
                      </a:pPr>
                      <a:r>
                        <a:rPr lang="en-US" sz="1400" u="sng">
                          <a:solidFill>
                            <a:srgbClr val="1F477B"/>
                          </a:solidFill>
                          <a:latin typeface="Calibri"/>
                          <a:ea typeface="Arimo"/>
                          <a:cs typeface="Arimo"/>
                          <a:sym typeface="Arimo"/>
                          <a:hlinkClick r:id="rId9" tooltip="https://pubs.rsc.org/dd/article/2/4/1143/804876/Teaching-old-presumptive-tests-new-digital-tricks"/>
                        </a:rPr>
                        <a:t>Digital Discovery 2023 – Teaching old presumptive tests new digital tricks with computer vision</a:t>
                      </a:r>
                    </a:p>
                  </a:txBody>
                  <a:tcPr marL="190500" marR="190500" marT="190500" marB="190500" anchor="ctr">
                    <a:lnL cmpd="sng" algn="ctr" cap="flat" w="19050">
                      <a:solidFill>
                        <a:srgbClr val="7A2F00"/>
                      </a:solidFill>
                      <a:prstDash val="solid"/>
                      <a:round/>
                      <a:headEnd type="none" w="med" len="med"/>
                      <a:tailEnd type="none" w="med" len="med"/>
                    </a:lnL>
                    <a:lnR cmpd="sng" algn="ctr" cap="flat" w="19050">
                      <a:solidFill>
                        <a:srgbClr val="7A2F00"/>
                      </a:solidFill>
                      <a:prstDash val="solid"/>
                      <a:round/>
                      <a:headEnd type="none" w="med" len="med"/>
                      <a:tailEnd type="none" w="med" len="med"/>
                    </a:lnR>
                    <a:lnT cmpd="sng" algn="ctr" cap="flat" w="19050">
                      <a:solidFill>
                        <a:srgbClr val="7A2F00"/>
                      </a:solidFill>
                      <a:prstDash val="solid"/>
                      <a:round/>
                      <a:headEnd type="none" w="med" len="med"/>
                      <a:tailEnd type="none" w="med" len="med"/>
                    </a:lnT>
                    <a:lnB cmpd="sng" algn="ctr" cap="flat" w="19050">
                      <a:solidFill>
                        <a:srgbClr val="7A2F00"/>
                      </a:solidFill>
                      <a:prstDash val="solid"/>
                      <a:round/>
                      <a:headEnd type="none" w="med" len="med"/>
                      <a:tailEnd type="none" w="med" len="med"/>
                    </a:lnB>
                  </a:tcPr>
                </a:tc>
              </a:tr>
            </a:tbl>
          </a:graphicData>
        </a:graphic>
      </p:graphicFrame>
      <p:sp>
        <p:nvSpPr>
          <p:cNvPr name="TextBox 15" id="15" descr="$PPTXTitle"/>
          <p:cNvSpPr txBox="true"/>
          <p:nvPr/>
        </p:nvSpPr>
        <p:spPr>
          <a:xfrm rot="0">
            <a:off x="3660096" y="346300"/>
            <a:ext cx="10421112" cy="876938"/>
          </a:xfrm>
          <a:prstGeom prst="rect">
            <a:avLst/>
          </a:prstGeom>
        </p:spPr>
        <p:txBody>
          <a:bodyPr anchor="t" rtlCol="false" tIns="0" lIns="0" bIns="0" rIns="0">
            <a:spAutoFit/>
          </a:bodyPr>
          <a:lstStyle/>
          <a:p>
            <a:pPr algn="l">
              <a:lnSpc>
                <a:spcPts val="6480"/>
              </a:lnSpc>
            </a:pPr>
            <a:r>
              <a:rPr lang="en-US" b="true" sz="5400">
                <a:solidFill>
                  <a:srgbClr val="7A2F00"/>
                </a:solidFill>
                <a:latin typeface="Times New Roman Bold"/>
                <a:ea typeface="Times New Roman Bold"/>
                <a:cs typeface="Times New Roman Bold"/>
                <a:sym typeface="Times New Roman Bold"/>
              </a:rPr>
              <a:t>RESEARCH AND REFERENCES</a:t>
            </a:r>
          </a:p>
        </p:txBody>
      </p:sp>
      <p:sp>
        <p:nvSpPr>
          <p:cNvPr name="TextBox 16" id="16"/>
          <p:cNvSpPr txBox="true"/>
          <p:nvPr/>
        </p:nvSpPr>
        <p:spPr>
          <a:xfrm rot="0">
            <a:off x="17063656" y="9649673"/>
            <a:ext cx="104775" cy="288608"/>
          </a:xfrm>
          <a:prstGeom prst="rect">
            <a:avLst/>
          </a:prstGeom>
        </p:spPr>
        <p:txBody>
          <a:bodyPr anchor="t" rtlCol="false" tIns="0" lIns="0" bIns="0" rIns="0">
            <a:spAutoFit/>
          </a:bodyPr>
          <a:lstStyle/>
          <a:p>
            <a:pPr algn="l">
              <a:lnSpc>
                <a:spcPts val="2137"/>
              </a:lnSpc>
            </a:pPr>
            <a:r>
              <a:rPr lang="en-US" b="true" sz="1800" spc="-75">
                <a:solidFill>
                  <a:srgbClr val="FFFFFF"/>
                </a:solidFill>
                <a:latin typeface="Times New Roman Bold"/>
                <a:ea typeface="Times New Roman Bold"/>
                <a:cs typeface="Times New Roman Bold"/>
                <a:sym typeface="Times New Roman Bold"/>
              </a:rPr>
              <a:t>6</a:t>
            </a:r>
          </a:p>
        </p:txBody>
      </p:sp>
      <p:sp>
        <p:nvSpPr>
          <p:cNvPr name="TextBox 17" id="17" descr="$PPTXTitle"/>
          <p:cNvSpPr txBox="true"/>
          <p:nvPr/>
        </p:nvSpPr>
        <p:spPr>
          <a:xfrm rot="0">
            <a:off x="1074372" y="677913"/>
            <a:ext cx="1461403" cy="466725"/>
          </a:xfrm>
          <a:prstGeom prst="rect">
            <a:avLst/>
          </a:prstGeom>
        </p:spPr>
        <p:txBody>
          <a:bodyPr anchor="t" rtlCol="false" tIns="0" lIns="0" bIns="0" rIns="0">
            <a:spAutoFit/>
          </a:bodyPr>
          <a:lstStyle/>
          <a:p>
            <a:pPr algn="l">
              <a:lnSpc>
                <a:spcPts val="3240"/>
              </a:lnSpc>
            </a:pPr>
            <a:r>
              <a:rPr lang="en-US" b="1" sz="2700" spc="-29">
                <a:solidFill>
                  <a:srgbClr val="7A2F00"/>
                </a:solidFill>
                <a:latin typeface="Calibri"/>
                <a:ea typeface="Calibri"/>
                <a:cs typeface="Calibri"/>
                <a:sym typeface="Calibri"/>
              </a:rPr>
              <a:t>HexTech</a:t>
            </a:r>
          </a:p>
        </p:txBody>
      </p:sp>
      <p:grpSp>
        <p:nvGrpSpPr>
          <p:cNvPr name="Group 24" id="24"/>
          <p:cNvGrpSpPr/>
          <p:nvPr/>
        </p:nvGrpSpPr>
        <p:grpSpPr>
          <a:xfrm rot="0">
            <a:off x="14720116" y="33423"/>
            <a:ext cx="3287373" cy="1531268"/>
            <a:chOff x="0" y="0"/>
            <a:chExt cx="4383164" cy="2041690"/>
          </a:xfrm>
        </p:grpSpPr>
        <p:sp>
          <p:nvSpPr>
            <p:cNvPr name="Freeform 25" id="25"/>
            <p:cNvSpPr/>
            <p:nvPr/>
          </p:nvSpPr>
          <p:spPr>
            <a:xfrm flipH="false" flipV="false" rot="0">
              <a:off x="0" y="0"/>
              <a:ext cx="4383151" cy="2041652"/>
            </a:xfrm>
            <a:custGeom>
              <a:avLst/>
              <a:gdLst/>
              <a:ahLst/>
              <a:cxnLst/>
              <a:rect r="r" b="b" t="t" l="l"/>
              <a:pathLst>
                <a:path h="2041652" w="4383151">
                  <a:moveTo>
                    <a:pt x="0" y="0"/>
                  </a:moveTo>
                  <a:lnTo>
                    <a:pt x="4383151" y="0"/>
                  </a:lnTo>
                  <a:lnTo>
                    <a:pt x="4383151" y="2041652"/>
                  </a:lnTo>
                  <a:lnTo>
                    <a:pt x="0" y="2041652"/>
                  </a:lnTo>
                  <a:lnTo>
                    <a:pt x="0" y="0"/>
                  </a:lnTo>
                  <a:close/>
                </a:path>
              </a:pathLst>
            </a:custGeom>
            <a:blipFill>
              <a:blip r:embed="rId18"/>
              <a:stretch>
                <a:fillRect l="0" t="-106" r="0" b="-108"/>
              </a:stretch>
            </a:blipFill>
          </p:spPr>
        </p:sp>
      </p:grpSp>
      <p:sp>
        <p:nvSpPr>
          <p:cNvPr id="26" name="Research link 1">
            <a:hlinkClick r:id="rId5"/>
          </p:cNvPr>
          <p:cNvSpPr/>
          <p:nvPr/>
        </p:nvSpPr>
        <p:spPr>
          <a:xfrm>
            <a:off x="11201400" y="269748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search link 2">
            <a:hlinkClick r:id="rId6"/>
          </p:cNvPr>
          <p:cNvSpPr/>
          <p:nvPr/>
        </p:nvSpPr>
        <p:spPr>
          <a:xfrm>
            <a:off x="11201400" y="402336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search link 3">
            <a:hlinkClick r:id="rId7"/>
          </p:cNvPr>
          <p:cNvSpPr/>
          <p:nvPr/>
        </p:nvSpPr>
        <p:spPr>
          <a:xfrm>
            <a:off x="11201400" y="534924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search link 4">
            <a:hlinkClick r:id="rId8"/>
          </p:cNvPr>
          <p:cNvSpPr/>
          <p:nvPr/>
        </p:nvSpPr>
        <p:spPr>
          <a:xfrm>
            <a:off x="11201400" y="667512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search link 5">
            <a:hlinkClick r:id="rId9"/>
          </p:cNvPr>
          <p:cNvSpPr/>
          <p:nvPr/>
        </p:nvSpPr>
        <p:spPr>
          <a:xfrm>
            <a:off x="11201400" y="800100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DAHVDURAeOo</dc:identifier>
  <dcterms:modified xsi:type="dcterms:W3CDTF">2011-08-01T06:04:30Z</dcterms:modified>
  <cp:revision>1</cp:revision>
  <dc:title>Problem Statement ID – 26034 Problem Statement Title- Software System to check compliance of packaged commodities under Legal Metrology (Packaged Commodities) Rules,2011 by scanning product images and labels. Theme- Miscellaneous PS Category- Software</dc:title>
</cp:coreProperties>
</file>
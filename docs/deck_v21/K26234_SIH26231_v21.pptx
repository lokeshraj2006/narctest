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5.png"/><Relationship Id="rId12" Type="http://schemas.openxmlformats.org/officeDocument/2006/relationships/image" Target="../media/image27.png"/><Relationship Id="rId13" Type="http://schemas.openxmlformats.org/officeDocument/2006/relationships/hyperlink" Target="https://drive.google.com/file/d/1NIR2OyYZRdmEM1R3cz9ghb7rZqyY1D1Z/view?usp=sharing" TargetMode="External"/><Relationship Id="rId1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guessing a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the phone checks for blur right after the photo and asks to take it again. The server also says NOT SURE with the reason.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 Works in Tamil too.</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Result screen shown in Tamil. Test Log (right) can search and filter by date, officer, kit and result, and download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1,20,010 NDPS cases in 2023 (source: NCRB, Crime in India 2023)</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pic>
        <p:nvPicPr>
          <p:cNvPr id="43" name="Tamil result screen" descr="tamil_result_crop.png"/>
          <p:cNvPicPr>
            <a:picLocks noChangeAspect="1"/>
          </p:cNvPicPr>
          <p:nvPr/>
        </p:nvPicPr>
        <p:blipFill>
          <a:blip r:embed="rId13"/>
          <a:stretch>
            <a:fillRect/>
          </a:stretch>
        </p:blipFill>
        <p:spPr>
          <a:xfrm>
            <a:off x="11842913" y="3858768"/>
            <a:ext cx="1063454" cy="178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2331720"/>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1837943"/>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25 computer made photos matched. Real scans: 14 of 25 matched, 11 said NOT SURE (7 were trick cards).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we changed 4 saved records on purpose, and the check page caught them.</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sp>
        <p:nvSpPr>
          <p:cNvPr id="25" name="Offline design box"/>
          <p:cNvSpPr/>
          <p:nvPr/>
        </p:nvSpPr>
        <p:spPr>
          <a:xfrm>
            <a:off x="15526512" y="7607808"/>
            <a:ext cx="2487168" cy="1828800"/>
          </a:xfrm>
          <a:prstGeom prst="roundRect">
            <a:avLst>
              <a:gd name="adj" fmla="val 6000"/>
            </a:avLst>
          </a:prstGeom>
          <a:noFill/>
          <a:ln w="19050">
            <a:solidFill>
              <a:srgbClr val="792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63088" y="7644383"/>
            <a:ext cx="2414016" cy="1755648"/>
          </a:xfrm>
          <a:prstGeom prst="rect">
            <a:avLst/>
          </a:prstGeom>
          <a:noFill/>
        </p:spPr>
        <p:txBody>
          <a:bodyPr wrap="square" lIns="54864" rIns="54864" tIns="27432" bIns="27432">
            <a:noAutofit/>
          </a:bodyPr>
          <a:lstStyle/>
          <a:p>
            <a:pPr>
              <a:spcAft>
                <a:spcPts val="200"/>
              </a:spcAft>
            </a:pPr>
            <a:r>
              <a:rPr sz="1600" b="1">
                <a:solidFill>
                  <a:srgbClr val="792E00"/>
                </a:solidFill>
                <a:latin typeface="Calibri"/>
              </a:rPr>
              <a:t>Offline Design</a:t>
            </a:r>
          </a:p>
          <a:p>
            <a:pPr>
              <a:spcAft>
                <a:spcPts val="200"/>
              </a:spcAft>
            </a:pPr>
            <a:r>
              <a:rPr sz="1250" b="0">
                <a:solidFill>
                  <a:srgbClr val="000000"/>
                </a:solidFill>
                <a:latin typeface="Calibri"/>
              </a:rPr>
              <a:t>No network? The phone keeps the photo and its hash in a queue.</a:t>
            </a:r>
          </a:p>
          <a:p>
            <a:pPr>
              <a:spcAft>
                <a:spcPts val="200"/>
              </a:spcAft>
            </a:pPr>
            <a:r>
              <a:rPr sz="1250" b="0">
                <a:solidFill>
                  <a:srgbClr val="000000"/>
                </a:solidFill>
                <a:latin typeface="Calibri"/>
              </a:rPr>
              <a:t>Network back: it sends them in the background.</a:t>
            </a:r>
          </a:p>
          <a:p>
            <a:pPr>
              <a:spcAft>
                <a:spcPts val="200"/>
              </a:spcAft>
            </a:pPr>
            <a:r>
              <a:rPr sz="1250" b="0">
                <a:solidFill>
                  <a:srgbClr val="000000"/>
                </a:solidFill>
                <a:latin typeface="Calibri"/>
              </a:rPr>
              <a:t>Server checks the hash, then seals the record.</a:t>
            </a:r>
          </a:p>
          <a:p>
            <a:pPr>
              <a:spcAft>
                <a:spcPts val="200"/>
              </a:spcAft>
            </a:pPr>
            <a:r>
              <a:rPr sz="1250" b="0">
                <a:solidFill>
                  <a:srgbClr val="555555"/>
                </a:solidFill>
                <a:latin typeface="Calibri"/>
              </a:rPr>
              <a:t>(design ready, we build it next)</a:t>
            </a:r>
          </a:p>
        </p:txBody>
      </p:sp>
      <p:pic>
        <p:nvPicPr>
          <p:cNvPr id="27" name="Real scan photos" descr="real_scans_tiles.png"/>
          <p:cNvPicPr>
            <a:picLocks noChangeAspect="1"/>
          </p:cNvPicPr>
          <p:nvPr/>
        </p:nvPicPr>
        <p:blipFill>
          <a:blip r:embed="rId9"/>
          <a:stretch>
            <a:fillRect/>
          </a:stretch>
        </p:blipFill>
        <p:spPr>
          <a:xfrm>
            <a:off x="9253728" y="6309360"/>
            <a:ext cx="2880360" cy="1784838"/>
          </a:xfrm>
          <a:prstGeom prst="rect">
            <a:avLst/>
          </a:prstGeom>
        </p:spPr>
      </p:pic>
      <p:graphicFrame>
        <p:nvGraphicFramePr>
          <p:cNvPr id="28" name="Confusion matrix"/>
          <p:cNvGraphicFramePr>
            <a:graphicFrameLocks noGrp="1"/>
          </p:cNvGraphicFramePr>
          <p:nvPr/>
        </p:nvGraphicFramePr>
        <p:xfrm>
          <a:off x="12271248" y="6309360"/>
          <a:ext cx="2971799" cy="1097280"/>
        </p:xfrm>
        <a:graphic>
          <a:graphicData uri="http://schemas.openxmlformats.org/drawingml/2006/table">
            <a:tbl>
              <a:tblPr firstRow="1" bandRow="1">
                <a:tableStyleId>{5940675A-B579-460E-94D1-54222C63F5DA}</a:tableStyleId>
              </a:tblPr>
              <a:tblGrid>
                <a:gridCol w="1033271"/>
                <a:gridCol w="658368"/>
                <a:gridCol w="658368"/>
                <a:gridCol w="621792"/>
              </a:tblGrid>
              <a:tr h="274320">
                <a:tc>
                  <a:txBody>
                    <a:bodyPr/>
                    <a:lstStyle/>
                    <a:p>
                      <a:pPr algn="l"/>
                      <a:r>
                        <a:rPr sz="1050" b="1">
                          <a:solidFill>
                            <a:srgbClr val="000000"/>
                          </a:solidFill>
                          <a:latin typeface="Calibri"/>
                        </a:rPr>
                        <a:t>Card \ App</a:t>
                      </a:r>
                    </a:p>
                  </a:txBody>
                  <a:tcPr marL="36576" marR="36576" marT="9144" marB="9144" anchor="ctr">
                    <a:solidFill>
                      <a:srgbClr val="B39460"/>
                    </a:solidFill>
                  </a:tcPr>
                </a:tc>
                <a:tc>
                  <a:txBody>
                    <a:bodyPr/>
                    <a:lstStyle/>
                    <a:p>
                      <a:pPr algn="ctr"/>
                      <a:r>
                        <a:rPr sz="1050" b="1">
                          <a:solidFill>
                            <a:srgbClr val="000000"/>
                          </a:solidFill>
                          <a:latin typeface="Calibri"/>
                        </a:rPr>
                        <a:t>POSITIVE</a:t>
                      </a:r>
                    </a:p>
                  </a:txBody>
                  <a:tcPr marL="36576" marR="36576" marT="9144" marB="9144" anchor="ctr">
                    <a:solidFill>
                      <a:srgbClr val="B39460"/>
                    </a:solidFill>
                  </a:tcPr>
                </a:tc>
                <a:tc>
                  <a:txBody>
                    <a:bodyPr/>
                    <a:lstStyle/>
                    <a:p>
                      <a:pPr algn="ctr"/>
                      <a:r>
                        <a:rPr sz="1050" b="1">
                          <a:solidFill>
                            <a:srgbClr val="000000"/>
                          </a:solidFill>
                          <a:latin typeface="Calibri"/>
                        </a:rPr>
                        <a:t>NEGATIVE</a:t>
                      </a:r>
                    </a:p>
                  </a:txBody>
                  <a:tcPr marL="36576" marR="36576" marT="9144" marB="9144" anchor="ctr">
                    <a:solidFill>
                      <a:srgbClr val="B39460"/>
                    </a:solidFill>
                  </a:tcPr>
                </a:tc>
                <a:tc>
                  <a:txBody>
                    <a:bodyPr/>
                    <a:lstStyle/>
                    <a:p>
                      <a:pPr algn="ctr"/>
                      <a:r>
                        <a:rPr sz="1050" b="1">
                          <a:solidFill>
                            <a:srgbClr val="000000"/>
                          </a:solidFill>
                          <a:latin typeface="Calibri"/>
                        </a:rPr>
                        <a:t>NOT SURE</a:t>
                      </a:r>
                    </a:p>
                  </a:txBody>
                  <a:tcPr marL="36576" marR="36576" marT="9144" marB="9144" anchor="ctr">
                    <a:solidFill>
                      <a:srgbClr val="B39460"/>
                    </a:solidFill>
                  </a:tcPr>
                </a:tc>
              </a:tr>
              <a:tr h="274320">
                <a:tc>
                  <a:txBody>
                    <a:bodyPr/>
                    <a:lstStyle/>
                    <a:p>
                      <a:pPr algn="l"/>
                      <a:r>
                        <a:rPr sz="1200" b="0">
                          <a:solidFill>
                            <a:srgbClr val="000000"/>
                          </a:solidFill>
                          <a:latin typeface="Calibri"/>
                        </a:rPr>
                        <a:t>Positive card</a:t>
                      </a:r>
                    </a:p>
                  </a:txBody>
                  <a:tcPr marL="36576" marR="36576" marT="9144" marB="9144" anchor="ctr">
                    <a:solidFill>
                      <a:srgbClr val="FFFFFF"/>
                    </a:solidFill>
                  </a:tcPr>
                </a:tc>
                <a:tc>
                  <a:txBody>
                    <a:bodyPr/>
                    <a:lstStyle/>
                    <a:p>
                      <a:pPr algn="ctr"/>
                      <a:r>
                        <a:rPr sz="1200" b="1">
                          <a:solidFill>
                            <a:srgbClr val="000000"/>
                          </a:solidFill>
                          <a:latin typeface="Calibri"/>
                        </a:rPr>
                        <a:t>40</a:t>
                      </a:r>
                    </a:p>
                  </a:txBody>
                  <a:tcPr marL="36576" marR="36576" marT="9144" marB="9144" anchor="ctr">
                    <a:solidFill>
                      <a:srgbClr val="E8F5E9"/>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0">
                          <a:solidFill>
                            <a:srgbClr val="000000"/>
                          </a:solidFill>
                          <a:latin typeface="Calibri"/>
                        </a:rPr>
                        <a:t>32</a:t>
                      </a:r>
                    </a:p>
                  </a:txBody>
                  <a:tcPr marL="36576" marR="36576" marT="9144" marB="9144" anchor="ctr">
                    <a:solidFill>
                      <a:srgbClr val="FFFFFF"/>
                    </a:solidFill>
                  </a:tcPr>
                </a:tc>
              </a:tr>
              <a:tr h="274320">
                <a:tc>
                  <a:txBody>
                    <a:bodyPr/>
                    <a:lstStyle/>
                    <a:p>
                      <a:pPr algn="l"/>
                      <a:r>
                        <a:rPr sz="1200" b="0">
                          <a:solidFill>
                            <a:srgbClr val="000000"/>
                          </a:solidFill>
                          <a:latin typeface="Calibri"/>
                        </a:rPr>
                        <a:t>Plain card</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1">
                          <a:solidFill>
                            <a:srgbClr val="000000"/>
                          </a:solidFill>
                          <a:latin typeface="Calibri"/>
                        </a:rPr>
                        <a:t>30</a:t>
                      </a:r>
                    </a:p>
                  </a:txBody>
                  <a:tcPr marL="36576" marR="36576" marT="9144" marB="9144" anchor="ctr">
                    <a:solidFill>
                      <a:srgbClr val="E8F5E9"/>
                    </a:solidFill>
                  </a:tcPr>
                </a:tc>
                <a:tc>
                  <a:txBody>
                    <a:bodyPr/>
                    <a:lstStyle/>
                    <a:p>
                      <a:pPr algn="ctr"/>
                      <a:r>
                        <a:rPr sz="1200" b="0">
                          <a:solidFill>
                            <a:srgbClr val="000000"/>
                          </a:solidFill>
                          <a:latin typeface="Calibri"/>
                        </a:rPr>
                        <a:t>6</a:t>
                      </a:r>
                    </a:p>
                  </a:txBody>
                  <a:tcPr marL="36576" marR="36576" marT="9144" marB="9144" anchor="ctr">
                    <a:solidFill>
                      <a:srgbClr val="FFFFFF"/>
                    </a:solidFill>
                  </a:tcPr>
                </a:tc>
              </a:tr>
              <a:tr h="274320">
                <a:tc>
                  <a:txBody>
                    <a:bodyPr/>
                    <a:lstStyle/>
                    <a:p>
                      <a:pPr algn="l"/>
                      <a:r>
                        <a:rPr sz="1200" b="0">
                          <a:solidFill>
                            <a:srgbClr val="000000"/>
                          </a:solidFill>
                          <a:latin typeface="Calibri"/>
                        </a:rPr>
                        <a:t>Trick card</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0">
                          <a:solidFill>
                            <a:srgbClr val="000000"/>
                          </a:solidFill>
                          <a:latin typeface="Calibri"/>
                        </a:rPr>
                        <a:t>0</a:t>
                      </a:r>
                    </a:p>
                  </a:txBody>
                  <a:tcPr marL="36576" marR="36576" marT="9144" marB="9144" anchor="ctr">
                    <a:solidFill>
                      <a:srgbClr val="FFFFFF"/>
                    </a:solidFill>
                  </a:tcPr>
                </a:tc>
                <a:tc>
                  <a:txBody>
                    <a:bodyPr/>
                    <a:lstStyle/>
                    <a:p>
                      <a:pPr algn="ctr"/>
                      <a:r>
                        <a:rPr sz="1200" b="1">
                          <a:solidFill>
                            <a:srgbClr val="000000"/>
                          </a:solidFill>
                          <a:latin typeface="Calibri"/>
                        </a:rPr>
                        <a:t>63</a:t>
                      </a:r>
                    </a:p>
                  </a:txBody>
                  <a:tcPr marL="36576" marR="36576" marT="9144" marB="9144" anchor="ctr">
                    <a:solidFill>
                      <a:srgbClr val="E8F5E9"/>
                    </a:solidFill>
                  </a:tcPr>
                </a:tc>
              </a:tr>
            </a:tbl>
          </a:graphicData>
        </a:graphic>
      </p:graphicFrame>
      <p:sp>
        <p:nvSpPr>
          <p:cNvPr id="29" name="TextBox 28"/>
          <p:cNvSpPr txBox="1"/>
          <p:nvPr/>
        </p:nvSpPr>
        <p:spPr>
          <a:xfrm>
            <a:off x="12271248" y="7434072"/>
            <a:ext cx="2971800" cy="566928"/>
          </a:xfrm>
          <a:prstGeom prst="rect">
            <a:avLst/>
          </a:prstGeom>
          <a:noFill/>
        </p:spPr>
        <p:txBody>
          <a:bodyPr wrap="square" lIns="36576" rIns="36576" tIns="18288" bIns="18288">
            <a:noAutofit/>
          </a:bodyPr>
          <a:lstStyle/>
          <a:p>
            <a:pPr>
              <a:spcAft>
                <a:spcPts val="300"/>
              </a:spcAft>
            </a:pPr>
            <a:r>
              <a:rPr sz="1100" b="0">
                <a:solidFill>
                  <a:srgbClr val="555555"/>
                </a:solidFill>
                <a:latin typeface="Calibri"/>
              </a:rPr>
              <a:t>171 checks: 19 real photos, each as taken and with 8 computer-made changes.</a:t>
            </a:r>
          </a:p>
        </p:txBody>
      </p:sp>
      <p:sp>
        <p:nvSpPr>
          <p:cNvPr id="30" name="TextBox 29"/>
          <p:cNvSpPr txBox="1"/>
          <p:nvPr/>
        </p:nvSpPr>
        <p:spPr>
          <a:xfrm>
            <a:off x="9253728" y="8138160"/>
            <a:ext cx="5989320" cy="1335024"/>
          </a:xfrm>
          <a:prstGeom prst="rect">
            <a:avLst/>
          </a:prstGeom>
          <a:noFill/>
        </p:spPr>
        <p:txBody>
          <a:bodyPr wrap="square" lIns="36576" rIns="36576" tIns="18288" bIns="18288">
            <a:noAutofit/>
          </a:bodyPr>
          <a:lstStyle/>
          <a:p>
            <a:pPr>
              <a:spcAft>
                <a:spcPts val="100"/>
              </a:spcAft>
            </a:pPr>
            <a:r>
              <a:rPr sz="1200" b="1">
                <a:solidFill>
                  <a:srgbClr val="000000"/>
                </a:solidFill>
                <a:latin typeface="Calibri"/>
              </a:rPr>
              <a:t>Stress test, 171 checks: </a:t>
            </a:r>
            <a:r>
              <a:rPr sz="1200" b="0">
                <a:solidFill>
                  <a:srgbClr val="000000"/>
                </a:solidFill>
                <a:latin typeface="Calibri"/>
              </a:rPr>
              <a:t>70 matched the card, 101 said NOT SURE (63 were trick cards). Every NOT SURE on a clear card came from a blurry photo.</a:t>
            </a:r>
          </a:p>
          <a:p>
            <a:pPr>
              <a:spcAft>
                <a:spcPts val="100"/>
              </a:spcAft>
            </a:pPr>
            <a:r>
              <a:rPr sz="1200" b="1">
                <a:solidFill>
                  <a:srgbClr val="000000"/>
                </a:solidFill>
                <a:latin typeface="Calibri"/>
              </a:rPr>
              <a:t>Colour gap (Delta E), limit 14: </a:t>
            </a:r>
            <a:r>
              <a:rPr sz="1200" b="0">
                <a:solidFill>
                  <a:srgbClr val="000000"/>
                </a:solidFill>
                <a:latin typeface="Calibri"/>
              </a:rPr>
              <a:t>right colour 4.7 to 8.9, others 34 to 42, trick cards 16 to 31.</a:t>
            </a:r>
          </a:p>
          <a:p>
            <a:pPr>
              <a:spcAft>
                <a:spcPts val="100"/>
              </a:spcAft>
            </a:pPr>
            <a:r>
              <a:rPr sz="1200" b="1">
                <a:solidFill>
                  <a:srgbClr val="792E00"/>
                </a:solidFill>
                <a:latin typeface="Calibri"/>
              </a:rPr>
              <a:t>New in the app: </a:t>
            </a:r>
            <a:r>
              <a:rPr sz="1200">
                <a:solidFill>
                  <a:srgbClr val="000000"/>
                </a:solidFill>
                <a:latin typeface="Calibri"/>
              </a:rPr>
              <a:t>the phone checks blur right after the photo. On these photos it caught 36 of 38 blurry ones and stopped 3 of 70 good ones (officer can still send). Small test on 1 phone, real kits can still give wrong results.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3383280"/>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640080">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548640">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27432" marB="2743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ct val="105000"/>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ct val="105000"/>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ct val="105000"/>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ct val="105000"/>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ct val="105000"/>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ct val="105000"/>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- 20 cards at ₹10 = ₹200, server ₹3,000 a month for 3 months = ₹9,000. Total about ₹9,200 (estimate)</a:t>
            </a:r>
          </a:p>
        </p:txBody>
      </p:sp>
      <p:sp>
        <p:nvSpPr>
          <p:cNvPr id="56" name="TextBox 55"/>
          <p:cNvSpPr txBox="1"/>
          <p:nvPr/>
        </p:nvSpPr>
        <p:spPr>
          <a:xfrm>
            <a:off x="12115800" y="6675120"/>
            <a:ext cx="5897880" cy="603504"/>
          </a:xfrm>
          <a:prstGeom prst="rect">
            <a:avLst/>
          </a:prstGeom>
          <a:noFill/>
        </p:spPr>
        <p:txBody>
          <a:bodyPr wrap="square" lIns="27432" tIns="9144" rIns="27432" bIns="9144">
            <a:noAutofit/>
          </a:bodyPr>
          <a:lstStyle/>
          <a:p>
            <a:pPr>
              <a:spcAft>
                <a:spcPts val="0"/>
              </a:spcAft>
            </a:pPr>
            <a:r>
              <a:rPr sz="1200" b="1" dirty="0">
                <a:solidFill>
                  <a:srgbClr val="555555"/>
                </a:solidFill>
                <a:latin typeface="Calibri"/>
              </a:rPr>
              <a:t/>
            </a:r>
            <a:r>
              <a:rPr sz="1200" b="0" dirty="0">
                <a:solidFill>
                  <a:srgbClr val="555555"/>
                </a:solidFill>
                <a:latin typeface="Calibri"/>
              </a:rPr>
              <a:t/>
            </a:r>
            <a:r>
              <a:rPr sz="1200" b="1">
                <a:solidFill>
                  <a:srgbClr val="555555"/>
                </a:solidFill>
                <a:latin typeface="Calibri"/>
              </a:rPr>
              <a:t>After the pilot: </a:t>
            </a:r>
            <a:r>
              <a:rPr sz="1200" b="0">
                <a:solidFill>
                  <a:srgbClr val="555555"/>
                </a:solidFill>
                <a:latin typeface="Calibri"/>
              </a:rPr>
              <a:t>police or NCB IT budget, server about ₹36,000 a year (estimate).</a:t>
            </a:r>
          </a:p>
          <a:p>
            <a:pPr>
              <a:spcAft>
                <a:spcPts val="0"/>
              </a:spcAft>
            </a:pPr>
            <a:r>
              <a:rPr sz="1200" b="1">
                <a:solidFill>
                  <a:srgbClr val="555555"/>
                </a:solidFill>
                <a:latin typeface="Calibri"/>
              </a:rPr>
              <a:t>Owner: </a:t>
            </a:r>
            <a:r>
              <a:rPr sz="1200" b="0">
                <a:solidFill>
                  <a:srgbClr val="555555"/>
                </a:solidFill>
                <a:latin typeface="Calibri"/>
              </a:rPr>
              <a:t>state police IT cell runs the app, the FSL keeps kit colours correct.</a:t>
            </a:r>
          </a:p>
          <a:p>
            <a:pPr>
              <a:spcAft>
                <a:spcPts val="0"/>
              </a:spcAft>
            </a:pPr>
            <a:r>
              <a:rPr sz="1200" b="1">
                <a:solidFill>
                  <a:srgbClr val="555555"/>
                </a:solidFill>
                <a:latin typeface="Calibri"/>
              </a:rPr>
              <a:t>Upkeep: </a:t>
            </a:r>
            <a:r>
              <a:rPr sz="1200" b="0">
                <a:solidFill>
                  <a:srgbClr val="555555"/>
                </a:solidFill>
                <a:latin typeface="Calibri"/>
              </a:rPr>
              <a:t>security update every 3 months. MoU with police and FSL is planned.</a:t>
            </a:r>
          </a:p>
        </p:txBody>
      </p:sp>
      <p:sp>
        <p:nvSpPr>
          <p:cNvPr id="57" name="TextBox 56"/>
          <p:cNvSpPr txBox="1"/>
          <p:nvPr/>
        </p:nvSpPr>
        <p:spPr>
          <a:xfrm>
            <a:off x="3848263" y="1828202"/>
            <a:ext cx="4884257" cy="420624"/>
          </a:xfrm>
          <a:prstGeom prst="rect">
            <a:avLst/>
          </a:prstGeom>
          <a:noFill/>
        </p:spPr>
        <p:txBody>
          <a:bodyPr wrap="square" lIns="27432" rIns="27432" tIns="9144" bIns="9144">
            <a:noAutofit/>
          </a:bodyPr>
          <a:lstStyle/>
          <a:p>
            <a:r>
              <a:rPr sz="1200" b="1">
                <a:solidFill>
                  <a:srgbClr val="555555"/>
                </a:solidFill>
                <a:latin typeface="Calibri"/>
              </a:rPr>
              <a:t>Legal: </a:t>
            </a:r>
            <a:r>
              <a:rPr sz="1200" b="0">
                <a:solidFill>
                  <a:srgbClr val="555555"/>
                </a:solidFill>
                <a:latin typeface="Calibri"/>
              </a:rPr>
              <a:t>the app gives a first check only, the FSL lab confirms it.</a:t>
            </a:r>
          </a:p>
        </p:txBody>
      </p:sp>
      <p:sp>
        <p:nvSpPr>
          <p:cNvPr id="58" name="TextBox 57"/>
          <p:cNvSpPr txBox="1"/>
          <p:nvPr/>
        </p:nvSpPr>
        <p:spPr>
          <a:xfrm>
            <a:off x="9144000" y="5815584"/>
            <a:ext cx="8686800" cy="868680"/>
          </a:xfrm>
          <a:prstGeom prst="rect">
            <a:avLst/>
          </a:prstGeom>
          <a:noFill/>
        </p:spPr>
        <p:txBody>
          <a:bodyPr wrap="square" lIns="54864" rIns="54864" tIns="27432" bIns="27432">
            <a:noAutofit/>
          </a:bodyPr>
          <a:lstStyle/>
          <a:p>
            <a:pPr>
              <a:spcAft>
                <a:spcPts val="200"/>
              </a:spcAft>
            </a:pPr>
            <a:r>
              <a:rPr sz="1350" b="1">
                <a:solidFill>
                  <a:srgbClr val="792E00"/>
                </a:solidFill>
                <a:latin typeface="Calibri"/>
              </a:rPr>
              <a:t>Scale (estimate): </a:t>
            </a:r>
            <a:r>
              <a:rPr sz="1350" b="0">
                <a:solidFill>
                  <a:srgbClr val="000000"/>
                </a:solidFill>
                <a:latin typeface="Calibri"/>
              </a:rPr>
              <a:t>India had 1,20,010 NDPS cases in 2023 (NCRB), about 330 a day.</a:t>
            </a:r>
          </a:p>
          <a:p>
            <a:pPr>
              <a:spcAft>
                <a:spcPts val="200"/>
              </a:spcAft>
            </a:pPr>
            <a:r>
              <a:rPr sz="1350" b="0">
                <a:solidFill>
                  <a:srgbClr val="000000"/>
                </a:solidFill>
                <a:latin typeface="Calibri"/>
              </a:rPr>
              <a:t>Our colour check takes 0.12 s per photo, so one small server can check thousands of photos an hour. Each photo is about 0.85 MB, so all of India needs about 100 GB a year.</a:t>
            </a:r>
          </a:p>
        </p:txBody>
      </p:sp>
      <p:sp>
        <p:nvSpPr>
          <p:cNvPr id="59" name="TextBox 58"/>
          <p:cNvSpPr txBox="1"/>
          <p:nvPr/>
        </p:nvSpPr>
        <p:spPr>
          <a:xfrm>
            <a:off x="566928" y="5230368"/>
            <a:ext cx="8229600" cy="731520"/>
          </a:xfrm>
          <a:prstGeom prst="rect">
            <a:avLst/>
          </a:prstGeom>
          <a:noFill/>
        </p:spPr>
        <p:txBody>
          <a:bodyPr wrap="square" lIns="36576" rIns="36576">
            <a:noAutofit/>
          </a:bodyPr>
          <a:lstStyle/>
          <a:p>
            <a:r>
              <a:rPr sz="1400" b="1">
                <a:solidFill>
                  <a:srgbClr val="792E00"/>
                </a:solidFill>
                <a:latin typeface="Calibri"/>
              </a:rPr>
              <a:t>Privacy and data: </a:t>
            </a:r>
            <a:r>
              <a:rPr sz="1400" b="0">
                <a:solidFill>
                  <a:srgbClr val="000000"/>
                </a:solidFill>
                <a:latin typeface="Calibri"/>
              </a:rPr>
              <a:t>no face or suspect name is stored, only a sample code. In real use, data stays on government cloud in India. Officer sees only own tests, supervisor and admin see all. Photos are deleted after the case and appeal end (planned).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1981257"/>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4000" r="1500" b="430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(month 1) - build the offline design shown on slide 3.</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(month 2) - sign each test with the phone's security chip.</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 match our fields to e-Sakshya, get NIC or MHA approval, then send each sealed record with its photo hash.</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(during pilot) - compare field results with FSL lab results.</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Tamil is done in the app. Hindi and voice help in month 3.</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the photo hash is signed inside each record</a:t>
            </a:r>
          </a:p>
        </p:txBody>
      </p:sp>
      <p:sp>
        <p:nvSpPr>
          <p:cNvPr id="35" name="TextBox 34"/>
          <p:cNvSpPr txBox="1"/>
          <p:nvPr/>
        </p:nvSpPr>
        <p:spPr>
          <a:xfrm>
            <a:off x="10649712" y="4331265"/>
            <a:ext cx="6735059" cy="402336"/>
          </a:xfrm>
          <a:prstGeom prst="rect">
            <a:avLst/>
          </a:prstGeom>
          <a:noFill/>
        </p:spPr>
        <p:txBody>
          <a:bodyPr wrap="square" lIns="27432" rIns="27432" tIns="0" bIns="0">
            <a:noAutofit/>
          </a:bodyPr>
          <a:lstStyle/>
          <a:p>
            <a:r>
              <a:rPr sz="1300" b="1">
                <a:solidFill>
                  <a:srgbClr val="792E00"/>
                </a:solidFill>
                <a:latin typeface="Calibri"/>
              </a:rPr>
              <a:t>Court Certificate: </a:t>
            </a:r>
            <a:r>
              <a:rPr sz="1300" b="0">
                <a:solidFill>
                  <a:srgbClr val="000000"/>
                </a:solidFill>
                <a:latin typeface="Calibri"/>
              </a:rPr>
              <a:t>every PDF report now has a filled BSA section 63 page (photo hash, phone, time, GPS) for the officer and expert to sign. </a:t>
            </a:r>
            <a:r>
              <a:rPr sz="1300" b="0" u="sng">
                <a:solidFill>
                  <a:srgbClr val="0563C1"/>
                </a:solidFill>
                <a:latin typeface="Calibri"/>
                <a:hlinkClick r:id="rId13"/>
              </a:rPr>
              <a:t>Open a full sample report (PDF, 2 pages)</a:t>
            </a:r>
          </a:p>
        </p:txBody>
      </p:sp>
      <p:sp>
        <p:nvSpPr>
          <p:cNvPr id="36" name="Sample report link area">
            <a:hlinkClick r:id="rId13"/>
          </p:cNvPr>
          <p:cNvSpPr/>
          <p:nvPr/>
        </p:nvSpPr>
        <p:spPr>
          <a:xfrm>
            <a:off x="10649712" y="4331265"/>
            <a:ext cx="6735059" cy="402336"/>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Tamper proof" descr="tamper_proof_tall.png"/>
          <p:cNvPicPr>
            <a:picLocks noChangeAspect="1"/>
          </p:cNvPicPr>
          <p:nvPr/>
        </p:nvPicPr>
        <p:blipFill>
          <a:blip r:embed="rId14"/>
          <a:stretch>
            <a:fillRect/>
          </a:stretch>
        </p:blipFill>
        <p:spPr>
          <a:xfrm>
            <a:off x="10649712" y="5115959"/>
            <a:ext cx="6735059" cy="24184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
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2.svg" ContentType="image/svg+xml"/>
  <Override PartName="/ppt/media/image25.svg" ContentType="image/svg+xml"/>
  <Override PartName="/ppt/media/image27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libri (MS) Italics" charset="1" panose="020F05020202040A0204"/>
      <p:regular r:id="rId16"/>
    </p:embeddedFont>
    <p:embeddedFont>
      <p:font typeface="Arimo" charset="1" panose="020B0604020202020204"/>
      <p:regular r:id="rId17"/>
    </p:embeddedFont>
    <p:embeddedFont>
      <p:font typeface="Canva Sans" charset="1" panose="020B05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hyperlink" Target="https://youtu.be/F1cuxlgMW2g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1.png"/><Relationship Id="rId13" Type="http://schemas.openxmlformats.org/officeDocument/2006/relationships/image" Target="../media/image24.png"/><Relationship Id="rId14" Type="http://schemas.openxmlformats.org/officeDocument/2006/relationships/image" Target="../media/image2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18.jpeg"/><Relationship Id="rId9" Type="http://schemas.openxmlformats.org/officeDocument/2006/relationships/image" Target="../media/image4.png"/><Relationship Id="rId10" Type="http://schemas.openxmlformats.org/officeDocument/2006/relationships/image" Target="../media/image19.png"/><Relationship Id="rId11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hyperlink" Target="https://pubmed.ncbi.nlm.nih.gov/28269432/" TargetMode="External"/><Relationship Id="rId6" Type="http://schemas.openxmlformats.org/officeDocument/2006/relationships/hyperlink" Target="https://www.researchgate.net/publication/386361522_Digital_Evidence_Chain_of_Custody_Navigating_New_Realities_of_Digital_Forensics" TargetMode="External"/><Relationship Id="rId7" Type="http://schemas.openxmlformats.org/officeDocument/2006/relationships/hyperlink" Target="https://www.researchgate.net/publication/259845901_Real_time_quantitative_colorimetric_test_for_methamphetamine_detection_using_digital_and_mobile_phone_technology" TargetMode="External"/><Relationship Id="rId8" Type="http://schemas.openxmlformats.org/officeDocument/2006/relationships/hyperlink" Target="https://nij.ojp.gov/library/publications/objective-method-presumptive-field-testing-illicit-drug-possession-using-0?utm_source=chatgpt.com" TargetMode="External"/><Relationship Id="rId9" Type="http://schemas.openxmlformats.org/officeDocument/2006/relationships/hyperlink" Target="https://pubs.rsc.org/dd/article/2/4/1143/804876/Teaching-old-presumptive-tests-new-digital-tricks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svg"/><Relationship Id="rId16" Type="http://schemas.openxmlformats.org/officeDocument/2006/relationships/image" Target="../media/image26.png"/><Relationship Id="rId17" Type="http://schemas.openxmlformats.org/officeDocument/2006/relationships/image" Target="../media/image27.svg"/><Relationship Id="rId18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sp>
        <p:nvSpPr>
          <p:cNvPr name="TextBox 5" id="5" descr="$PPTXTitle"/>
          <p:cNvSpPr txBox="true"/>
          <p:nvPr/>
        </p:nvSpPr>
        <p:spPr>
          <a:xfrm rot="0">
            <a:off x="1856872" y="290741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15908" y="2734335"/>
            <a:ext cx="8392108" cy="4947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just">
              <a:lnSpc>
                <a:spcPts val="5661"/>
              </a:lnSpc>
            </a:pPr>
            <a:r>
              <a:rPr lang="en-US" b="true" sz="2933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ompanion for Field Drug Testing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8226619" y="1770996"/>
            <a:ext cx="0" cy="738423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8595360" y="5870448"/>
            <a:ext cx="9006840" cy="3474720"/>
            <a:chOff x="0" y="0"/>
            <a:chExt cx="120906797" cy="676326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0906803" cy="67632697"/>
            </a:xfrm>
            <a:custGeom>
              <a:avLst/>
              <a:gdLst/>
              <a:ahLst/>
              <a:cxnLst/>
              <a:rect r="r" b="b" t="t" l="l"/>
              <a:pathLst>
                <a:path h="67632697" w="120906803">
                  <a:moveTo>
                    <a:pt x="10928" y="0"/>
                  </a:moveTo>
                  <a:lnTo>
                    <a:pt x="120895876" y="0"/>
                  </a:lnTo>
                  <a:cubicBezTo>
                    <a:pt x="120898779" y="0"/>
                    <a:pt x="120901557" y="1151"/>
                    <a:pt x="120903603" y="3201"/>
                  </a:cubicBezTo>
                  <a:cubicBezTo>
                    <a:pt x="120905650" y="5250"/>
                    <a:pt x="120906803" y="8030"/>
                    <a:pt x="120906803" y="10928"/>
                  </a:cubicBezTo>
                  <a:lnTo>
                    <a:pt x="120906803" y="67621770"/>
                  </a:lnTo>
                  <a:cubicBezTo>
                    <a:pt x="120906803" y="67627804"/>
                    <a:pt x="120901916" y="67632697"/>
                    <a:pt x="120895876" y="67632697"/>
                  </a:cubicBezTo>
                  <a:lnTo>
                    <a:pt x="10928" y="67632697"/>
                  </a:lnTo>
                  <a:cubicBezTo>
                    <a:pt x="4893" y="67632697"/>
                    <a:pt x="0" y="67627804"/>
                    <a:pt x="0" y="67621770"/>
                  </a:cubicBezTo>
                  <a:lnTo>
                    <a:pt x="0" y="10928"/>
                  </a:lnTo>
                  <a:cubicBezTo>
                    <a:pt x="0" y="4893"/>
                    <a:pt x="4893" y="0"/>
                    <a:pt x="10928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20906797" cy="6771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378223" y="2377440"/>
            <a:ext cx="9228727" cy="830419"/>
          </a:xfrm>
          <a:custGeom>
            <a:avLst/>
            <a:gdLst/>
            <a:ahLst/>
            <a:cxnLst/>
            <a:rect r="r" b="b" t="t" l="l"/>
            <a:pathLst>
              <a:path h="830419" w="9228727">
                <a:moveTo>
                  <a:pt x="0" y="0"/>
                </a:moveTo>
                <a:lnTo>
                  <a:pt x="9228727" y="0"/>
                </a:lnTo>
                <a:lnTo>
                  <a:pt x="9228727" y="830419"/>
                </a:lnTo>
                <a:lnTo>
                  <a:pt x="0" y="8304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656" t="-554195" r="-92275" b="-1128926"/>
            </a:stretch>
          </a:blipFill>
        </p:spPr>
      </p:sp>
      <p:sp>
        <p:nvSpPr>
          <p:cNvPr name="AutoShape 14" id="14"/>
          <p:cNvSpPr/>
          <p:nvPr/>
        </p:nvSpPr>
        <p:spPr>
          <a:xfrm flipV="true">
            <a:off x="1066800" y="3858768"/>
            <a:ext cx="7159819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093704" y="360907"/>
            <a:ext cx="755389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b="true" sz="5399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3028" y="2240280"/>
            <a:ext cx="7042520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Office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rs mainly judge the kit’s colour change by looking at it, so lighting and personal judgement can affect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is no standard colour value to compare the test result with.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test does not always l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eave a clear digital record of who performed it, where, and when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making it harder to verify later.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6571" y="1810512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028" y="4005072"/>
            <a:ext cx="6996848" cy="2756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12000"/>
              </a:lnSpc>
            </a:pP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 the Test - The mobile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 captures the colour change and helps check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Record the Test - Saves the result along with the time, location, and Inspector ID.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 the Records - The admin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dashboard manages Inspe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ctors, test records, evidence, and reports.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6571" y="3950208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Solution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23960" y="5943600"/>
            <a:ext cx="140079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Novelty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915400" y="6400800"/>
            <a:ext cx="8503920" cy="3275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Handles Lighting Variations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 low-cost col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 card to improve colour detection under different lighting.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 Unclear Results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Blurry, shiny, or unclear images are marked INCONCLUSIVE instead of giving a wrong result.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Creates Verifiable Evidence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Securely records the photo, GPS, time, and Inspector ID, with QR-based verification.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orts Multiple Kits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New kit colour profiles can be added from the Admin website without changing the app.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965447" y="1874519"/>
            <a:ext cx="185196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720840" y="7991856"/>
            <a:ext cx="1320330" cy="1320330"/>
          </a:xfrm>
          <a:custGeom>
            <a:avLst/>
            <a:gdLst/>
            <a:ahLst/>
            <a:cxnLst/>
            <a:rect r="r" b="b" t="t" l="l"/>
            <a:pathLst>
              <a:path h="1320330" w="1320330">
                <a:moveTo>
                  <a:pt x="0" y="0"/>
                </a:moveTo>
                <a:lnTo>
                  <a:pt x="1320330" y="0"/>
                </a:lnTo>
                <a:lnTo>
                  <a:pt x="1320330" y="1320330"/>
                </a:lnTo>
                <a:lnTo>
                  <a:pt x="0" y="13203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152144" y="8421624"/>
            <a:ext cx="3063240" cy="390525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rototype Demo Video: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297680" y="8439912"/>
            <a:ext cx="2103120" cy="3619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"/>
                <a:ea typeface="Calibri"/>
                <a:cs typeface="Calibri"/>
                <a:sym typeface="Calibri"/>
                <a:hlinkClick r:id="rId8" tooltip="https://youtu.be/F1cuxlgMW2g"/>
              </a:rPr>
              <a:t>Prototype Video Link</a:t>
            </a:r>
          </a:p>
        </p:txBody>
      </p:sp>
      <p:sp>
        <p:nvSpPr>
          <p:cNvPr id="28" name="Video link click area">
            <a:hlinkClick r:id="rId8"/>
          </p:cNvPr>
          <p:cNvSpPr/>
          <p:nvPr/>
        </p:nvSpPr>
        <p:spPr>
          <a:xfrm>
            <a:off x="4297680" y="8394192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Video QR click area">
            <a:hlinkClick r:id="rId8"/>
          </p:cNvPr>
          <p:cNvSpPr/>
          <p:nvPr/>
        </p:nvSpPr>
        <p:spPr>
          <a:xfrm>
            <a:off x="6720840" y="7991856"/>
            <a:ext cx="1320330" cy="13203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name="TextBox 23" id="30"/>
          <p:cNvSpPr txBox="true"/>
          <p:nvPr/>
        </p:nvSpPr>
        <p:spPr>
          <a:xfrm rot="0">
            <a:off x="8595360" y="3383280"/>
            <a:ext cx="90068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Prototype 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low - </a:t>
            </a:r>
            <a:r>
              <a:rPr lang="en-US" sz="2200">
                <a:solidFill>
                  <a:srgbClr val="202020"/>
                </a:solidFill>
                <a:latin typeface="Calibri"/>
                <a:ea typeface="Calibri"/>
                <a:cs typeface="Calibri"/>
                <a:sym typeface="Calibri"/>
              </a:rPr>
              <a:t>real screenshots of our working prototype</a:t>
            </a:r>
          </a:p>
        </p:txBody>
      </p:sp>
      <p:sp>
        <p:nvSpPr>
          <p:cNvPr name="Freeform 8" id="31"/>
          <p:cNvSpPr/>
          <p:nvPr/>
        </p:nvSpPr>
        <p:spPr>
          <a:xfrm flipH="false" flipV="false" rot="0">
            <a:off x="8595360" y="3858768"/>
            <a:ext cx="1420051" cy="1783080"/>
          </a:xfrm>
          <a:custGeom>
            <a:avLst/>
            <a:gdLst/>
            <a:ahLst/>
            <a:cxnLst/>
            <a:rect r="r" b="b" t="t" l="l"/>
            <a:pathLst>
              <a:path h="3416454" w="2720876">
                <a:moveTo>
                  <a:pt x="0" y="0"/>
                </a:moveTo>
                <a:lnTo>
                  <a:pt x="2720876" y="0"/>
                </a:lnTo>
                <a:lnTo>
                  <a:pt x="2720876" y="3416454"/>
                </a:lnTo>
                <a:lnTo>
                  <a:pt x="0" y="341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6699" r="0" b="-70279"/>
            </a:stretch>
          </a:blipFill>
        </p:spPr>
      </p:sp>
      <p:sp>
        <p:nvSpPr>
          <p:cNvPr name="Freeform 10" id="32"/>
          <p:cNvSpPr/>
          <p:nvPr/>
        </p:nvSpPr>
        <p:spPr>
          <a:xfrm flipH="false" flipV="false" rot="0">
            <a:off x="10498282" y="3858768"/>
            <a:ext cx="861759" cy="1783080"/>
          </a:xfrm>
          <a:custGeom>
            <a:avLst/>
            <a:gdLst/>
            <a:ahLst/>
            <a:cxnLst/>
            <a:rect r="r" b="b" t="t" l="l"/>
            <a:pathLst>
              <a:path h="3213409" w="1553035">
                <a:moveTo>
                  <a:pt x="0" y="0"/>
                </a:moveTo>
                <a:lnTo>
                  <a:pt x="1553035" y="0"/>
                </a:lnTo>
                <a:lnTo>
                  <a:pt x="1553035" y="3213409"/>
                </a:lnTo>
                <a:lnTo>
                  <a:pt x="0" y="321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065" r="0" b="-3334"/>
            </a:stretch>
          </a:blipFill>
        </p:spPr>
      </p:sp>
      <p:sp>
        <p:nvSpPr>
          <p:cNvPr name="Freeform 11" id="33"/>
          <p:cNvSpPr/>
          <p:nvPr/>
        </p:nvSpPr>
        <p:spPr>
          <a:xfrm flipH="false" flipV="false" rot="0">
            <a:off x="11842913" y="3858768"/>
            <a:ext cx="1063454" cy="1783080"/>
          </a:xfrm>
          <a:custGeom>
            <a:avLst/>
            <a:gdLst/>
            <a:ahLst/>
            <a:cxnLst/>
            <a:rect r="r" b="b" t="t" l="l"/>
            <a:pathLst>
              <a:path h="2988046" w="1782114">
                <a:moveTo>
                  <a:pt x="0" y="0"/>
                </a:moveTo>
                <a:lnTo>
                  <a:pt x="1782114" y="0"/>
                </a:lnTo>
                <a:lnTo>
                  <a:pt x="1782114" y="2988046"/>
                </a:lnTo>
                <a:lnTo>
                  <a:pt x="0" y="29880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017" r="0" b="-27519"/>
            </a:stretch>
          </a:blipFill>
        </p:spPr>
      </p:sp>
      <p:sp>
        <p:nvSpPr>
          <p:cNvPr name="Freeform 9" id="34"/>
          <p:cNvSpPr/>
          <p:nvPr/>
        </p:nvSpPr>
        <p:spPr>
          <a:xfrm flipH="false" flipV="false" rot="0">
            <a:off x="13389239" y="3858768"/>
            <a:ext cx="4212960" cy="1783080"/>
          </a:xfrm>
          <a:custGeom>
            <a:avLst/>
            <a:gdLst/>
            <a:ahLst/>
            <a:cxnLst/>
            <a:rect r="r" b="b" t="t" l="l"/>
            <a:pathLst>
              <a:path h="2714824" w="6414433">
                <a:moveTo>
                  <a:pt x="0" y="0"/>
                </a:moveTo>
                <a:lnTo>
                  <a:pt x="6414433" y="0"/>
                </a:lnTo>
                <a:lnTo>
                  <a:pt x="6414433" y="2714824"/>
                </a:lnTo>
                <a:lnTo>
                  <a:pt x="0" y="27148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2643" r="-1398" b="-29274"/>
            </a:stretch>
          </a:blipFill>
        </p:spPr>
      </p:sp>
      <p:sp>
        <p:nvSpPr>
          <p:cNvPr name="Freeform 12" id="35"/>
          <p:cNvSpPr/>
          <p:nvPr/>
        </p:nvSpPr>
        <p:spPr>
          <a:xfrm flipH="false" flipV="false" rot="0">
            <a:off x="10096826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36"/>
          <p:cNvSpPr/>
          <p:nvPr/>
        </p:nvSpPr>
        <p:spPr>
          <a:xfrm flipH="false" flipV="false" rot="0">
            <a:off x="11441457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37"/>
          <p:cNvSpPr/>
          <p:nvPr/>
        </p:nvSpPr>
        <p:spPr>
          <a:xfrm flipH="false" flipV="false" rot="0">
            <a:off x="12987783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38"/>
          <p:cNvSpPr txBox="true"/>
          <p:nvPr/>
        </p:nvSpPr>
        <p:spPr>
          <a:xfrm rot="0">
            <a:off x="1152144" y="6199632"/>
            <a:ext cx="4572000" cy="438912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User Experience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987552" y="6638544"/>
            <a:ext cx="7132320" cy="128016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 steps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pick kit → photo inside the box → result → sealed. Result ~2.5 s after the photo.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Bad photo?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App says NOT SURE with the reason (blur, glare, card not read) and asks to retake.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to read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big result word + colour (not colour alone), simple English. Next: timed test with 10 officers.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5641848"/>
            <a:ext cx="90068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r>
              <a:rPr sz="1150" b="0" i="1">
                <a:solidFill>
                  <a:srgbClr val="6B6B6B"/>
                </a:solidFill>
                <a:latin typeface="Calibri"/>
              </a:rPr>
              <a:t>Test Log (right): search + filter by date, officer, kit and result; export as CSV, PDF + QR.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7" id="7"/>
          <p:cNvSpPr/>
          <p:nvPr/>
        </p:nvSpPr>
        <p:spPr>
          <a:xfrm flipV="true">
            <a:off x="9120273" y="2317442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575656" y="2365906"/>
            <a:ext cx="8506261" cy="7198718"/>
          </a:xfrm>
          <a:custGeom>
            <a:avLst/>
            <a:gdLst/>
            <a:ahLst/>
            <a:cxnLst/>
            <a:rect r="r" b="b" t="t" l="l"/>
            <a:pathLst>
              <a:path h="7198718" w="8506261">
                <a:moveTo>
                  <a:pt x="0" y="0"/>
                </a:moveTo>
                <a:lnTo>
                  <a:pt x="8506261" y="0"/>
                </a:lnTo>
                <a:lnTo>
                  <a:pt x="8506261" y="7198718"/>
                </a:lnTo>
                <a:lnTo>
                  <a:pt x="0" y="71987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t="-10560" r="-41196" b="-17925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633393" y="3206103"/>
            <a:ext cx="2374096" cy="5123386"/>
          </a:xfrm>
          <a:custGeom>
            <a:avLst/>
            <a:gdLst/>
            <a:ahLst/>
            <a:cxnLst/>
            <a:rect r="r" b="b" t="t" l="l"/>
            <a:pathLst>
              <a:path h="5123386" w="2374096">
                <a:moveTo>
                  <a:pt x="0" y="0"/>
                </a:moveTo>
                <a:lnTo>
                  <a:pt x="2374096" y="0"/>
                </a:lnTo>
                <a:lnTo>
                  <a:pt x="2374096" y="5123386"/>
                </a:lnTo>
                <a:lnTo>
                  <a:pt x="0" y="51233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2659" t="-5244" r="-32335" b="-9439"/>
            </a:stretch>
          </a:blipFill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 flipV="true">
            <a:off x="15376592" y="2280181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9281160" y="7306646"/>
            <a:ext cx="2651760" cy="1677505"/>
          </a:xfrm>
          <a:custGeom>
            <a:avLst/>
            <a:gdLst/>
            <a:ahLst/>
            <a:cxnLst/>
            <a:rect r="r" b="b" t="t" l="l"/>
            <a:pathLst>
              <a:path h="2538128" w="4012211">
                <a:moveTo>
                  <a:pt x="0" y="0"/>
                </a:moveTo>
                <a:lnTo>
                  <a:pt x="4012211" y="0"/>
                </a:lnTo>
                <a:lnTo>
                  <a:pt x="4012211" y="2538129"/>
                </a:lnTo>
                <a:lnTo>
                  <a:pt x="0" y="25381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25" t="-2803" r="-1836" b="-2540"/>
            </a:stretch>
          </a:blipFill>
        </p:spPr>
        <p:txBody>
          <a:bodyPr/>
          <a:p/>
        </p:txBody>
      </p:sp>
      <p:sp>
        <p:nvSpPr>
          <p:cNvPr name="TextBox 14" id="14" descr="$PPTXTitle"/>
          <p:cNvSpPr txBox="true"/>
          <p:nvPr/>
        </p:nvSpPr>
        <p:spPr>
          <a:xfrm rot="0">
            <a:off x="4732364" y="360750"/>
            <a:ext cx="826858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414563" y="2563902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Techn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ology 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4375" y="1842031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Syst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em Archi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tecture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248369" y="2251606"/>
            <a:ext cx="5761019" cy="326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Testing: 37 kit photos across 5 lighting conditions, 6 real phone photos.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 25/25 controlled tests correct; 5/6 r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eal photos correct, with 1 marked “NOT SURE”.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Colour Ch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eck: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Used ΔE ≤ 14, 4-point colour matching, card-fit and glare thresholds.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Speed: Result secured in 2.5 s typically, 5 s maximum.</a:t>
            </a:r>
          </a:p>
          <a:p>
            <a:pPr algn="l" marL="367031" indent="-183515" lvl="1">
              <a:lnSpc>
                <a:spcPts val="2856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Tamper Test: All 4/4 modified records were detected successfully.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8369" y="5611125"/>
            <a:ext cx="588500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Kit col</a:t>
            </a: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ours are simulated swatches (test photos + card on a screen), real kits need an FSL calibration trial.</a:t>
            </a:r>
          </a:p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Next step (not done yet): real-kit trial with an FSL, in lab + field light.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281316" y="1842031"/>
            <a:ext cx="390060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1" sz="25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Our Goals - Measured Results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1160" y="6473952"/>
            <a:ext cx="265176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Reference Card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248369" y="6419088"/>
            <a:ext cx="588500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2" id="24"/>
          <p:cNvSpPr txBox="true"/>
          <p:nvPr/>
        </p:nvSpPr>
        <p:spPr>
          <a:xfrm rot="0">
            <a:off x="12298680" y="6473952"/>
            <a:ext cx="28346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Proof of Results</a:t>
            </a:r>
          </a:p>
        </p:txBody>
      </p:sp>
      <p:pic>
        <p:nvPicPr>
          <p:cNvPr id="25" name="Proof grid" descr="proof_gr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98680" y="6858000"/>
            <a:ext cx="2834640" cy="2574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9363648" y="2318099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</a:t>
                      </a: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Colou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Shiny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 photo or ed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erent kits and phones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Kit 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settings + colours fixed every photo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>
            <a:off x="8899227" y="1857539"/>
            <a:ext cx="0" cy="719396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414105" y="6018440"/>
            <a:ext cx="8475596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02920" y="6675120"/>
            <a:ext cx="3977639" cy="2219604"/>
          </a:xfrm>
          <a:custGeom>
            <a:avLst/>
            <a:gdLst/>
            <a:ahLst/>
            <a:cxnLst/>
            <a:rect r="r" b="b" t="t" l="l"/>
            <a:pathLst>
              <a:path h="2987110" w="5354622">
                <a:moveTo>
                  <a:pt x="0" y="0"/>
                </a:moveTo>
                <a:lnTo>
                  <a:pt x="5354622" y="0"/>
                </a:lnTo>
                <a:lnTo>
                  <a:pt x="5354622" y="2987110"/>
                </a:lnTo>
                <a:lnTo>
                  <a:pt x="0" y="2987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999" t="-62172" r="-21685" b="-32345"/>
            </a:stretch>
          </a:blipFill>
        </p:spPr>
      </p:sp>
      <p:sp>
        <p:nvSpPr>
          <p:cNvPr name="TextBox 15" id="15" descr="$PPTXTitle"/>
          <p:cNvSpPr txBox="true"/>
          <p:nvPr/>
        </p:nvSpPr>
        <p:spPr>
          <a:xfrm rot="0">
            <a:off x="3963967" y="360907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4000" y="1809914"/>
            <a:ext cx="384917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otential Challenges &amp; Strategies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18" id="18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6791" y="6104165"/>
            <a:ext cx="4281964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Phased Implementation &amp; Scalability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6791" y="1809914"/>
            <a:ext cx="306431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easibility &amp; Sustainability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1255" y="2271877"/>
            <a:ext cx="8399396" cy="360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Core app tested with OpenCV-based colour analysis.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Capture o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photo and get a result within seconds.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Low Cost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an existing Android phone, a reusable ~₹10 colour card, and open-source tools.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erational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Simple photo-based workflow with minimal training required.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Scalable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Add new test-kit colour profiles through the Admin website without updating the app.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Sustainable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Government-cloud hosting, regular profile updates, and secure data storage support long-term use.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0" y="6749314"/>
            <a:ext cx="283011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ost &amp; Deployment Plan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88924" y="7391299"/>
            <a:ext cx="1606622" cy="1880336"/>
            <a:chOff x="0" y="0"/>
            <a:chExt cx="27419684" cy="320910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875719" y="7391299"/>
            <a:ext cx="1606622" cy="1880336"/>
            <a:chOff x="0" y="0"/>
            <a:chExt cx="27419684" cy="320910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63316" y="7391299"/>
            <a:ext cx="1606622" cy="1880336"/>
            <a:chOff x="0" y="0"/>
            <a:chExt cx="27419684" cy="3209107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50913" y="7391299"/>
            <a:ext cx="1606622" cy="1880336"/>
            <a:chOff x="0" y="0"/>
            <a:chExt cx="27419684" cy="3209107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38511" y="7391299"/>
            <a:ext cx="1606622" cy="1880336"/>
            <a:chOff x="0" y="0"/>
            <a:chExt cx="27419684" cy="320910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088924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875719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OSTING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63316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MAINTENAN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450913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DEPL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OYMENT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38511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CALE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57881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Uses an existing p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hone, ₹10 reusable colour card, and open-source software.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43196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Runs on g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overnment cloud for the app, database, and admin dashboard.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70598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Regular security upd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ates and easy kit-profile updates as needed.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51987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Start with a pilot, test in the fi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eld, then expand deployment.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329303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New test kits c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be added through the website without updating the app.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0691338" y="8324540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1" id="51"/>
          <p:cNvSpPr/>
          <p:nvPr/>
        </p:nvSpPr>
        <p:spPr>
          <a:xfrm>
            <a:off x="12478935" y="834099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2" id="52"/>
          <p:cNvSpPr/>
          <p:nvPr/>
        </p:nvSpPr>
        <p:spPr>
          <a:xfrm>
            <a:off x="14269938" y="832194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53" id="53"/>
          <p:cNvSpPr/>
          <p:nvPr/>
        </p:nvSpPr>
        <p:spPr>
          <a:xfrm>
            <a:off x="16057536" y="8331467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19" id="54"/>
          <p:cNvSpPr txBox="true"/>
          <p:nvPr/>
        </p:nvSpPr>
        <p:spPr>
          <a:xfrm rot="0">
            <a:off x="4572000" y="6492240"/>
            <a:ext cx="4206240" cy="384048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Pilot Plan (proposed)</a:t>
            </a:r>
          </a:p>
        </p:txBody>
      </p:sp>
      <p:sp>
        <p:nvSpPr>
          <p:cNvPr name="TextBox 21" id="55"/>
          <p:cNvSpPr txBox="true"/>
          <p:nvPr/>
        </p:nvSpPr>
        <p:spPr>
          <a:xfrm rot="0">
            <a:off x="4526280" y="6931152"/>
            <a:ext cx="4315968" cy="251460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Where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- 1 district in Tamil Nadu, with local police + nearest FSL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Who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- 20 field officers for 3 months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every field result re-tested in the FSL lab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- 95%+ match with lab, NOT SURE under 10%, every record verifies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155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district → state → national (phases on the left)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2866" y="2000650"/>
            <a:ext cx="9090296" cy="2418586"/>
            <a:chOff x="0" y="0"/>
            <a:chExt cx="180762863" cy="48094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0762870" cy="48094196"/>
            </a:xfrm>
            <a:custGeom>
              <a:avLst/>
              <a:gdLst/>
              <a:ahLst/>
              <a:cxnLst/>
              <a:rect r="r" b="b" t="t" l="l"/>
              <a:pathLst>
                <a:path h="48094196" w="180762870">
                  <a:moveTo>
                    <a:pt x="8517" y="0"/>
                  </a:moveTo>
                  <a:lnTo>
                    <a:pt x="180754350" y="0"/>
                  </a:lnTo>
                  <a:cubicBezTo>
                    <a:pt x="180759063" y="0"/>
                    <a:pt x="180762870" y="3813"/>
                    <a:pt x="180762870" y="8517"/>
                  </a:cubicBezTo>
                  <a:lnTo>
                    <a:pt x="180762870" y="48085679"/>
                  </a:lnTo>
                  <a:cubicBezTo>
                    <a:pt x="180762870" y="48090382"/>
                    <a:pt x="180759063" y="48094196"/>
                    <a:pt x="180754350" y="48094196"/>
                  </a:cubicBezTo>
                  <a:lnTo>
                    <a:pt x="8517" y="48094196"/>
                  </a:lnTo>
                  <a:cubicBezTo>
                    <a:pt x="3813" y="48094196"/>
                    <a:pt x="0" y="48090382"/>
                    <a:pt x="0" y="48085679"/>
                  </a:cubicBezTo>
                  <a:lnTo>
                    <a:pt x="0" y="8517"/>
                  </a:lnTo>
                  <a:cubicBezTo>
                    <a:pt x="0" y="3813"/>
                    <a:pt x="3813" y="0"/>
                    <a:pt x="851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180762863" cy="481703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12566" y="4836047"/>
            <a:ext cx="4685447" cy="4615775"/>
          </a:xfrm>
          <a:custGeom>
            <a:avLst/>
            <a:gdLst/>
            <a:ahLst/>
            <a:cxnLst/>
            <a:rect r="r" b="b" t="t" l="l"/>
            <a:pathLst>
              <a:path h="4615775" w="4685447">
                <a:moveTo>
                  <a:pt x="0" y="0"/>
                </a:moveTo>
                <a:lnTo>
                  <a:pt x="4685448" y="0"/>
                </a:lnTo>
                <a:lnTo>
                  <a:pt x="4685448" y="4615775"/>
                </a:lnTo>
                <a:lnTo>
                  <a:pt x="0" y="4615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0649712" y="6742374"/>
            <a:ext cx="6735059" cy="2630226"/>
            <a:chOff x="0" y="0"/>
            <a:chExt cx="133928377" cy="655126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3928383" cy="65512659"/>
            </a:xfrm>
            <a:custGeom>
              <a:avLst/>
              <a:gdLst/>
              <a:ahLst/>
              <a:cxnLst/>
              <a:rect r="r" b="b" t="t" l="l"/>
              <a:pathLst>
                <a:path h="65512659" w="133928383">
                  <a:moveTo>
                    <a:pt x="11495" y="0"/>
                  </a:moveTo>
                  <a:lnTo>
                    <a:pt x="133916886" y="0"/>
                  </a:lnTo>
                  <a:cubicBezTo>
                    <a:pt x="133919937" y="0"/>
                    <a:pt x="133922864" y="1211"/>
                    <a:pt x="133925022" y="3367"/>
                  </a:cubicBezTo>
                  <a:cubicBezTo>
                    <a:pt x="133927168" y="5523"/>
                    <a:pt x="133928383" y="8446"/>
                    <a:pt x="133928383" y="11495"/>
                  </a:cubicBezTo>
                  <a:lnTo>
                    <a:pt x="133928383" y="65501162"/>
                  </a:lnTo>
                  <a:cubicBezTo>
                    <a:pt x="133928383" y="65507512"/>
                    <a:pt x="133923236" y="65512659"/>
                    <a:pt x="133916886" y="65512659"/>
                  </a:cubicBezTo>
                  <a:lnTo>
                    <a:pt x="11495" y="65512659"/>
                  </a:lnTo>
                  <a:cubicBezTo>
                    <a:pt x="8446" y="65512659"/>
                    <a:pt x="5523" y="65511449"/>
                    <a:pt x="3367" y="65509291"/>
                  </a:cubicBezTo>
                  <a:cubicBezTo>
                    <a:pt x="1211" y="65507133"/>
                    <a:pt x="0" y="65504213"/>
                    <a:pt x="0" y="65501162"/>
                  </a:cubicBezTo>
                  <a:lnTo>
                    <a:pt x="0" y="11495"/>
                  </a:lnTo>
                  <a:cubicBezTo>
                    <a:pt x="0" y="8446"/>
                    <a:pt x="1211" y="5523"/>
                    <a:pt x="3367" y="3367"/>
                  </a:cubicBezTo>
                  <a:cubicBezTo>
                    <a:pt x="5523" y="1211"/>
                    <a:pt x="8446" y="0"/>
                    <a:pt x="114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33928377" cy="6558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4699814" y="2426368"/>
            <a:ext cx="0" cy="183976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-1874657">
            <a:off x="4845967" y="5598832"/>
            <a:ext cx="1557904" cy="1324218"/>
          </a:xfrm>
          <a:custGeom>
            <a:avLst/>
            <a:gdLst/>
            <a:ahLst/>
            <a:cxnLst/>
            <a:rect r="r" b="b" t="t" l="l"/>
            <a:pathLst>
              <a:path h="1324218" w="1557904">
                <a:moveTo>
                  <a:pt x="0" y="0"/>
                </a:moveTo>
                <a:lnTo>
                  <a:pt x="1557904" y="0"/>
                </a:lnTo>
                <a:lnTo>
                  <a:pt x="1557904" y="1324219"/>
                </a:lnTo>
                <a:lnTo>
                  <a:pt x="0" y="13242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524601" y="5010285"/>
            <a:ext cx="3418560" cy="4441537"/>
          </a:xfrm>
          <a:custGeom>
            <a:avLst/>
            <a:gdLst/>
            <a:ahLst/>
            <a:cxnLst/>
            <a:rect r="r" b="b" t="t" l="l"/>
            <a:pathLst>
              <a:path h="4441537" w="3418560">
                <a:moveTo>
                  <a:pt x="0" y="0"/>
                </a:moveTo>
                <a:lnTo>
                  <a:pt x="3418560" y="0"/>
                </a:lnTo>
                <a:lnTo>
                  <a:pt x="3418560" y="4441537"/>
                </a:lnTo>
                <a:lnTo>
                  <a:pt x="0" y="44415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21" r="0" b="-994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06" r="0" b="-108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1985241" y="2395728"/>
            <a:ext cx="4064000" cy="2240280"/>
          </a:xfrm>
          <a:custGeom>
            <a:avLst/>
            <a:gdLst/>
            <a:ahLst/>
            <a:cxnLst/>
            <a:rect r="r" b="b" t="t" l="l"/>
            <a:pathLst>
              <a:path h="3360331" w="6095839">
                <a:moveTo>
                  <a:pt x="0" y="0"/>
                </a:moveTo>
                <a:lnTo>
                  <a:pt x="6095839" y="0"/>
                </a:lnTo>
                <a:lnTo>
                  <a:pt x="6095839" y="3360331"/>
                </a:lnTo>
                <a:lnTo>
                  <a:pt x="0" y="336033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0" id="20" descr="$PPTXTitle"/>
          <p:cNvSpPr txBox="true"/>
          <p:nvPr/>
        </p:nvSpPr>
        <p:spPr>
          <a:xfrm rot="0">
            <a:off x="4912538" y="346300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95384" y="7181286"/>
            <a:ext cx="6689387" cy="274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ffline Mode - Test even without internet and sync data later.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Pho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Security - Use the phone’s security chip to sign each test.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olice System Integration - Connect with e-Sakshya and CCTNS.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 Comparison - Compare field results with lab</a:t>
            </a: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results to improve accuracy.</a:t>
            </a:r>
          </a:p>
          <a:p>
            <a:pPr algn="l" marL="376968" indent="-188484" lvl="1">
              <a:lnSpc>
                <a:spcPct val="120000"/>
              </a:lnSpc>
              <a:buFont typeface="Arial"/>
              <a:buChar char="•"/>
            </a:pPr>
            <a:r>
              <a:rPr lang="en-US" sz="16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Regional Languages - Support Hindi and regional languages with voice assistance.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52866" y="2433353"/>
            <a:ext cx="3762650" cy="1744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Faster, more consist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 testing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manual colour checking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INCONCLUSIVE when unclear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digital test records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Quic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 access to past test records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84113" y="2433353"/>
            <a:ext cx="5051078" cy="174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Proof of every t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est: time, place, officer &amp; photo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Secure and verifiable records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paperw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ork with PDF &amp; QR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search, reports and monitoring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field-test documentation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74430" y="2079685"/>
            <a:ext cx="191952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Inspector Benefits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853724" y="2085531"/>
            <a:ext cx="2355832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Organisation Benefits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830810" y="6797238"/>
            <a:ext cx="166119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8"/>
              </a:lnSpc>
              <a:spcBef>
                <a:spcPct val="0"/>
              </a:spcBef>
            </a:pPr>
            <a:r>
              <a:rPr lang="en-US" b="1" sz="2173" spc="-24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985241" y="1962550"/>
            <a:ext cx="69464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Map -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73677" y="4553085"/>
            <a:ext cx="330248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QR-Based Record Verification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08459" y="2004329"/>
            <a:ext cx="200446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Geo-Tagged test result</a:t>
            </a:r>
          </a:p>
        </p:txBody>
      </p:sp>
      <p:sp>
        <p:nvSpPr>
          <p:cNvPr name="TextBox 29" id="32"/>
          <p:cNvSpPr txBox="true"/>
          <p:nvPr/>
        </p:nvSpPr>
        <p:spPr>
          <a:xfrm rot="0">
            <a:off x="10649712" y="4773168"/>
            <a:ext cx="1828800" cy="36576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Tamper Test -</a:t>
            </a:r>
          </a:p>
        </p:txBody>
      </p:sp>
      <p:sp>
        <p:nvSpPr>
          <p:cNvPr name="TextBox 31" id="33"/>
          <p:cNvSpPr txBox="true"/>
          <p:nvPr/>
        </p:nvSpPr>
        <p:spPr>
          <a:xfrm rot="0">
            <a:off x="12368784" y="4809744"/>
            <a:ext cx="4937760" cy="310896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 run on our saved records</a:t>
            </a:r>
          </a:p>
        </p:txBody>
      </p:sp>
      <p:pic>
        <p:nvPicPr>
          <p:cNvPr id="34" name="Tamper proof" descr="tamper_proo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9712" y="5175504"/>
            <a:ext cx="6735059" cy="14388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85800" y="1920240"/>
          <a:ext cx="16916400" cy="512064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  <a:gridCol w="6400800"/>
              </a:tblGrid>
              <a:tr h="77724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What they found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How we use 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Research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8686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EMBC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camera colours change with light and phone model; reference colours can help handle this.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₹10 colour card fixes colours in every test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25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5" tooltip="https://pubmed.ncbi.nlm.nih.gov/28269432/"/>
                        </a:rPr>
                        <a:t>IEEE EMBC 2016 – Illumination and device independence for colorimetric detection of urinary biomarkers with smartphone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TPS-ISA 2024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 evidence must maintain integrity and show how it was handled.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Photo fingerprint + signature + chained log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25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6" tooltip="https://www.researchgate.net/publication/386361522_Digital_Evidence_Chain_of_Custody_Navigating_New_Realities_of_Digital_Forensics"/>
                        </a:rPr>
                        <a:t>IEEE TPS-ISA 2024 – Digital Evidence Chain of Custody: Navigating New Realities of Digital Forensics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Forensic Science </a:t>
                      </a: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International 2014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mobile phone camera can measure drug-test colours using RGB values.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app reads the test colour as a number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25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7" tooltip="https://www.researchgate.net/publication/259845901_Real_time_quantitative_colorimetric_test_for_methamphetamine_detection_using_digital_and_mobile_phone_technology"/>
                        </a:rPr>
                        <a:t>Forensic Science International 2014 – Real-time quantitative colorimetric test for methamphetamine detection using digital and mobile phone technology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Analytical</a:t>
                      </a: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Chemistry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By-eye colour interpretation is subjective; smartphone image analysis can provide objective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App gives </a:t>
                      </a: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POSITIVE / NEGATIVE /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25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8" tooltip="https://nij.ojp.gov/library/publications/objective-method-presumptive-field-testing-illicit-drug-possession-using-0?utm_source=chatgpt.com"/>
                        </a:rPr>
                        <a:t>Analytical Chemistry 2016 – Objective Method for Presumptive Field-Testing of Illicit Drug Possession Using Centrifugal Microdevices and Smartphone Analysis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</a:t>
                      </a:r>
                      <a:r>
                        <a:rPr lang="en-US" sz="13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Discovery 2023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Computer vision can quantify and compare colour changes that may look similar by eye.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5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shows photo colour next to kit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25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9" tooltip="https://pubs.rsc.org/dd/article/2/4/1143/804876/Teaching-old-presumptive-tests-new-digital-tricks"/>
                        </a:rPr>
                        <a:t>Digital Discovery 2023 – Teaching old presumptive tests new digital tricks with computer vision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5" id="15" descr="$PPTXTitle"/>
          <p:cNvSpPr txBox="true"/>
          <p:nvPr/>
        </p:nvSpPr>
        <p:spPr>
          <a:xfrm rot="0">
            <a:off x="3660096" y="346300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06" r="0" b="-108"/>
              </a:stretch>
            </a:blipFill>
          </p:spPr>
        </p:sp>
      </p:grpSp>
      <p:sp>
        <p:nvSpPr>
          <p:cNvPr id="26" name="Research link 1">
            <a:hlinkClick r:id="rId5"/>
          </p:cNvPr>
          <p:cNvSpPr/>
          <p:nvPr/>
        </p:nvSpPr>
        <p:spPr>
          <a:xfrm>
            <a:off x="11201400" y="2697480"/>
            <a:ext cx="6400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search link 2">
            <a:hlinkClick r:id="rId6"/>
          </p:cNvPr>
          <p:cNvSpPr/>
          <p:nvPr/>
        </p:nvSpPr>
        <p:spPr>
          <a:xfrm>
            <a:off x="11201400" y="3566160"/>
            <a:ext cx="6400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search link 3">
            <a:hlinkClick r:id="rId7"/>
          </p:cNvPr>
          <p:cNvSpPr/>
          <p:nvPr/>
        </p:nvSpPr>
        <p:spPr>
          <a:xfrm>
            <a:off x="11201400" y="4434840"/>
            <a:ext cx="6400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search link 4">
            <a:hlinkClick r:id="rId8"/>
          </p:cNvPr>
          <p:cNvSpPr/>
          <p:nvPr/>
        </p:nvSpPr>
        <p:spPr>
          <a:xfrm>
            <a:off x="11201400" y="5303520"/>
            <a:ext cx="6400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search link 5">
            <a:hlinkClick r:id="rId9"/>
          </p:cNvPr>
          <p:cNvSpPr/>
          <p:nvPr/>
        </p:nvSpPr>
        <p:spPr>
          <a:xfrm>
            <a:off x="11201400" y="6172200"/>
            <a:ext cx="6400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7589520"/>
            <a:ext cx="5532120" cy="1874519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792E00"/>
                </a:solidFill>
                <a:latin typeface="Calibri"/>
              </a:rPr>
              <a:t>Chain of Custody &amp; Court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Key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Ed25519 key stays only on the server, never in the app; anyone checks with the public key. Next: key in a hardware box (HSM) + officer DSC.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Check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QR page re-computes the photo hash + record hash, verifies the signature and the chain link.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Court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gives the SHA-256 hash for the BSA 2023 s.63 certificate. Time, place, officer and photo hash can be attached to the e-Sakshya case / CCTNS FIR (planned).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7589520"/>
            <a:ext cx="5532120" cy="1874519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792E00"/>
                </a:solidFill>
                <a:latin typeface="Calibri"/>
              </a:rPr>
              <a:t>Privacy &amp; Retention (DPDP 2023)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Data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no biometrics, no suspect name (only a sample code). Photo shows card + kit; officer ID, GPS, time kept as evidence.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Who sees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officer: own tests; supervisor/admin: all; public QR: the check page (hiding officer name there is planned).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Law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police work needs no consent (s.7(c), s.17(1)(c)) but data must be kept safe (s.8(5)). Kept till case + appeal end, then photo removed (planned).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9224" y="7589520"/>
            <a:ext cx="5532120" cy="1874519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pPr>
              <a:spcAft>
                <a:spcPts val="300"/>
              </a:spcAft>
            </a:pPr>
            <a:r>
              <a:rPr sz="1700" b="1" i="0">
                <a:solidFill>
                  <a:srgbClr val="792E00"/>
                </a:solidFill>
                <a:latin typeface="Calibri"/>
              </a:rPr>
              <a:t>Cost &amp; Offline (estimates / design)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Per test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₹10 reusable card + officer's own phone + free app; kits are already bought by police.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Pilot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- 20 officers, 3 months: about ₹10,000 (cards ₹200 + server ~₹3,000/month), estimate.</a:t>
            </a:r>
          </a:p>
          <a:p>
            <a:pPr marL="182880" indent="-146304">
              <a:spcAft>
                <a:spcPts val="200"/>
              </a:spcAft>
              <a:buFont typeface="Arial"/>
              <a:buChar char="•"/>
            </a:pPr>
            <a:r>
              <a:rPr sz="1250" b="1" i="0">
                <a:solidFill>
                  <a:srgbClr val="000000"/>
                </a:solidFill>
                <a:latin typeface="Calibri"/>
              </a:rPr>
              <a:t>Offline (design)</a:t>
            </a:r>
            <a:r>
              <a:rPr sz="1250" b="0" i="0">
                <a:solidFill>
                  <a:srgbClr val="000000"/>
                </a:solidFill>
                <a:latin typeface="Calibri"/>
              </a:rPr>
              <a:t> - test saved on phone with its hash, sent when network is back; same test sent twice is saved once. Phone lost: admin blocks the login (planned).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
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s://youtu.be/F1cuxlgMW2g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image" Target="../media/image2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jpeg"/><Relationship Id="rId9" Type="http://schemas.openxmlformats.org/officeDocument/2006/relationships/image" Target="../media/image4.png"/><Relationship Id="rId10" Type="http://schemas.openxmlformats.org/officeDocument/2006/relationships/image" Target="../media/image19.png"/><Relationship Id="rId11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hyperlink" Target="https://pubmed.ncbi.nlm.nih.gov/28269432/" TargetMode="External"/><Relationship Id="rId6" Type="http://schemas.openxmlformats.org/officeDocument/2006/relationships/hyperlink" Target="https://www.researchgate.net/publication/386361522_Digital_Evidence_Chain_of_Custody_Navigating_New_Realities_of_Digital_Forensics" TargetMode="External"/><Relationship Id="rId7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8" Type="http://schemas.openxmlformats.org/officeDocument/2006/relationships/hyperlink" Target="https://nij.ojp.gov/library/publications/objective-method-presumptive-field-testing-illicit-drug-possession-using-0?utm_source=chatgpt.com" TargetMode="External"/><Relationship Id="rId9" Type="http://schemas.openxmlformats.org/officeDocument/2006/relationships/hyperlink" Target="https://pubs.rsc.org/dd/article/2/4/1143/804876/Teaching-old-presumptive-tests-new-digital-tricks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595360" y="5870448"/>
            <a:ext cx="9006840" cy="3474720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377440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066800" y="3858768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240280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eave a clear digital record of who performed it, where, and when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810512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4005072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 captures the colour change and helps check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dashboard manages Inspe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3950208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3960" y="5943600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6400800"/>
            <a:ext cx="8503920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874519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20840" y="7991856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2144" y="8421624"/>
            <a:ext cx="3063240" cy="3905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7680" y="8439912"/>
            <a:ext cx="2103120" cy="3619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8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8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deo QR click area">
            <a:hlinkClick r:id="rId8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23" id="30"/>
          <p:cNvSpPr txBox="true"/>
          <p:nvPr/>
        </p:nvSpPr>
        <p:spPr>
          <a:xfrm rot="0">
            <a:off x="8595360" y="3383280"/>
            <a:ext cx="90068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name="Freeform 8" id="31"/>
          <p:cNvSpPr/>
          <p:nvPr/>
        </p:nvSpPr>
        <p:spPr>
          <a:xfrm flipH="false" flipV="false" rot="0">
            <a:off x="8595360" y="3858768"/>
            <a:ext cx="1420051" cy="1783080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699" r="0" b="-70279"/>
            </a:stretch>
          </a:blipFill>
        </p:spPr>
      </p:sp>
      <p:sp>
        <p:nvSpPr>
          <p:cNvPr name="Freeform 10" id="32"/>
          <p:cNvSpPr/>
          <p:nvPr/>
        </p:nvSpPr>
        <p:spPr>
          <a:xfrm flipH="false" flipV="false" rot="0">
            <a:off x="10498282" y="3858768"/>
            <a:ext cx="861759" cy="1783080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065" r="0" b="-3334"/>
            </a:stretch>
          </a:blipFill>
        </p:spPr>
      </p:sp>
      <p:sp>
        <p:nvSpPr>
          <p:cNvPr name="Freeform 11" id="33"/>
          <p:cNvSpPr/>
          <p:nvPr/>
        </p:nvSpPr>
        <p:spPr>
          <a:xfrm flipH="false" flipV="false" rot="0">
            <a:off x="11842913" y="3858768"/>
            <a:ext cx="1063454" cy="1783080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017" r="0" b="-27519"/>
            </a:stretch>
          </a:blipFill>
        </p:spPr>
      </p:sp>
      <p:sp>
        <p:nvSpPr>
          <p:cNvPr name="Freeform 9" id="34"/>
          <p:cNvSpPr/>
          <p:nvPr/>
        </p:nvSpPr>
        <p:spPr>
          <a:xfrm flipH="false" flipV="false" rot="0">
            <a:off x="13389239" y="3858768"/>
            <a:ext cx="4212960" cy="1783080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43" r="-1398" b="-29274"/>
            </a:stretch>
          </a:blipFill>
        </p:spPr>
      </p:sp>
      <p:sp>
        <p:nvSpPr>
          <p:cNvPr name="Freeform 12" id="35"/>
          <p:cNvSpPr/>
          <p:nvPr/>
        </p:nvSpPr>
        <p:spPr>
          <a:xfrm flipH="false" flipV="false" rot="0">
            <a:off x="10096826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36"/>
          <p:cNvSpPr/>
          <p:nvPr/>
        </p:nvSpPr>
        <p:spPr>
          <a:xfrm flipH="false" flipV="false" rot="0">
            <a:off x="11441457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37"/>
          <p:cNvSpPr/>
          <p:nvPr/>
        </p:nvSpPr>
        <p:spPr>
          <a:xfrm flipH="false" flipV="false" rot="0">
            <a:off x="12987783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38"/>
          <p:cNvSpPr txBox="true"/>
          <p:nvPr/>
        </p:nvSpPr>
        <p:spPr>
          <a:xfrm rot="0">
            <a:off x="1152144" y="6199632"/>
            <a:ext cx="4572000" cy="43891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name="TextBox 23" id="39"/>
          <p:cNvSpPr txBox="true"/>
          <p:nvPr/>
        </p:nvSpPr>
        <p:spPr>
          <a:xfrm rot="0">
            <a:off x="987552" y="6638544"/>
            <a:ext cx="7132320" cy="128016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pick kit → take photo in the box → see result → saved. Result comes ~2.5 sec after photo.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SURE, tells why (blurry, shiny, card not seen) and asks to take again.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big result word with colour, simple English. Next: we will time 10 officers using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641848"/>
            <a:ext cx="90068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50" b="0" i="1">
                <a:solidFill>
                  <a:srgbClr val="6B6B6B"/>
                </a:solidFill>
                <a:latin typeface="Calibri"/>
              </a:rPr>
              <a:t>Test Log (right side): search and filter by date, officer, kit, result. Download as CSV, PDF with QR.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9281160" y="7306646"/>
            <a:ext cx="2651760" cy="1677505"/>
          </a:xfrm>
          <a:custGeom>
            <a:avLst/>
            <a:gdLst/>
            <a:ahLst/>
            <a:cxnLst/>
            <a:rect r="r" b="b" t="t" l="l"/>
            <a:pathLst>
              <a:path h="2538128" w="4012211">
                <a:moveTo>
                  <a:pt x="0" y="0"/>
                </a:moveTo>
                <a:lnTo>
                  <a:pt x="4012211" y="0"/>
                </a:lnTo>
                <a:lnTo>
                  <a:pt x="4012211" y="2538129"/>
                </a:lnTo>
                <a:lnTo>
                  <a:pt x="0" y="253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5" t="-2803" r="-1836" b="-2540"/>
            </a:stretch>
          </a:blipFill>
        </p:spPr>
        <p:txBody>
          <a:bodyPr/>
          <a:p/>
        </p:txBody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em Archi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kit photos across 5 lighting conditions, 6 real phone photos.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25/25 controlled tests correct; 5/6 r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eal photos correct, with 1 marked “NOT SURE”.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5611125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</a:t>
            </a: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done yet: real-kit test with an FSL, in lab light + outside light.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1" sz="25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1160" y="6473952"/>
            <a:ext cx="265176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Reference Card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6419088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4"/>
          <p:cNvSpPr txBox="true"/>
          <p:nvPr/>
        </p:nvSpPr>
        <p:spPr>
          <a:xfrm rot="0">
            <a:off x="12298680" y="6473952"/>
            <a:ext cx="28346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of Results</a:t>
            </a:r>
          </a:p>
        </p:txBody>
      </p:sp>
      <p:pic>
        <p:nvPicPr>
          <p:cNvPr id="25" name="Proof grid" descr="proof_gr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98680" y="6858000"/>
            <a:ext cx="2834640" cy="25747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</a:t>
                      </a: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502920" y="6675120"/>
            <a:ext cx="3977639" cy="2219604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  <p:txBody>
          <a:bodyPr/>
          <a:p/>
        </p:txBody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8924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75719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63316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0913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38511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TextBox 19" id="54"/>
          <p:cNvSpPr txBox="true"/>
          <p:nvPr/>
        </p:nvSpPr>
        <p:spPr>
          <a:xfrm rot="0">
            <a:off x="4572000" y="6492240"/>
            <a:ext cx="420624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name="TextBox 21" id="55"/>
          <p:cNvSpPr txBox="true"/>
          <p:nvPr/>
        </p:nvSpPr>
        <p:spPr>
          <a:xfrm rot="0">
            <a:off x="4526280" y="6931152"/>
            <a:ext cx="4315968" cy="2487168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Nadu, with local police + nearest FSL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officers, for 3 months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is checked again in the FSL lab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- 95%+ same as lab, NOT SURE below 10%, every record passes the check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district → state → whole country (phases on the left)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around ₹10,000 for 3 months: cards ₹200 + server ~₹3,000/month (rough estimate)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3232" y="4937760"/>
            <a:ext cx="3155887" cy="3108960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649712" y="6742374"/>
            <a:ext cx="6735059" cy="2630226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1874657">
            <a:off x="3497288" y="5451534"/>
            <a:ext cx="1049327" cy="89192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638055" y="4937760"/>
            <a:ext cx="2392902" cy="3108960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985241" y="2395728"/>
            <a:ext cx="4064000" cy="2240280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7181286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olice System Integration - Connect with e-Sakshya and CCTNS.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 Comparison - Compare field results with lab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results to improve accuracy.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6797238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1" sz="2173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85241" y="1962550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20852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08459" y="2004329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name="TextBox 29" id="32"/>
          <p:cNvSpPr txBox="true"/>
          <p:nvPr/>
        </p:nvSpPr>
        <p:spPr>
          <a:xfrm rot="0">
            <a:off x="10649712" y="4773168"/>
            <a:ext cx="1828800" cy="36576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name="TextBox 31" id="33"/>
          <p:cNvSpPr txBox="true"/>
          <p:nvPr/>
        </p:nvSpPr>
        <p:spPr>
          <a:xfrm rot="0">
            <a:off x="12368784" y="4809744"/>
            <a:ext cx="4937760" cy="31089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 test on our saved records</a:t>
            </a:r>
          </a:p>
        </p:txBody>
      </p:sp>
      <p:pic>
        <p:nvPicPr>
          <p:cNvPr id="34" name="Tamper proof" descr="tamper_proo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9712" y="5175504"/>
            <a:ext cx="6735059" cy="143885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86989" y="4526280"/>
            <a:ext cx="2725690" cy="36118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>
              <a:spcAft>
                <a:spcPts val="200"/>
              </a:spcAft>
            </a:pPr>
            <a:r>
              <a:rPr sz="1550" b="1" i="0">
                <a:solidFill>
                  <a:srgbClr val="792E00"/>
                </a:solidFill>
                <a:latin typeface="Calibri"/>
              </a:rPr>
              <a:t>Privacy &amp; How Long We Keep Data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Calibri"/>
              </a:rPr>
              <a:t>Data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- no fingerprint or face data, no suspect name (only a sample code). Officer ID, GPS, time kept as proof.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Calibri"/>
              </a:rPr>
              <a:t>Who sees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- officer: only own tests; supervisor/admin: all tests; public QR: only the check page (hiding officer name: planned).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Calibri"/>
              </a:rPr>
              <a:t>Law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- police work does not need consent (DPDP s.7(c), s.17(1)(c)), but data must be kept safe (s.8(5)).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Calibri"/>
              </a:rPr>
              <a:t>Keep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- till the case and appeal are over, then photo is deleted (planned).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8119872"/>
            <a:ext cx="9299448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792E00"/>
                </a:solidFill>
                <a:latin typeface="Calibri"/>
              </a:rPr>
              <a:t>Chain of Custody (safe for court)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150" b="1" i="0">
                <a:solidFill>
                  <a:srgbClr val="000000"/>
                </a:solidFill>
                <a:latin typeface="Calibri"/>
              </a:rPr>
              <a:t>Key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- secret key only on our server, never in the app; anyone can check using the public key. Next: hardware key box (HSM) + officer's own DSC.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150" b="1" i="0">
                <a:solidFill>
                  <a:srgbClr val="000000"/>
                </a:solidFill>
                <a:latin typeface="Calibri"/>
              </a:rPr>
              <a:t>Check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- QR page checks the photo and record again, plus the signature and chain link (see Tamper Test).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150" b="1" i="0">
                <a:solidFill>
                  <a:srgbClr val="000000"/>
                </a:solidFill>
                <a:latin typeface="Calibri"/>
              </a:rPr>
              <a:t>Court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- gives the SHA-256 hash needed for the court certificate (BSA 2023 s.63). e-Sakshya / CCTNS link: planned.</a:t>
            </a:r>
          </a:p>
          <a:p>
            <a:pPr marL="164592" indent="-137160">
              <a:spcAft>
                <a:spcPts val="200"/>
              </a:spcAft>
              <a:buFont typeface="Arial"/>
              <a:buChar char="•"/>
            </a:pPr>
            <a:r>
              <a:rPr sz="1150" b="1" i="0">
                <a:solidFill>
                  <a:srgbClr val="000000"/>
                </a:solidFill>
                <a:latin typeface="Calibri"/>
              </a:rPr>
              <a:t>Offline (design)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 - no network? Test saved on phone with its hash, sent later; sent twice = saved once; phone lost = admin blocks the login (planned).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  <a:gridCol w="6400800"/>
              </a:tblGrid>
              <a:tr h="777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  <p:sp>
        <p:nvSpPr>
          <p:cNvPr id="26" name="Research link 1">
            <a:hlinkClick r:id="rId5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earch link 2">
            <a:hlinkClick r:id="rId6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earch link 3">
            <a:hlinkClick r:id="rId7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earch link 4">
            <a:hlinkClick r:id="rId8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earch link 5">
            <a:hlinkClick r:id="rId9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
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700" b="1">
                <a:solidFill>
                  <a:srgbClr val="17375D"/>
                </a:solidFill>
                <a:latin typeface="Calibri"/>
              </a:rPr>
              <a:t>Genuine packs read correctly (%)</a:t>
            </a:r>
          </a:p>
        </c:rich>
      </c:tx>
      <c:layout/>
      <c:overlay val="0"/>
    </c:title>
    <c:autoTitleDeleted val="0"/>
    <c:plotArea>
      <c:barChart>
        <c:barDir val="col"/>
        <c:grouping val="clustered"/>
        <c:ser>
          <c:idx val="0"/>
          <c:order val="0"/>
          <c:tx>
            <c:strRef>
              <c:f>Sheet1!$B$1</c:f>
              <c:strCache>
                <c:ptCount val="1"/>
                <c:pt idx="0">
                  <c:v>Genuine packs read correctly</c:v>
                </c:pt>
              </c:strCache>
            </c:strRef>
          </c:tx>
          <c:dPt>
            <c:idx val="0"/>
            <c:spPr>
              <a:solidFill>
                <a:srgbClr val="A9B4C6"/>
              </a:solidFill>
            </c:spPr>
          </c:dPt>
          <c:dPt>
            <c:idx val="1"/>
            <c:spPr>
              <a:solidFill>
                <a:srgbClr val="A9B4C6"/>
              </a:solidFill>
            </c:spPr>
          </c:dPt>
          <c:dPt>
            <c:idx val="2"/>
            <c:spPr>
              <a:solidFill>
                <a:srgbClr val="006EBF"/>
              </a:solidFill>
            </c:spPr>
          </c:dPt>
          <c:cat>
            <c:strRef>
              <c:f>Sheet1!$A$2:$A$4</c:f>
              <c:strCache>
                <c:ptCount val="3"/>
                <c:pt idx="0">
                  <c:v>Test batch 1 (3 of 7)</c:v>
                </c:pt>
                <c:pt idx="1">
                  <c:v>Test batch 2 (3 of 9)</c:v>
                </c:pt>
                <c:pt idx="2">
                  <c:v>Test batch 3 (6 of 8)</c:v>
                </c:pt>
              </c:strCache>
            </c:strRef>
          </c:cat>
          <c:val>
            <c:numRef>
              <c:f>Sheet1!$B$2:$B$4</c:f>
              <c:numCache>
                <c:formatCode>General</c:formatCode>
                <c:ptCount val="3"/>
                <c:pt idx="0">
                  <c:v>43</c:v>
                </c:pt>
                <c:pt idx="1">
                  <c:v>33</c:v>
                </c:pt>
                <c:pt idx="2">
                  <c:v>75</c:v>
                </c:pt>
              </c:numCache>
            </c:numRef>
          </c:val>
        </c:ser>
        <c:dLbls>
          <c:numFmt formatCode="0&quot;%&quot;" sourceLinked="0"/>
          <c:txPr>
            <a:bodyPr/>
            <a:lstStyle/>
            <a:p>
              <a:pPr>
                <a:defRPr sz="1600" b="1">
                  <a:solidFill>
                    <a:srgbClr val="1E2A3B"/>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0D5E7"/>
            </a:solidFill>
          </a:ln>
        </c:spPr>
        <c:txPr>
          <a:bodyPr/>
          <a:lstStyle/>
          <a:p>
            <a:pPr>
              <a:defRPr sz="1400">
                <a:solidFill>
                  <a:srgbClr val="1E2A3B"/>
                </a:solidFill>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3E7EF"/>
              </a:solidFill>
            </a:ln>
          </c:spPr>
        </c:majorGridlines>
        <c:majorTickMark val="out"/>
        <c:minorTickMark val="none"/>
        <c:tickLblPos val="nextTo"/>
        <c:spPr>
          <a:ln>
            <a:noFill/>
          </a:ln>
        </c:spPr>
        <c:txPr>
          <a:bodyPr/>
          <a:lstStyle/>
          <a:p>
            <a:pPr>
              <a:defRPr sz="1200">
                <a:solidFill>
                  <a:srgbClr val="4F5B6E"/>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team HexTech, and we took up problem statement 26034. Our solution is LMCS, the Legal Metrology Compliance Scanner. The idea is simple: you take a photo of a product's label on your phone, and the app checks it against the Packaged Commodities Rules. If something's wrong, it also collects proper evidence, so an inspector and the Controller can actually act on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problem. Rule 6 says every pack has to show who made it, the net quantity, the MRP, the dates and a customer care contact. Right now, someone checks that by hand, one pack at a time. And even when a consumer spots something wrong, they don't have evidence an inspector can actually use.</a:t>
            </a:r>
          </a:p>
          <a:p/>
          <a:p>
            <a:r>
              <a:t>There's a catch, too. A changed MRP or quantity looks just like a normal label, so reading it isn't enough. We use the barcode to find the product in our registry, and then compare the MRP, quantity, licence, GSTIN, veg mark and manufacturer. If something doesn't match, we flag it so someone can check.</a:t>
            </a:r>
          </a:p>
          <a:p/>
          <a:p>
            <a:r>
              <a:t>Every scan also carries its own evidence. The photo gets a SHA-256 fingerprint, plus the GPS location and the time. And no notice goes out until both the inspector and the Controller have looked at it. We didn't want to blame an honest company by mistake, so when the system isn't sure, it says REVIEW instead of FAIL. Font size is a rough measure from a photo, so a borderline reading goes to REVIEW too.</a:t>
            </a:r>
          </a:p>
          <a:p/>
          <a:p>
            <a:r>
              <a:t>On the right is the whole flow, from the consumer's scan to the GO notice. Only the Controller can confirm and send a notice. If an inspector tries, the server blocks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actually happens to one photo in our software.</a:t>
            </a:r>
          </a:p>
          <a:p/>
          <a:p>
            <a:r>
              <a:t>Steps 1 to 4 run on the phone. The camera takes the pack photo, and we save the GPS location, the phone's time and the true time from an internet time server. Google ML Kit reads every line of text and the barcode on the device. Then our own code, field_extractor.dart, matches each heading to the value beside it, which is the part that took us the longest: OCR gives headings in one column and values in another, and it misreads things like "Rs.109,00". Before sending, the photo gets a SHA-256 fingerprint, and after that the scan can never be edited.</a:t>
            </a:r>
          </a:p>
          <a:p/>
          <a:p>
            <a:r>
              <a:t>Steps 5 to 7 run on the server. OpenCV measures letter height, using the barcode's standard width as a ruler, plus print contrast and the FSSAI veg mark. If the phone missed the barcode, pyzbar re-reads it from the photo. Our Python file rules_engine.py runs the 13 checks, each returning PASS, FAIL, REVIEW or EXEMPT with the rule it cites. Then authenticity_service.py compares the printed values with the registered product, which is how a tampered MRP is caught.</a:t>
            </a:r>
          </a:p>
          <a:p/>
          <a:p>
            <a:r>
              <a:t>Step 8 is the record: everything is stored in PostgreSQL, the complaint reaches the inspector, the report reaches the Controller, and ReportLab produces the PDFs.</a:t>
            </a:r>
          </a:p>
          <a:p/>
          <a:p>
            <a:r>
              <a:t>If asked why not a machine-learning model: the reading is done by proven OCR, and the judgement is law, so it belongs in code we can show you, line by line, with the rule each check cites.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got 287 backend tests and 75 mobile tests. One of them even clicks 'issue notice' twice at the same moment on PostgreSQL, just to prove only one notice comes out.</a:t>
            </a:r>
          </a:p>
          <a:p/>
          <a:p>
            <a:r>
              <a:t>We tested it on 35 real label scans. In the first batch, only 3 out of 7 genuine packs came out right. Every time we got a false alarm, we found out why, fixed it and added a test. By the third batch, it was 6 out of 8. We also planted 2 violations, and it caught both. It's a small sample, so we're not calling it a benchmark.</a:t>
            </a:r>
          </a:p>
          <a:p/>
          <a:p>
            <a:r>
              <a:t>On the right is what could go wrong, and how we handle it. If a photo is blurry and we can't read something, it goes to REVIEW, so a person checks it; we never call it a violation. If OCR misreads a value, the user can correct it before sending, and we log every change they make. If a product isn't in our registry yet, we just show 'not verified' and don't raise a complaint. An angled photo can give a wrong font size, so a doubtful reading goes to REVIEW too. And to stop fake evidence, every photo is fingerprinted and time-stamped, reused photos get flagged, and a sent scan can't be edited.</a:t>
            </a:r>
          </a:p>
          <a:p/>
          <a:p>
            <a:r>
              <a:t>Where we stand: TRL 4. That means the whole system works end to end and we've tested it ourselves on real products, but not yet with real inspectors; that would be TRL 5. The registry has 8 products, 3 of them from real packs. For a real rollout, we'd add products in phases, starting with the big FMCG brands, using the Rule 27 registration data or letting brands register themselves.</a:t>
            </a:r>
          </a:p>
          <a:p/>
          <a:p>
            <a:r>
              <a:t>If asked who would run it: the Department of Consumer Affairs or the state Legal Metrology departments, on government cloud. The admin turns rules on or off from the dashboard, the registry comes from registrations the government already collects, and because the phone reads the label itself, there's no cloud cost for every scan.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groups get something out of this. Consumers can raise a complaint with their own photo as proof. Inspectors get cases that already come with evidence, pinned on a map. The Controller sees the photo, the fingerprint check, GPS and time before deciding anything. And honest manufacturers are protected, because when we're not sure, it goes to REVIEW instead of straight to a violation.</a:t>
            </a:r>
          </a:p>
          <a:p/>
          <a:p>
            <a:r>
              <a:t>Tools like LabelVeda or Esko Comply check label artwork for brands, and portals like eMaap or Tamil Nadu's LMCTS handle registrations and complaints. From what we could find in their public descriptions, none of them puts it all together: reading the label, checking the rules, matching the registry and handling the evidence. That's the gap LMCS fills.</a:t>
            </a:r>
          </a:p>
          <a:p/>
          <a:p>
            <a:r>
              <a:t>Our roadmap has three phases. Phase 1 is already built: the app, the server and the dashboard. Phase 2 is filling up the registry, adding Hindi and regional labels, an offline mode for inspectors, and moving to cloud hosting over HTTPS. Phase 3 is a pilot with a Legal Metrology office, along with a trained FSSAI-mark detector and checks on e-commerce listings.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references. The main one is the Packaged Commodities Rules, since 12 of our 13 checks point back to them. The 13th, the GSTIN check, comes from GST law, Rule 46 of the CGST Rules, because GSTIN is required on invoices, not on labels. So we only check it when a pack prints one, and we never fail a pack for leaving it out. Two research papers helped us understand reading labels from photos. The registration portal is where a real registry would get its data. The GS1 barcode spec gives us our ruler, and WCAG gives us the contrast line for Rule 10. The demo video shows the whole flow, start to finish.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400" b="1" i="0">
                <a:solidFill>
                  <a:srgbClr val="17375D"/>
                </a:solidFill>
                <a:latin typeface="Times New Roman"/>
                <a:cs typeface="Times New Roman"/>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1800" b="0" i="0">
                <a:solidFill>
                  <a:schemeClr val="bg1"/>
                </a:solidFill>
                <a:latin typeface="Calibri"/>
                <a:cs typeface="Calibri"/>
              </a:defRPr>
            </a:lvl1p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800" b="1" i="0">
                <a:solidFill>
                  <a:schemeClr val="bg1"/>
                </a:solidFill>
                <a:latin typeface="Arial"/>
                <a:cs typeface="Arial"/>
              </a:defRPr>
            </a:lvl1pPr>
          </a:lstStyle>
          <a:p>
            <a:pPr marL="38100">
              <a:lnSpc>
                <a:spcPts val="2090"/>
              </a:lnSpc>
            </a:pPr>
            <a:fld id="{81D60167-4931-47E6-BA6A-407CBD079E47}" type="slidenum">
              <a:rPr dirty="0" spc="-5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17375D"/>
                </a:solidFill>
                <a:latin typeface="Times New Roman"/>
                <a:cs typeface="Times New Roman"/>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1800" b="0" i="0">
                <a:solidFill>
                  <a:schemeClr val="bg1"/>
                </a:solidFill>
                <a:latin typeface="Calibri"/>
                <a:cs typeface="Calibri"/>
              </a:defRPr>
            </a:lvl1p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800" b="1" i="0">
                <a:solidFill>
                  <a:schemeClr val="bg1"/>
                </a:solidFill>
                <a:latin typeface="Arial"/>
                <a:cs typeface="Arial"/>
              </a:defRPr>
            </a:lvl1pPr>
          </a:lstStyle>
          <a:p>
            <a:pPr marL="38100">
              <a:lnSpc>
                <a:spcPts val="2090"/>
              </a:lnSpc>
            </a:pPr>
            <a:fld id="{81D60167-4931-47E6-BA6A-407CBD079E47}" type="slidenum">
              <a:rPr dirty="0" spc="-5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showMasterSp="0">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9564623"/>
            <a:ext cx="18280760" cy="715327"/>
          </a:xfrm>
          <a:prstGeom prst="rect">
            <a:avLst/>
          </a:prstGeom>
        </p:spPr>
      </p:pic>
      <p:sp>
        <p:nvSpPr>
          <p:cNvPr id="17" name="bg object 17"/>
          <p:cNvSpPr/>
          <p:nvPr/>
        </p:nvSpPr>
        <p:spPr>
          <a:xfrm>
            <a:off x="0" y="9532619"/>
            <a:ext cx="18288000" cy="754380"/>
          </a:xfrm>
          <a:custGeom>
            <a:avLst/>
            <a:gdLst/>
            <a:ahLst/>
            <a:cxnLst/>
            <a:rect l="l" t="t" r="r" b="b"/>
            <a:pathLst>
              <a:path w="18288000" h="754379">
                <a:moveTo>
                  <a:pt x="18287819" y="754379"/>
                </a:moveTo>
                <a:lnTo>
                  <a:pt x="0" y="754379"/>
                </a:lnTo>
                <a:lnTo>
                  <a:pt x="0" y="0"/>
                </a:lnTo>
                <a:lnTo>
                  <a:pt x="18287819" y="0"/>
                </a:lnTo>
                <a:lnTo>
                  <a:pt x="18287819" y="754379"/>
                </a:lnTo>
                <a:close/>
              </a:path>
            </a:pathLst>
          </a:custGeom>
          <a:solidFill>
            <a:srgbClr val="006EBF"/>
          </a:solidFill>
        </p:spPr>
        <p:txBody>
          <a:bodyPr wrap="square" lIns="0" tIns="0" rIns="0" bIns="0" rtlCol="0"/>
          <a:lstStyle/>
          <a:p/>
        </p:txBody>
      </p:sp>
      <p:sp>
        <p:nvSpPr>
          <p:cNvPr id="18" name="bg object 18"/>
          <p:cNvSpPr/>
          <p:nvPr/>
        </p:nvSpPr>
        <p:spPr>
          <a:xfrm>
            <a:off x="491132" y="327847"/>
            <a:ext cx="2182495" cy="1211580"/>
          </a:xfrm>
          <a:custGeom>
            <a:avLst/>
            <a:gdLst/>
            <a:ahLst/>
            <a:cxnLst/>
            <a:rect l="l" t="t" r="r" b="b"/>
            <a:pathLst>
              <a:path w="2182495" h="1211580">
                <a:moveTo>
                  <a:pt x="0" y="605605"/>
                </a:moveTo>
                <a:lnTo>
                  <a:pt x="14297" y="507337"/>
                </a:lnTo>
                <a:lnTo>
                  <a:pt x="55663" y="414211"/>
                </a:lnTo>
                <a:lnTo>
                  <a:pt x="121811" y="327369"/>
                </a:lnTo>
                <a:lnTo>
                  <a:pt x="163463" y="286614"/>
                </a:lnTo>
                <a:lnTo>
                  <a:pt x="210548" y="247955"/>
                </a:lnTo>
                <a:lnTo>
                  <a:pt x="262685" y="211580"/>
                </a:lnTo>
                <a:lnTo>
                  <a:pt x="319587" y="177301"/>
                </a:lnTo>
                <a:lnTo>
                  <a:pt x="381065" y="145878"/>
                </a:lnTo>
                <a:lnTo>
                  <a:pt x="446736" y="116931"/>
                </a:lnTo>
                <a:lnTo>
                  <a:pt x="516411" y="90650"/>
                </a:lnTo>
                <a:lnTo>
                  <a:pt x="589707" y="67606"/>
                </a:lnTo>
                <a:lnTo>
                  <a:pt x="666435" y="47610"/>
                </a:lnTo>
                <a:lnTo>
                  <a:pt x="746308" y="30851"/>
                </a:lnTo>
                <a:lnTo>
                  <a:pt x="828945" y="17520"/>
                </a:lnTo>
                <a:lnTo>
                  <a:pt x="914156" y="7998"/>
                </a:lnTo>
                <a:lnTo>
                  <a:pt x="1001654" y="2094"/>
                </a:lnTo>
                <a:lnTo>
                  <a:pt x="1091154" y="0"/>
                </a:lnTo>
                <a:lnTo>
                  <a:pt x="1180653" y="2094"/>
                </a:lnTo>
                <a:lnTo>
                  <a:pt x="1268152" y="7998"/>
                </a:lnTo>
                <a:lnTo>
                  <a:pt x="1353362" y="17520"/>
                </a:lnTo>
                <a:lnTo>
                  <a:pt x="1436000" y="30851"/>
                </a:lnTo>
                <a:lnTo>
                  <a:pt x="1515873" y="47610"/>
                </a:lnTo>
                <a:lnTo>
                  <a:pt x="1592505" y="67606"/>
                </a:lnTo>
                <a:lnTo>
                  <a:pt x="1665897" y="90650"/>
                </a:lnTo>
                <a:lnTo>
                  <a:pt x="1735476" y="116931"/>
                </a:lnTo>
                <a:lnTo>
                  <a:pt x="1801242" y="145878"/>
                </a:lnTo>
                <a:lnTo>
                  <a:pt x="1862625" y="177301"/>
                </a:lnTo>
                <a:lnTo>
                  <a:pt x="1919622" y="211580"/>
                </a:lnTo>
                <a:lnTo>
                  <a:pt x="1971854" y="247955"/>
                </a:lnTo>
                <a:lnTo>
                  <a:pt x="2018749" y="286614"/>
                </a:lnTo>
                <a:lnTo>
                  <a:pt x="2060496" y="327369"/>
                </a:lnTo>
                <a:lnTo>
                  <a:pt x="2126644" y="414211"/>
                </a:lnTo>
                <a:lnTo>
                  <a:pt x="2168011" y="507337"/>
                </a:lnTo>
                <a:lnTo>
                  <a:pt x="2182308" y="605605"/>
                </a:lnTo>
                <a:lnTo>
                  <a:pt x="2178686" y="655310"/>
                </a:lnTo>
                <a:lnTo>
                  <a:pt x="2150663" y="751102"/>
                </a:lnTo>
                <a:lnTo>
                  <a:pt x="2096525" y="841372"/>
                </a:lnTo>
                <a:lnTo>
                  <a:pt x="2018749" y="924595"/>
                </a:lnTo>
                <a:lnTo>
                  <a:pt x="1971854" y="963254"/>
                </a:lnTo>
                <a:lnTo>
                  <a:pt x="1919622" y="999629"/>
                </a:lnTo>
                <a:lnTo>
                  <a:pt x="1862625" y="1033908"/>
                </a:lnTo>
                <a:lnTo>
                  <a:pt x="1801243" y="1065331"/>
                </a:lnTo>
                <a:lnTo>
                  <a:pt x="1735476" y="1094278"/>
                </a:lnTo>
                <a:lnTo>
                  <a:pt x="1665897" y="1120559"/>
                </a:lnTo>
                <a:lnTo>
                  <a:pt x="1592505" y="1143603"/>
                </a:lnTo>
                <a:lnTo>
                  <a:pt x="1515873" y="1163599"/>
                </a:lnTo>
                <a:lnTo>
                  <a:pt x="1436000" y="1180358"/>
                </a:lnTo>
                <a:lnTo>
                  <a:pt x="1353362" y="1193689"/>
                </a:lnTo>
                <a:lnTo>
                  <a:pt x="1268152" y="1203211"/>
                </a:lnTo>
                <a:lnTo>
                  <a:pt x="1180653" y="1209115"/>
                </a:lnTo>
                <a:lnTo>
                  <a:pt x="1091154" y="1211210"/>
                </a:lnTo>
                <a:lnTo>
                  <a:pt x="1001654" y="1209115"/>
                </a:lnTo>
                <a:lnTo>
                  <a:pt x="914156" y="1203211"/>
                </a:lnTo>
                <a:lnTo>
                  <a:pt x="828945" y="1193689"/>
                </a:lnTo>
                <a:lnTo>
                  <a:pt x="746308" y="1180358"/>
                </a:lnTo>
                <a:lnTo>
                  <a:pt x="666435" y="1163599"/>
                </a:lnTo>
                <a:lnTo>
                  <a:pt x="589707" y="1143603"/>
                </a:lnTo>
                <a:lnTo>
                  <a:pt x="516411" y="1120559"/>
                </a:lnTo>
                <a:lnTo>
                  <a:pt x="446736" y="1094278"/>
                </a:lnTo>
                <a:lnTo>
                  <a:pt x="381065" y="1065331"/>
                </a:lnTo>
                <a:lnTo>
                  <a:pt x="319587" y="1033908"/>
                </a:lnTo>
                <a:lnTo>
                  <a:pt x="262685" y="999629"/>
                </a:lnTo>
                <a:lnTo>
                  <a:pt x="210548" y="963254"/>
                </a:lnTo>
                <a:lnTo>
                  <a:pt x="163463" y="924595"/>
                </a:lnTo>
                <a:lnTo>
                  <a:pt x="121811" y="883840"/>
                </a:lnTo>
                <a:lnTo>
                  <a:pt x="55663" y="796999"/>
                </a:lnTo>
                <a:lnTo>
                  <a:pt x="14297" y="703873"/>
                </a:lnTo>
                <a:lnTo>
                  <a:pt x="0" y="605605"/>
                </a:lnTo>
                <a:close/>
              </a:path>
            </a:pathLst>
          </a:custGeom>
          <a:ln w="9524">
            <a:solidFill>
              <a:srgbClr val="8061A0"/>
            </a:solidFill>
          </a:ln>
        </p:spPr>
        <p:txBody>
          <a:bodyPr wrap="square" lIns="0" tIns="0" rIns="0" bIns="0" rtlCol="0"/>
          <a:lstStyle/>
          <a:p/>
        </p:txBody>
      </p:sp>
      <p:pic>
        <p:nvPicPr>
          <p:cNvPr id="19" name="bg object 19"/>
          <p:cNvPicPr/>
          <p:nvPr/>
        </p:nvPicPr>
        <p:blipFill>
          <a:blip r:embed="rId3" cstate="print"/>
          <a:stretch>
            <a:fillRect/>
          </a:stretch>
        </p:blipFill>
        <p:spPr>
          <a:xfrm>
            <a:off x="14714410" y="28727"/>
            <a:ext cx="3302698" cy="1538096"/>
          </a:xfrm>
          <a:prstGeom prst="rect">
            <a:avLst/>
          </a:prstGeom>
        </p:spPr>
      </p:pic>
      <p:sp>
        <p:nvSpPr>
          <p:cNvPr id="2" name="Holder 2"/>
          <p:cNvSpPr>
            <a:spLocks noGrp="1"/>
          </p:cNvSpPr>
          <p:nvPr>
            <p:ph type="title"/>
          </p:nvPr>
        </p:nvSpPr>
        <p:spPr/>
        <p:txBody>
          <a:bodyPr lIns="0" tIns="0" rIns="0" bIns="0"/>
          <a:lstStyle>
            <a:lvl1pPr>
              <a:defRPr sz="5400" b="1" i="0">
                <a:solidFill>
                  <a:srgbClr val="17375D"/>
                </a:solidFill>
                <a:latin typeface="Times New Roman"/>
                <a:cs typeface="Times New Roman"/>
              </a:defRPr>
            </a:lvl1pPr>
          </a:lstStyle>
          <a:p/>
        </p:txBody>
      </p:sp>
      <p:sp>
        <p:nvSpPr>
          <p:cNvPr id="3" name="Holder 3"/>
          <p:cNvSpPr>
            <a:spLocks noGrp="1"/>
          </p:cNvSpPr>
          <p:nvPr>
            <p:ph idx="2" sz="half"/>
          </p:nvPr>
        </p:nvSpPr>
        <p:spPr>
          <a:xfrm>
            <a:off x="2045308" y="1698525"/>
            <a:ext cx="5963920" cy="6680200"/>
          </a:xfrm>
          <a:prstGeom prst="rect">
            <a:avLst/>
          </a:prstGeom>
        </p:spPr>
        <p:txBody>
          <a:bodyPr wrap="square" lIns="0" tIns="0" rIns="0" bIns="0">
            <a:spAutoFit/>
          </a:bodyPr>
          <a:lstStyle>
            <a:lvl1pPr>
              <a:defRPr sz="2500" b="1" i="0">
                <a:solidFill>
                  <a:srgbClr val="17375D"/>
                </a:solidFill>
                <a:latin typeface="Calibri"/>
                <a:cs typeface="Calibri"/>
              </a:defRPr>
            </a:lvl1pPr>
          </a:lstStyle>
          <a:p/>
        </p:txBody>
      </p:sp>
      <p:sp>
        <p:nvSpPr>
          <p:cNvPr id="4" name="Holder 4"/>
          <p:cNvSpPr>
            <a:spLocks noGrp="1"/>
          </p:cNvSpPr>
          <p:nvPr>
            <p:ph idx="3" sz="half"/>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1800" b="0" i="0">
                <a:solidFill>
                  <a:schemeClr val="bg1"/>
                </a:solidFill>
                <a:latin typeface="Calibri"/>
                <a:cs typeface="Calibri"/>
              </a:defRPr>
            </a:lvl1p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800" b="1" i="0">
                <a:solidFill>
                  <a:schemeClr val="bg1"/>
                </a:solidFill>
                <a:latin typeface="Arial"/>
                <a:cs typeface="Arial"/>
              </a:defRPr>
            </a:lvl1pPr>
          </a:lstStyle>
          <a:p>
            <a:pPr marL="38100">
              <a:lnSpc>
                <a:spcPts val="2090"/>
              </a:lnSpc>
            </a:pPr>
            <a:fld id="{81D60167-4931-47E6-BA6A-407CBD079E47}" type="slidenum">
              <a:rPr dirty="0" spc="-5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17375D"/>
                </a:solidFill>
                <a:latin typeface="Times New Roman"/>
                <a:cs typeface="Times New Roman"/>
              </a:defRPr>
            </a:lvl1pPr>
          </a:lstStyle>
          <a:p/>
        </p:txBody>
      </p:sp>
      <p:sp>
        <p:nvSpPr>
          <p:cNvPr id="3" name="Holder 3"/>
          <p:cNvSpPr>
            <a:spLocks noGrp="1"/>
          </p:cNvSpPr>
          <p:nvPr>
            <p:ph type="ftr" idx="5" sz="quarter"/>
          </p:nvPr>
        </p:nvSpPr>
        <p:spPr/>
        <p:txBody>
          <a:bodyPr lIns="0" tIns="0" rIns="0" bIns="0"/>
          <a:lstStyle>
            <a:lvl1pPr>
              <a:defRPr sz="1800" b="0" i="0">
                <a:solidFill>
                  <a:schemeClr val="bg1"/>
                </a:solidFill>
                <a:latin typeface="Calibri"/>
                <a:cs typeface="Calibri"/>
              </a:defRPr>
            </a:lvl1p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800" b="1" i="0">
                <a:solidFill>
                  <a:schemeClr val="bg1"/>
                </a:solidFill>
                <a:latin typeface="Arial"/>
                <a:cs typeface="Arial"/>
              </a:defRPr>
            </a:lvl1pPr>
          </a:lstStyle>
          <a:p>
            <a:pPr marL="38100">
              <a:lnSpc>
                <a:spcPts val="2090"/>
              </a:lnSpc>
            </a:pPr>
            <a:fld id="{81D60167-4931-47E6-BA6A-407CBD079E47}" type="slidenum">
              <a:rPr dirty="0" spc="-5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1800" b="0" i="0">
                <a:solidFill>
                  <a:schemeClr val="bg1"/>
                </a:solidFill>
                <a:latin typeface="Calibri"/>
                <a:cs typeface="Calibri"/>
              </a:defRPr>
            </a:lvl1p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800" b="1" i="0">
                <a:solidFill>
                  <a:schemeClr val="bg1"/>
                </a:solidFill>
                <a:latin typeface="Arial"/>
                <a:cs typeface="Arial"/>
              </a:defRPr>
            </a:lvl1pPr>
          </a:lstStyle>
          <a:p>
            <a:pPr marL="38100">
              <a:lnSpc>
                <a:spcPts val="2090"/>
              </a:lnSpc>
            </a:pPr>
            <a:fld id="{81D60167-4931-47E6-BA6A-407CBD079E47}" type="slidenum">
              <a:rPr dirty="0" spc="-5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9564623"/>
            <a:ext cx="18280760" cy="715327"/>
          </a:xfrm>
          <a:prstGeom prst="rect">
            <a:avLst/>
          </a:prstGeom>
        </p:spPr>
      </p:pic>
      <p:sp>
        <p:nvSpPr>
          <p:cNvPr id="17" name="bg object 17"/>
          <p:cNvSpPr/>
          <p:nvPr/>
        </p:nvSpPr>
        <p:spPr>
          <a:xfrm>
            <a:off x="0" y="9532619"/>
            <a:ext cx="18288000" cy="754380"/>
          </a:xfrm>
          <a:custGeom>
            <a:avLst/>
            <a:gdLst/>
            <a:ahLst/>
            <a:cxnLst/>
            <a:rect l="l" t="t" r="r" b="b"/>
            <a:pathLst>
              <a:path w="18288000" h="754379">
                <a:moveTo>
                  <a:pt x="18287819" y="754379"/>
                </a:moveTo>
                <a:lnTo>
                  <a:pt x="0" y="754379"/>
                </a:lnTo>
                <a:lnTo>
                  <a:pt x="0" y="0"/>
                </a:lnTo>
                <a:lnTo>
                  <a:pt x="18287819" y="0"/>
                </a:lnTo>
                <a:lnTo>
                  <a:pt x="18287819" y="754379"/>
                </a:lnTo>
                <a:close/>
              </a:path>
            </a:pathLst>
          </a:custGeom>
          <a:solidFill>
            <a:srgbClr val="006EBF"/>
          </a:solidFill>
        </p:spPr>
        <p:txBody>
          <a:bodyPr wrap="square" lIns="0" tIns="0" rIns="0" bIns="0" rtlCol="0"/>
          <a:lstStyle/>
          <a:p/>
        </p:txBody>
      </p:sp>
      <p:sp>
        <p:nvSpPr>
          <p:cNvPr id="2" name="Holder 2"/>
          <p:cNvSpPr>
            <a:spLocks noGrp="1"/>
          </p:cNvSpPr>
          <p:nvPr>
            <p:ph type="title"/>
          </p:nvPr>
        </p:nvSpPr>
        <p:spPr>
          <a:xfrm>
            <a:off x="4016755" y="335200"/>
            <a:ext cx="9843135" cy="848360"/>
          </a:xfrm>
          <a:prstGeom prst="rect">
            <a:avLst/>
          </a:prstGeom>
        </p:spPr>
        <p:txBody>
          <a:bodyPr wrap="square" lIns="0" tIns="0" rIns="0" bIns="0">
            <a:spAutoFit/>
          </a:bodyPr>
          <a:lstStyle>
            <a:lvl1pPr>
              <a:defRPr sz="5400" b="1" i="0">
                <a:solidFill>
                  <a:srgbClr val="17375D"/>
                </a:solidFill>
                <a:latin typeface="Times New Roman"/>
                <a:cs typeface="Times New Roman"/>
              </a:defRPr>
            </a:lvl1pPr>
          </a:lstStyle>
          <a:p/>
        </p:txBody>
      </p:sp>
      <p:sp>
        <p:nvSpPr>
          <p:cNvPr id="3" name="Holder 3"/>
          <p:cNvSpPr>
            <a:spLocks noGrp="1"/>
          </p:cNvSpPr>
          <p:nvPr>
            <p:ph type="body" idx="1"/>
          </p:nvPr>
        </p:nvSpPr>
        <p:spPr>
          <a:xfrm>
            <a:off x="982979" y="2106650"/>
            <a:ext cx="16764000" cy="398716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7651495" y="9672386"/>
            <a:ext cx="3022600" cy="254000"/>
          </a:xfrm>
          <a:prstGeom prst="rect">
            <a:avLst/>
          </a:prstGeom>
        </p:spPr>
        <p:txBody>
          <a:bodyPr wrap="square" lIns="0" tIns="0" rIns="0" bIns="0">
            <a:spAutoFit/>
          </a:bodyPr>
          <a:lstStyle>
            <a:lvl1pPr>
              <a:defRPr sz="1800" b="0" i="0">
                <a:solidFill>
                  <a:schemeClr val="bg1"/>
                </a:solidFill>
                <a:latin typeface="Calibri"/>
                <a:cs typeface="Calibri"/>
              </a:defRPr>
            </a:lvl1p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5" name="Holder 5"/>
          <p:cNvSpPr>
            <a:spLocks noGrp="1"/>
          </p:cNvSpPr>
          <p:nvPr>
            <p:ph type="dt" idx="6" sz="half"/>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17025556" y="9650530"/>
            <a:ext cx="216534" cy="281304"/>
          </a:xfrm>
          <a:prstGeom prst="rect">
            <a:avLst/>
          </a:prstGeom>
        </p:spPr>
        <p:txBody>
          <a:bodyPr wrap="square" lIns="0" tIns="0" rIns="0" bIns="0">
            <a:spAutoFit/>
          </a:bodyPr>
          <a:lstStyle>
            <a:lvl1pPr>
              <a:defRPr sz="1800" b="1" i="0">
                <a:solidFill>
                  <a:schemeClr val="bg1"/>
                </a:solidFill>
                <a:latin typeface="Arial"/>
                <a:cs typeface="Arial"/>
              </a:defRPr>
            </a:lvl1pPr>
          </a:lstStyle>
          <a:p>
            <a:pPr marL="38100">
              <a:lnSpc>
                <a:spcPts val="2090"/>
              </a:lnSpc>
            </a:pPr>
            <a:fld id="{81D60167-4931-47E6-BA6A-407CBD079E47}" type="slidenum">
              <a:rPr dirty="0" spc="-5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2.png"/><Relationship Id="rId5" Type="http://schemas.openxmlformats.org/officeDocument/2006/relationships/chart" Target="../charts/char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hyperlink" Target="https://pmc.ncbi.nlm.nih.gov/articles/PMC10521108/" TargetMode="External"/><Relationship Id="rId4" Type="http://schemas.openxmlformats.org/officeDocument/2006/relationships/hyperlink" Target="https://lm.doca.gov.in/pcr/certificates" TargetMode="External"/><Relationship Id="rId5" Type="http://schemas.openxmlformats.org/officeDocument/2006/relationships/hyperlink" Target="https://www.mdpi.com/2076-3417/13/5/2871" TargetMode="External"/><Relationship Id="rId6" Type="http://schemas.openxmlformats.org/officeDocument/2006/relationships/hyperlink" Target="https://youtu.be/mnKpSr1TcaA" TargetMode="External"/><Relationship Id="rId7" Type="http://schemas.openxmlformats.org/officeDocument/2006/relationships/hyperlink" Target="https://www.w3.org/TR/WCAG21/" TargetMode="External"/><Relationship Id="rId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485655" y="5966668"/>
            <a:ext cx="1420495" cy="1672589"/>
          </a:xfrm>
          <a:custGeom>
            <a:avLst/>
            <a:gdLst/>
            <a:ahLst/>
            <a:cxnLst/>
            <a:rect l="l" t="t" r="r" b="b"/>
            <a:pathLst>
              <a:path w="1420495" h="1672590">
                <a:moveTo>
                  <a:pt x="1011148" y="1672255"/>
                </a:moveTo>
                <a:lnTo>
                  <a:pt x="408843" y="1672255"/>
                </a:lnTo>
                <a:lnTo>
                  <a:pt x="354712" y="1652817"/>
                </a:lnTo>
                <a:lnTo>
                  <a:pt x="315257" y="1599647"/>
                </a:lnTo>
                <a:lnTo>
                  <a:pt x="3621" y="872621"/>
                </a:lnTo>
                <a:lnTo>
                  <a:pt x="0" y="836032"/>
                </a:lnTo>
                <a:lnTo>
                  <a:pt x="14676" y="765330"/>
                </a:lnTo>
                <a:lnTo>
                  <a:pt x="332602" y="42306"/>
                </a:lnTo>
                <a:lnTo>
                  <a:pt x="380443" y="4954"/>
                </a:lnTo>
                <a:lnTo>
                  <a:pt x="408843" y="0"/>
                </a:lnTo>
                <a:lnTo>
                  <a:pt x="1011148" y="0"/>
                </a:lnTo>
                <a:lnTo>
                  <a:pt x="1064708" y="19438"/>
                </a:lnTo>
                <a:lnTo>
                  <a:pt x="1103591" y="72607"/>
                </a:lnTo>
                <a:lnTo>
                  <a:pt x="1416370" y="799633"/>
                </a:lnTo>
                <a:lnTo>
                  <a:pt x="1419992" y="836032"/>
                </a:lnTo>
                <a:lnTo>
                  <a:pt x="1405315" y="906924"/>
                </a:lnTo>
                <a:lnTo>
                  <a:pt x="1086818" y="1629948"/>
                </a:lnTo>
                <a:lnTo>
                  <a:pt x="1011148" y="1672255"/>
                </a:lnTo>
                <a:close/>
              </a:path>
            </a:pathLst>
          </a:custGeom>
          <a:solidFill>
            <a:srgbClr val="7D7D7D">
              <a:alpha val="14999"/>
            </a:srgbClr>
          </a:solidFill>
        </p:spPr>
        <p:txBody>
          <a:bodyPr wrap="square" lIns="0" tIns="0" rIns="0" bIns="0" rtlCol="0"/>
          <a:lstStyle/>
          <a:p/>
        </p:txBody>
      </p:sp>
      <p:grpSp>
        <p:nvGrpSpPr>
          <p:cNvPr id="3" name="object 3"/>
          <p:cNvGrpSpPr/>
          <p:nvPr/>
        </p:nvGrpSpPr>
        <p:grpSpPr>
          <a:xfrm>
            <a:off x="9550363" y="2286"/>
            <a:ext cx="8492490" cy="9594850"/>
            <a:chOff x="9550363" y="2286"/>
            <a:chExt cx="8492490" cy="9594850"/>
          </a:xfrm>
        </p:grpSpPr>
        <p:sp>
          <p:nvSpPr>
            <p:cNvPr id="4" name="object 4"/>
            <p:cNvSpPr/>
            <p:nvPr/>
          </p:nvSpPr>
          <p:spPr>
            <a:xfrm>
              <a:off x="9550362" y="1277886"/>
              <a:ext cx="5897880" cy="7734300"/>
            </a:xfrm>
            <a:custGeom>
              <a:avLst/>
              <a:gdLst/>
              <a:ahLst/>
              <a:cxnLst/>
              <a:rect l="l" t="t" r="r" b="b"/>
              <a:pathLst>
                <a:path w="5897880" h="7734300">
                  <a:moveTo>
                    <a:pt x="2309723" y="1430413"/>
                  </a:moveTo>
                  <a:lnTo>
                    <a:pt x="2304008" y="1374381"/>
                  </a:lnTo>
                  <a:lnTo>
                    <a:pt x="2287232" y="1321981"/>
                  </a:lnTo>
                  <a:lnTo>
                    <a:pt x="2083854" y="855268"/>
                  </a:lnTo>
                  <a:lnTo>
                    <a:pt x="1738109" y="855268"/>
                  </a:lnTo>
                  <a:lnTo>
                    <a:pt x="1670443" y="862139"/>
                  </a:lnTo>
                  <a:lnTo>
                    <a:pt x="1605445" y="882142"/>
                  </a:lnTo>
                  <a:lnTo>
                    <a:pt x="1544256" y="914539"/>
                  </a:lnTo>
                  <a:lnTo>
                    <a:pt x="1487462" y="958557"/>
                  </a:lnTo>
                  <a:lnTo>
                    <a:pt x="1436192" y="1013637"/>
                  </a:lnTo>
                  <a:lnTo>
                    <a:pt x="1390827" y="1079004"/>
                  </a:lnTo>
                  <a:lnTo>
                    <a:pt x="1352702" y="1153706"/>
                  </a:lnTo>
                  <a:lnTo>
                    <a:pt x="687692" y="2686659"/>
                  </a:lnTo>
                  <a:lnTo>
                    <a:pt x="717994" y="2703423"/>
                  </a:lnTo>
                  <a:lnTo>
                    <a:pt x="728103" y="2706662"/>
                  </a:lnTo>
                  <a:lnTo>
                    <a:pt x="738962" y="2709138"/>
                  </a:lnTo>
                  <a:lnTo>
                    <a:pt x="749833" y="2710472"/>
                  </a:lnTo>
                  <a:lnTo>
                    <a:pt x="760882" y="2711043"/>
                  </a:lnTo>
                  <a:lnTo>
                    <a:pt x="1683588" y="2711043"/>
                  </a:lnTo>
                  <a:lnTo>
                    <a:pt x="1765363" y="2681135"/>
                  </a:lnTo>
                  <a:lnTo>
                    <a:pt x="1825015" y="2599753"/>
                  </a:lnTo>
                  <a:lnTo>
                    <a:pt x="2287232" y="1538846"/>
                  </a:lnTo>
                  <a:lnTo>
                    <a:pt x="2309723" y="1430413"/>
                  </a:lnTo>
                  <a:close/>
                </a:path>
                <a:path w="5897880" h="7734300">
                  <a:moveTo>
                    <a:pt x="5897638" y="4294683"/>
                  </a:moveTo>
                  <a:lnTo>
                    <a:pt x="5893816" y="4218838"/>
                  </a:lnTo>
                  <a:lnTo>
                    <a:pt x="5882576" y="4144327"/>
                  </a:lnTo>
                  <a:lnTo>
                    <a:pt x="5863704" y="4072102"/>
                  </a:lnTo>
                  <a:lnTo>
                    <a:pt x="5837402" y="4003306"/>
                  </a:lnTo>
                  <a:lnTo>
                    <a:pt x="4595812" y="1153706"/>
                  </a:lnTo>
                  <a:lnTo>
                    <a:pt x="4559414" y="1079004"/>
                  </a:lnTo>
                  <a:lnTo>
                    <a:pt x="4514812" y="1013637"/>
                  </a:lnTo>
                  <a:lnTo>
                    <a:pt x="4463720" y="958557"/>
                  </a:lnTo>
                  <a:lnTo>
                    <a:pt x="4406925" y="914539"/>
                  </a:lnTo>
                  <a:lnTo>
                    <a:pt x="4345927" y="882142"/>
                  </a:lnTo>
                  <a:lnTo>
                    <a:pt x="4281894" y="862139"/>
                  </a:lnTo>
                  <a:lnTo>
                    <a:pt x="4215943" y="855268"/>
                  </a:lnTo>
                  <a:lnTo>
                    <a:pt x="2226233" y="855268"/>
                  </a:lnTo>
                  <a:lnTo>
                    <a:pt x="2423515" y="1308074"/>
                  </a:lnTo>
                  <a:lnTo>
                    <a:pt x="2442578" y="1367332"/>
                  </a:lnTo>
                  <a:lnTo>
                    <a:pt x="2448864" y="1430413"/>
                  </a:lnTo>
                  <a:lnTo>
                    <a:pt x="2442578" y="1493685"/>
                  </a:lnTo>
                  <a:lnTo>
                    <a:pt x="2423515" y="1552956"/>
                  </a:lnTo>
                  <a:lnTo>
                    <a:pt x="1902028" y="2749537"/>
                  </a:lnTo>
                  <a:lnTo>
                    <a:pt x="1873046" y="2801950"/>
                  </a:lnTo>
                  <a:lnTo>
                    <a:pt x="1790522" y="2866174"/>
                  </a:lnTo>
                  <a:lnTo>
                    <a:pt x="1742490" y="2874937"/>
                  </a:lnTo>
                  <a:lnTo>
                    <a:pt x="701979" y="2874937"/>
                  </a:lnTo>
                  <a:lnTo>
                    <a:pt x="624027" y="2849969"/>
                  </a:lnTo>
                  <a:lnTo>
                    <a:pt x="689406" y="2699042"/>
                  </a:lnTo>
                  <a:lnTo>
                    <a:pt x="682358" y="2695232"/>
                  </a:lnTo>
                  <a:lnTo>
                    <a:pt x="634136" y="2638247"/>
                  </a:lnTo>
                  <a:lnTo>
                    <a:pt x="161632" y="1552956"/>
                  </a:lnTo>
                  <a:lnTo>
                    <a:pt x="139141" y="1444332"/>
                  </a:lnTo>
                  <a:lnTo>
                    <a:pt x="144856" y="1388491"/>
                  </a:lnTo>
                  <a:lnTo>
                    <a:pt x="621931" y="274993"/>
                  </a:lnTo>
                  <a:lnTo>
                    <a:pt x="682548" y="193611"/>
                  </a:lnTo>
                  <a:lnTo>
                    <a:pt x="765454" y="163880"/>
                  </a:lnTo>
                  <a:lnTo>
                    <a:pt x="1687969" y="163880"/>
                  </a:lnTo>
                  <a:lnTo>
                    <a:pt x="1769935" y="193611"/>
                  </a:lnTo>
                  <a:lnTo>
                    <a:pt x="1829396" y="274993"/>
                  </a:lnTo>
                  <a:lnTo>
                    <a:pt x="2075472" y="839838"/>
                  </a:lnTo>
                  <a:lnTo>
                    <a:pt x="2217851" y="839838"/>
                  </a:lnTo>
                  <a:lnTo>
                    <a:pt x="1923364" y="163880"/>
                  </a:lnTo>
                  <a:lnTo>
                    <a:pt x="1877631" y="72986"/>
                  </a:lnTo>
                  <a:lnTo>
                    <a:pt x="1794903" y="8763"/>
                  </a:lnTo>
                  <a:lnTo>
                    <a:pt x="1746872" y="0"/>
                  </a:lnTo>
                  <a:lnTo>
                    <a:pt x="706374" y="0"/>
                  </a:lnTo>
                  <a:lnTo>
                    <a:pt x="574662" y="72986"/>
                  </a:lnTo>
                  <a:lnTo>
                    <a:pt x="544550" y="125387"/>
                  </a:lnTo>
                  <a:lnTo>
                    <a:pt x="25349" y="1321981"/>
                  </a:lnTo>
                  <a:lnTo>
                    <a:pt x="6286" y="1381252"/>
                  </a:lnTo>
                  <a:lnTo>
                    <a:pt x="0" y="1444332"/>
                  </a:lnTo>
                  <a:lnTo>
                    <a:pt x="6286" y="1507591"/>
                  </a:lnTo>
                  <a:lnTo>
                    <a:pt x="25349" y="1566862"/>
                  </a:lnTo>
                  <a:lnTo>
                    <a:pt x="544550" y="2763456"/>
                  </a:lnTo>
                  <a:lnTo>
                    <a:pt x="574471" y="2815856"/>
                  </a:lnTo>
                  <a:lnTo>
                    <a:pt x="614121" y="2856077"/>
                  </a:lnTo>
                  <a:lnTo>
                    <a:pt x="116459" y="4003306"/>
                  </a:lnTo>
                  <a:lnTo>
                    <a:pt x="90144" y="4072102"/>
                  </a:lnTo>
                  <a:lnTo>
                    <a:pt x="71285" y="4144327"/>
                  </a:lnTo>
                  <a:lnTo>
                    <a:pt x="60032" y="4218838"/>
                  </a:lnTo>
                  <a:lnTo>
                    <a:pt x="56222" y="4294683"/>
                  </a:lnTo>
                  <a:lnTo>
                    <a:pt x="60032" y="4370540"/>
                  </a:lnTo>
                  <a:lnTo>
                    <a:pt x="71285" y="4445051"/>
                  </a:lnTo>
                  <a:lnTo>
                    <a:pt x="90144" y="4517275"/>
                  </a:lnTo>
                  <a:lnTo>
                    <a:pt x="116459" y="4586071"/>
                  </a:lnTo>
                  <a:lnTo>
                    <a:pt x="1352702" y="7435672"/>
                  </a:lnTo>
                  <a:lnTo>
                    <a:pt x="1390827" y="7510373"/>
                  </a:lnTo>
                  <a:lnTo>
                    <a:pt x="1436192" y="7575639"/>
                  </a:lnTo>
                  <a:lnTo>
                    <a:pt x="1487462" y="7630719"/>
                  </a:lnTo>
                  <a:lnTo>
                    <a:pt x="1544256" y="7674838"/>
                  </a:lnTo>
                  <a:lnTo>
                    <a:pt x="1605445" y="7707236"/>
                  </a:lnTo>
                  <a:lnTo>
                    <a:pt x="1670443" y="7727239"/>
                  </a:lnTo>
                  <a:lnTo>
                    <a:pt x="1738109" y="7734097"/>
                  </a:lnTo>
                  <a:lnTo>
                    <a:pt x="4215943" y="7734097"/>
                  </a:lnTo>
                  <a:lnTo>
                    <a:pt x="4281894" y="7727239"/>
                  </a:lnTo>
                  <a:lnTo>
                    <a:pt x="4345927" y="7707236"/>
                  </a:lnTo>
                  <a:lnTo>
                    <a:pt x="4406925" y="7674838"/>
                  </a:lnTo>
                  <a:lnTo>
                    <a:pt x="4463732" y="7630719"/>
                  </a:lnTo>
                  <a:lnTo>
                    <a:pt x="4514812" y="7575639"/>
                  </a:lnTo>
                  <a:lnTo>
                    <a:pt x="4559414" y="7510373"/>
                  </a:lnTo>
                  <a:lnTo>
                    <a:pt x="4595812" y="7435672"/>
                  </a:lnTo>
                  <a:lnTo>
                    <a:pt x="5837402" y="4586071"/>
                  </a:lnTo>
                  <a:lnTo>
                    <a:pt x="5863704" y="4517275"/>
                  </a:lnTo>
                  <a:lnTo>
                    <a:pt x="5882576" y="4445051"/>
                  </a:lnTo>
                  <a:lnTo>
                    <a:pt x="5893816" y="4370540"/>
                  </a:lnTo>
                  <a:lnTo>
                    <a:pt x="5897638" y="4294683"/>
                  </a:lnTo>
                  <a:close/>
                </a:path>
              </a:pathLst>
            </a:custGeom>
            <a:solidFill>
              <a:srgbClr val="7D7D7D">
                <a:alpha val="14999"/>
              </a:srgbClr>
            </a:solidFill>
          </p:spPr>
          <p:txBody>
            <a:bodyPr wrap="square" lIns="0" tIns="0" rIns="0" bIns="0" rtlCol="0"/>
            <a:lstStyle/>
            <a:p/>
          </p:txBody>
        </p:sp>
        <p:pic>
          <p:nvPicPr>
            <p:cNvPr id="5" name="object 5"/>
            <p:cNvPicPr/>
            <p:nvPr/>
          </p:nvPicPr>
          <p:blipFill>
            <a:blip r:embed="rId2" cstate="print"/>
            <a:stretch>
              <a:fillRect/>
            </a:stretch>
          </p:blipFill>
          <p:spPr>
            <a:xfrm>
              <a:off x="10728196" y="2119121"/>
              <a:ext cx="4802914" cy="5138203"/>
            </a:xfrm>
            <a:prstGeom prst="rect">
              <a:avLst/>
            </a:prstGeom>
          </p:spPr>
        </p:pic>
        <p:pic>
          <p:nvPicPr>
            <p:cNvPr id="6" name="object 6"/>
            <p:cNvPicPr/>
            <p:nvPr/>
          </p:nvPicPr>
          <p:blipFill>
            <a:blip r:embed="rId3" cstate="print"/>
            <a:stretch>
              <a:fillRect/>
            </a:stretch>
          </p:blipFill>
          <p:spPr>
            <a:xfrm>
              <a:off x="14669261" y="2286"/>
              <a:ext cx="3373403" cy="1593341"/>
            </a:xfrm>
            <a:prstGeom prst="rect">
              <a:avLst/>
            </a:prstGeom>
          </p:spPr>
        </p:pic>
        <p:pic>
          <p:nvPicPr>
            <p:cNvPr id="7" name="object 7"/>
            <p:cNvPicPr/>
            <p:nvPr/>
          </p:nvPicPr>
          <p:blipFill>
            <a:blip r:embed="rId4" cstate="print"/>
            <a:stretch>
              <a:fillRect/>
            </a:stretch>
          </p:blipFill>
          <p:spPr>
            <a:xfrm>
              <a:off x="15450120" y="7781925"/>
              <a:ext cx="1814702" cy="1814702"/>
            </a:xfrm>
            <a:prstGeom prst="rect">
              <a:avLst/>
            </a:prstGeom>
          </p:spPr>
        </p:pic>
      </p:grpSp>
      <p:sp>
        <p:nvSpPr>
          <p:cNvPr id="8" name="object 8" descr="$PPTXTitle"/>
          <p:cNvSpPr txBox="1">
            <a:spLocks noGrp="1"/>
          </p:cNvSpPr>
          <p:nvPr>
            <p:ph type="title"/>
          </p:nvPr>
        </p:nvSpPr>
        <p:spPr>
          <a:xfrm>
            <a:off x="2192146" y="146243"/>
            <a:ext cx="12149455" cy="939800"/>
          </a:xfrm>
          <a:prstGeom prst="rect"/>
        </p:spPr>
        <p:txBody>
          <a:bodyPr wrap="square" lIns="0" tIns="12700" rIns="0" bIns="0" rtlCol="0" vert="horz">
            <a:spAutoFit/>
          </a:bodyPr>
          <a:lstStyle/>
          <a:p>
            <a:pPr marL="12700">
              <a:lnSpc>
                <a:spcPct val="100000"/>
              </a:lnSpc>
              <a:spcBef>
                <a:spcPts val="100"/>
              </a:spcBef>
            </a:pPr>
            <a:r>
              <a:rPr dirty="0" sz="6000">
                <a:solidFill>
                  <a:srgbClr val="1F467B"/>
                </a:solidFill>
              </a:rPr>
              <a:t>SMART</a:t>
            </a:r>
            <a:r>
              <a:rPr dirty="0" sz="6000" spc="-270">
                <a:solidFill>
                  <a:srgbClr val="1F467B"/>
                </a:solidFill>
              </a:rPr>
              <a:t> </a:t>
            </a:r>
            <a:r>
              <a:rPr dirty="0" sz="6000">
                <a:solidFill>
                  <a:srgbClr val="1F467B"/>
                </a:solidFill>
              </a:rPr>
              <a:t>INDIA</a:t>
            </a:r>
            <a:r>
              <a:rPr dirty="0" sz="6000" spc="-265">
                <a:solidFill>
                  <a:srgbClr val="1F467B"/>
                </a:solidFill>
              </a:rPr>
              <a:t> </a:t>
            </a:r>
            <a:r>
              <a:rPr dirty="0" sz="6000">
                <a:solidFill>
                  <a:srgbClr val="1F467B"/>
                </a:solidFill>
              </a:rPr>
              <a:t>HACKATHON</a:t>
            </a:r>
            <a:r>
              <a:rPr dirty="0" sz="6000" spc="-270">
                <a:solidFill>
                  <a:srgbClr val="1F467B"/>
                </a:solidFill>
              </a:rPr>
              <a:t> </a:t>
            </a:r>
            <a:r>
              <a:rPr dirty="0" sz="6000" spc="-20">
                <a:solidFill>
                  <a:srgbClr val="1F467B"/>
                </a:solidFill>
              </a:rPr>
              <a:t>2026</a:t>
            </a:r>
            <a:endParaRPr sz="6000"/>
          </a:p>
        </p:txBody>
      </p:sp>
      <p:sp>
        <p:nvSpPr>
          <p:cNvPr id="10" name="object 10"/>
          <p:cNvSpPr txBox="1"/>
          <p:nvPr/>
        </p:nvSpPr>
        <p:spPr>
          <a:xfrm>
            <a:off x="1427456" y="2083919"/>
            <a:ext cx="9046210" cy="7167245"/>
          </a:xfrm>
          <a:prstGeom prst="rect">
            <a:avLst/>
          </a:prstGeom>
        </p:spPr>
        <p:txBody>
          <a:bodyPr wrap="square" lIns="0" tIns="17145" rIns="0" bIns="0" rtlCol="0" vert="horz">
            <a:spAutoFit/>
          </a:bodyPr>
          <a:lstStyle/>
          <a:p>
            <a:pPr algn="l" marL="329184" indent="-329184">
              <a:lnSpc>
                <a:spcPct val="105000"/>
              </a:lnSpc>
              <a:spcBef>
                <a:spcPts val="135"/>
              </a:spcBef>
              <a:spcAft>
                <a:spcPts val="1000"/>
              </a:spcAft>
              <a:buClr>
                <a:srgbClr val="17375D"/>
              </a:buClr>
              <a:buFont typeface="Arial"/>
              <a:buChar char="•"/>
            </a:pPr>
            <a:r>
              <a:rPr sz="2600" b="1">
                <a:solidFill>
                  <a:srgbClr val="17375D"/>
                </a:solidFill>
                <a:latin typeface="Calibri"/>
              </a:rPr>
              <a:t>Problem Statement ID – </a:t>
            </a:r>
            <a:r>
              <a:rPr sz="2600" b="0">
                <a:solidFill>
                  <a:srgbClr val="1E2A3B"/>
                </a:solidFill>
                <a:latin typeface="Calibri"/>
              </a:rPr>
              <a:t>26034</a:t>
            </a:r>
            <a:endParaRPr sz="3000">
              <a:latin typeface="Arial"/>
              <a:cs typeface="Arial"/>
            </a:endParaRPr>
          </a:p>
          <a:p>
            <a:pPr algn="l" marL="329184" indent="-329184">
              <a:lnSpc>
                <a:spcPct val="105000"/>
              </a:lnSpc>
              <a:spcAft>
                <a:spcPts val="1000"/>
              </a:spcAft>
              <a:buClr>
                <a:srgbClr val="17375D"/>
              </a:buClr>
              <a:buFont typeface="Arial"/>
              <a:buChar char="•"/>
            </a:pPr>
            <a:r>
              <a:rPr sz="2400" b="1">
                <a:solidFill>
                  <a:srgbClr val="17375D"/>
                </a:solidFill>
                <a:latin typeface="Calibri"/>
              </a:rPr>
              <a:t>Problem Statement Title – </a:t>
            </a:r>
            <a:r>
              <a:rPr sz="2400" b="0">
                <a:solidFill>
                  <a:srgbClr val="1E2A3B"/>
                </a:solidFill>
                <a:latin typeface="Calibri"/>
              </a:rPr>
              <a:t>Software System to check compliance of packaged commodities under Legal Metrology (Packaged Commodities) Rules, 2011 by scanning product images and labels.</a:t>
            </a:r>
          </a:p>
          <a:p>
            <a:pPr algn="l" marL="329184" indent="-329184">
              <a:lnSpc>
                <a:spcPct val="105000"/>
              </a:lnSpc>
              <a:spcAft>
                <a:spcPts val="1000"/>
              </a:spcAft>
              <a:buClr>
                <a:srgbClr val="17375D"/>
              </a:buClr>
              <a:buFont typeface="Arial"/>
              <a:buChar char="•"/>
            </a:pPr>
            <a:r>
              <a:rPr sz="2600" b="1">
                <a:solidFill>
                  <a:srgbClr val="17375D"/>
                </a:solidFill>
                <a:latin typeface="Calibri"/>
              </a:rPr>
              <a:t>Theme – </a:t>
            </a:r>
            <a:r>
              <a:rPr sz="2600" b="0">
                <a:solidFill>
                  <a:srgbClr val="1E2A3B"/>
                </a:solidFill>
                <a:latin typeface="Calibri"/>
              </a:rPr>
              <a:t>Miscellaneous</a:t>
            </a:r>
          </a:p>
          <a:p>
            <a:pPr algn="l" marL="329184" indent="-329184">
              <a:lnSpc>
                <a:spcPct val="105000"/>
              </a:lnSpc>
              <a:spcAft>
                <a:spcPts val="1000"/>
              </a:spcAft>
              <a:buClr>
                <a:srgbClr val="17375D"/>
              </a:buClr>
              <a:buFont typeface="Arial"/>
              <a:buChar char="•"/>
            </a:pPr>
            <a:r>
              <a:rPr sz="2600" b="1">
                <a:solidFill>
                  <a:srgbClr val="17375D"/>
                </a:solidFill>
                <a:latin typeface="Calibri"/>
              </a:rPr>
              <a:t>PS Category – </a:t>
            </a:r>
            <a:r>
              <a:rPr sz="2600" b="0">
                <a:solidFill>
                  <a:srgbClr val="1E2A3B"/>
                </a:solidFill>
                <a:latin typeface="Calibri"/>
              </a:rPr>
              <a:t>Software</a:t>
            </a:r>
          </a:p>
          <a:p>
            <a:pPr algn="l" marL="329184" indent="-329184">
              <a:lnSpc>
                <a:spcPct val="105000"/>
              </a:lnSpc>
              <a:spcAft>
                <a:spcPts val="1000"/>
              </a:spcAft>
              <a:buClr>
                <a:srgbClr val="17375D"/>
              </a:buClr>
              <a:buFont typeface="Arial"/>
              <a:buChar char="•"/>
            </a:pPr>
            <a:r>
              <a:rPr sz="2600" b="1">
                <a:solidFill>
                  <a:srgbClr val="17375D"/>
                </a:solidFill>
                <a:latin typeface="Calibri"/>
              </a:rPr>
              <a:t>Team ID – </a:t>
            </a:r>
            <a:r>
              <a:rPr sz="2600" b="0">
                <a:solidFill>
                  <a:srgbClr val="1E2A3B"/>
                </a:solidFill>
                <a:latin typeface="Calibri"/>
              </a:rPr>
              <a:t>K26234</a:t>
            </a:r>
          </a:p>
          <a:p>
            <a:pPr algn="l" marL="329184" indent="-329184">
              <a:lnSpc>
                <a:spcPct val="105000"/>
              </a:lnSpc>
              <a:spcAft>
                <a:spcPts val="1000"/>
              </a:spcAft>
              <a:buClr>
                <a:srgbClr val="17375D"/>
              </a:buClr>
              <a:buFont typeface="Arial"/>
              <a:buChar char="•"/>
            </a:pPr>
            <a:r>
              <a:rPr sz="2600" b="1">
                <a:solidFill>
                  <a:srgbClr val="17375D"/>
                </a:solidFill>
                <a:latin typeface="Calibri"/>
              </a:rPr>
              <a:t>Team Name – </a:t>
            </a:r>
            <a:r>
              <a:rPr sz="2600" b="0">
                <a:solidFill>
                  <a:srgbClr val="1E2A3B"/>
                </a:solidFill>
                <a:latin typeface="Calibri"/>
              </a:rPr>
              <a:t>HexTech</a:t>
            </a:r>
          </a:p>
          <a:p>
            <a:pPr algn="l" marL="329184" indent="-329184">
              <a:lnSpc>
                <a:spcPct val="105000"/>
              </a:lnSpc>
              <a:spcAft>
                <a:spcPts val="1000"/>
              </a:spcAft>
              <a:buClr>
                <a:srgbClr val="17375D"/>
              </a:buClr>
              <a:buFont typeface="Arial"/>
              <a:buChar char="•"/>
            </a:pPr>
            <a:r>
              <a:rPr sz="2600" b="1">
                <a:solidFill>
                  <a:srgbClr val="17375D"/>
                </a:solidFill>
                <a:latin typeface="Calibri"/>
              </a:rPr>
              <a:t>Solution – </a:t>
            </a:r>
            <a:r>
              <a:rPr sz="2600" b="0">
                <a:solidFill>
                  <a:srgbClr val="1E2A3B"/>
                </a:solidFill>
                <a:latin typeface="Calibri"/>
              </a:rPr>
              <a:t>LMCS · Legal Metrology Compliance Scanner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93776" y="329184"/>
            <a:ext cx="2185416" cy="1207008"/>
          </a:xfrm>
          <a:custGeom>
            <a:avLst/>
            <a:gdLst/>
            <a:ahLst/>
            <a:cxnLst/>
            <a:rect l="l" t="t" r="r" b="b"/>
            <a:pathLst>
              <a:path w="2590800" h="1209040">
                <a:moveTo>
                  <a:pt x="0" y="604486"/>
                </a:moveTo>
                <a:lnTo>
                  <a:pt x="13995" y="515182"/>
                </a:lnTo>
                <a:lnTo>
                  <a:pt x="54840" y="429873"/>
                </a:lnTo>
                <a:lnTo>
                  <a:pt x="120343" y="349605"/>
                </a:lnTo>
                <a:lnTo>
                  <a:pt x="208602" y="275328"/>
                </a:lnTo>
                <a:lnTo>
                  <a:pt x="260681" y="240710"/>
                </a:lnTo>
                <a:lnTo>
                  <a:pt x="317615" y="207899"/>
                </a:lnTo>
                <a:lnTo>
                  <a:pt x="379311" y="177085"/>
                </a:lnTo>
                <a:lnTo>
                  <a:pt x="445385" y="148268"/>
                </a:lnTo>
                <a:lnTo>
                  <a:pt x="515649" y="121639"/>
                </a:lnTo>
                <a:lnTo>
                  <a:pt x="589912" y="97387"/>
                </a:lnTo>
                <a:lnTo>
                  <a:pt x="667793" y="75513"/>
                </a:lnTo>
                <a:lnTo>
                  <a:pt x="749101" y="56206"/>
                </a:lnTo>
                <a:lnTo>
                  <a:pt x="833646" y="39563"/>
                </a:lnTo>
                <a:lnTo>
                  <a:pt x="921047" y="25678"/>
                </a:lnTo>
                <a:lnTo>
                  <a:pt x="1011210" y="14646"/>
                </a:lnTo>
                <a:lnTo>
                  <a:pt x="1103753" y="6657"/>
                </a:lnTo>
                <a:lnTo>
                  <a:pt x="1198485" y="1807"/>
                </a:lnTo>
                <a:lnTo>
                  <a:pt x="1295217" y="0"/>
                </a:lnTo>
                <a:lnTo>
                  <a:pt x="1391854" y="1616"/>
                </a:lnTo>
                <a:lnTo>
                  <a:pt x="1486586" y="6467"/>
                </a:lnTo>
                <a:lnTo>
                  <a:pt x="1579129" y="14455"/>
                </a:lnTo>
                <a:lnTo>
                  <a:pt x="1669292" y="25488"/>
                </a:lnTo>
                <a:lnTo>
                  <a:pt x="1756693" y="39373"/>
                </a:lnTo>
                <a:lnTo>
                  <a:pt x="1841238" y="56016"/>
                </a:lnTo>
                <a:lnTo>
                  <a:pt x="1922546" y="75323"/>
                </a:lnTo>
                <a:lnTo>
                  <a:pt x="2000427" y="97197"/>
                </a:lnTo>
                <a:lnTo>
                  <a:pt x="2074594" y="121448"/>
                </a:lnTo>
                <a:lnTo>
                  <a:pt x="2144858" y="148078"/>
                </a:lnTo>
                <a:lnTo>
                  <a:pt x="2210933" y="176894"/>
                </a:lnTo>
                <a:lnTo>
                  <a:pt x="2272628" y="207708"/>
                </a:lnTo>
                <a:lnTo>
                  <a:pt x="2329563" y="240520"/>
                </a:lnTo>
                <a:lnTo>
                  <a:pt x="2381642" y="275138"/>
                </a:lnTo>
                <a:lnTo>
                  <a:pt x="2428485" y="311468"/>
                </a:lnTo>
                <a:lnTo>
                  <a:pt x="2505604" y="388883"/>
                </a:lnTo>
                <a:lnTo>
                  <a:pt x="2559016" y="471719"/>
                </a:lnTo>
                <a:lnTo>
                  <a:pt x="2586721" y="559121"/>
                </a:lnTo>
                <a:lnTo>
                  <a:pt x="2590244" y="604200"/>
                </a:lnTo>
                <a:lnTo>
                  <a:pt x="2586721" y="649375"/>
                </a:lnTo>
                <a:lnTo>
                  <a:pt x="2559016" y="736776"/>
                </a:lnTo>
                <a:lnTo>
                  <a:pt x="2505604" y="819708"/>
                </a:lnTo>
                <a:lnTo>
                  <a:pt x="2428485" y="897123"/>
                </a:lnTo>
                <a:lnTo>
                  <a:pt x="2381642" y="933453"/>
                </a:lnTo>
                <a:lnTo>
                  <a:pt x="2329563" y="968071"/>
                </a:lnTo>
                <a:lnTo>
                  <a:pt x="2272628" y="1000882"/>
                </a:lnTo>
                <a:lnTo>
                  <a:pt x="2210933" y="1031696"/>
                </a:lnTo>
                <a:lnTo>
                  <a:pt x="2144858" y="1060513"/>
                </a:lnTo>
                <a:lnTo>
                  <a:pt x="2074594" y="1087142"/>
                </a:lnTo>
                <a:lnTo>
                  <a:pt x="2000427" y="1111394"/>
                </a:lnTo>
                <a:lnTo>
                  <a:pt x="1922546" y="1133268"/>
                </a:lnTo>
                <a:lnTo>
                  <a:pt x="1841238" y="1152575"/>
                </a:lnTo>
                <a:lnTo>
                  <a:pt x="1756693" y="1169218"/>
                </a:lnTo>
                <a:lnTo>
                  <a:pt x="1669292" y="1183103"/>
                </a:lnTo>
                <a:lnTo>
                  <a:pt x="1579129" y="1194135"/>
                </a:lnTo>
                <a:lnTo>
                  <a:pt x="1486586" y="1202124"/>
                </a:lnTo>
                <a:lnTo>
                  <a:pt x="1391854" y="1206975"/>
                </a:lnTo>
                <a:lnTo>
                  <a:pt x="1295217" y="1208591"/>
                </a:lnTo>
                <a:lnTo>
                  <a:pt x="1198580" y="1206975"/>
                </a:lnTo>
                <a:lnTo>
                  <a:pt x="1103848" y="1202124"/>
                </a:lnTo>
                <a:lnTo>
                  <a:pt x="1011305" y="1194135"/>
                </a:lnTo>
                <a:lnTo>
                  <a:pt x="921142" y="1183103"/>
                </a:lnTo>
                <a:lnTo>
                  <a:pt x="833741" y="1169218"/>
                </a:lnTo>
                <a:lnTo>
                  <a:pt x="749196" y="1152575"/>
                </a:lnTo>
                <a:lnTo>
                  <a:pt x="667888" y="1133268"/>
                </a:lnTo>
                <a:lnTo>
                  <a:pt x="590007" y="1111394"/>
                </a:lnTo>
                <a:lnTo>
                  <a:pt x="515744" y="1087142"/>
                </a:lnTo>
                <a:lnTo>
                  <a:pt x="445480" y="1060513"/>
                </a:lnTo>
                <a:lnTo>
                  <a:pt x="379406" y="1031696"/>
                </a:lnTo>
                <a:lnTo>
                  <a:pt x="317711" y="1000882"/>
                </a:lnTo>
                <a:lnTo>
                  <a:pt x="260776" y="968071"/>
                </a:lnTo>
                <a:lnTo>
                  <a:pt x="208697" y="933453"/>
                </a:lnTo>
                <a:lnTo>
                  <a:pt x="161854" y="897123"/>
                </a:lnTo>
                <a:lnTo>
                  <a:pt x="84735" y="819708"/>
                </a:lnTo>
                <a:lnTo>
                  <a:pt x="31228" y="737062"/>
                </a:lnTo>
                <a:lnTo>
                  <a:pt x="3522" y="649660"/>
                </a:lnTo>
                <a:lnTo>
                  <a:pt x="0" y="604486"/>
                </a:lnTo>
                <a:close/>
              </a:path>
            </a:pathLst>
          </a:custGeom>
          <a:ln w="9512">
            <a:solidFill>
              <a:srgbClr val="8062A1"/>
            </a:solidFill>
          </a:ln>
        </p:spPr>
        <p:txBody>
          <a:bodyPr wrap="square" lIns="0" tIns="0" rIns="0" bIns="0" rtlCol="0"/>
          <a:lstStyle/>
          <a:p/>
        </p:txBody>
      </p:sp>
      <p:sp>
        <p:nvSpPr>
          <p:cNvPr id="9" name="object 9"/>
          <p:cNvSpPr txBox="1"/>
          <p:nvPr/>
        </p:nvSpPr>
        <p:spPr>
          <a:xfrm>
            <a:off x="493776" y="329184"/>
            <a:ext cx="2185416" cy="1207008"/>
          </a:xfrm>
          <a:prstGeom prst="rect">
            <a:avLst/>
          </a:prstGeom>
        </p:spPr>
        <p:txBody>
          <a:bodyPr wrap="none" lIns="0" tIns="0" rIns="0" bIns="0" rtlCol="0" vert="horz" anchor="ctr">
            <a:spAutoFit/>
          </a:bodyPr>
          <a:lstStyle/>
          <a:p>
            <a:pPr algn="ctr">
              <a:lnSpc>
                <a:spcPct val="100000"/>
              </a:lnSpc>
              <a:spcBef>
                <a:spcPts val="100"/>
              </a:spcBef>
            </a:pPr>
            <a:r>
              <a:rPr dirty="0" sz="2800" spc="-25" b="1">
                <a:solidFill>
                  <a:srgbClr val="17375D"/>
                </a:solidFill>
                <a:latin typeface="Calibri"/>
                <a:cs typeface="Calibri"/>
              </a:rPr>
              <a:t>HexTech</a:t>
            </a:r>
            <a:endParaRPr sz="2700">
              <a:latin typeface="Calibri"/>
              <a:cs typeface="Calibri"/>
            </a:endParaRPr>
          </a:p>
        </p:txBody>
      </p:sp>
      <p:sp>
        <p:nvSpPr>
          <p:cNvPr id="8" name="object 8" descr="$PPTXTitle"/>
          <p:cNvSpPr txBox="1">
            <a:spLocks noGrp="1"/>
          </p:cNvSpPr>
          <p:nvPr>
            <p:ph type="title"/>
          </p:nvPr>
        </p:nvSpPr>
        <p:spPr>
          <a:xfrm>
            <a:off x="3108960" y="338328"/>
            <a:ext cx="12070080" cy="850392"/>
          </a:xfrm>
          <a:prstGeom prst="rect"/>
        </p:spPr>
        <p:txBody>
          <a:bodyPr wrap="square" lIns="0" tIns="0" rIns="0" bIns="0" rtlCol="0" vert="horz" anchor="ctr">
            <a:spAutoFit/>
          </a:bodyPr>
          <a:lstStyle/>
          <a:p>
            <a:pPr algn="ctr">
              <a:lnSpc>
                <a:spcPct val="100000"/>
              </a:lnSpc>
              <a:spcBef>
                <a:spcPts val="100"/>
              </a:spcBef>
            </a:pPr>
            <a:r>
              <a:rPr dirty="0"/>
              <a:t>PROPOSED SOLUTION</a:t>
            </a:r>
            <a:endParaRPr sz="6000">
              <a:latin typeface="Arial"/>
              <a:cs typeface="Arial"/>
            </a:endParaRPr>
          </a:p>
        </p:txBody>
      </p:sp>
      <p:pic>
        <p:nvPicPr>
          <p:cNvPr id="6" name="object 6"/>
          <p:cNvPicPr/>
          <p:nvPr/>
        </p:nvPicPr>
        <p:blipFill>
          <a:blip r:embed="rId3" cstate="print"/>
          <a:stretch>
            <a:fillRect/>
          </a:stretch>
        </p:blipFill>
        <p:spPr>
          <a:xfrm>
            <a:off x="14720115" y="33423"/>
            <a:ext cx="3287363" cy="1531238"/>
          </a:xfrm>
          <a:prstGeom prst="rect">
            <a:avLst/>
          </a:prstGeom>
        </p:spPr>
      </p:pic>
      <p:grpSp>
        <p:nvGrpSpPr>
          <p:cNvPr id="2" name="object 2"/>
          <p:cNvGrpSpPr/>
          <p:nvPr/>
        </p:nvGrpSpPr>
        <p:grpSpPr>
          <a:xfrm>
            <a:off x="0" y="9532143"/>
            <a:ext cx="18287365" cy="755650"/>
            <a:chOff x="0" y="9532143"/>
            <a:chExt cx="18287365" cy="755650"/>
          </a:xfrm>
        </p:grpSpPr>
        <p:pic>
          <p:nvPicPr>
            <p:cNvPr id="3" name="object 3"/>
            <p:cNvPicPr/>
            <p:nvPr/>
          </p:nvPicPr>
          <p:blipFill>
            <a:blip r:embed="rId2" cstate="print"/>
            <a:stretch>
              <a:fillRect/>
            </a:stretch>
          </p:blipFill>
          <p:spPr>
            <a:xfrm>
              <a:off x="0" y="9564624"/>
              <a:ext cx="18284569" cy="718470"/>
            </a:xfrm>
            <a:prstGeom prst="rect">
              <a:avLst/>
            </a:prstGeom>
          </p:spPr>
        </p:pic>
        <p:sp>
          <p:nvSpPr>
            <p:cNvPr id="4" name="object 4"/>
            <p:cNvSpPr/>
            <p:nvPr/>
          </p:nvSpPr>
          <p:spPr>
            <a:xfrm>
              <a:off x="0" y="9532143"/>
              <a:ext cx="18287365" cy="755650"/>
            </a:xfrm>
            <a:custGeom>
              <a:avLst/>
              <a:gdLst/>
              <a:ahLst/>
              <a:cxnLst/>
              <a:rect l="l" t="t" r="r" b="b"/>
              <a:pathLst>
                <a:path w="18287365" h="755650">
                  <a:moveTo>
                    <a:pt x="18287308" y="755332"/>
                  </a:moveTo>
                  <a:lnTo>
                    <a:pt x="0" y="755332"/>
                  </a:lnTo>
                  <a:lnTo>
                    <a:pt x="0" y="0"/>
                  </a:lnTo>
                  <a:lnTo>
                    <a:pt x="18287308" y="0"/>
                  </a:lnTo>
                  <a:lnTo>
                    <a:pt x="18287308" y="755332"/>
                  </a:lnTo>
                  <a:close/>
                </a:path>
              </a:pathLst>
            </a:custGeom>
            <a:solidFill>
              <a:srgbClr val="006FBF"/>
            </a:solidFill>
          </p:spPr>
          <p:txBody>
            <a:bodyPr wrap="square" lIns="0" tIns="0" rIns="0" bIns="0" rtlCol="0"/>
            <a:lstStyle/>
            <a:p/>
          </p:txBody>
        </p:sp>
      </p:grpSp>
      <p:sp>
        <p:nvSpPr>
          <p:cNvPr id="24" name="object 24"/>
          <p:cNvSpPr txBox="1">
            <a:spLocks noGrp="1"/>
          </p:cNvSpPr>
          <p:nvPr>
            <p:ph type="ftr" idx="5" sz="quarter"/>
          </p:nvPr>
        </p:nvSpPr>
        <p:spPr>
          <a:prstGeom prst="rect"/>
        </p:spPr>
        <p:txBody>
          <a:bodyPr wrap="square" lIns="0" tIns="0" rIns="0" bIns="0" rtlCol="0" vert="horz">
            <a:spAutoFit/>
          </a:body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23" name="object 23"/>
          <p:cNvSpPr txBox="1">
            <a:spLocks noGrp="1"/>
          </p:cNvSpPr>
          <p:nvPr>
            <p:ph type="sldNum" idx="7" sz="quarter"/>
          </p:nvPr>
        </p:nvSpPr>
        <p:spPr>
          <a:prstGeom prst="rect"/>
        </p:spPr>
        <p:txBody>
          <a:bodyPr wrap="square" lIns="0" tIns="0" rIns="0" bIns="0" rtlCol="0" vert="horz">
            <a:spAutoFit/>
          </a:bodyPr>
          <a:lstStyle/>
          <a:p>
            <a:pPr marL="38100">
              <a:lnSpc>
                <a:spcPts val="2090"/>
              </a:lnSpc>
            </a:pPr>
            <a:fld id="{81D60167-4931-47E6-BA6A-407CBD079E47}" type="slidenum">
              <a:rPr dirty="0" spc="-50"/>
              <a:t>2</a:t>
            </a:fld>
          </a:p>
        </p:txBody>
      </p:sp>
      <p:sp>
        <p:nvSpPr>
          <p:cNvPr id="25" name="TextBox 24"/>
          <p:cNvSpPr txBox="1"/>
          <p:nvPr/>
        </p:nvSpPr>
        <p:spPr>
          <a:xfrm>
            <a:off x="822960" y="1783080"/>
            <a:ext cx="786384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The problem</a:t>
            </a:r>
          </a:p>
        </p:txBody>
      </p:sp>
      <p:sp>
        <p:nvSpPr>
          <p:cNvPr id="26" name="TextBox 25"/>
          <p:cNvSpPr txBox="1"/>
          <p:nvPr/>
        </p:nvSpPr>
        <p:spPr>
          <a:xfrm>
            <a:off x="822960" y="2331720"/>
            <a:ext cx="7863840" cy="1463040"/>
          </a:xfrm>
          <a:prstGeom prst="rect">
            <a:avLst/>
          </a:prstGeom>
          <a:noFill/>
        </p:spPr>
        <p:txBody>
          <a:bodyPr wrap="square" lIns="0" rIns="0" tIns="0" bIns="0" anchor="t">
            <a:spAutoFit/>
          </a:bodyPr>
          <a:lstStyle/>
          <a:p>
            <a:pPr algn="l" marL="292608" indent="-292608">
              <a:spcAft>
                <a:spcPts val="600"/>
              </a:spcAft>
              <a:buClr>
                <a:srgbClr val="17375D"/>
              </a:buClr>
              <a:buFont typeface="Arial"/>
              <a:buChar char="•"/>
            </a:pPr>
            <a:r>
              <a:rPr sz="1700" b="0" i="0">
                <a:solidFill>
                  <a:srgbClr val="1E2A3B"/>
                </a:solidFill>
                <a:latin typeface="Calibri"/>
              </a:rPr>
              <a:t>Every pack has to show the maker, net quantity, MRP, dates and customer care (Rule 6), and right now all of it is checked by hand.</a:t>
            </a:r>
          </a:p>
          <a:p>
            <a:pPr algn="l" marL="292608" indent="-292608">
              <a:spcAft>
                <a:spcPts val="600"/>
              </a:spcAft>
              <a:buClr>
                <a:srgbClr val="17375D"/>
              </a:buClr>
              <a:buFont typeface="Arial"/>
              <a:buChar char="•"/>
            </a:pPr>
            <a:r>
              <a:rPr sz="1700" b="0" i="0">
                <a:solidFill>
                  <a:srgbClr val="1E2A3B"/>
                </a:solidFill>
                <a:latin typeface="Calibri"/>
              </a:rPr>
              <a:t>A changed MRP or quantity still looks like a normal label, so just reading it isn't enough. We have to check it against the real product details first.</a:t>
            </a:r>
          </a:p>
        </p:txBody>
      </p:sp>
      <p:sp>
        <p:nvSpPr>
          <p:cNvPr id="27" name="TextBox 26"/>
          <p:cNvSpPr txBox="1"/>
          <p:nvPr/>
        </p:nvSpPr>
        <p:spPr>
          <a:xfrm>
            <a:off x="822960" y="3840480"/>
            <a:ext cx="786384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What makes LMCS different</a:t>
            </a:r>
          </a:p>
        </p:txBody>
      </p:sp>
      <p:sp>
        <p:nvSpPr>
          <p:cNvPr id="28" name="Rounded Rectangle 27"/>
          <p:cNvSpPr/>
          <p:nvPr/>
        </p:nvSpPr>
        <p:spPr>
          <a:xfrm>
            <a:off x="822960" y="4389120"/>
            <a:ext cx="7863840" cy="1920240"/>
          </a:xfrm>
          <a:prstGeom prst="roundRect">
            <a:avLst>
              <a:gd name="adj" fmla="val 8000"/>
            </a:avLst>
          </a:prstGeom>
          <a:solidFill>
            <a:srgbClr val="F3F6FB"/>
          </a:solidFill>
          <a:ln w="12700">
            <a:solidFill>
              <a:srgbClr val="D0D5E7"/>
            </a:solidFill>
          </a:ln>
          <a:effectLst/>
        </p:spPr>
        <p:txBody>
          <a:bodyPr rtlCol="0" anchor="ctr"/>
          <a:lstStyle/>
          <a:p/>
        </p:txBody>
      </p:sp>
      <p:sp>
        <p:nvSpPr>
          <p:cNvPr id="29" name="Oval 28"/>
          <p:cNvSpPr/>
          <p:nvPr/>
        </p:nvSpPr>
        <p:spPr>
          <a:xfrm>
            <a:off x="1024128" y="4960620"/>
            <a:ext cx="777240" cy="777240"/>
          </a:xfrm>
          <a:prstGeom prst="ellipse">
            <a:avLst/>
          </a:prstGeom>
          <a:solidFill>
            <a:srgbClr val="8061A0"/>
          </a:solidFill>
          <a:ln>
            <a:noFill/>
          </a:ln>
          <a:effectLst/>
        </p:spPr>
        <p:txBody>
          <a:bodyPr rtlCol="0" anchor="ctr"/>
          <a:lstStyle/>
          <a:p/>
        </p:txBody>
      </p:sp>
      <p:pic>
        <p:nvPicPr>
          <p:cNvPr id="30" name="Picture 29" descr="MdVerified.png"/>
          <p:cNvPicPr>
            <a:picLocks noChangeAspect="1"/>
          </p:cNvPicPr>
          <p:nvPr/>
        </p:nvPicPr>
        <p:blipFill>
          <a:blip r:embed="rId6"/>
          <a:stretch>
            <a:fillRect/>
          </a:stretch>
        </p:blipFill>
        <p:spPr>
          <a:xfrm>
            <a:off x="1179576" y="5116068"/>
            <a:ext cx="466344" cy="466344"/>
          </a:xfrm>
          <a:prstGeom prst="rect">
            <a:avLst/>
          </a:prstGeom>
        </p:spPr>
      </p:pic>
      <p:sp>
        <p:nvSpPr>
          <p:cNvPr id="31" name="TextBox 30"/>
          <p:cNvSpPr txBox="1"/>
          <p:nvPr/>
        </p:nvSpPr>
        <p:spPr>
          <a:xfrm>
            <a:off x="2011680" y="4526280"/>
            <a:ext cx="6492240" cy="1645920"/>
          </a:xfrm>
          <a:prstGeom prst="rect">
            <a:avLst/>
          </a:prstGeom>
          <a:noFill/>
        </p:spPr>
        <p:txBody>
          <a:bodyPr wrap="square" lIns="0" rIns="0" tIns="0" bIns="0" anchor="ctr">
            <a:spAutoFit/>
          </a:bodyPr>
          <a:lstStyle/>
          <a:p>
            <a:pPr algn="l">
              <a:spcAft>
                <a:spcPts val="300"/>
              </a:spcAft>
              <a:buNone/>
            </a:pPr>
            <a:r>
              <a:rPr sz="1900" b="1" i="0">
                <a:solidFill>
                  <a:srgbClr val="17375D"/>
                </a:solidFill>
                <a:latin typeface="Calibri"/>
              </a:rPr>
              <a:t>We check the label against a registry</a:t>
            </a:r>
          </a:p>
          <a:p>
            <a:pPr algn="l" marL="256032" indent="-256032">
              <a:spcAft>
                <a:spcPts val="300"/>
              </a:spcAft>
              <a:buClr>
                <a:srgbClr val="17375D"/>
              </a:buClr>
              <a:buFont typeface="Arial"/>
              <a:buChar char="•"/>
            </a:pPr>
            <a:r>
              <a:rPr sz="1500" b="0" i="0">
                <a:solidFill>
                  <a:srgbClr val="1E2A3B"/>
                </a:solidFill>
                <a:latin typeface="Calibri"/>
              </a:rPr>
              <a:t>We look up the barcode in our product registry</a:t>
            </a:r>
          </a:p>
          <a:p>
            <a:pPr algn="l" marL="256032" indent="-256032">
              <a:spcAft>
                <a:spcPts val="300"/>
              </a:spcAft>
              <a:buClr>
                <a:srgbClr val="17375D"/>
              </a:buClr>
              <a:buFont typeface="Arial"/>
              <a:buChar char="•"/>
            </a:pPr>
            <a:r>
              <a:rPr sz="1500" b="0" i="0">
                <a:solidFill>
                  <a:srgbClr val="1E2A3B"/>
                </a:solidFill>
                <a:latin typeface="Calibri"/>
              </a:rPr>
              <a:t>Then compare MRP, quantity, FSSAI licence, GSTIN, veg mark and maker</a:t>
            </a:r>
          </a:p>
          <a:p>
            <a:pPr algn="l" marL="256032" indent="-256032">
              <a:spcAft>
                <a:spcPts val="300"/>
              </a:spcAft>
              <a:buClr>
                <a:srgbClr val="17375D"/>
              </a:buClr>
              <a:buFont typeface="Arial"/>
              <a:buChar char="•"/>
            </a:pPr>
            <a:r>
              <a:rPr sz="1500" b="0" i="0">
                <a:solidFill>
                  <a:srgbClr val="1E2A3B"/>
                </a:solidFill>
                <a:latin typeface="Calibri"/>
              </a:rPr>
              <a:t>If anything doesn't match, we flag it as possible tampering</a:t>
            </a:r>
          </a:p>
        </p:txBody>
      </p:sp>
      <p:sp>
        <p:nvSpPr>
          <p:cNvPr id="32" name="Rounded Rectangle 31"/>
          <p:cNvSpPr/>
          <p:nvPr/>
        </p:nvSpPr>
        <p:spPr>
          <a:xfrm>
            <a:off x="822960" y="6473952"/>
            <a:ext cx="7863840" cy="1600200"/>
          </a:xfrm>
          <a:prstGeom prst="roundRect">
            <a:avLst>
              <a:gd name="adj" fmla="val 8000"/>
            </a:avLst>
          </a:prstGeom>
          <a:solidFill>
            <a:srgbClr val="F3F6FB"/>
          </a:solidFill>
          <a:ln w="12700">
            <a:solidFill>
              <a:srgbClr val="D0D5E7"/>
            </a:solidFill>
          </a:ln>
          <a:effectLst/>
        </p:spPr>
        <p:txBody>
          <a:bodyPr rtlCol="0" anchor="ctr"/>
          <a:lstStyle/>
          <a:p/>
        </p:txBody>
      </p:sp>
      <p:sp>
        <p:nvSpPr>
          <p:cNvPr id="33" name="Oval 32"/>
          <p:cNvSpPr/>
          <p:nvPr/>
        </p:nvSpPr>
        <p:spPr>
          <a:xfrm>
            <a:off x="1024128" y="6885432"/>
            <a:ext cx="777240" cy="777240"/>
          </a:xfrm>
          <a:prstGeom prst="ellipse">
            <a:avLst/>
          </a:prstGeom>
          <a:solidFill>
            <a:srgbClr val="17375D"/>
          </a:solidFill>
          <a:ln>
            <a:noFill/>
          </a:ln>
          <a:effectLst/>
        </p:spPr>
        <p:txBody>
          <a:bodyPr rtlCol="0" anchor="ctr"/>
          <a:lstStyle/>
          <a:p/>
        </p:txBody>
      </p:sp>
      <p:pic>
        <p:nvPicPr>
          <p:cNvPr id="34" name="Picture 33" descr="MdFingerprint.png"/>
          <p:cNvPicPr>
            <a:picLocks noChangeAspect="1"/>
          </p:cNvPicPr>
          <p:nvPr/>
        </p:nvPicPr>
        <p:blipFill>
          <a:blip r:embed="rId7"/>
          <a:stretch>
            <a:fillRect/>
          </a:stretch>
        </p:blipFill>
        <p:spPr>
          <a:xfrm>
            <a:off x="1179576" y="7040880"/>
            <a:ext cx="466344" cy="466344"/>
          </a:xfrm>
          <a:prstGeom prst="rect">
            <a:avLst/>
          </a:prstGeom>
        </p:spPr>
      </p:pic>
      <p:sp>
        <p:nvSpPr>
          <p:cNvPr id="35" name="TextBox 34"/>
          <p:cNvSpPr txBox="1"/>
          <p:nvPr/>
        </p:nvSpPr>
        <p:spPr>
          <a:xfrm>
            <a:off x="2011680" y="6611112"/>
            <a:ext cx="6492240" cy="1325880"/>
          </a:xfrm>
          <a:prstGeom prst="rect">
            <a:avLst/>
          </a:prstGeom>
          <a:noFill/>
        </p:spPr>
        <p:txBody>
          <a:bodyPr wrap="square" lIns="0" rIns="0" tIns="0" bIns="0" anchor="ctr">
            <a:spAutoFit/>
          </a:bodyPr>
          <a:lstStyle/>
          <a:p>
            <a:pPr algn="l">
              <a:spcAft>
                <a:spcPts val="300"/>
              </a:spcAft>
              <a:buNone/>
            </a:pPr>
            <a:r>
              <a:rPr sz="1900" b="1" i="0">
                <a:solidFill>
                  <a:srgbClr val="17375D"/>
                </a:solidFill>
                <a:latin typeface="Calibri"/>
              </a:rPr>
              <a:t>Evidence and verification</a:t>
            </a:r>
          </a:p>
          <a:p>
            <a:pPr algn="l" marL="256032" indent="-256032">
              <a:spcAft>
                <a:spcPts val="300"/>
              </a:spcAft>
              <a:buClr>
                <a:srgbClr val="17375D"/>
              </a:buClr>
              <a:buFont typeface="Arial"/>
              <a:buChar char="•"/>
            </a:pPr>
            <a:r>
              <a:rPr sz="1500" b="0" i="0">
                <a:solidFill>
                  <a:srgbClr val="1E2A3B"/>
                </a:solidFill>
                <a:latin typeface="Calibri"/>
              </a:rPr>
              <a:t>Each photo gets a SHA-256 fingerprint, GPS location and exact time</a:t>
            </a:r>
          </a:p>
          <a:p>
            <a:pPr algn="l" marL="256032" indent="-256032">
              <a:spcAft>
                <a:spcPts val="300"/>
              </a:spcAft>
              <a:buClr>
                <a:srgbClr val="17375D"/>
              </a:buClr>
              <a:buFont typeface="Arial"/>
              <a:buChar char="•"/>
            </a:pPr>
            <a:r>
              <a:rPr sz="1500" b="0" i="0">
                <a:solidFill>
                  <a:srgbClr val="1E2A3B"/>
                </a:solidFill>
                <a:latin typeface="Calibri"/>
              </a:rPr>
              <a:t>Once a scan is sent, nobody can edit it</a:t>
            </a:r>
          </a:p>
          <a:p>
            <a:pPr algn="l" marL="256032" indent="-256032">
              <a:spcAft>
                <a:spcPts val="300"/>
              </a:spcAft>
              <a:buClr>
                <a:srgbClr val="17375D"/>
              </a:buClr>
              <a:buFont typeface="Arial"/>
              <a:buChar char="•"/>
            </a:pPr>
            <a:r>
              <a:rPr sz="1500" b="0" i="0">
                <a:solidFill>
                  <a:srgbClr val="1E2A3B"/>
                </a:solidFill>
                <a:latin typeface="Calibri"/>
              </a:rPr>
              <a:t>No notice goes out until the inspector and Controller both agree</a:t>
            </a:r>
          </a:p>
        </p:txBody>
      </p:sp>
      <p:sp>
        <p:nvSpPr>
          <p:cNvPr id="36" name="Rounded Rectangle 35"/>
          <p:cNvSpPr/>
          <p:nvPr/>
        </p:nvSpPr>
        <p:spPr>
          <a:xfrm>
            <a:off x="822960" y="8238744"/>
            <a:ext cx="7863840" cy="960120"/>
          </a:xfrm>
          <a:prstGeom prst="roundRect">
            <a:avLst>
              <a:gd name="adj" fmla="val 8000"/>
            </a:avLst>
          </a:prstGeom>
          <a:solidFill>
            <a:srgbClr val="E3EDFA"/>
          </a:solidFill>
          <a:ln>
            <a:noFill/>
          </a:ln>
          <a:effectLst/>
        </p:spPr>
        <p:txBody>
          <a:bodyPr rtlCol="0" anchor="ctr"/>
          <a:lstStyle/>
          <a:p/>
        </p:txBody>
      </p:sp>
      <p:sp>
        <p:nvSpPr>
          <p:cNvPr id="37" name="TextBox 36"/>
          <p:cNvSpPr txBox="1"/>
          <p:nvPr/>
        </p:nvSpPr>
        <p:spPr>
          <a:xfrm>
            <a:off x="1051560" y="8238744"/>
            <a:ext cx="7406640" cy="960120"/>
          </a:xfrm>
          <a:prstGeom prst="rect">
            <a:avLst/>
          </a:prstGeom>
          <a:noFill/>
        </p:spPr>
        <p:txBody>
          <a:bodyPr wrap="square" lIns="0" rIns="0" tIns="0" bIns="0" anchor="ctr">
            <a:spAutoFit/>
          </a:bodyPr>
          <a:lstStyle/>
          <a:p>
            <a:pPr algn="l">
              <a:spcAft>
                <a:spcPts val="600"/>
              </a:spcAft>
              <a:buNone/>
            </a:pPr>
            <a:r>
              <a:rPr sz="1350" b="1" i="0">
                <a:solidFill>
                  <a:srgbClr val="17375D"/>
                </a:solidFill>
                <a:latin typeface="Calibri"/>
              </a:rPr>
              <a:t>Every scan also gets: </a:t>
            </a:r>
            <a:r>
              <a:rPr sz="1350" b="0" i="0">
                <a:solidFill>
                  <a:srgbClr val="1E2A3B"/>
                </a:solidFill>
                <a:latin typeface="Calibri"/>
              </a:rPr>
              <a:t>all 13 rule checks (unit sale price too), the FSSAI veg mark, print contrast and font size. If a reading is borderline, we mark it REVIEW.</a:t>
            </a:r>
          </a:p>
        </p:txBody>
      </p:sp>
      <p:cxnSp>
        <p:nvCxnSpPr>
          <p:cNvPr id="38" name="Connector 37"/>
          <p:cNvCxnSpPr/>
          <p:nvPr/>
        </p:nvCxnSpPr>
        <p:spPr>
          <a:xfrm>
            <a:off x="8961120" y="1828800"/>
            <a:ext cx="0" cy="7360920"/>
          </a:xfrm>
          <a:prstGeom prst="line">
            <a:avLst/>
          </a:prstGeom>
          <a:ln w="19050">
            <a:solidFill>
              <a:srgbClr val="D0D5E7"/>
            </a:solidFill>
          </a:ln>
        </p:spPr>
      </p:cxnSp>
      <p:sp>
        <p:nvSpPr>
          <p:cNvPr id="39" name="TextBox 38"/>
          <p:cNvSpPr txBox="1"/>
          <p:nvPr/>
        </p:nvSpPr>
        <p:spPr>
          <a:xfrm>
            <a:off x="9372600" y="1783080"/>
            <a:ext cx="809244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How it works, step by step</a:t>
            </a:r>
          </a:p>
        </p:txBody>
      </p:sp>
      <p:sp>
        <p:nvSpPr>
          <p:cNvPr id="40" name="Rounded Rectangle 39"/>
          <p:cNvSpPr/>
          <p:nvPr/>
        </p:nvSpPr>
        <p:spPr>
          <a:xfrm>
            <a:off x="9372600" y="2377440"/>
            <a:ext cx="8092440" cy="987552"/>
          </a:xfrm>
          <a:prstGeom prst="roundRect">
            <a:avLst>
              <a:gd name="adj" fmla="val 8000"/>
            </a:avLst>
          </a:prstGeom>
          <a:solidFill>
            <a:srgbClr val="F3F6FB"/>
          </a:solidFill>
          <a:ln w="12700">
            <a:solidFill>
              <a:srgbClr val="D0D5E7"/>
            </a:solidFill>
          </a:ln>
          <a:effectLst/>
        </p:spPr>
        <p:txBody>
          <a:bodyPr rtlCol="0" anchor="ctr"/>
          <a:lstStyle/>
          <a:p/>
        </p:txBody>
      </p:sp>
      <p:sp>
        <p:nvSpPr>
          <p:cNvPr id="41" name="Oval 40"/>
          <p:cNvSpPr/>
          <p:nvPr/>
        </p:nvSpPr>
        <p:spPr>
          <a:xfrm>
            <a:off x="9555480" y="2551176"/>
            <a:ext cx="640080" cy="640080"/>
          </a:xfrm>
          <a:prstGeom prst="ellipse">
            <a:avLst/>
          </a:prstGeom>
          <a:solidFill>
            <a:srgbClr val="006EBF"/>
          </a:solidFill>
          <a:ln>
            <a:noFill/>
          </a:ln>
          <a:effectLst/>
        </p:spPr>
        <p:txBody>
          <a:bodyPr rtlCol="0" anchor="ctr"/>
          <a:lstStyle/>
          <a:p/>
        </p:txBody>
      </p:sp>
      <p:pic>
        <p:nvPicPr>
          <p:cNvPr id="42" name="Picture 41" descr="MdPhotoCamera.png"/>
          <p:cNvPicPr>
            <a:picLocks noChangeAspect="1"/>
          </p:cNvPicPr>
          <p:nvPr/>
        </p:nvPicPr>
        <p:blipFill>
          <a:blip r:embed="rId8"/>
          <a:stretch>
            <a:fillRect/>
          </a:stretch>
        </p:blipFill>
        <p:spPr>
          <a:xfrm>
            <a:off x="9683496" y="2679192"/>
            <a:ext cx="384048" cy="384048"/>
          </a:xfrm>
          <a:prstGeom prst="rect">
            <a:avLst/>
          </a:prstGeom>
        </p:spPr>
      </p:pic>
      <p:sp>
        <p:nvSpPr>
          <p:cNvPr id="43" name="TextBox 42"/>
          <p:cNvSpPr txBox="1"/>
          <p:nvPr/>
        </p:nvSpPr>
        <p:spPr>
          <a:xfrm>
            <a:off x="10378440" y="2496312"/>
            <a:ext cx="5166359" cy="822960"/>
          </a:xfrm>
          <a:prstGeom prst="rect">
            <a:avLst/>
          </a:prstGeom>
          <a:noFill/>
        </p:spPr>
        <p:txBody>
          <a:bodyPr wrap="square" lIns="0" rIns="0" tIns="0" bIns="0" anchor="t">
            <a:spAutoFit/>
          </a:bodyPr>
          <a:lstStyle/>
          <a:p>
            <a:pPr algn="l">
              <a:spcAft>
                <a:spcPts val="100"/>
              </a:spcAft>
              <a:buNone/>
            </a:pPr>
            <a:r>
              <a:rPr sz="1800" b="1" i="0">
                <a:solidFill>
                  <a:srgbClr val="17375D"/>
                </a:solidFill>
                <a:latin typeface="Calibri"/>
              </a:rPr>
              <a:t>1. A consumer scans the label</a:t>
            </a:r>
          </a:p>
          <a:p>
            <a:pPr algn="l">
              <a:spcAft>
                <a:spcPts val="100"/>
              </a:spcAft>
              <a:buNone/>
            </a:pPr>
            <a:r>
              <a:rPr sz="1450" b="0" i="0">
                <a:solidFill>
                  <a:srgbClr val="4F5B6E"/>
                </a:solidFill>
                <a:latin typeface="Calibri"/>
              </a:rPr>
              <a:t>The phone reads the label text and barcode by itself</a:t>
            </a:r>
          </a:p>
        </p:txBody>
      </p:sp>
      <p:sp>
        <p:nvSpPr>
          <p:cNvPr id="44" name="Rounded Rectangle 43"/>
          <p:cNvSpPr/>
          <p:nvPr/>
        </p:nvSpPr>
        <p:spPr>
          <a:xfrm>
            <a:off x="15681960" y="2688336"/>
            <a:ext cx="1600200" cy="365760"/>
          </a:xfrm>
          <a:prstGeom prst="roundRect">
            <a:avLst>
              <a:gd name="adj" fmla="val 50000"/>
            </a:avLst>
          </a:prstGeom>
          <a:solidFill>
            <a:srgbClr val="006EBF"/>
          </a:solidFill>
          <a:ln>
            <a:noFill/>
          </a:ln>
          <a:effectLst/>
        </p:spPr>
        <p:txBody>
          <a:bodyPr rtlCol="0" anchor="ctr" lIns="0" rIns="0" tIns="0" bIns="0"/>
          <a:lstStyle/>
          <a:p>
            <a:pPr algn="ctr"/>
            <a:r>
              <a:rPr sz="1150" b="1">
                <a:solidFill>
                  <a:srgbClr val="FFFFFF"/>
                </a:solidFill>
                <a:latin typeface="Calibri"/>
              </a:rPr>
              <a:t>CONSUMER</a:t>
            </a:r>
          </a:p>
        </p:txBody>
      </p:sp>
      <p:sp>
        <p:nvSpPr>
          <p:cNvPr id="45" name="Rounded Rectangle 44"/>
          <p:cNvSpPr/>
          <p:nvPr/>
        </p:nvSpPr>
        <p:spPr>
          <a:xfrm>
            <a:off x="9372600" y="3520440"/>
            <a:ext cx="8092440" cy="987552"/>
          </a:xfrm>
          <a:prstGeom prst="roundRect">
            <a:avLst>
              <a:gd name="adj" fmla="val 8000"/>
            </a:avLst>
          </a:prstGeom>
          <a:solidFill>
            <a:srgbClr val="F3F6FB"/>
          </a:solidFill>
          <a:ln w="12700">
            <a:solidFill>
              <a:srgbClr val="D0D5E7"/>
            </a:solidFill>
          </a:ln>
          <a:effectLst/>
        </p:spPr>
        <p:txBody>
          <a:bodyPr rtlCol="0" anchor="ctr"/>
          <a:lstStyle/>
          <a:p/>
        </p:txBody>
      </p:sp>
      <p:sp>
        <p:nvSpPr>
          <p:cNvPr id="46" name="Oval 45"/>
          <p:cNvSpPr/>
          <p:nvPr/>
        </p:nvSpPr>
        <p:spPr>
          <a:xfrm>
            <a:off x="9555480" y="3694176"/>
            <a:ext cx="640080" cy="640080"/>
          </a:xfrm>
          <a:prstGeom prst="ellipse">
            <a:avLst/>
          </a:prstGeom>
          <a:solidFill>
            <a:srgbClr val="5E6A7E"/>
          </a:solidFill>
          <a:ln>
            <a:noFill/>
          </a:ln>
          <a:effectLst/>
        </p:spPr>
        <p:txBody>
          <a:bodyPr rtlCol="0" anchor="ctr"/>
          <a:lstStyle/>
          <a:p/>
        </p:txBody>
      </p:sp>
      <p:pic>
        <p:nvPicPr>
          <p:cNvPr id="47" name="Picture 46" descr="MdFactCheck.png"/>
          <p:cNvPicPr>
            <a:picLocks noChangeAspect="1"/>
          </p:cNvPicPr>
          <p:nvPr/>
        </p:nvPicPr>
        <p:blipFill>
          <a:blip r:embed="rId9"/>
          <a:stretch>
            <a:fillRect/>
          </a:stretch>
        </p:blipFill>
        <p:spPr>
          <a:xfrm>
            <a:off x="9683496" y="3822191"/>
            <a:ext cx="384048" cy="384048"/>
          </a:xfrm>
          <a:prstGeom prst="rect">
            <a:avLst/>
          </a:prstGeom>
        </p:spPr>
      </p:pic>
      <p:sp>
        <p:nvSpPr>
          <p:cNvPr id="48" name="TextBox 47"/>
          <p:cNvSpPr txBox="1"/>
          <p:nvPr/>
        </p:nvSpPr>
        <p:spPr>
          <a:xfrm>
            <a:off x="10378440" y="3639312"/>
            <a:ext cx="5166359" cy="822960"/>
          </a:xfrm>
          <a:prstGeom prst="rect">
            <a:avLst/>
          </a:prstGeom>
          <a:noFill/>
        </p:spPr>
        <p:txBody>
          <a:bodyPr wrap="square" lIns="0" rIns="0" tIns="0" bIns="0" anchor="t">
            <a:spAutoFit/>
          </a:bodyPr>
          <a:lstStyle/>
          <a:p>
            <a:pPr algn="l">
              <a:spcAft>
                <a:spcPts val="100"/>
              </a:spcAft>
              <a:buNone/>
            </a:pPr>
            <a:r>
              <a:rPr sz="1800" b="1" i="0">
                <a:solidFill>
                  <a:srgbClr val="17375D"/>
                </a:solidFill>
                <a:latin typeface="Calibri"/>
              </a:rPr>
              <a:t>2. 13 rule checks and a registry match</a:t>
            </a:r>
          </a:p>
          <a:p>
            <a:pPr algn="l">
              <a:spcAft>
                <a:spcPts val="100"/>
              </a:spcAft>
              <a:buNone/>
            </a:pPr>
            <a:r>
              <a:rPr sz="1450" b="0" i="0">
                <a:solidFill>
                  <a:srgbClr val="4F5B6E"/>
                </a:solidFill>
                <a:latin typeface="Calibri"/>
              </a:rPr>
              <a:t>Rules 6, 9, 27 and GST Rule 46, plus the printed MRP, quantity and licence vs. what's registered</a:t>
            </a:r>
          </a:p>
        </p:txBody>
      </p:sp>
      <p:sp>
        <p:nvSpPr>
          <p:cNvPr id="49" name="Rounded Rectangle 48"/>
          <p:cNvSpPr/>
          <p:nvPr/>
        </p:nvSpPr>
        <p:spPr>
          <a:xfrm>
            <a:off x="15681960" y="3831336"/>
            <a:ext cx="1600200" cy="365760"/>
          </a:xfrm>
          <a:prstGeom prst="roundRect">
            <a:avLst>
              <a:gd name="adj" fmla="val 50000"/>
            </a:avLst>
          </a:prstGeom>
          <a:solidFill>
            <a:srgbClr val="5E6A7E"/>
          </a:solidFill>
          <a:ln>
            <a:noFill/>
          </a:ln>
          <a:effectLst/>
        </p:spPr>
        <p:txBody>
          <a:bodyPr rtlCol="0" anchor="ctr" lIns="0" rIns="0" tIns="0" bIns="0"/>
          <a:lstStyle/>
          <a:p>
            <a:pPr algn="ctr"/>
            <a:r>
              <a:rPr sz="1150" b="1">
                <a:solidFill>
                  <a:srgbClr val="FFFFFF"/>
                </a:solidFill>
                <a:latin typeface="Calibri"/>
              </a:rPr>
              <a:t>AUTOMATIC</a:t>
            </a:r>
          </a:p>
        </p:txBody>
      </p:sp>
      <p:sp>
        <p:nvSpPr>
          <p:cNvPr id="50" name="Rounded Rectangle 49"/>
          <p:cNvSpPr/>
          <p:nvPr/>
        </p:nvSpPr>
        <p:spPr>
          <a:xfrm>
            <a:off x="9372600" y="4663440"/>
            <a:ext cx="8092440" cy="987552"/>
          </a:xfrm>
          <a:prstGeom prst="roundRect">
            <a:avLst>
              <a:gd name="adj" fmla="val 8000"/>
            </a:avLst>
          </a:prstGeom>
          <a:solidFill>
            <a:srgbClr val="F3F6FB"/>
          </a:solidFill>
          <a:ln w="12700">
            <a:solidFill>
              <a:srgbClr val="D0D5E7"/>
            </a:solidFill>
          </a:ln>
          <a:effectLst/>
        </p:spPr>
        <p:txBody>
          <a:bodyPr rtlCol="0" anchor="ctr"/>
          <a:lstStyle/>
          <a:p/>
        </p:txBody>
      </p:sp>
      <p:sp>
        <p:nvSpPr>
          <p:cNvPr id="51" name="Oval 50"/>
          <p:cNvSpPr/>
          <p:nvPr/>
        </p:nvSpPr>
        <p:spPr>
          <a:xfrm>
            <a:off x="9555480" y="4837176"/>
            <a:ext cx="640080" cy="640080"/>
          </a:xfrm>
          <a:prstGeom prst="ellipse">
            <a:avLst/>
          </a:prstGeom>
          <a:solidFill>
            <a:srgbClr val="5E6A7E"/>
          </a:solidFill>
          <a:ln>
            <a:noFill/>
          </a:ln>
          <a:effectLst/>
        </p:spPr>
        <p:txBody>
          <a:bodyPr rtlCol="0" anchor="ctr"/>
          <a:lstStyle/>
          <a:p/>
        </p:txBody>
      </p:sp>
      <p:pic>
        <p:nvPicPr>
          <p:cNvPr id="52" name="Picture 51" descr="MdMap.png"/>
          <p:cNvPicPr>
            <a:picLocks noChangeAspect="1"/>
          </p:cNvPicPr>
          <p:nvPr/>
        </p:nvPicPr>
        <p:blipFill>
          <a:blip r:embed="rId10"/>
          <a:stretch>
            <a:fillRect/>
          </a:stretch>
        </p:blipFill>
        <p:spPr>
          <a:xfrm>
            <a:off x="9683496" y="4965192"/>
            <a:ext cx="384048" cy="384048"/>
          </a:xfrm>
          <a:prstGeom prst="rect">
            <a:avLst/>
          </a:prstGeom>
        </p:spPr>
      </p:pic>
      <p:sp>
        <p:nvSpPr>
          <p:cNvPr id="53" name="TextBox 52"/>
          <p:cNvSpPr txBox="1"/>
          <p:nvPr/>
        </p:nvSpPr>
        <p:spPr>
          <a:xfrm>
            <a:off x="10378440" y="4782312"/>
            <a:ext cx="5166359" cy="822960"/>
          </a:xfrm>
          <a:prstGeom prst="rect">
            <a:avLst/>
          </a:prstGeom>
          <a:noFill/>
        </p:spPr>
        <p:txBody>
          <a:bodyPr wrap="square" lIns="0" rIns="0" tIns="0" bIns="0" anchor="t">
            <a:spAutoFit/>
          </a:bodyPr>
          <a:lstStyle/>
          <a:p>
            <a:pPr algn="l">
              <a:spcAft>
                <a:spcPts val="100"/>
              </a:spcAft>
              <a:buNone/>
            </a:pPr>
            <a:r>
              <a:rPr sz="1800" b="1" i="0">
                <a:solidFill>
                  <a:srgbClr val="17375D"/>
                </a:solidFill>
                <a:latin typeface="Calibri"/>
              </a:rPr>
              <a:t>3. Complaint shows up on the inspector's map</a:t>
            </a:r>
          </a:p>
          <a:p>
            <a:pPr algn="l">
              <a:spcAft>
                <a:spcPts val="100"/>
              </a:spcAft>
              <a:buNone/>
            </a:pPr>
            <a:r>
              <a:rPr sz="1450" b="0" i="0">
                <a:solidFill>
                  <a:srgbClr val="4F5B6E"/>
                </a:solidFill>
                <a:latin typeface="Calibri"/>
              </a:rPr>
              <a:t>Only when a check fails or details don't match, never when we just can't tell</a:t>
            </a:r>
          </a:p>
        </p:txBody>
      </p:sp>
      <p:sp>
        <p:nvSpPr>
          <p:cNvPr id="54" name="Rounded Rectangle 53"/>
          <p:cNvSpPr/>
          <p:nvPr/>
        </p:nvSpPr>
        <p:spPr>
          <a:xfrm>
            <a:off x="15681960" y="4974336"/>
            <a:ext cx="1600200" cy="365760"/>
          </a:xfrm>
          <a:prstGeom prst="roundRect">
            <a:avLst>
              <a:gd name="adj" fmla="val 50000"/>
            </a:avLst>
          </a:prstGeom>
          <a:solidFill>
            <a:srgbClr val="5E6A7E"/>
          </a:solidFill>
          <a:ln>
            <a:noFill/>
          </a:ln>
          <a:effectLst/>
        </p:spPr>
        <p:txBody>
          <a:bodyPr rtlCol="0" anchor="ctr" lIns="0" rIns="0" tIns="0" bIns="0"/>
          <a:lstStyle/>
          <a:p>
            <a:pPr algn="ctr"/>
            <a:r>
              <a:rPr sz="1150" b="1">
                <a:solidFill>
                  <a:srgbClr val="FFFFFF"/>
                </a:solidFill>
                <a:latin typeface="Calibri"/>
              </a:rPr>
              <a:t>AUTOMATIC</a:t>
            </a:r>
          </a:p>
        </p:txBody>
      </p:sp>
      <p:sp>
        <p:nvSpPr>
          <p:cNvPr id="55" name="Rounded Rectangle 54"/>
          <p:cNvSpPr/>
          <p:nvPr/>
        </p:nvSpPr>
        <p:spPr>
          <a:xfrm>
            <a:off x="9372600" y="5806440"/>
            <a:ext cx="8092440" cy="987552"/>
          </a:xfrm>
          <a:prstGeom prst="roundRect">
            <a:avLst>
              <a:gd name="adj" fmla="val 8000"/>
            </a:avLst>
          </a:prstGeom>
          <a:solidFill>
            <a:srgbClr val="F3F6FB"/>
          </a:solidFill>
          <a:ln w="12700">
            <a:solidFill>
              <a:srgbClr val="D0D5E7"/>
            </a:solidFill>
          </a:ln>
          <a:effectLst/>
        </p:spPr>
        <p:txBody>
          <a:bodyPr rtlCol="0" anchor="ctr"/>
          <a:lstStyle/>
          <a:p/>
        </p:txBody>
      </p:sp>
      <p:sp>
        <p:nvSpPr>
          <p:cNvPr id="56" name="Oval 55"/>
          <p:cNvSpPr/>
          <p:nvPr/>
        </p:nvSpPr>
        <p:spPr>
          <a:xfrm>
            <a:off x="9555480" y="5980176"/>
            <a:ext cx="640080" cy="640080"/>
          </a:xfrm>
          <a:prstGeom prst="ellipse">
            <a:avLst/>
          </a:prstGeom>
          <a:solidFill>
            <a:srgbClr val="17784F"/>
          </a:solidFill>
          <a:ln>
            <a:noFill/>
          </a:ln>
          <a:effectLst/>
        </p:spPr>
        <p:txBody>
          <a:bodyPr rtlCol="0" anchor="ctr"/>
          <a:lstStyle/>
          <a:p/>
        </p:txBody>
      </p:sp>
      <p:pic>
        <p:nvPicPr>
          <p:cNvPr id="57" name="Picture 56" descr="MdSearch.png"/>
          <p:cNvPicPr>
            <a:picLocks noChangeAspect="1"/>
          </p:cNvPicPr>
          <p:nvPr/>
        </p:nvPicPr>
        <p:blipFill>
          <a:blip r:embed="rId11"/>
          <a:stretch>
            <a:fillRect/>
          </a:stretch>
        </p:blipFill>
        <p:spPr>
          <a:xfrm>
            <a:off x="9683496" y="6108192"/>
            <a:ext cx="384048" cy="384048"/>
          </a:xfrm>
          <a:prstGeom prst="rect">
            <a:avLst/>
          </a:prstGeom>
        </p:spPr>
      </p:pic>
      <p:sp>
        <p:nvSpPr>
          <p:cNvPr id="58" name="TextBox 57"/>
          <p:cNvSpPr txBox="1"/>
          <p:nvPr/>
        </p:nvSpPr>
        <p:spPr>
          <a:xfrm>
            <a:off x="10378440" y="5925312"/>
            <a:ext cx="5166359" cy="822960"/>
          </a:xfrm>
          <a:prstGeom prst="rect">
            <a:avLst/>
          </a:prstGeom>
          <a:noFill/>
        </p:spPr>
        <p:txBody>
          <a:bodyPr wrap="square" lIns="0" rIns="0" tIns="0" bIns="0" anchor="t">
            <a:spAutoFit/>
          </a:bodyPr>
          <a:lstStyle/>
          <a:p>
            <a:pPr algn="l">
              <a:spcAft>
                <a:spcPts val="100"/>
              </a:spcAft>
              <a:buNone/>
            </a:pPr>
            <a:r>
              <a:rPr sz="1800" b="1" i="0">
                <a:solidFill>
                  <a:srgbClr val="17375D"/>
                </a:solidFill>
                <a:latin typeface="Calibri"/>
              </a:rPr>
              <a:t>4. Inspector checks on site, files a report</a:t>
            </a:r>
          </a:p>
          <a:p>
            <a:pPr algn="l">
              <a:spcAft>
                <a:spcPts val="100"/>
              </a:spcAft>
              <a:buNone/>
            </a:pPr>
            <a:r>
              <a:rPr sz="1450" b="0" i="0">
                <a:solidFill>
                  <a:srgbClr val="4F5B6E"/>
                </a:solidFill>
                <a:latin typeface="Calibri"/>
              </a:rPr>
              <a:t>The report can only include checks that actually failed</a:t>
            </a:r>
          </a:p>
        </p:txBody>
      </p:sp>
      <p:sp>
        <p:nvSpPr>
          <p:cNvPr id="59" name="Rounded Rectangle 58"/>
          <p:cNvSpPr/>
          <p:nvPr/>
        </p:nvSpPr>
        <p:spPr>
          <a:xfrm>
            <a:off x="15681960" y="6117336"/>
            <a:ext cx="1600200" cy="365760"/>
          </a:xfrm>
          <a:prstGeom prst="roundRect">
            <a:avLst>
              <a:gd name="adj" fmla="val 50000"/>
            </a:avLst>
          </a:prstGeom>
          <a:solidFill>
            <a:srgbClr val="17784F"/>
          </a:solidFill>
          <a:ln>
            <a:noFill/>
          </a:ln>
          <a:effectLst/>
        </p:spPr>
        <p:txBody>
          <a:bodyPr rtlCol="0" anchor="ctr" lIns="0" rIns="0" tIns="0" bIns="0"/>
          <a:lstStyle/>
          <a:p>
            <a:pPr algn="ctr"/>
            <a:r>
              <a:rPr sz="1150" b="1">
                <a:solidFill>
                  <a:srgbClr val="FFFFFF"/>
                </a:solidFill>
                <a:latin typeface="Calibri"/>
              </a:rPr>
              <a:t>INSPECTOR</a:t>
            </a:r>
          </a:p>
        </p:txBody>
      </p:sp>
      <p:sp>
        <p:nvSpPr>
          <p:cNvPr id="60" name="Rounded Rectangle 59"/>
          <p:cNvSpPr/>
          <p:nvPr/>
        </p:nvSpPr>
        <p:spPr>
          <a:xfrm>
            <a:off x="9372600" y="6949440"/>
            <a:ext cx="8092440" cy="987552"/>
          </a:xfrm>
          <a:prstGeom prst="roundRect">
            <a:avLst>
              <a:gd name="adj" fmla="val 8000"/>
            </a:avLst>
          </a:prstGeom>
          <a:solidFill>
            <a:srgbClr val="F3F6FB"/>
          </a:solidFill>
          <a:ln w="12700">
            <a:solidFill>
              <a:srgbClr val="D0D5E7"/>
            </a:solidFill>
          </a:ln>
          <a:effectLst/>
        </p:spPr>
        <p:txBody>
          <a:bodyPr rtlCol="0" anchor="ctr"/>
          <a:lstStyle/>
          <a:p/>
        </p:txBody>
      </p:sp>
      <p:sp>
        <p:nvSpPr>
          <p:cNvPr id="61" name="Oval 60"/>
          <p:cNvSpPr/>
          <p:nvPr/>
        </p:nvSpPr>
        <p:spPr>
          <a:xfrm>
            <a:off x="9555480" y="7123176"/>
            <a:ext cx="640080" cy="640080"/>
          </a:xfrm>
          <a:prstGeom prst="ellipse">
            <a:avLst/>
          </a:prstGeom>
          <a:solidFill>
            <a:srgbClr val="8061A0"/>
          </a:solidFill>
          <a:ln>
            <a:noFill/>
          </a:ln>
          <a:effectLst/>
        </p:spPr>
        <p:txBody>
          <a:bodyPr rtlCol="0" anchor="ctr"/>
          <a:lstStyle/>
          <a:p/>
        </p:txBody>
      </p:sp>
      <p:pic>
        <p:nvPicPr>
          <p:cNvPr id="62" name="Picture 61" descr="MdVerified.png"/>
          <p:cNvPicPr>
            <a:picLocks noChangeAspect="1"/>
          </p:cNvPicPr>
          <p:nvPr/>
        </p:nvPicPr>
        <p:blipFill>
          <a:blip r:embed="rId6"/>
          <a:stretch>
            <a:fillRect/>
          </a:stretch>
        </p:blipFill>
        <p:spPr>
          <a:xfrm>
            <a:off x="9683496" y="7251192"/>
            <a:ext cx="384048" cy="384048"/>
          </a:xfrm>
          <a:prstGeom prst="rect">
            <a:avLst/>
          </a:prstGeom>
        </p:spPr>
      </p:pic>
      <p:sp>
        <p:nvSpPr>
          <p:cNvPr id="63" name="TextBox 62"/>
          <p:cNvSpPr txBox="1"/>
          <p:nvPr/>
        </p:nvSpPr>
        <p:spPr>
          <a:xfrm>
            <a:off x="10378440" y="7068312"/>
            <a:ext cx="5166359" cy="822960"/>
          </a:xfrm>
          <a:prstGeom prst="rect">
            <a:avLst/>
          </a:prstGeom>
          <a:noFill/>
        </p:spPr>
        <p:txBody>
          <a:bodyPr wrap="square" lIns="0" rIns="0" tIns="0" bIns="0" anchor="t">
            <a:spAutoFit/>
          </a:bodyPr>
          <a:lstStyle/>
          <a:p>
            <a:pPr algn="l">
              <a:spcAft>
                <a:spcPts val="100"/>
              </a:spcAft>
              <a:buNone/>
            </a:pPr>
            <a:r>
              <a:rPr sz="1800" b="1" i="0">
                <a:solidFill>
                  <a:srgbClr val="17375D"/>
                </a:solidFill>
                <a:latin typeface="Calibri"/>
              </a:rPr>
              <a:t>5. Controller reviews it, confirms or rejects</a:t>
            </a:r>
          </a:p>
          <a:p>
            <a:pPr algn="l">
              <a:spcAft>
                <a:spcPts val="100"/>
              </a:spcAft>
              <a:buNone/>
            </a:pPr>
            <a:r>
              <a:rPr sz="1450" b="0" i="0">
                <a:solidFill>
                  <a:srgbClr val="4F5B6E"/>
                </a:solidFill>
                <a:latin typeface="Calibri"/>
              </a:rPr>
              <a:t>They see the photo, the fingerprint check, GPS and time</a:t>
            </a:r>
          </a:p>
        </p:txBody>
      </p:sp>
      <p:sp>
        <p:nvSpPr>
          <p:cNvPr id="64" name="Rounded Rectangle 63"/>
          <p:cNvSpPr/>
          <p:nvPr/>
        </p:nvSpPr>
        <p:spPr>
          <a:xfrm>
            <a:off x="15681960" y="7260336"/>
            <a:ext cx="1600200" cy="365760"/>
          </a:xfrm>
          <a:prstGeom prst="roundRect">
            <a:avLst>
              <a:gd name="adj" fmla="val 50000"/>
            </a:avLst>
          </a:prstGeom>
          <a:solidFill>
            <a:srgbClr val="8061A0"/>
          </a:solidFill>
          <a:ln>
            <a:noFill/>
          </a:ln>
          <a:effectLst/>
        </p:spPr>
        <p:txBody>
          <a:bodyPr rtlCol="0" anchor="ctr" lIns="0" rIns="0" tIns="0" bIns="0"/>
          <a:lstStyle/>
          <a:p>
            <a:pPr algn="ctr"/>
            <a:r>
              <a:rPr sz="1150" b="1">
                <a:solidFill>
                  <a:srgbClr val="FFFFFF"/>
                </a:solidFill>
                <a:latin typeface="Calibri"/>
              </a:rPr>
              <a:t>CONTROLLER</a:t>
            </a:r>
          </a:p>
        </p:txBody>
      </p:sp>
      <p:sp>
        <p:nvSpPr>
          <p:cNvPr id="65" name="Rounded Rectangle 64"/>
          <p:cNvSpPr/>
          <p:nvPr/>
        </p:nvSpPr>
        <p:spPr>
          <a:xfrm>
            <a:off x="9372600" y="8092440"/>
            <a:ext cx="8092440" cy="987552"/>
          </a:xfrm>
          <a:prstGeom prst="roundRect">
            <a:avLst>
              <a:gd name="adj" fmla="val 8000"/>
            </a:avLst>
          </a:prstGeom>
          <a:solidFill>
            <a:srgbClr val="F3F6FB"/>
          </a:solidFill>
          <a:ln w="12700">
            <a:solidFill>
              <a:srgbClr val="D0D5E7"/>
            </a:solidFill>
          </a:ln>
          <a:effectLst/>
        </p:spPr>
        <p:txBody>
          <a:bodyPr rtlCol="0" anchor="ctr"/>
          <a:lstStyle/>
          <a:p/>
        </p:txBody>
      </p:sp>
      <p:sp>
        <p:nvSpPr>
          <p:cNvPr id="66" name="Oval 65"/>
          <p:cNvSpPr/>
          <p:nvPr/>
        </p:nvSpPr>
        <p:spPr>
          <a:xfrm>
            <a:off x="9555480" y="8266175"/>
            <a:ext cx="640080" cy="640080"/>
          </a:xfrm>
          <a:prstGeom prst="ellipse">
            <a:avLst/>
          </a:prstGeom>
          <a:solidFill>
            <a:srgbClr val="8061A0"/>
          </a:solidFill>
          <a:ln>
            <a:noFill/>
          </a:ln>
          <a:effectLst/>
        </p:spPr>
        <p:txBody>
          <a:bodyPr rtlCol="0" anchor="ctr"/>
          <a:lstStyle/>
          <a:p/>
        </p:txBody>
      </p:sp>
      <p:pic>
        <p:nvPicPr>
          <p:cNvPr id="67" name="Picture 66" descr="MdGavel.png"/>
          <p:cNvPicPr>
            <a:picLocks noChangeAspect="1"/>
          </p:cNvPicPr>
          <p:nvPr/>
        </p:nvPicPr>
        <p:blipFill>
          <a:blip r:embed="rId12"/>
          <a:stretch>
            <a:fillRect/>
          </a:stretch>
        </p:blipFill>
        <p:spPr>
          <a:xfrm>
            <a:off x="9683496" y="8394192"/>
            <a:ext cx="384048" cy="384048"/>
          </a:xfrm>
          <a:prstGeom prst="rect">
            <a:avLst/>
          </a:prstGeom>
        </p:spPr>
      </p:pic>
      <p:sp>
        <p:nvSpPr>
          <p:cNvPr id="68" name="TextBox 67"/>
          <p:cNvSpPr txBox="1"/>
          <p:nvPr/>
        </p:nvSpPr>
        <p:spPr>
          <a:xfrm>
            <a:off x="10378440" y="8211312"/>
            <a:ext cx="5166359" cy="822960"/>
          </a:xfrm>
          <a:prstGeom prst="rect">
            <a:avLst/>
          </a:prstGeom>
          <a:noFill/>
        </p:spPr>
        <p:txBody>
          <a:bodyPr wrap="square" lIns="0" rIns="0" tIns="0" bIns="0" anchor="t">
            <a:spAutoFit/>
          </a:bodyPr>
          <a:lstStyle/>
          <a:p>
            <a:pPr algn="l">
              <a:spcAft>
                <a:spcPts val="100"/>
              </a:spcAft>
              <a:buNone/>
            </a:pPr>
            <a:r>
              <a:rPr sz="1800" b="1" i="0">
                <a:solidFill>
                  <a:srgbClr val="17375D"/>
                </a:solidFill>
                <a:latin typeface="Calibri"/>
              </a:rPr>
              <a:t>6. Controller sends the GO notice (PDF)</a:t>
            </a:r>
          </a:p>
          <a:p>
            <a:pPr algn="l">
              <a:spcAft>
                <a:spcPts val="100"/>
              </a:spcAft>
              <a:buNone/>
            </a:pPr>
            <a:r>
              <a:rPr sz="1450" b="0" i="0">
                <a:solidFill>
                  <a:srgbClr val="4F5B6E"/>
                </a:solidFill>
                <a:latin typeface="Calibri"/>
              </a:rPr>
              <a:t>Only after confirming, and only one notice per report</a:t>
            </a:r>
          </a:p>
        </p:txBody>
      </p:sp>
      <p:sp>
        <p:nvSpPr>
          <p:cNvPr id="69" name="Rounded Rectangle 68"/>
          <p:cNvSpPr/>
          <p:nvPr/>
        </p:nvSpPr>
        <p:spPr>
          <a:xfrm>
            <a:off x="15681960" y="8403336"/>
            <a:ext cx="1600200" cy="365760"/>
          </a:xfrm>
          <a:prstGeom prst="roundRect">
            <a:avLst>
              <a:gd name="adj" fmla="val 50000"/>
            </a:avLst>
          </a:prstGeom>
          <a:solidFill>
            <a:srgbClr val="8061A0"/>
          </a:solidFill>
          <a:ln>
            <a:noFill/>
          </a:ln>
          <a:effectLst/>
        </p:spPr>
        <p:txBody>
          <a:bodyPr rtlCol="0" anchor="ctr" lIns="0" rIns="0" tIns="0" bIns="0"/>
          <a:lstStyle/>
          <a:p>
            <a:pPr algn="ctr"/>
            <a:r>
              <a:rPr sz="1150" b="1">
                <a:solidFill>
                  <a:srgbClr val="FFFFFF"/>
                </a:solidFill>
                <a:latin typeface="Calibri"/>
              </a:rPr>
              <a:t>CONTROLLER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93776" y="329184"/>
            <a:ext cx="2185416" cy="1207008"/>
          </a:xfrm>
          <a:custGeom>
            <a:avLst/>
            <a:gdLst/>
            <a:ahLst/>
            <a:cxnLst/>
            <a:rect l="l" t="t" r="r" b="b"/>
            <a:pathLst>
              <a:path w="2237740" h="1209040">
                <a:moveTo>
                  <a:pt x="0" y="604277"/>
                </a:moveTo>
                <a:lnTo>
                  <a:pt x="14598" y="506230"/>
                </a:lnTo>
                <a:lnTo>
                  <a:pt x="57059" y="413132"/>
                </a:lnTo>
                <a:lnTo>
                  <a:pt x="124900" y="326508"/>
                </a:lnTo>
                <a:lnTo>
                  <a:pt x="167647" y="285956"/>
                </a:lnTo>
                <a:lnTo>
                  <a:pt x="215833" y="247308"/>
                </a:lnTo>
                <a:lnTo>
                  <a:pt x="269266" y="210945"/>
                </a:lnTo>
                <a:lnTo>
                  <a:pt x="327662" y="176866"/>
                </a:lnTo>
                <a:lnTo>
                  <a:pt x="390637" y="145453"/>
                </a:lnTo>
                <a:lnTo>
                  <a:pt x="458001" y="116514"/>
                </a:lnTo>
                <a:lnTo>
                  <a:pt x="529373" y="90432"/>
                </a:lnTo>
                <a:lnTo>
                  <a:pt x="604562" y="67395"/>
                </a:lnTo>
                <a:lnTo>
                  <a:pt x="683186" y="47405"/>
                </a:lnTo>
                <a:lnTo>
                  <a:pt x="765054" y="30651"/>
                </a:lnTo>
                <a:lnTo>
                  <a:pt x="849784" y="17515"/>
                </a:lnTo>
                <a:lnTo>
                  <a:pt x="937186" y="7805"/>
                </a:lnTo>
                <a:lnTo>
                  <a:pt x="1026878" y="1903"/>
                </a:lnTo>
                <a:lnTo>
                  <a:pt x="1118669" y="0"/>
                </a:lnTo>
                <a:lnTo>
                  <a:pt x="1210365" y="1903"/>
                </a:lnTo>
                <a:lnTo>
                  <a:pt x="1300057" y="7805"/>
                </a:lnTo>
                <a:lnTo>
                  <a:pt x="1387459" y="17515"/>
                </a:lnTo>
                <a:lnTo>
                  <a:pt x="1472285" y="30651"/>
                </a:lnTo>
                <a:lnTo>
                  <a:pt x="1554153" y="47405"/>
                </a:lnTo>
                <a:lnTo>
                  <a:pt x="1632776" y="67395"/>
                </a:lnTo>
                <a:lnTo>
                  <a:pt x="1707965" y="90432"/>
                </a:lnTo>
                <a:lnTo>
                  <a:pt x="1779337" y="116514"/>
                </a:lnTo>
                <a:lnTo>
                  <a:pt x="1846702" y="145453"/>
                </a:lnTo>
                <a:lnTo>
                  <a:pt x="1909677" y="176866"/>
                </a:lnTo>
                <a:lnTo>
                  <a:pt x="1968072" y="210945"/>
                </a:lnTo>
                <a:lnTo>
                  <a:pt x="2021506" y="247308"/>
                </a:lnTo>
                <a:lnTo>
                  <a:pt x="2069787" y="285956"/>
                </a:lnTo>
                <a:lnTo>
                  <a:pt x="2112533" y="326508"/>
                </a:lnTo>
                <a:lnTo>
                  <a:pt x="2180280" y="413132"/>
                </a:lnTo>
                <a:lnTo>
                  <a:pt x="2222645" y="506230"/>
                </a:lnTo>
                <a:lnTo>
                  <a:pt x="2237339" y="604277"/>
                </a:lnTo>
                <a:lnTo>
                  <a:pt x="2233713" y="653777"/>
                </a:lnTo>
                <a:lnTo>
                  <a:pt x="2204897" y="749350"/>
                </a:lnTo>
                <a:lnTo>
                  <a:pt x="2149364" y="839401"/>
                </a:lnTo>
                <a:lnTo>
                  <a:pt x="2069787" y="922599"/>
                </a:lnTo>
                <a:lnTo>
                  <a:pt x="2021506" y="961057"/>
                </a:lnTo>
                <a:lnTo>
                  <a:pt x="1968072" y="997420"/>
                </a:lnTo>
                <a:lnTo>
                  <a:pt x="1909677" y="1031499"/>
                </a:lnTo>
                <a:lnTo>
                  <a:pt x="1846701" y="1063102"/>
                </a:lnTo>
                <a:lnTo>
                  <a:pt x="1779337" y="1091850"/>
                </a:lnTo>
                <a:lnTo>
                  <a:pt x="1707965" y="1117933"/>
                </a:lnTo>
                <a:lnTo>
                  <a:pt x="1632776" y="1140969"/>
                </a:lnTo>
                <a:lnTo>
                  <a:pt x="1554153" y="1160959"/>
                </a:lnTo>
                <a:lnTo>
                  <a:pt x="1472285" y="1177713"/>
                </a:lnTo>
                <a:lnTo>
                  <a:pt x="1387459" y="1190850"/>
                </a:lnTo>
                <a:lnTo>
                  <a:pt x="1300057" y="1200559"/>
                </a:lnTo>
                <a:lnTo>
                  <a:pt x="1210365" y="1206461"/>
                </a:lnTo>
                <a:lnTo>
                  <a:pt x="1118669" y="1208555"/>
                </a:lnTo>
                <a:lnTo>
                  <a:pt x="1026878" y="1206461"/>
                </a:lnTo>
                <a:lnTo>
                  <a:pt x="937186" y="1200559"/>
                </a:lnTo>
                <a:lnTo>
                  <a:pt x="849784" y="1190850"/>
                </a:lnTo>
                <a:lnTo>
                  <a:pt x="765053" y="1177713"/>
                </a:lnTo>
                <a:lnTo>
                  <a:pt x="683185" y="1160959"/>
                </a:lnTo>
                <a:lnTo>
                  <a:pt x="604562" y="1140969"/>
                </a:lnTo>
                <a:lnTo>
                  <a:pt x="529373" y="1117933"/>
                </a:lnTo>
                <a:lnTo>
                  <a:pt x="458001" y="1091850"/>
                </a:lnTo>
                <a:lnTo>
                  <a:pt x="390637" y="1063102"/>
                </a:lnTo>
                <a:lnTo>
                  <a:pt x="327661" y="1031499"/>
                </a:lnTo>
                <a:lnTo>
                  <a:pt x="269266" y="997420"/>
                </a:lnTo>
                <a:lnTo>
                  <a:pt x="215833" y="961057"/>
                </a:lnTo>
                <a:lnTo>
                  <a:pt x="167647" y="922599"/>
                </a:lnTo>
                <a:lnTo>
                  <a:pt x="124900" y="881857"/>
                </a:lnTo>
                <a:lnTo>
                  <a:pt x="57059" y="795232"/>
                </a:lnTo>
                <a:lnTo>
                  <a:pt x="14598" y="702135"/>
                </a:lnTo>
                <a:lnTo>
                  <a:pt x="0" y="604277"/>
                </a:lnTo>
                <a:close/>
              </a:path>
            </a:pathLst>
          </a:custGeom>
          <a:ln w="9524">
            <a:solidFill>
              <a:srgbClr val="8061A0"/>
            </a:solidFill>
          </a:ln>
        </p:spPr>
        <p:txBody>
          <a:bodyPr wrap="square" lIns="0" tIns="0" rIns="0" bIns="0" rtlCol="0"/>
          <a:lstStyle/>
          <a:p/>
        </p:txBody>
      </p:sp>
      <p:sp>
        <p:nvSpPr>
          <p:cNvPr id="10" name="object 10"/>
          <p:cNvSpPr txBox="1"/>
          <p:nvPr/>
        </p:nvSpPr>
        <p:spPr>
          <a:xfrm>
            <a:off x="493776" y="329184"/>
            <a:ext cx="2185416" cy="1207008"/>
          </a:xfrm>
          <a:prstGeom prst="rect">
            <a:avLst/>
          </a:prstGeom>
        </p:spPr>
        <p:txBody>
          <a:bodyPr wrap="none" lIns="0" tIns="0" rIns="0" bIns="0" rtlCol="0" vert="horz" anchor="ctr">
            <a:spAutoFit/>
          </a:bodyPr>
          <a:lstStyle/>
          <a:p>
            <a:pPr algn="ctr">
              <a:lnSpc>
                <a:spcPct val="100000"/>
              </a:lnSpc>
              <a:spcBef>
                <a:spcPts val="100"/>
              </a:spcBef>
            </a:pPr>
            <a:r>
              <a:rPr dirty="0" sz="2800" b="1">
                <a:solidFill>
                  <a:srgbClr val="17375D"/>
                </a:solidFill>
                <a:latin typeface="Calibri"/>
                <a:cs typeface="Calibri"/>
              </a:rPr>
              <a:t>HexTech</a:t>
            </a:r>
            <a:endParaRPr sz="2700">
              <a:latin typeface="Calibri"/>
              <a:cs typeface="Calibri"/>
            </a:endParaRPr>
          </a:p>
        </p:txBody>
      </p:sp>
      <p:sp>
        <p:nvSpPr>
          <p:cNvPr id="9" name="object 9" descr="$PPTXTitle"/>
          <p:cNvSpPr txBox="1">
            <a:spLocks noGrp="1"/>
          </p:cNvSpPr>
          <p:nvPr>
            <p:ph type="title"/>
          </p:nvPr>
        </p:nvSpPr>
        <p:spPr>
          <a:xfrm>
            <a:off x="3108960" y="338328"/>
            <a:ext cx="12070080" cy="850392"/>
          </a:xfrm>
          <a:prstGeom prst="rect"/>
        </p:spPr>
        <p:txBody>
          <a:bodyPr wrap="square" lIns="0" tIns="0" rIns="0" bIns="0" rtlCol="0" vert="horz" anchor="ctr">
            <a:spAutoFit/>
          </a:bodyPr>
          <a:lstStyle/>
          <a:p>
            <a:pPr algn="ctr">
              <a:lnSpc>
                <a:spcPct val="100000"/>
              </a:lnSpc>
              <a:spcBef>
                <a:spcPts val="100"/>
              </a:spcBef>
            </a:pPr>
            <a:r>
              <a:rPr dirty="0"/>
              <a:t>TECHNICAL</a:t>
            </a:r>
            <a:r>
              <a:rPr dirty="0" spc="-310"/>
              <a:t> </a:t>
            </a:r>
            <a:r>
              <a:rPr dirty="0" spc="-10"/>
              <a:t>APPROACH</a:t>
            </a:r>
          </a:p>
        </p:txBody>
      </p:sp>
      <p:pic>
        <p:nvPicPr>
          <p:cNvPr id="3" name="object 3"/>
          <p:cNvPicPr/>
          <p:nvPr/>
        </p:nvPicPr>
        <p:blipFill>
          <a:blip r:embed="rId2" cstate="print"/>
          <a:stretch>
            <a:fillRect/>
          </a:stretch>
        </p:blipFill>
        <p:spPr>
          <a:xfrm>
            <a:off x="14712123" y="30937"/>
            <a:ext cx="3304793" cy="1535906"/>
          </a:xfrm>
          <a:prstGeom prst="rect">
            <a:avLst/>
          </a:prstGeom>
        </p:spPr>
      </p:pic>
      <p:sp>
        <p:nvSpPr>
          <p:cNvPr id="16" name="object 16"/>
          <p:cNvSpPr txBox="1">
            <a:spLocks noGrp="1"/>
          </p:cNvSpPr>
          <p:nvPr>
            <p:ph type="ftr" idx="5" sz="quarter"/>
          </p:nvPr>
        </p:nvSpPr>
        <p:spPr>
          <a:prstGeom prst="rect"/>
        </p:spPr>
        <p:txBody>
          <a:bodyPr wrap="square" lIns="0" tIns="0" rIns="0" bIns="0" rtlCol="0" vert="horz">
            <a:spAutoFit/>
          </a:body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15" name="object 15"/>
          <p:cNvSpPr txBox="1">
            <a:spLocks noGrp="1"/>
          </p:cNvSpPr>
          <p:nvPr>
            <p:ph type="sldNum" idx="7" sz="quarter"/>
          </p:nvPr>
        </p:nvSpPr>
        <p:spPr>
          <a:prstGeom prst="rect"/>
        </p:spPr>
        <p:txBody>
          <a:bodyPr wrap="square" lIns="0" tIns="0" rIns="0" bIns="0" rtlCol="0" vert="horz">
            <a:spAutoFit/>
          </a:bodyPr>
          <a:lstStyle/>
          <a:p>
            <a:pPr marL="38100">
              <a:lnSpc>
                <a:spcPts val="2090"/>
              </a:lnSpc>
            </a:pPr>
            <a:fld id="{81D60167-4931-47E6-BA6A-407CBD079E47}" type="slidenum">
              <a:rPr dirty="0" spc="-50"/>
              <a:t>2</a:t>
            </a:fld>
          </a:p>
        </p:txBody>
      </p:sp>
      <p:sp>
        <p:nvSpPr>
          <p:cNvPr id="17" name="TextBox 16"/>
          <p:cNvSpPr txBox="1"/>
          <p:nvPr/>
        </p:nvSpPr>
        <p:spPr>
          <a:xfrm>
            <a:off x="822960" y="1737360"/>
            <a:ext cx="1645920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What happens to one photo, step by step</a:t>
            </a:r>
          </a:p>
        </p:txBody>
      </p:sp>
      <p:sp>
        <p:nvSpPr>
          <p:cNvPr id="18" name="Rounded Rectangle 17"/>
          <p:cNvSpPr/>
          <p:nvPr/>
        </p:nvSpPr>
        <p:spPr>
          <a:xfrm>
            <a:off x="822960" y="228600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19" name="Rounded Rectangle 18"/>
          <p:cNvSpPr/>
          <p:nvPr/>
        </p:nvSpPr>
        <p:spPr>
          <a:xfrm>
            <a:off x="1024128" y="2487168"/>
            <a:ext cx="1371600" cy="329184"/>
          </a:xfrm>
          <a:prstGeom prst="roundRect">
            <a:avLst>
              <a:gd name="adj" fmla="val 50000"/>
            </a:avLst>
          </a:prstGeom>
          <a:solidFill>
            <a:srgbClr val="006EBF"/>
          </a:solidFill>
          <a:ln>
            <a:noFill/>
          </a:ln>
          <a:effectLst/>
        </p:spPr>
        <p:txBody>
          <a:bodyPr rtlCol="0" anchor="ctr" lIns="0" rIns="0" tIns="0" bIns="0"/>
          <a:lstStyle/>
          <a:p>
            <a:pPr algn="ctr"/>
            <a:r>
              <a:rPr sz="1050" b="1">
                <a:solidFill>
                  <a:srgbClr val="FFFFFF"/>
                </a:solidFill>
                <a:latin typeface="Calibri"/>
              </a:rPr>
              <a:t>PHONE</a:t>
            </a:r>
          </a:p>
        </p:txBody>
      </p:sp>
      <p:sp>
        <p:nvSpPr>
          <p:cNvPr id="20" name="TextBox 19"/>
          <p:cNvSpPr txBox="1"/>
          <p:nvPr/>
        </p:nvSpPr>
        <p:spPr>
          <a:xfrm>
            <a:off x="1024128" y="294436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1. Take the photo</a:t>
            </a:r>
          </a:p>
        </p:txBody>
      </p:sp>
      <p:sp>
        <p:nvSpPr>
          <p:cNvPr id="21" name="TextBox 20"/>
          <p:cNvSpPr txBox="1"/>
          <p:nvPr/>
        </p:nvSpPr>
        <p:spPr>
          <a:xfrm>
            <a:off x="1024128" y="340156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The pack is photographed in the shop. We store the GPS location, the phone's time and the true time from an internet time server with it.</a:t>
            </a:r>
          </a:p>
        </p:txBody>
      </p:sp>
      <p:sp>
        <p:nvSpPr>
          <p:cNvPr id="22" name="TextBox 21"/>
          <p:cNvSpPr txBox="1"/>
          <p:nvPr/>
        </p:nvSpPr>
        <p:spPr>
          <a:xfrm>
            <a:off x="1024128" y="4617720"/>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Flutter camera · geolocator · ntp</a:t>
            </a:r>
          </a:p>
        </p:txBody>
      </p:sp>
      <p:sp>
        <p:nvSpPr>
          <p:cNvPr id="23" name="Isosceles Triangle 22"/>
          <p:cNvSpPr/>
          <p:nvPr/>
        </p:nvSpPr>
        <p:spPr>
          <a:xfrm rot="5400000">
            <a:off x="4782312" y="3520440"/>
            <a:ext cx="173736" cy="256032"/>
          </a:xfrm>
          <a:prstGeom prst="triangle">
            <a:avLst/>
          </a:prstGeom>
          <a:solidFill>
            <a:srgbClr val="006EBF"/>
          </a:solidFill>
          <a:ln>
            <a:noFill/>
          </a:ln>
          <a:effectLst/>
        </p:spPr>
        <p:txBody>
          <a:bodyPr rtlCol="0" anchor="ctr"/>
          <a:lstStyle/>
          <a:p/>
        </p:txBody>
      </p:sp>
      <p:sp>
        <p:nvSpPr>
          <p:cNvPr id="24" name="Rounded Rectangle 23"/>
          <p:cNvSpPr/>
          <p:nvPr/>
        </p:nvSpPr>
        <p:spPr>
          <a:xfrm>
            <a:off x="5074920" y="228600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25" name="Rounded Rectangle 24"/>
          <p:cNvSpPr/>
          <p:nvPr/>
        </p:nvSpPr>
        <p:spPr>
          <a:xfrm>
            <a:off x="5276088" y="2487168"/>
            <a:ext cx="1371600" cy="329184"/>
          </a:xfrm>
          <a:prstGeom prst="roundRect">
            <a:avLst>
              <a:gd name="adj" fmla="val 50000"/>
            </a:avLst>
          </a:prstGeom>
          <a:solidFill>
            <a:srgbClr val="006EBF"/>
          </a:solidFill>
          <a:ln>
            <a:noFill/>
          </a:ln>
          <a:effectLst/>
        </p:spPr>
        <p:txBody>
          <a:bodyPr rtlCol="0" anchor="ctr" lIns="0" rIns="0" tIns="0" bIns="0"/>
          <a:lstStyle/>
          <a:p>
            <a:pPr algn="ctr"/>
            <a:r>
              <a:rPr sz="1050" b="1">
                <a:solidFill>
                  <a:srgbClr val="FFFFFF"/>
                </a:solidFill>
                <a:latin typeface="Calibri"/>
              </a:rPr>
              <a:t>PHONE</a:t>
            </a:r>
          </a:p>
        </p:txBody>
      </p:sp>
      <p:sp>
        <p:nvSpPr>
          <p:cNvPr id="26" name="TextBox 25"/>
          <p:cNvSpPr txBox="1"/>
          <p:nvPr/>
        </p:nvSpPr>
        <p:spPr>
          <a:xfrm>
            <a:off x="5276088" y="294436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2. Read the label</a:t>
            </a:r>
          </a:p>
        </p:txBody>
      </p:sp>
      <p:sp>
        <p:nvSpPr>
          <p:cNvPr id="27" name="TextBox 26"/>
          <p:cNvSpPr txBox="1"/>
          <p:nvPr/>
        </p:nvSpPr>
        <p:spPr>
          <a:xfrm>
            <a:off x="5276088" y="340156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Every line of text and the barcode are read on the phone, with the position of each line, so nothing has to be typed.</a:t>
            </a:r>
          </a:p>
        </p:txBody>
      </p:sp>
      <p:sp>
        <p:nvSpPr>
          <p:cNvPr id="28" name="TextBox 27"/>
          <p:cNvSpPr txBox="1"/>
          <p:nvPr/>
        </p:nvSpPr>
        <p:spPr>
          <a:xfrm>
            <a:off x="5276088" y="4617720"/>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Google ML Kit text + barcode</a:t>
            </a:r>
          </a:p>
        </p:txBody>
      </p:sp>
      <p:sp>
        <p:nvSpPr>
          <p:cNvPr id="29" name="Isosceles Triangle 28"/>
          <p:cNvSpPr/>
          <p:nvPr/>
        </p:nvSpPr>
        <p:spPr>
          <a:xfrm rot="5400000">
            <a:off x="9034272" y="3520440"/>
            <a:ext cx="173736" cy="256032"/>
          </a:xfrm>
          <a:prstGeom prst="triangle">
            <a:avLst/>
          </a:prstGeom>
          <a:solidFill>
            <a:srgbClr val="006EBF"/>
          </a:solidFill>
          <a:ln>
            <a:noFill/>
          </a:ln>
          <a:effectLst/>
        </p:spPr>
        <p:txBody>
          <a:bodyPr rtlCol="0" anchor="ctr"/>
          <a:lstStyle/>
          <a:p/>
        </p:txBody>
      </p:sp>
      <p:sp>
        <p:nvSpPr>
          <p:cNvPr id="30" name="Rounded Rectangle 29"/>
          <p:cNvSpPr/>
          <p:nvPr/>
        </p:nvSpPr>
        <p:spPr>
          <a:xfrm>
            <a:off x="9326880" y="228600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31" name="Rounded Rectangle 30"/>
          <p:cNvSpPr/>
          <p:nvPr/>
        </p:nvSpPr>
        <p:spPr>
          <a:xfrm>
            <a:off x="9528048" y="2487168"/>
            <a:ext cx="1371600" cy="329184"/>
          </a:xfrm>
          <a:prstGeom prst="roundRect">
            <a:avLst>
              <a:gd name="adj" fmla="val 50000"/>
            </a:avLst>
          </a:prstGeom>
          <a:solidFill>
            <a:srgbClr val="006EBF"/>
          </a:solidFill>
          <a:ln>
            <a:noFill/>
          </a:ln>
          <a:effectLst/>
        </p:spPr>
        <p:txBody>
          <a:bodyPr rtlCol="0" anchor="ctr" lIns="0" rIns="0" tIns="0" bIns="0"/>
          <a:lstStyle/>
          <a:p>
            <a:pPr algn="ctr"/>
            <a:r>
              <a:rPr sz="1050" b="1">
                <a:solidFill>
                  <a:srgbClr val="FFFFFF"/>
                </a:solidFill>
                <a:latin typeface="Calibri"/>
              </a:rPr>
              <a:t>PHONE</a:t>
            </a:r>
          </a:p>
        </p:txBody>
      </p:sp>
      <p:sp>
        <p:nvSpPr>
          <p:cNvPr id="32" name="TextBox 31"/>
          <p:cNvSpPr txBox="1"/>
          <p:nvPr/>
        </p:nvSpPr>
        <p:spPr>
          <a:xfrm>
            <a:off x="9528048" y="294436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3. Fill the fields</a:t>
            </a:r>
          </a:p>
        </p:txBody>
      </p:sp>
      <p:sp>
        <p:nvSpPr>
          <p:cNvPr id="33" name="TextBox 32"/>
          <p:cNvSpPr txBox="1"/>
          <p:nvPr/>
        </p:nvSpPr>
        <p:spPr>
          <a:xfrm>
            <a:off x="9528048" y="340156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Our code matches each heading to the value beside it — MRP, net quantity, dates, batch, licence — and survives misreads like “Rs.109,00”.</a:t>
            </a:r>
          </a:p>
        </p:txBody>
      </p:sp>
      <p:sp>
        <p:nvSpPr>
          <p:cNvPr id="34" name="TextBox 33"/>
          <p:cNvSpPr txBox="1"/>
          <p:nvPr/>
        </p:nvSpPr>
        <p:spPr>
          <a:xfrm>
            <a:off x="9528048" y="4617720"/>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field_extractor.dart (our code)</a:t>
            </a:r>
          </a:p>
        </p:txBody>
      </p:sp>
      <p:sp>
        <p:nvSpPr>
          <p:cNvPr id="35" name="Isosceles Triangle 34"/>
          <p:cNvSpPr/>
          <p:nvPr/>
        </p:nvSpPr>
        <p:spPr>
          <a:xfrm rot="5400000">
            <a:off x="13286232" y="3520440"/>
            <a:ext cx="173736" cy="256032"/>
          </a:xfrm>
          <a:prstGeom prst="triangle">
            <a:avLst/>
          </a:prstGeom>
          <a:solidFill>
            <a:srgbClr val="006EBF"/>
          </a:solidFill>
          <a:ln>
            <a:noFill/>
          </a:ln>
          <a:effectLst/>
        </p:spPr>
        <p:txBody>
          <a:bodyPr rtlCol="0" anchor="ctr"/>
          <a:lstStyle/>
          <a:p/>
        </p:txBody>
      </p:sp>
      <p:sp>
        <p:nvSpPr>
          <p:cNvPr id="36" name="Rounded Rectangle 35"/>
          <p:cNvSpPr/>
          <p:nvPr/>
        </p:nvSpPr>
        <p:spPr>
          <a:xfrm>
            <a:off x="13578840" y="228600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37" name="Rounded Rectangle 36"/>
          <p:cNvSpPr/>
          <p:nvPr/>
        </p:nvSpPr>
        <p:spPr>
          <a:xfrm>
            <a:off x="13780008" y="2487168"/>
            <a:ext cx="1371600" cy="329184"/>
          </a:xfrm>
          <a:prstGeom prst="roundRect">
            <a:avLst>
              <a:gd name="adj" fmla="val 50000"/>
            </a:avLst>
          </a:prstGeom>
          <a:solidFill>
            <a:srgbClr val="006EBF"/>
          </a:solidFill>
          <a:ln>
            <a:noFill/>
          </a:ln>
          <a:effectLst/>
        </p:spPr>
        <p:txBody>
          <a:bodyPr rtlCol="0" anchor="ctr" lIns="0" rIns="0" tIns="0" bIns="0"/>
          <a:lstStyle/>
          <a:p>
            <a:pPr algn="ctr"/>
            <a:r>
              <a:rPr sz="1050" b="1">
                <a:solidFill>
                  <a:srgbClr val="FFFFFF"/>
                </a:solidFill>
                <a:latin typeface="Calibri"/>
              </a:rPr>
              <a:t>PHONE</a:t>
            </a:r>
          </a:p>
        </p:txBody>
      </p:sp>
      <p:sp>
        <p:nvSpPr>
          <p:cNvPr id="38" name="TextBox 37"/>
          <p:cNvSpPr txBox="1"/>
          <p:nvPr/>
        </p:nvSpPr>
        <p:spPr>
          <a:xfrm>
            <a:off x="13780008" y="294436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4. Fingerprint and send</a:t>
            </a:r>
          </a:p>
        </p:txBody>
      </p:sp>
      <p:sp>
        <p:nvSpPr>
          <p:cNvPr id="39" name="TextBox 38"/>
          <p:cNvSpPr txBox="1"/>
          <p:nvPr/>
        </p:nvSpPr>
        <p:spPr>
          <a:xfrm>
            <a:off x="13780008" y="340156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The photo gets a SHA-256 fingerprint, then goes to the server with the readings. After this the scan can never be edited.</a:t>
            </a:r>
          </a:p>
        </p:txBody>
      </p:sp>
      <p:sp>
        <p:nvSpPr>
          <p:cNvPr id="40" name="TextBox 39"/>
          <p:cNvSpPr txBox="1"/>
          <p:nvPr/>
        </p:nvSpPr>
        <p:spPr>
          <a:xfrm>
            <a:off x="13780008" y="4617720"/>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Dio · SHA-256 · FastAPI</a:t>
            </a:r>
          </a:p>
        </p:txBody>
      </p:sp>
      <p:sp>
        <p:nvSpPr>
          <p:cNvPr id="41" name="Rounded Rectangle 40"/>
          <p:cNvSpPr/>
          <p:nvPr/>
        </p:nvSpPr>
        <p:spPr>
          <a:xfrm>
            <a:off x="822960" y="539496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42" name="Rounded Rectangle 41"/>
          <p:cNvSpPr/>
          <p:nvPr/>
        </p:nvSpPr>
        <p:spPr>
          <a:xfrm>
            <a:off x="1024128" y="5596128"/>
            <a:ext cx="1371600" cy="329184"/>
          </a:xfrm>
          <a:prstGeom prst="roundRect">
            <a:avLst>
              <a:gd name="adj" fmla="val 50000"/>
            </a:avLst>
          </a:prstGeom>
          <a:solidFill>
            <a:srgbClr val="17375D"/>
          </a:solidFill>
          <a:ln>
            <a:noFill/>
          </a:ln>
          <a:effectLst/>
        </p:spPr>
        <p:txBody>
          <a:bodyPr rtlCol="0" anchor="ctr" lIns="0" rIns="0" tIns="0" bIns="0"/>
          <a:lstStyle/>
          <a:p>
            <a:pPr algn="ctr"/>
            <a:r>
              <a:rPr sz="1050" b="1">
                <a:solidFill>
                  <a:srgbClr val="FFFFFF"/>
                </a:solidFill>
                <a:latin typeface="Calibri"/>
              </a:rPr>
              <a:t>SERVER</a:t>
            </a:r>
          </a:p>
        </p:txBody>
      </p:sp>
      <p:sp>
        <p:nvSpPr>
          <p:cNvPr id="43" name="TextBox 42"/>
          <p:cNvSpPr txBox="1"/>
          <p:nvPr/>
        </p:nvSpPr>
        <p:spPr>
          <a:xfrm>
            <a:off x="1024128" y="605332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5. Measure the print</a:t>
            </a:r>
          </a:p>
        </p:txBody>
      </p:sp>
      <p:sp>
        <p:nvSpPr>
          <p:cNvPr id="44" name="TextBox 43"/>
          <p:cNvSpPr txBox="1"/>
          <p:nvPr/>
        </p:nvSpPr>
        <p:spPr>
          <a:xfrm>
            <a:off x="1024128" y="651052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The barcode's standard width turns pixels into millimetres, so letter height, print contrast and the FSSAI veg mark are measured. If the phone missed the barcode, the server re-reads it.</a:t>
            </a:r>
          </a:p>
        </p:txBody>
      </p:sp>
      <p:sp>
        <p:nvSpPr>
          <p:cNvPr id="45" name="TextBox 44"/>
          <p:cNvSpPr txBox="1"/>
          <p:nvPr/>
        </p:nvSpPr>
        <p:spPr>
          <a:xfrm>
            <a:off x="1024128" y="7726679"/>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OpenCV · pyzbar (backup reader)</a:t>
            </a:r>
          </a:p>
        </p:txBody>
      </p:sp>
      <p:sp>
        <p:nvSpPr>
          <p:cNvPr id="46" name="Isosceles Triangle 45"/>
          <p:cNvSpPr/>
          <p:nvPr/>
        </p:nvSpPr>
        <p:spPr>
          <a:xfrm rot="5400000">
            <a:off x="4782312" y="6629400"/>
            <a:ext cx="173736" cy="256032"/>
          </a:xfrm>
          <a:prstGeom prst="triangle">
            <a:avLst/>
          </a:prstGeom>
          <a:solidFill>
            <a:srgbClr val="006EBF"/>
          </a:solidFill>
          <a:ln>
            <a:noFill/>
          </a:ln>
          <a:effectLst/>
        </p:spPr>
        <p:txBody>
          <a:bodyPr rtlCol="0" anchor="ctr"/>
          <a:lstStyle/>
          <a:p/>
        </p:txBody>
      </p:sp>
      <p:sp>
        <p:nvSpPr>
          <p:cNvPr id="47" name="Rounded Rectangle 46"/>
          <p:cNvSpPr/>
          <p:nvPr/>
        </p:nvSpPr>
        <p:spPr>
          <a:xfrm>
            <a:off x="5074920" y="539496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48" name="Rounded Rectangle 47"/>
          <p:cNvSpPr/>
          <p:nvPr/>
        </p:nvSpPr>
        <p:spPr>
          <a:xfrm>
            <a:off x="5276088" y="5596128"/>
            <a:ext cx="1371600" cy="329184"/>
          </a:xfrm>
          <a:prstGeom prst="roundRect">
            <a:avLst>
              <a:gd name="adj" fmla="val 50000"/>
            </a:avLst>
          </a:prstGeom>
          <a:solidFill>
            <a:srgbClr val="17375D"/>
          </a:solidFill>
          <a:ln>
            <a:noFill/>
          </a:ln>
          <a:effectLst/>
        </p:spPr>
        <p:txBody>
          <a:bodyPr rtlCol="0" anchor="ctr" lIns="0" rIns="0" tIns="0" bIns="0"/>
          <a:lstStyle/>
          <a:p>
            <a:pPr algn="ctr"/>
            <a:r>
              <a:rPr sz="1050" b="1">
                <a:solidFill>
                  <a:srgbClr val="FFFFFF"/>
                </a:solidFill>
                <a:latin typeface="Calibri"/>
              </a:rPr>
              <a:t>SERVER</a:t>
            </a:r>
          </a:p>
        </p:txBody>
      </p:sp>
      <p:sp>
        <p:nvSpPr>
          <p:cNvPr id="49" name="TextBox 48"/>
          <p:cNvSpPr txBox="1"/>
          <p:nvPr/>
        </p:nvSpPr>
        <p:spPr>
          <a:xfrm>
            <a:off x="5276088" y="605332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6. Run the 13 checks</a:t>
            </a:r>
          </a:p>
        </p:txBody>
      </p:sp>
      <p:sp>
        <p:nvSpPr>
          <p:cNvPr id="50" name="TextBox 49"/>
          <p:cNvSpPr txBox="1"/>
          <p:nvPr/>
        </p:nvSpPr>
        <p:spPr>
          <a:xfrm>
            <a:off x="5276088" y="651052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Our Python code checks each declaration against its rule and returns PASS, FAIL, REVIEW or EXEMPT, naming the rule it cites.</a:t>
            </a:r>
          </a:p>
        </p:txBody>
      </p:sp>
      <p:sp>
        <p:nvSpPr>
          <p:cNvPr id="51" name="TextBox 50"/>
          <p:cNvSpPr txBox="1"/>
          <p:nvPr/>
        </p:nvSpPr>
        <p:spPr>
          <a:xfrm>
            <a:off x="5276088" y="7726679"/>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rules_engine.py (our code)</a:t>
            </a:r>
          </a:p>
        </p:txBody>
      </p:sp>
      <p:sp>
        <p:nvSpPr>
          <p:cNvPr id="52" name="Isosceles Triangle 51"/>
          <p:cNvSpPr/>
          <p:nvPr/>
        </p:nvSpPr>
        <p:spPr>
          <a:xfrm rot="5400000">
            <a:off x="9034272" y="6629400"/>
            <a:ext cx="173736" cy="256032"/>
          </a:xfrm>
          <a:prstGeom prst="triangle">
            <a:avLst/>
          </a:prstGeom>
          <a:solidFill>
            <a:srgbClr val="006EBF"/>
          </a:solidFill>
          <a:ln>
            <a:noFill/>
          </a:ln>
          <a:effectLst/>
        </p:spPr>
        <p:txBody>
          <a:bodyPr rtlCol="0" anchor="ctr"/>
          <a:lstStyle/>
          <a:p/>
        </p:txBody>
      </p:sp>
      <p:sp>
        <p:nvSpPr>
          <p:cNvPr id="53" name="Rounded Rectangle 52"/>
          <p:cNvSpPr/>
          <p:nvPr/>
        </p:nvSpPr>
        <p:spPr>
          <a:xfrm>
            <a:off x="9326880" y="539496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54" name="Rounded Rectangle 53"/>
          <p:cNvSpPr/>
          <p:nvPr/>
        </p:nvSpPr>
        <p:spPr>
          <a:xfrm>
            <a:off x="9528048" y="5596128"/>
            <a:ext cx="1371600" cy="329184"/>
          </a:xfrm>
          <a:prstGeom prst="roundRect">
            <a:avLst>
              <a:gd name="adj" fmla="val 50000"/>
            </a:avLst>
          </a:prstGeom>
          <a:solidFill>
            <a:srgbClr val="17375D"/>
          </a:solidFill>
          <a:ln>
            <a:noFill/>
          </a:ln>
          <a:effectLst/>
        </p:spPr>
        <p:txBody>
          <a:bodyPr rtlCol="0" anchor="ctr" lIns="0" rIns="0" tIns="0" bIns="0"/>
          <a:lstStyle/>
          <a:p>
            <a:pPr algn="ctr"/>
            <a:r>
              <a:rPr sz="1050" b="1">
                <a:solidFill>
                  <a:srgbClr val="FFFFFF"/>
                </a:solidFill>
                <a:latin typeface="Calibri"/>
              </a:rPr>
              <a:t>SERVER</a:t>
            </a:r>
          </a:p>
        </p:txBody>
      </p:sp>
      <p:sp>
        <p:nvSpPr>
          <p:cNvPr id="55" name="TextBox 54"/>
          <p:cNvSpPr txBox="1"/>
          <p:nvPr/>
        </p:nvSpPr>
        <p:spPr>
          <a:xfrm>
            <a:off x="9528048" y="605332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7. Compare with the registry</a:t>
            </a:r>
          </a:p>
        </p:txBody>
      </p:sp>
      <p:sp>
        <p:nvSpPr>
          <p:cNvPr id="56" name="TextBox 55"/>
          <p:cNvSpPr txBox="1"/>
          <p:nvPr/>
        </p:nvSpPr>
        <p:spPr>
          <a:xfrm>
            <a:off x="9528048" y="651052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The barcode pulls up the registered product, and the printed MRP, quantity, licence, veg mark and maker are compared. A contradiction means suspected tampering.</a:t>
            </a:r>
          </a:p>
        </p:txBody>
      </p:sp>
      <p:sp>
        <p:nvSpPr>
          <p:cNvPr id="57" name="TextBox 56"/>
          <p:cNvSpPr txBox="1"/>
          <p:nvPr/>
        </p:nvSpPr>
        <p:spPr>
          <a:xfrm>
            <a:off x="9528048" y="7726679"/>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authenticity_service.py (our code)</a:t>
            </a:r>
          </a:p>
        </p:txBody>
      </p:sp>
      <p:sp>
        <p:nvSpPr>
          <p:cNvPr id="58" name="Isosceles Triangle 57"/>
          <p:cNvSpPr/>
          <p:nvPr/>
        </p:nvSpPr>
        <p:spPr>
          <a:xfrm rot="5400000">
            <a:off x="13286232" y="6629400"/>
            <a:ext cx="173736" cy="256032"/>
          </a:xfrm>
          <a:prstGeom prst="triangle">
            <a:avLst/>
          </a:prstGeom>
          <a:solidFill>
            <a:srgbClr val="006EBF"/>
          </a:solidFill>
          <a:ln>
            <a:noFill/>
          </a:ln>
          <a:effectLst/>
        </p:spPr>
        <p:txBody>
          <a:bodyPr rtlCol="0" anchor="ctr"/>
          <a:lstStyle/>
          <a:p/>
        </p:txBody>
      </p:sp>
      <p:sp>
        <p:nvSpPr>
          <p:cNvPr id="59" name="Rounded Rectangle 58"/>
          <p:cNvSpPr/>
          <p:nvPr/>
        </p:nvSpPr>
        <p:spPr>
          <a:xfrm>
            <a:off x="13578840" y="5394960"/>
            <a:ext cx="3840480" cy="2788920"/>
          </a:xfrm>
          <a:prstGeom prst="roundRect">
            <a:avLst>
              <a:gd name="adj" fmla="val 8000"/>
            </a:avLst>
          </a:prstGeom>
          <a:solidFill>
            <a:srgbClr val="F3F6FB"/>
          </a:solidFill>
          <a:ln w="12700">
            <a:solidFill>
              <a:srgbClr val="D0D5E7"/>
            </a:solidFill>
          </a:ln>
          <a:effectLst/>
        </p:spPr>
        <p:txBody>
          <a:bodyPr rtlCol="0" anchor="ctr"/>
          <a:lstStyle/>
          <a:p/>
        </p:txBody>
      </p:sp>
      <p:sp>
        <p:nvSpPr>
          <p:cNvPr id="60" name="Rounded Rectangle 59"/>
          <p:cNvSpPr/>
          <p:nvPr/>
        </p:nvSpPr>
        <p:spPr>
          <a:xfrm>
            <a:off x="13780008" y="5596128"/>
            <a:ext cx="1371600" cy="329184"/>
          </a:xfrm>
          <a:prstGeom prst="roundRect">
            <a:avLst>
              <a:gd name="adj" fmla="val 50000"/>
            </a:avLst>
          </a:prstGeom>
          <a:solidFill>
            <a:srgbClr val="8061A0"/>
          </a:solidFill>
          <a:ln>
            <a:noFill/>
          </a:ln>
          <a:effectLst/>
        </p:spPr>
        <p:txBody>
          <a:bodyPr rtlCol="0" anchor="ctr" lIns="0" rIns="0" tIns="0" bIns="0"/>
          <a:lstStyle/>
          <a:p>
            <a:pPr algn="ctr"/>
            <a:r>
              <a:rPr sz="1050" b="1">
                <a:solidFill>
                  <a:srgbClr val="FFFFFF"/>
                </a:solidFill>
                <a:latin typeface="Calibri"/>
              </a:rPr>
              <a:t>RECORD</a:t>
            </a:r>
          </a:p>
        </p:txBody>
      </p:sp>
      <p:sp>
        <p:nvSpPr>
          <p:cNvPr id="61" name="TextBox 60"/>
          <p:cNvSpPr txBox="1"/>
          <p:nvPr/>
        </p:nvSpPr>
        <p:spPr>
          <a:xfrm>
            <a:off x="13780008" y="6053328"/>
            <a:ext cx="3438144" cy="41148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8. Decide and record</a:t>
            </a:r>
          </a:p>
        </p:txBody>
      </p:sp>
      <p:sp>
        <p:nvSpPr>
          <p:cNvPr id="62" name="TextBox 61"/>
          <p:cNvSpPr txBox="1"/>
          <p:nvPr/>
        </p:nvSpPr>
        <p:spPr>
          <a:xfrm>
            <a:off x="13780008" y="6510528"/>
            <a:ext cx="3438144" cy="1234440"/>
          </a:xfrm>
          <a:prstGeom prst="rect">
            <a:avLst/>
          </a:prstGeom>
          <a:noFill/>
        </p:spPr>
        <p:txBody>
          <a:bodyPr wrap="square" lIns="0" rIns="0" tIns="0" bIns="0" anchor="t">
            <a:spAutoFit/>
          </a:bodyPr>
          <a:lstStyle/>
          <a:p>
            <a:pPr algn="l">
              <a:spcAft>
                <a:spcPts val="200"/>
              </a:spcAft>
              <a:buNone/>
            </a:pPr>
            <a:r>
              <a:rPr sz="1300" b="0" i="0">
                <a:solidFill>
                  <a:srgbClr val="1E2A3B"/>
                </a:solidFill>
                <a:latin typeface="Calibri"/>
              </a:rPr>
              <a:t>Compliant, or action needed. A consumer's failed scan opens a complaint for the inspector; the report goes to the Controller, who confirms it and issues the notice PDF.</a:t>
            </a:r>
          </a:p>
        </p:txBody>
      </p:sp>
      <p:sp>
        <p:nvSpPr>
          <p:cNvPr id="63" name="TextBox 62"/>
          <p:cNvSpPr txBox="1"/>
          <p:nvPr/>
        </p:nvSpPr>
        <p:spPr>
          <a:xfrm>
            <a:off x="13780008" y="7726679"/>
            <a:ext cx="3438144" cy="365760"/>
          </a:xfrm>
          <a:prstGeom prst="rect">
            <a:avLst/>
          </a:prstGeom>
          <a:noFill/>
        </p:spPr>
        <p:txBody>
          <a:bodyPr wrap="square" lIns="0" rIns="0" tIns="0" bIns="0" anchor="t">
            <a:spAutoFit/>
          </a:bodyPr>
          <a:lstStyle/>
          <a:p>
            <a:pPr algn="l">
              <a:spcAft>
                <a:spcPts val="600"/>
              </a:spcAft>
              <a:buNone/>
            </a:pPr>
            <a:r>
              <a:rPr sz="1200" b="0" i="1">
                <a:solidFill>
                  <a:srgbClr val="4F5B6E"/>
                </a:solidFill>
                <a:latin typeface="Calibri"/>
              </a:rPr>
              <a:t>PostgreSQL · React dashboard · ReportLab</a:t>
            </a:r>
          </a:p>
        </p:txBody>
      </p:sp>
      <p:sp>
        <p:nvSpPr>
          <p:cNvPr id="64" name="TextBox 63"/>
          <p:cNvSpPr txBox="1"/>
          <p:nvPr/>
        </p:nvSpPr>
        <p:spPr>
          <a:xfrm>
            <a:off x="822960" y="8686800"/>
            <a:ext cx="2926080" cy="457200"/>
          </a:xfrm>
          <a:prstGeom prst="rect">
            <a:avLst/>
          </a:prstGeom>
          <a:noFill/>
        </p:spPr>
        <p:txBody>
          <a:bodyPr wrap="square" lIns="0" rIns="0" tIns="0" bIns="0" anchor="ctr">
            <a:spAutoFit/>
          </a:bodyPr>
          <a:lstStyle/>
          <a:p>
            <a:pPr algn="l">
              <a:spcAft>
                <a:spcPts val="600"/>
              </a:spcAft>
              <a:buNone/>
            </a:pPr>
            <a:r>
              <a:rPr sz="1500" b="1" i="0">
                <a:solidFill>
                  <a:srgbClr val="17375D"/>
                </a:solidFill>
                <a:latin typeface="Calibri"/>
              </a:rPr>
              <a:t>Each check gives</a:t>
            </a:r>
          </a:p>
        </p:txBody>
      </p:sp>
      <p:sp>
        <p:nvSpPr>
          <p:cNvPr id="65" name="Rounded Rectangle 64"/>
          <p:cNvSpPr/>
          <p:nvPr/>
        </p:nvSpPr>
        <p:spPr>
          <a:xfrm>
            <a:off x="3246120" y="8705088"/>
            <a:ext cx="1280160" cy="420624"/>
          </a:xfrm>
          <a:prstGeom prst="roundRect">
            <a:avLst>
              <a:gd name="adj" fmla="val 50000"/>
            </a:avLst>
          </a:prstGeom>
          <a:solidFill>
            <a:srgbClr val="E2F4EB"/>
          </a:solidFill>
          <a:ln>
            <a:noFill/>
          </a:ln>
          <a:effectLst/>
        </p:spPr>
        <p:txBody>
          <a:bodyPr rtlCol="0" anchor="ctr" lIns="0" rIns="0" tIns="0" bIns="0"/>
          <a:lstStyle/>
          <a:p>
            <a:pPr algn="ctr"/>
            <a:r>
              <a:rPr sz="1250" b="1">
                <a:solidFill>
                  <a:srgbClr val="17784F"/>
                </a:solidFill>
                <a:latin typeface="Calibri"/>
              </a:rPr>
              <a:t>PASS</a:t>
            </a:r>
          </a:p>
        </p:txBody>
      </p:sp>
      <p:sp>
        <p:nvSpPr>
          <p:cNvPr id="66" name="Rounded Rectangle 65"/>
          <p:cNvSpPr/>
          <p:nvPr/>
        </p:nvSpPr>
        <p:spPr>
          <a:xfrm>
            <a:off x="4663440" y="8705088"/>
            <a:ext cx="1280160" cy="420624"/>
          </a:xfrm>
          <a:prstGeom prst="roundRect">
            <a:avLst>
              <a:gd name="adj" fmla="val 50000"/>
            </a:avLst>
          </a:prstGeom>
          <a:solidFill>
            <a:srgbClr val="FBE7E5"/>
          </a:solidFill>
          <a:ln>
            <a:noFill/>
          </a:ln>
          <a:effectLst/>
        </p:spPr>
        <p:txBody>
          <a:bodyPr rtlCol="0" anchor="ctr" lIns="0" rIns="0" tIns="0" bIns="0"/>
          <a:lstStyle/>
          <a:p>
            <a:pPr algn="ctr"/>
            <a:r>
              <a:rPr sz="1250" b="1">
                <a:solidFill>
                  <a:srgbClr val="B8322A"/>
                </a:solidFill>
                <a:latin typeface="Calibri"/>
              </a:rPr>
              <a:t>FAIL</a:t>
            </a:r>
          </a:p>
        </p:txBody>
      </p:sp>
      <p:sp>
        <p:nvSpPr>
          <p:cNvPr id="67" name="Rounded Rectangle 66"/>
          <p:cNvSpPr/>
          <p:nvPr/>
        </p:nvSpPr>
        <p:spPr>
          <a:xfrm>
            <a:off x="6080760" y="8705088"/>
            <a:ext cx="1280160" cy="420624"/>
          </a:xfrm>
          <a:prstGeom prst="roundRect">
            <a:avLst>
              <a:gd name="adj" fmla="val 50000"/>
            </a:avLst>
          </a:prstGeom>
          <a:solidFill>
            <a:srgbClr val="FBF0DC"/>
          </a:solidFill>
          <a:ln>
            <a:noFill/>
          </a:ln>
          <a:effectLst/>
        </p:spPr>
        <p:txBody>
          <a:bodyPr rtlCol="0" anchor="ctr" lIns="0" rIns="0" tIns="0" bIns="0"/>
          <a:lstStyle/>
          <a:p>
            <a:pPr algn="ctr"/>
            <a:r>
              <a:rPr sz="1250" b="1">
                <a:solidFill>
                  <a:srgbClr val="9A6412"/>
                </a:solidFill>
                <a:latin typeface="Calibri"/>
              </a:rPr>
              <a:t>REVIEW</a:t>
            </a:r>
          </a:p>
        </p:txBody>
      </p:sp>
      <p:sp>
        <p:nvSpPr>
          <p:cNvPr id="68" name="Rounded Rectangle 67"/>
          <p:cNvSpPr/>
          <p:nvPr/>
        </p:nvSpPr>
        <p:spPr>
          <a:xfrm>
            <a:off x="7498079" y="8705088"/>
            <a:ext cx="1280160" cy="420624"/>
          </a:xfrm>
          <a:prstGeom prst="roundRect">
            <a:avLst>
              <a:gd name="adj" fmla="val 50000"/>
            </a:avLst>
          </a:prstGeom>
          <a:solidFill>
            <a:srgbClr val="ECEFF3"/>
          </a:solidFill>
          <a:ln>
            <a:noFill/>
          </a:ln>
          <a:effectLst/>
        </p:spPr>
        <p:txBody>
          <a:bodyPr rtlCol="0" anchor="ctr" lIns="0" rIns="0" tIns="0" bIns="0"/>
          <a:lstStyle/>
          <a:p>
            <a:pPr algn="ctr"/>
            <a:r>
              <a:rPr sz="1250" b="1">
                <a:solidFill>
                  <a:srgbClr val="5E6A7E"/>
                </a:solidFill>
                <a:latin typeface="Calibri"/>
              </a:rPr>
              <a:t>EXEMPT</a:t>
            </a:r>
          </a:p>
        </p:txBody>
      </p:sp>
      <p:sp>
        <p:nvSpPr>
          <p:cNvPr id="69" name="TextBox 68"/>
          <p:cNvSpPr txBox="1"/>
          <p:nvPr/>
        </p:nvSpPr>
        <p:spPr>
          <a:xfrm>
            <a:off x="9006840" y="8686800"/>
            <a:ext cx="8503920" cy="457200"/>
          </a:xfrm>
          <a:prstGeom prst="rect">
            <a:avLst/>
          </a:prstGeom>
          <a:noFill/>
        </p:spPr>
        <p:txBody>
          <a:bodyPr wrap="square" lIns="0" rIns="0" tIns="0" bIns="0" anchor="ctr">
            <a:spAutoFit/>
          </a:bodyPr>
          <a:lstStyle/>
          <a:p>
            <a:pPr algn="l">
              <a:spcAft>
                <a:spcPts val="600"/>
              </a:spcAft>
              <a:buNone/>
            </a:pPr>
            <a:r>
              <a:rPr sz="1500" b="0" i="0">
                <a:solidFill>
                  <a:srgbClr val="1E2A3B"/>
                </a:solidFill>
                <a:latin typeface="Calibri"/>
              </a:rPr>
              <a:t>Only a FAIL can go into a report. REVIEW just means a person should look at the pack.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93776" y="329184"/>
            <a:ext cx="2185416" cy="1207008"/>
          </a:xfrm>
          <a:custGeom>
            <a:avLst/>
            <a:gdLst/>
            <a:ahLst/>
            <a:cxnLst/>
            <a:rect l="l" t="t" r="r" b="b"/>
            <a:pathLst>
              <a:path w="2259330" h="1287145">
                <a:moveTo>
                  <a:pt x="0" y="643540"/>
                </a:moveTo>
                <a:lnTo>
                  <a:pt x="13405" y="544081"/>
                </a:lnTo>
                <a:lnTo>
                  <a:pt x="52385" y="449375"/>
                </a:lnTo>
                <a:lnTo>
                  <a:pt x="114848" y="360565"/>
                </a:lnTo>
                <a:lnTo>
                  <a:pt x="154304" y="318727"/>
                </a:lnTo>
                <a:lnTo>
                  <a:pt x="198798" y="278791"/>
                </a:lnTo>
                <a:lnTo>
                  <a:pt x="248237" y="240947"/>
                </a:lnTo>
                <a:lnTo>
                  <a:pt x="302238" y="205385"/>
                </a:lnTo>
                <a:lnTo>
                  <a:pt x="360613" y="172105"/>
                </a:lnTo>
                <a:lnTo>
                  <a:pt x="423077" y="141297"/>
                </a:lnTo>
                <a:lnTo>
                  <a:pt x="489438" y="113152"/>
                </a:lnTo>
                <a:lnTo>
                  <a:pt x="559412" y="87859"/>
                </a:lnTo>
                <a:lnTo>
                  <a:pt x="632714" y="65419"/>
                </a:lnTo>
                <a:lnTo>
                  <a:pt x="709248" y="46021"/>
                </a:lnTo>
                <a:lnTo>
                  <a:pt x="788540" y="29856"/>
                </a:lnTo>
                <a:lnTo>
                  <a:pt x="870493" y="16925"/>
                </a:lnTo>
                <a:lnTo>
                  <a:pt x="954823" y="7606"/>
                </a:lnTo>
                <a:lnTo>
                  <a:pt x="1041245" y="1901"/>
                </a:lnTo>
                <a:lnTo>
                  <a:pt x="1129473" y="0"/>
                </a:lnTo>
                <a:lnTo>
                  <a:pt x="1217797" y="1901"/>
                </a:lnTo>
                <a:lnTo>
                  <a:pt x="1304219" y="7606"/>
                </a:lnTo>
                <a:lnTo>
                  <a:pt x="1388549" y="16925"/>
                </a:lnTo>
                <a:lnTo>
                  <a:pt x="1470502" y="29856"/>
                </a:lnTo>
                <a:lnTo>
                  <a:pt x="1549793" y="46021"/>
                </a:lnTo>
                <a:lnTo>
                  <a:pt x="1626138" y="65419"/>
                </a:lnTo>
                <a:lnTo>
                  <a:pt x="1699534" y="87859"/>
                </a:lnTo>
                <a:lnTo>
                  <a:pt x="1769509" y="113152"/>
                </a:lnTo>
                <a:lnTo>
                  <a:pt x="1835870" y="141297"/>
                </a:lnTo>
                <a:lnTo>
                  <a:pt x="1898428" y="172105"/>
                </a:lnTo>
                <a:lnTo>
                  <a:pt x="1956803" y="205385"/>
                </a:lnTo>
                <a:lnTo>
                  <a:pt x="2010805" y="240947"/>
                </a:lnTo>
                <a:lnTo>
                  <a:pt x="2060243" y="278791"/>
                </a:lnTo>
                <a:lnTo>
                  <a:pt x="2104738" y="318727"/>
                </a:lnTo>
                <a:lnTo>
                  <a:pt x="2144098" y="360565"/>
                </a:lnTo>
                <a:lnTo>
                  <a:pt x="2206657" y="449375"/>
                </a:lnTo>
                <a:lnTo>
                  <a:pt x="2245447" y="544081"/>
                </a:lnTo>
                <a:lnTo>
                  <a:pt x="2258947" y="643540"/>
                </a:lnTo>
                <a:lnTo>
                  <a:pt x="2255524" y="693746"/>
                </a:lnTo>
                <a:lnTo>
                  <a:pt x="2229094" y="791113"/>
                </a:lnTo>
                <a:lnTo>
                  <a:pt x="2178134" y="882966"/>
                </a:lnTo>
                <a:lnTo>
                  <a:pt x="2104738" y="968353"/>
                </a:lnTo>
                <a:lnTo>
                  <a:pt x="2060243" y="1008289"/>
                </a:lnTo>
                <a:lnTo>
                  <a:pt x="2010805" y="1046134"/>
                </a:lnTo>
                <a:lnTo>
                  <a:pt x="1956803" y="1081696"/>
                </a:lnTo>
                <a:lnTo>
                  <a:pt x="1898428" y="1114976"/>
                </a:lnTo>
                <a:lnTo>
                  <a:pt x="1835870" y="1145783"/>
                </a:lnTo>
                <a:lnTo>
                  <a:pt x="1769509" y="1173929"/>
                </a:lnTo>
                <a:lnTo>
                  <a:pt x="1699534" y="1199222"/>
                </a:lnTo>
                <a:lnTo>
                  <a:pt x="1626138" y="1221662"/>
                </a:lnTo>
                <a:lnTo>
                  <a:pt x="1549699" y="1241059"/>
                </a:lnTo>
                <a:lnTo>
                  <a:pt x="1470407" y="1257224"/>
                </a:lnTo>
                <a:lnTo>
                  <a:pt x="1388454" y="1270156"/>
                </a:lnTo>
                <a:lnTo>
                  <a:pt x="1304124" y="1279474"/>
                </a:lnTo>
                <a:lnTo>
                  <a:pt x="1217702" y="1285179"/>
                </a:lnTo>
                <a:lnTo>
                  <a:pt x="1129378" y="1287081"/>
                </a:lnTo>
                <a:lnTo>
                  <a:pt x="1041150" y="1285179"/>
                </a:lnTo>
                <a:lnTo>
                  <a:pt x="954728" y="1279474"/>
                </a:lnTo>
                <a:lnTo>
                  <a:pt x="870398" y="1270156"/>
                </a:lnTo>
                <a:lnTo>
                  <a:pt x="788445" y="1257224"/>
                </a:lnTo>
                <a:lnTo>
                  <a:pt x="709153" y="1241059"/>
                </a:lnTo>
                <a:lnTo>
                  <a:pt x="632714" y="1221662"/>
                </a:lnTo>
                <a:lnTo>
                  <a:pt x="559412" y="1199222"/>
                </a:lnTo>
                <a:lnTo>
                  <a:pt x="489438" y="1173929"/>
                </a:lnTo>
                <a:lnTo>
                  <a:pt x="423077" y="1145783"/>
                </a:lnTo>
                <a:lnTo>
                  <a:pt x="360614" y="1114976"/>
                </a:lnTo>
                <a:lnTo>
                  <a:pt x="302239" y="1081696"/>
                </a:lnTo>
                <a:lnTo>
                  <a:pt x="248237" y="1046134"/>
                </a:lnTo>
                <a:lnTo>
                  <a:pt x="198798" y="1008289"/>
                </a:lnTo>
                <a:lnTo>
                  <a:pt x="154304" y="968353"/>
                </a:lnTo>
                <a:lnTo>
                  <a:pt x="114849" y="926516"/>
                </a:lnTo>
                <a:lnTo>
                  <a:pt x="52385" y="837705"/>
                </a:lnTo>
                <a:lnTo>
                  <a:pt x="13405" y="743000"/>
                </a:lnTo>
                <a:lnTo>
                  <a:pt x="0" y="643540"/>
                </a:lnTo>
                <a:close/>
              </a:path>
            </a:pathLst>
          </a:custGeom>
          <a:ln w="9508">
            <a:solidFill>
              <a:srgbClr val="8061A0"/>
            </a:solidFill>
          </a:ln>
        </p:spPr>
        <p:txBody>
          <a:bodyPr wrap="square" lIns="0" tIns="0" rIns="0" bIns="0" rtlCol="0"/>
          <a:lstStyle/>
          <a:p/>
        </p:txBody>
      </p:sp>
      <p:sp>
        <p:nvSpPr>
          <p:cNvPr id="9" name="object 9"/>
          <p:cNvSpPr txBox="1"/>
          <p:nvPr/>
        </p:nvSpPr>
        <p:spPr>
          <a:xfrm>
            <a:off x="493776" y="329184"/>
            <a:ext cx="2185416" cy="1207008"/>
          </a:xfrm>
          <a:prstGeom prst="rect">
            <a:avLst/>
          </a:prstGeom>
        </p:spPr>
        <p:txBody>
          <a:bodyPr wrap="none" lIns="0" tIns="0" rIns="0" bIns="0" rtlCol="0" vert="horz" anchor="ctr">
            <a:spAutoFit/>
          </a:bodyPr>
          <a:lstStyle/>
          <a:p>
            <a:pPr algn="ctr">
              <a:lnSpc>
                <a:spcPct val="100000"/>
              </a:lnSpc>
              <a:spcBef>
                <a:spcPts val="100"/>
              </a:spcBef>
            </a:pPr>
            <a:r>
              <a:rPr dirty="0" sz="2800" b="1">
                <a:solidFill>
                  <a:srgbClr val="17375D"/>
                </a:solidFill>
                <a:latin typeface="Calibri"/>
                <a:cs typeface="Calibri"/>
              </a:rPr>
              <a:t>HexTech</a:t>
            </a:r>
            <a:endParaRPr sz="2700">
              <a:latin typeface="Calibri"/>
              <a:cs typeface="Calibri"/>
            </a:endParaRPr>
          </a:p>
        </p:txBody>
      </p:sp>
      <p:sp>
        <p:nvSpPr>
          <p:cNvPr id="8" name="object 8" descr="$PPTXTitle"/>
          <p:cNvSpPr txBox="1">
            <a:spLocks noGrp="1"/>
          </p:cNvSpPr>
          <p:nvPr>
            <p:ph type="title"/>
          </p:nvPr>
        </p:nvSpPr>
        <p:spPr>
          <a:xfrm>
            <a:off x="3108960" y="338328"/>
            <a:ext cx="12070080" cy="850392"/>
          </a:xfrm>
          <a:prstGeom prst="rect"/>
        </p:spPr>
        <p:txBody>
          <a:bodyPr wrap="square" lIns="0" tIns="0" rIns="0" bIns="0" rtlCol="0" vert="horz" anchor="ctr">
            <a:spAutoFit/>
          </a:bodyPr>
          <a:lstStyle/>
          <a:p>
            <a:pPr algn="ctr">
              <a:lnSpc>
                <a:spcPct val="100000"/>
              </a:lnSpc>
              <a:spcBef>
                <a:spcPts val="100"/>
              </a:spcBef>
            </a:pPr>
            <a:r>
              <a:rPr dirty="0" spc="-20"/>
              <a:t>FEASIBILITY</a:t>
            </a:r>
            <a:r>
              <a:rPr dirty="0" spc="-270"/>
              <a:t> </a:t>
            </a:r>
            <a:r>
              <a:rPr dirty="0"/>
              <a:t>AND</a:t>
            </a:r>
            <a:r>
              <a:rPr dirty="0" spc="-254"/>
              <a:t> </a:t>
            </a:r>
            <a:r>
              <a:rPr dirty="0" spc="-10"/>
              <a:t>VIABILITY</a:t>
            </a:r>
          </a:p>
        </p:txBody>
      </p:sp>
      <p:pic>
        <p:nvPicPr>
          <p:cNvPr id="6" name="object 6"/>
          <p:cNvPicPr/>
          <p:nvPr/>
        </p:nvPicPr>
        <p:blipFill>
          <a:blip r:embed="rId3" cstate="print"/>
          <a:stretch>
            <a:fillRect/>
          </a:stretch>
        </p:blipFill>
        <p:spPr>
          <a:xfrm>
            <a:off x="14682596" y="21869"/>
            <a:ext cx="3302698" cy="1538096"/>
          </a:xfrm>
          <a:prstGeom prst="rect">
            <a:avLst/>
          </a:prstGeom>
        </p:spPr>
      </p:pic>
      <p:grpSp>
        <p:nvGrpSpPr>
          <p:cNvPr id="2" name="object 2"/>
          <p:cNvGrpSpPr/>
          <p:nvPr/>
        </p:nvGrpSpPr>
        <p:grpSpPr>
          <a:xfrm>
            <a:off x="0" y="9532619"/>
            <a:ext cx="18288000" cy="754380"/>
            <a:chOff x="0" y="9532619"/>
            <a:chExt cx="18288000" cy="754380"/>
          </a:xfrm>
        </p:grpSpPr>
        <p:pic>
          <p:nvPicPr>
            <p:cNvPr id="3" name="object 3"/>
            <p:cNvPicPr/>
            <p:nvPr/>
          </p:nvPicPr>
          <p:blipFill>
            <a:blip r:embed="rId2" cstate="print"/>
            <a:stretch>
              <a:fillRect/>
            </a:stretch>
          </p:blipFill>
          <p:spPr>
            <a:xfrm>
              <a:off x="0" y="9564623"/>
              <a:ext cx="18280760" cy="715327"/>
            </a:xfrm>
            <a:prstGeom prst="rect">
              <a:avLst/>
            </a:prstGeom>
          </p:spPr>
        </p:pic>
        <p:sp>
          <p:nvSpPr>
            <p:cNvPr id="4" name="object 4"/>
            <p:cNvSpPr/>
            <p:nvPr/>
          </p:nvSpPr>
          <p:spPr>
            <a:xfrm>
              <a:off x="0" y="9532619"/>
              <a:ext cx="18288000" cy="754380"/>
            </a:xfrm>
            <a:custGeom>
              <a:avLst/>
              <a:gdLst/>
              <a:ahLst/>
              <a:cxnLst/>
              <a:rect l="l" t="t" r="r" b="b"/>
              <a:pathLst>
                <a:path w="18288000" h="754379">
                  <a:moveTo>
                    <a:pt x="18287819" y="754379"/>
                  </a:moveTo>
                  <a:lnTo>
                    <a:pt x="0" y="754379"/>
                  </a:lnTo>
                  <a:lnTo>
                    <a:pt x="0" y="0"/>
                  </a:lnTo>
                  <a:lnTo>
                    <a:pt x="18287819" y="0"/>
                  </a:lnTo>
                  <a:lnTo>
                    <a:pt x="18287819" y="754379"/>
                  </a:lnTo>
                  <a:close/>
                </a:path>
              </a:pathLst>
            </a:custGeom>
            <a:solidFill>
              <a:srgbClr val="006EBF"/>
            </a:solidFill>
          </p:spPr>
          <p:txBody>
            <a:bodyPr wrap="square" lIns="0" tIns="0" rIns="0" bIns="0" rtlCol="0"/>
            <a:lstStyle/>
            <a:p/>
          </p:txBody>
        </p:sp>
      </p:grpSp>
      <p:sp>
        <p:nvSpPr>
          <p:cNvPr id="25" name="object 25"/>
          <p:cNvSpPr txBox="1">
            <a:spLocks noGrp="1"/>
          </p:cNvSpPr>
          <p:nvPr>
            <p:ph type="ftr" idx="5" sz="quarter"/>
          </p:nvPr>
        </p:nvSpPr>
        <p:spPr>
          <a:prstGeom prst="rect"/>
        </p:spPr>
        <p:txBody>
          <a:bodyPr wrap="square" lIns="0" tIns="0" rIns="0" bIns="0" rtlCol="0" vert="horz">
            <a:spAutoFit/>
          </a:body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24" name="object 24"/>
          <p:cNvSpPr txBox="1">
            <a:spLocks noGrp="1"/>
          </p:cNvSpPr>
          <p:nvPr>
            <p:ph type="sldNum" idx="7" sz="quarter"/>
          </p:nvPr>
        </p:nvSpPr>
        <p:spPr>
          <a:prstGeom prst="rect"/>
        </p:spPr>
        <p:txBody>
          <a:bodyPr wrap="square" lIns="0" tIns="0" rIns="0" bIns="0" rtlCol="0" vert="horz">
            <a:spAutoFit/>
          </a:bodyPr>
          <a:lstStyle/>
          <a:p>
            <a:pPr marL="38100">
              <a:lnSpc>
                <a:spcPts val="2090"/>
              </a:lnSpc>
            </a:pPr>
            <a:fld id="{81D60167-4931-47E6-BA6A-407CBD079E47}" type="slidenum">
              <a:rPr dirty="0" spc="-50"/>
              <a:t>2</a:t>
            </a:fld>
          </a:p>
        </p:txBody>
      </p:sp>
      <p:sp>
        <p:nvSpPr>
          <p:cNvPr id="26" name="TextBox 25"/>
          <p:cNvSpPr txBox="1"/>
          <p:nvPr/>
        </p:nvSpPr>
        <p:spPr>
          <a:xfrm>
            <a:off x="822960" y="1737360"/>
            <a:ext cx="7955279"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What we've built and tested</a:t>
            </a:r>
          </a:p>
        </p:txBody>
      </p:sp>
      <p:sp>
        <p:nvSpPr>
          <p:cNvPr id="27" name="Rounded Rectangle 26"/>
          <p:cNvSpPr/>
          <p:nvPr/>
        </p:nvSpPr>
        <p:spPr>
          <a:xfrm>
            <a:off x="822960" y="2286000"/>
            <a:ext cx="1828800" cy="1325880"/>
          </a:xfrm>
          <a:prstGeom prst="roundRect">
            <a:avLst>
              <a:gd name="adj" fmla="val 8000"/>
            </a:avLst>
          </a:prstGeom>
          <a:solidFill>
            <a:srgbClr val="F3F6FB"/>
          </a:solidFill>
          <a:ln w="12700">
            <a:solidFill>
              <a:srgbClr val="D0D5E7"/>
            </a:solidFill>
          </a:ln>
          <a:effectLst/>
        </p:spPr>
        <p:txBody>
          <a:bodyPr rtlCol="0" anchor="ctr"/>
          <a:lstStyle/>
          <a:p/>
        </p:txBody>
      </p:sp>
      <p:sp>
        <p:nvSpPr>
          <p:cNvPr id="28" name="TextBox 27"/>
          <p:cNvSpPr txBox="1"/>
          <p:nvPr/>
        </p:nvSpPr>
        <p:spPr>
          <a:xfrm>
            <a:off x="960120" y="2377440"/>
            <a:ext cx="1554480" cy="685800"/>
          </a:xfrm>
          <a:prstGeom prst="rect">
            <a:avLst/>
          </a:prstGeom>
          <a:noFill/>
        </p:spPr>
        <p:txBody>
          <a:bodyPr wrap="square" lIns="0" rIns="0" tIns="0" bIns="0" anchor="ctr">
            <a:spAutoFit/>
          </a:bodyPr>
          <a:lstStyle/>
          <a:p>
            <a:pPr algn="ctr">
              <a:spcAft>
                <a:spcPts val="600"/>
              </a:spcAft>
              <a:buNone/>
            </a:pPr>
            <a:r>
              <a:rPr sz="3200" b="1" i="0">
                <a:solidFill>
                  <a:srgbClr val="17375D"/>
                </a:solidFill>
                <a:latin typeface="Calibri"/>
              </a:rPr>
              <a:t>287</a:t>
            </a:r>
          </a:p>
        </p:txBody>
      </p:sp>
      <p:sp>
        <p:nvSpPr>
          <p:cNvPr id="29" name="TextBox 28"/>
          <p:cNvSpPr txBox="1"/>
          <p:nvPr/>
        </p:nvSpPr>
        <p:spPr>
          <a:xfrm>
            <a:off x="914400" y="3063240"/>
            <a:ext cx="1645920" cy="457200"/>
          </a:xfrm>
          <a:prstGeom prst="rect">
            <a:avLst/>
          </a:prstGeom>
          <a:noFill/>
        </p:spPr>
        <p:txBody>
          <a:bodyPr wrap="square" lIns="0" rIns="0" tIns="0" bIns="0" anchor="t">
            <a:spAutoFit/>
          </a:bodyPr>
          <a:lstStyle/>
          <a:p>
            <a:pPr algn="ctr">
              <a:spcAft>
                <a:spcPts val="600"/>
              </a:spcAft>
              <a:buNone/>
            </a:pPr>
            <a:r>
              <a:rPr sz="1350" b="0" i="0">
                <a:solidFill>
                  <a:srgbClr val="4F5B6E"/>
                </a:solidFill>
                <a:latin typeface="Calibri"/>
              </a:rPr>
              <a:t>backend tests</a:t>
            </a:r>
          </a:p>
        </p:txBody>
      </p:sp>
      <p:sp>
        <p:nvSpPr>
          <p:cNvPr id="30" name="Rounded Rectangle 29"/>
          <p:cNvSpPr/>
          <p:nvPr/>
        </p:nvSpPr>
        <p:spPr>
          <a:xfrm>
            <a:off x="2862072" y="2286000"/>
            <a:ext cx="1828800" cy="1325880"/>
          </a:xfrm>
          <a:prstGeom prst="roundRect">
            <a:avLst>
              <a:gd name="adj" fmla="val 8000"/>
            </a:avLst>
          </a:prstGeom>
          <a:solidFill>
            <a:srgbClr val="F3F6FB"/>
          </a:solidFill>
          <a:ln w="12700">
            <a:solidFill>
              <a:srgbClr val="D0D5E7"/>
            </a:solidFill>
          </a:ln>
          <a:effectLst/>
        </p:spPr>
        <p:txBody>
          <a:bodyPr rtlCol="0" anchor="ctr"/>
          <a:lstStyle/>
          <a:p/>
        </p:txBody>
      </p:sp>
      <p:sp>
        <p:nvSpPr>
          <p:cNvPr id="31" name="TextBox 30"/>
          <p:cNvSpPr txBox="1"/>
          <p:nvPr/>
        </p:nvSpPr>
        <p:spPr>
          <a:xfrm>
            <a:off x="2999232" y="2377440"/>
            <a:ext cx="1554480" cy="685800"/>
          </a:xfrm>
          <a:prstGeom prst="rect">
            <a:avLst/>
          </a:prstGeom>
          <a:noFill/>
        </p:spPr>
        <p:txBody>
          <a:bodyPr wrap="square" lIns="0" rIns="0" tIns="0" bIns="0" anchor="ctr">
            <a:spAutoFit/>
          </a:bodyPr>
          <a:lstStyle/>
          <a:p>
            <a:pPr algn="ctr">
              <a:spcAft>
                <a:spcPts val="600"/>
              </a:spcAft>
              <a:buNone/>
            </a:pPr>
            <a:r>
              <a:rPr sz="3200" b="1" i="0">
                <a:solidFill>
                  <a:srgbClr val="17375D"/>
                </a:solidFill>
                <a:latin typeface="Calibri"/>
              </a:rPr>
              <a:t>75</a:t>
            </a:r>
          </a:p>
        </p:txBody>
      </p:sp>
      <p:sp>
        <p:nvSpPr>
          <p:cNvPr id="32" name="TextBox 31"/>
          <p:cNvSpPr txBox="1"/>
          <p:nvPr/>
        </p:nvSpPr>
        <p:spPr>
          <a:xfrm>
            <a:off x="2953512" y="3063240"/>
            <a:ext cx="1645920" cy="457200"/>
          </a:xfrm>
          <a:prstGeom prst="rect">
            <a:avLst/>
          </a:prstGeom>
          <a:noFill/>
        </p:spPr>
        <p:txBody>
          <a:bodyPr wrap="square" lIns="0" rIns="0" tIns="0" bIns="0" anchor="t">
            <a:spAutoFit/>
          </a:bodyPr>
          <a:lstStyle/>
          <a:p>
            <a:pPr algn="ctr">
              <a:spcAft>
                <a:spcPts val="600"/>
              </a:spcAft>
              <a:buNone/>
            </a:pPr>
            <a:r>
              <a:rPr sz="1350" b="0" i="0">
                <a:solidFill>
                  <a:srgbClr val="4F5B6E"/>
                </a:solidFill>
                <a:latin typeface="Calibri"/>
              </a:rPr>
              <a:t>mobile app tests</a:t>
            </a:r>
          </a:p>
        </p:txBody>
      </p:sp>
      <p:sp>
        <p:nvSpPr>
          <p:cNvPr id="33" name="Rounded Rectangle 32"/>
          <p:cNvSpPr/>
          <p:nvPr/>
        </p:nvSpPr>
        <p:spPr>
          <a:xfrm>
            <a:off x="4901184" y="2286000"/>
            <a:ext cx="1828800" cy="1325880"/>
          </a:xfrm>
          <a:prstGeom prst="roundRect">
            <a:avLst>
              <a:gd name="adj" fmla="val 8000"/>
            </a:avLst>
          </a:prstGeom>
          <a:solidFill>
            <a:srgbClr val="F3F6FB"/>
          </a:solidFill>
          <a:ln w="12700">
            <a:solidFill>
              <a:srgbClr val="D0D5E7"/>
            </a:solidFill>
          </a:ln>
          <a:effectLst/>
        </p:spPr>
        <p:txBody>
          <a:bodyPr rtlCol="0" anchor="ctr"/>
          <a:lstStyle/>
          <a:p/>
        </p:txBody>
      </p:sp>
      <p:sp>
        <p:nvSpPr>
          <p:cNvPr id="34" name="TextBox 33"/>
          <p:cNvSpPr txBox="1"/>
          <p:nvPr/>
        </p:nvSpPr>
        <p:spPr>
          <a:xfrm>
            <a:off x="5038344" y="2377440"/>
            <a:ext cx="1554480" cy="685800"/>
          </a:xfrm>
          <a:prstGeom prst="rect">
            <a:avLst/>
          </a:prstGeom>
          <a:noFill/>
        </p:spPr>
        <p:txBody>
          <a:bodyPr wrap="square" lIns="0" rIns="0" tIns="0" bIns="0" anchor="ctr">
            <a:spAutoFit/>
          </a:bodyPr>
          <a:lstStyle/>
          <a:p>
            <a:pPr algn="ctr">
              <a:spcAft>
                <a:spcPts val="600"/>
              </a:spcAft>
              <a:buNone/>
            </a:pPr>
            <a:r>
              <a:rPr sz="3200" b="1" i="0">
                <a:solidFill>
                  <a:srgbClr val="17375D"/>
                </a:solidFill>
                <a:latin typeface="Calibri"/>
              </a:rPr>
              <a:t>35</a:t>
            </a:r>
          </a:p>
        </p:txBody>
      </p:sp>
      <p:sp>
        <p:nvSpPr>
          <p:cNvPr id="35" name="TextBox 34"/>
          <p:cNvSpPr txBox="1"/>
          <p:nvPr/>
        </p:nvSpPr>
        <p:spPr>
          <a:xfrm>
            <a:off x="4992624" y="3063240"/>
            <a:ext cx="1645920" cy="457200"/>
          </a:xfrm>
          <a:prstGeom prst="rect">
            <a:avLst/>
          </a:prstGeom>
          <a:noFill/>
        </p:spPr>
        <p:txBody>
          <a:bodyPr wrap="square" lIns="0" rIns="0" tIns="0" bIns="0" anchor="t">
            <a:spAutoFit/>
          </a:bodyPr>
          <a:lstStyle/>
          <a:p>
            <a:pPr algn="ctr">
              <a:spcAft>
                <a:spcPts val="600"/>
              </a:spcAft>
              <a:buNone/>
            </a:pPr>
            <a:r>
              <a:rPr sz="1350" b="0" i="0">
                <a:solidFill>
                  <a:srgbClr val="4F5B6E"/>
                </a:solidFill>
                <a:latin typeface="Calibri"/>
              </a:rPr>
              <a:t>real label scans</a:t>
            </a:r>
          </a:p>
        </p:txBody>
      </p:sp>
      <p:sp>
        <p:nvSpPr>
          <p:cNvPr id="36" name="Rounded Rectangle 35"/>
          <p:cNvSpPr/>
          <p:nvPr/>
        </p:nvSpPr>
        <p:spPr>
          <a:xfrm>
            <a:off x="6940296" y="2286000"/>
            <a:ext cx="1828800" cy="1325880"/>
          </a:xfrm>
          <a:prstGeom prst="roundRect">
            <a:avLst>
              <a:gd name="adj" fmla="val 8000"/>
            </a:avLst>
          </a:prstGeom>
          <a:solidFill>
            <a:srgbClr val="F3F6FB"/>
          </a:solidFill>
          <a:ln w="12700">
            <a:solidFill>
              <a:srgbClr val="D0D5E7"/>
            </a:solidFill>
          </a:ln>
          <a:effectLst/>
        </p:spPr>
        <p:txBody>
          <a:bodyPr rtlCol="0" anchor="ctr"/>
          <a:lstStyle/>
          <a:p/>
        </p:txBody>
      </p:sp>
      <p:sp>
        <p:nvSpPr>
          <p:cNvPr id="37" name="TextBox 36"/>
          <p:cNvSpPr txBox="1"/>
          <p:nvPr/>
        </p:nvSpPr>
        <p:spPr>
          <a:xfrm>
            <a:off x="7077456" y="2377440"/>
            <a:ext cx="1554480" cy="685800"/>
          </a:xfrm>
          <a:prstGeom prst="rect">
            <a:avLst/>
          </a:prstGeom>
          <a:noFill/>
        </p:spPr>
        <p:txBody>
          <a:bodyPr wrap="square" lIns="0" rIns="0" tIns="0" bIns="0" anchor="ctr">
            <a:spAutoFit/>
          </a:bodyPr>
          <a:lstStyle/>
          <a:p>
            <a:pPr algn="ctr">
              <a:spcAft>
                <a:spcPts val="600"/>
              </a:spcAft>
              <a:buNone/>
            </a:pPr>
            <a:r>
              <a:rPr sz="3200" b="1" i="0">
                <a:solidFill>
                  <a:srgbClr val="17375D"/>
                </a:solidFill>
                <a:latin typeface="Calibri"/>
              </a:rPr>
              <a:t>2 of 2</a:t>
            </a:r>
          </a:p>
        </p:txBody>
      </p:sp>
      <p:sp>
        <p:nvSpPr>
          <p:cNvPr id="38" name="TextBox 37"/>
          <p:cNvSpPr txBox="1"/>
          <p:nvPr/>
        </p:nvSpPr>
        <p:spPr>
          <a:xfrm>
            <a:off x="7031736" y="3063240"/>
            <a:ext cx="1645920" cy="457200"/>
          </a:xfrm>
          <a:prstGeom prst="rect">
            <a:avLst/>
          </a:prstGeom>
          <a:noFill/>
        </p:spPr>
        <p:txBody>
          <a:bodyPr wrap="square" lIns="0" rIns="0" tIns="0" bIns="0" anchor="t">
            <a:spAutoFit/>
          </a:bodyPr>
          <a:lstStyle/>
          <a:p>
            <a:pPr algn="ctr">
              <a:spcAft>
                <a:spcPts val="600"/>
              </a:spcAft>
              <a:buNone/>
            </a:pPr>
            <a:r>
              <a:rPr sz="1350" b="0" i="0">
                <a:solidFill>
                  <a:srgbClr val="4F5B6E"/>
                </a:solidFill>
                <a:latin typeface="Calibri"/>
              </a:rPr>
              <a:t>planted violations caught</a:t>
            </a:r>
          </a:p>
        </p:txBody>
      </p:sp>
      <p:graphicFrame>
        <p:nvGraphicFramePr>
          <p:cNvPr id="39" name="Chart 38"/>
          <p:cNvGraphicFramePr>
            <a:graphicFrameLocks noGrp="1"/>
          </p:cNvGraphicFramePr>
          <p:nvPr/>
        </p:nvGraphicFramePr>
        <p:xfrm>
          <a:off x="822960" y="3840480"/>
          <a:ext cx="7955279" cy="4434840"/>
        </p:xfrm>
        <a:graphic>
          <a:graphicData uri="http://schemas.openxmlformats.org/drawingml/2006/chart">
            <c:chart xmlns:c="http://schemas.openxmlformats.org/drawingml/2006/chart" r:id="rId5"/>
          </a:graphicData>
        </a:graphic>
      </p:graphicFrame>
      <p:sp>
        <p:nvSpPr>
          <p:cNvPr id="40" name="TextBox 39"/>
          <p:cNvSpPr txBox="1"/>
          <p:nvPr/>
        </p:nvSpPr>
        <p:spPr>
          <a:xfrm>
            <a:off x="822960" y="8412480"/>
            <a:ext cx="7955279" cy="822960"/>
          </a:xfrm>
          <a:prstGeom prst="rect">
            <a:avLst/>
          </a:prstGeom>
          <a:noFill/>
        </p:spPr>
        <p:txBody>
          <a:bodyPr wrap="square" lIns="0" rIns="0" tIns="0" bIns="0" anchor="t">
            <a:spAutoFit/>
          </a:bodyPr>
          <a:lstStyle/>
          <a:p>
            <a:pPr algn="l">
              <a:spcAft>
                <a:spcPts val="600"/>
              </a:spcAft>
              <a:buNone/>
            </a:pPr>
            <a:r>
              <a:rPr sz="1400" b="0" i="1">
                <a:solidFill>
                  <a:srgbClr val="4F5B6E"/>
                </a:solidFill>
                <a:latin typeface="Calibri"/>
              </a:rPr>
              <a:t>Every false alarm, we tracked down, fixed and added a test for. 35 scans on 4 real products is a small sample, so we don't call it a benchmark.</a:t>
            </a:r>
          </a:p>
        </p:txBody>
      </p:sp>
      <p:cxnSp>
        <p:nvCxnSpPr>
          <p:cNvPr id="41" name="Connector 40"/>
          <p:cNvCxnSpPr/>
          <p:nvPr/>
        </p:nvCxnSpPr>
        <p:spPr>
          <a:xfrm>
            <a:off x="9006840" y="1828800"/>
            <a:ext cx="0" cy="7360920"/>
          </a:xfrm>
          <a:prstGeom prst="line">
            <a:avLst/>
          </a:prstGeom>
          <a:ln w="19050">
            <a:solidFill>
              <a:srgbClr val="D0D5E7"/>
            </a:solidFill>
          </a:ln>
        </p:spPr>
      </p:cxnSp>
      <p:sp>
        <p:nvSpPr>
          <p:cNvPr id="42" name="TextBox 41"/>
          <p:cNvSpPr txBox="1"/>
          <p:nvPr/>
        </p:nvSpPr>
        <p:spPr>
          <a:xfrm>
            <a:off x="9372600" y="1737360"/>
            <a:ext cx="809244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What could go wrong, and what we do</a:t>
            </a:r>
          </a:p>
        </p:txBody>
      </p:sp>
      <p:graphicFrame>
        <p:nvGraphicFramePr>
          <p:cNvPr id="43" name="Table 42"/>
          <p:cNvGraphicFramePr>
            <a:graphicFrameLocks noGrp="1"/>
          </p:cNvGraphicFramePr>
          <p:nvPr/>
        </p:nvGraphicFramePr>
        <p:xfrm>
          <a:off x="9372600" y="2286000"/>
          <a:ext cx="8092439" cy="4059936"/>
        </p:xfrm>
        <a:graphic>
          <a:graphicData uri="http://schemas.openxmlformats.org/drawingml/2006/table">
            <a:tbl>
              <a:tblPr>
                <a:tableStyleId>{2D5ABB26-0587-4C30-8999-92F81FD0307C}</a:tableStyleId>
              </a:tblPr>
              <a:tblGrid>
                <a:gridCol w="2240280"/>
                <a:gridCol w="1234440"/>
                <a:gridCol w="868680"/>
                <a:gridCol w="3749039"/>
              </a:tblGrid>
              <a:tr h="676656">
                <a:tc>
                  <a:txBody>
                    <a:bodyPr wrap="square"/>
                    <a:lstStyle/>
                    <a:p>
                      <a:r>
                        <a:rPr sz="1500" b="1">
                          <a:solidFill>
                            <a:srgbClr val="FFFFFF"/>
                          </a:solidFill>
                          <a:latin typeface="Calibri"/>
                        </a:rPr>
                        <a:t>Risk</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pPr algn="ctr"/>
                      <a:r>
                        <a:rPr sz="1500" b="1">
                          <a:solidFill>
                            <a:srgbClr val="FFFFFF"/>
                          </a:solidFill>
                          <a:latin typeface="Calibri"/>
                        </a:rPr>
                        <a:t>Likelihood</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pPr algn="ctr"/>
                      <a:r>
                        <a:rPr sz="1500" b="1">
                          <a:solidFill>
                            <a:srgbClr val="FFFFFF"/>
                          </a:solidFill>
                          <a:latin typeface="Calibri"/>
                        </a:rPr>
                        <a:t>Impact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r>
                        <a:rPr sz="1500" b="1">
                          <a:solidFill>
                            <a:srgbClr val="FFFFFF"/>
                          </a:solidFill>
                          <a:latin typeface="Calibri"/>
                        </a:rPr>
                        <a:t>How we handle it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r>
              <a:tr h="676656">
                <a:tc>
                  <a:txBody>
                    <a:bodyPr wrap="square"/>
                    <a:lstStyle/>
                    <a:p>
                      <a:r>
                        <a:rPr sz="1400" b="0">
                          <a:solidFill>
                            <a:srgbClr val="1E2A3B"/>
                          </a:solidFill>
                          <a:latin typeface="Calibri"/>
                        </a:rPr>
                        <a:t>Photo is blurry, shiny or taken too far away</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B8322A"/>
                          </a:solidFill>
                          <a:latin typeface="Calibri"/>
                        </a:rPr>
                        <a:t>High</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9A6412"/>
                          </a:solidFill>
                          <a:latin typeface="Calibri"/>
                        </a:rPr>
                        <a:t>Medium</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00" b="0">
                          <a:solidFill>
                            <a:srgbClr val="1E2A3B"/>
                          </a:solidFill>
                          <a:latin typeface="Calibri"/>
                        </a:rPr>
                        <a:t>Anything we can't read goes to REVIEW, not FAIL, so a person checks it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676656">
                <a:tc>
                  <a:txBody>
                    <a:bodyPr wrap="square"/>
                    <a:lstStyle/>
                    <a:p>
                      <a:r>
                        <a:rPr sz="1400" b="0">
                          <a:solidFill>
                            <a:srgbClr val="1E2A3B"/>
                          </a:solidFill>
                          <a:latin typeface="Calibri"/>
                        </a:rPr>
                        <a:t>OCR misreads text, like “Rs.109,00”</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B8322A"/>
                          </a:solidFill>
                          <a:latin typeface="Calibri"/>
                        </a:rPr>
                        <a:t>High</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9A6412"/>
                          </a:solidFill>
                          <a:latin typeface="Calibri"/>
                        </a:rPr>
                        <a:t>Medium</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00" b="0">
                          <a:solidFill>
                            <a:srgbClr val="1E2A3B"/>
                          </a:solidFill>
                          <a:latin typeface="Calibri"/>
                        </a:rPr>
                        <a:t>The app handles common slips; the user can correct fields, and every edit is logged</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676656">
                <a:tc>
                  <a:txBody>
                    <a:bodyPr wrap="square"/>
                    <a:lstStyle/>
                    <a:p>
                      <a:r>
                        <a:rPr sz="1400" b="0">
                          <a:solidFill>
                            <a:srgbClr val="1E2A3B"/>
                          </a:solidFill>
                          <a:latin typeface="Calibri"/>
                        </a:rPr>
                        <a:t>A product isn't in our registry yet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B8322A"/>
                          </a:solidFill>
                          <a:latin typeface="Calibri"/>
                        </a:rPr>
                        <a:t>High</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17784F"/>
                          </a:solidFill>
                          <a:latin typeface="Calibri"/>
                        </a:rPr>
                        <a:t>Low</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00" b="0">
                          <a:solidFill>
                            <a:srgbClr val="1E2A3B"/>
                          </a:solidFill>
                          <a:latin typeface="Calibri"/>
                        </a:rPr>
                        <a:t>We show it as “not verified”, and no complaint is raised against the brand</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676656">
                <a:tc>
                  <a:txBody>
                    <a:bodyPr wrap="square"/>
                    <a:lstStyle/>
                    <a:p>
                      <a:r>
                        <a:rPr sz="1400" b="0">
                          <a:solidFill>
                            <a:srgbClr val="1E2A3B"/>
                          </a:solidFill>
                          <a:latin typeface="Calibri"/>
                        </a:rPr>
                        <a:t>Angled photo gives a wrong font size</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9A6412"/>
                          </a:solidFill>
                          <a:latin typeface="Calibri"/>
                        </a:rPr>
                        <a:t>Medium</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17784F"/>
                          </a:solidFill>
                          <a:latin typeface="Calibri"/>
                        </a:rPr>
                        <a:t>Low</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00" b="0">
                          <a:solidFill>
                            <a:srgbClr val="1E2A3B"/>
                          </a:solidFill>
                          <a:latin typeface="Calibri"/>
                        </a:rPr>
                        <a:t>If the size reading looks doubtful, it goes to REVIEW instead of FAIL</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676656">
                <a:tc>
                  <a:txBody>
                    <a:bodyPr wrap="square"/>
                    <a:lstStyle/>
                    <a:p>
                      <a:r>
                        <a:rPr sz="1400" b="0">
                          <a:solidFill>
                            <a:srgbClr val="1E2A3B"/>
                          </a:solidFill>
                          <a:latin typeface="Calibri"/>
                        </a:rPr>
                        <a:t>Someone fakes or changes the evidence</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17784F"/>
                          </a:solidFill>
                          <a:latin typeface="Calibri"/>
                        </a:rPr>
                        <a:t>Low</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400" b="1">
                          <a:solidFill>
                            <a:srgbClr val="B8322A"/>
                          </a:solidFill>
                          <a:latin typeface="Calibri"/>
                        </a:rPr>
                        <a:t>High</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00" b="0">
                          <a:solidFill>
                            <a:srgbClr val="1E2A3B"/>
                          </a:solidFill>
                          <a:latin typeface="Calibri"/>
                        </a:rPr>
                        <a:t>Each photo is fingerprinted and time-stamped, and a sent scan can't be edited</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bl>
          </a:graphicData>
        </a:graphic>
      </p:graphicFrame>
      <p:sp>
        <p:nvSpPr>
          <p:cNvPr id="44" name="TextBox 43"/>
          <p:cNvSpPr txBox="1"/>
          <p:nvPr/>
        </p:nvSpPr>
        <p:spPr>
          <a:xfrm>
            <a:off x="9372600" y="6629400"/>
            <a:ext cx="8092440" cy="457200"/>
          </a:xfrm>
          <a:prstGeom prst="rect">
            <a:avLst/>
          </a:prstGeom>
          <a:noFill/>
        </p:spPr>
        <p:txBody>
          <a:bodyPr wrap="square" lIns="0" rIns="0" tIns="0" bIns="0" anchor="t">
            <a:spAutoFit/>
          </a:bodyPr>
          <a:lstStyle/>
          <a:p>
            <a:pPr algn="l">
              <a:spcAft>
                <a:spcPts val="600"/>
              </a:spcAft>
              <a:buNone/>
            </a:pPr>
            <a:r>
              <a:rPr sz="2200" b="1" i="0">
                <a:solidFill>
                  <a:srgbClr val="17375D"/>
                </a:solidFill>
                <a:latin typeface="Calibri"/>
              </a:rPr>
              <a:t>Where we stand</a:t>
            </a:r>
          </a:p>
        </p:txBody>
      </p:sp>
      <p:sp>
        <p:nvSpPr>
          <p:cNvPr id="45" name="Rounded Rectangle 44"/>
          <p:cNvSpPr/>
          <p:nvPr/>
        </p:nvSpPr>
        <p:spPr>
          <a:xfrm>
            <a:off x="9372600" y="7178040"/>
            <a:ext cx="1554480" cy="1417320"/>
          </a:xfrm>
          <a:prstGeom prst="roundRect">
            <a:avLst>
              <a:gd name="adj" fmla="val 8000"/>
            </a:avLst>
          </a:prstGeom>
          <a:solidFill>
            <a:srgbClr val="17375D"/>
          </a:solidFill>
          <a:ln>
            <a:noFill/>
          </a:ln>
          <a:effectLst/>
        </p:spPr>
        <p:txBody>
          <a:bodyPr rtlCol="0" anchor="ctr"/>
          <a:lstStyle/>
          <a:p/>
        </p:txBody>
      </p:sp>
      <p:sp>
        <p:nvSpPr>
          <p:cNvPr id="46" name="TextBox 45"/>
          <p:cNvSpPr txBox="1"/>
          <p:nvPr/>
        </p:nvSpPr>
        <p:spPr>
          <a:xfrm>
            <a:off x="9372600" y="7269480"/>
            <a:ext cx="1554480" cy="731520"/>
          </a:xfrm>
          <a:prstGeom prst="rect">
            <a:avLst/>
          </a:prstGeom>
          <a:noFill/>
        </p:spPr>
        <p:txBody>
          <a:bodyPr wrap="square" lIns="0" rIns="0" tIns="0" bIns="0" anchor="ctr">
            <a:spAutoFit/>
          </a:bodyPr>
          <a:lstStyle/>
          <a:p>
            <a:pPr algn="ctr">
              <a:spcAft>
                <a:spcPts val="600"/>
              </a:spcAft>
              <a:buNone/>
            </a:pPr>
            <a:r>
              <a:rPr sz="2800" b="1" i="0">
                <a:solidFill>
                  <a:srgbClr val="FFFFFF"/>
                </a:solidFill>
                <a:latin typeface="Calibri"/>
              </a:rPr>
              <a:t>TRL 4</a:t>
            </a:r>
          </a:p>
        </p:txBody>
      </p:sp>
      <p:sp>
        <p:nvSpPr>
          <p:cNvPr id="47" name="TextBox 46"/>
          <p:cNvSpPr txBox="1"/>
          <p:nvPr/>
        </p:nvSpPr>
        <p:spPr>
          <a:xfrm>
            <a:off x="9372600" y="8001000"/>
            <a:ext cx="1554480" cy="457200"/>
          </a:xfrm>
          <a:prstGeom prst="rect">
            <a:avLst/>
          </a:prstGeom>
          <a:noFill/>
        </p:spPr>
        <p:txBody>
          <a:bodyPr wrap="square" lIns="0" rIns="0" tIns="0" bIns="0" anchor="t">
            <a:spAutoFit/>
          </a:bodyPr>
          <a:lstStyle/>
          <a:p>
            <a:pPr algn="ctr">
              <a:spcAft>
                <a:spcPts val="600"/>
              </a:spcAft>
              <a:buNone/>
            </a:pPr>
            <a:r>
              <a:rPr sz="1250" b="0" i="0">
                <a:solidFill>
                  <a:srgbClr val="FFFFFF"/>
                </a:solidFill>
                <a:latin typeface="Calibri"/>
              </a:rPr>
              <a:t>tested by our team</a:t>
            </a:r>
          </a:p>
        </p:txBody>
      </p:sp>
      <p:sp>
        <p:nvSpPr>
          <p:cNvPr id="48" name="TextBox 47"/>
          <p:cNvSpPr txBox="1"/>
          <p:nvPr/>
        </p:nvSpPr>
        <p:spPr>
          <a:xfrm>
            <a:off x="11201400" y="7178040"/>
            <a:ext cx="6263640" cy="1417320"/>
          </a:xfrm>
          <a:prstGeom prst="rect">
            <a:avLst/>
          </a:prstGeom>
          <a:noFill/>
        </p:spPr>
        <p:txBody>
          <a:bodyPr wrap="square" lIns="0" rIns="0" tIns="0" bIns="0" anchor="ctr">
            <a:spAutoFit/>
          </a:bodyPr>
          <a:lstStyle/>
          <a:p>
            <a:pPr algn="l" marL="292608" indent="-292608">
              <a:spcAft>
                <a:spcPts val="300"/>
              </a:spcAft>
              <a:buClr>
                <a:srgbClr val="17375D"/>
              </a:buClr>
              <a:buFont typeface="Arial"/>
              <a:buChar char="•"/>
            </a:pPr>
            <a:r>
              <a:rPr sz="1450" b="1" i="0">
                <a:solidFill>
                  <a:srgbClr val="17375D"/>
                </a:solidFill>
                <a:latin typeface="Calibri"/>
              </a:rPr>
              <a:t>Working: </a:t>
            </a:r>
            <a:r>
              <a:rPr sz="1450" b="0" i="0">
                <a:solidFill>
                  <a:srgbClr val="1E2A3B"/>
                </a:solidFill>
                <a:latin typeface="Calibri"/>
              </a:rPr>
              <a:t>the app, server and dashboard all work together</a:t>
            </a:r>
          </a:p>
          <a:p>
            <a:pPr algn="l" marL="292608" indent="-292608">
              <a:spcAft>
                <a:spcPts val="300"/>
              </a:spcAft>
              <a:buClr>
                <a:srgbClr val="17375D"/>
              </a:buClr>
              <a:buFont typeface="Arial"/>
              <a:buChar char="•"/>
            </a:pPr>
            <a:r>
              <a:rPr sz="1450" b="1" i="0">
                <a:solidFill>
                  <a:srgbClr val="17375D"/>
                </a:solidFill>
                <a:latin typeface="Calibri"/>
              </a:rPr>
              <a:t>Tested: </a:t>
            </a:r>
            <a:r>
              <a:rPr sz="1450" b="0" i="0">
                <a:solidFill>
                  <a:srgbClr val="1E2A3B"/>
                </a:solidFill>
                <a:latin typeface="Calibri"/>
              </a:rPr>
              <a:t>on 35 real label scans of 4 products</a:t>
            </a:r>
          </a:p>
          <a:p>
            <a:pPr algn="l" marL="292608" indent="-292608">
              <a:spcAft>
                <a:spcPts val="300"/>
              </a:spcAft>
              <a:buClr>
                <a:srgbClr val="17375D"/>
              </a:buClr>
              <a:buFont typeface="Arial"/>
              <a:buChar char="•"/>
            </a:pPr>
            <a:r>
              <a:rPr sz="1450" b="1" i="0">
                <a:solidFill>
                  <a:srgbClr val="17375D"/>
                </a:solidFill>
                <a:latin typeface="Calibri"/>
              </a:rPr>
              <a:t>Registry: </a:t>
            </a:r>
            <a:r>
              <a:rPr sz="1450" b="0" i="0">
                <a:solidFill>
                  <a:srgbClr val="1E2A3B"/>
                </a:solidFill>
                <a:latin typeface="Calibri"/>
              </a:rPr>
              <a:t>8 products, 3 of them from real packs</a:t>
            </a:r>
          </a:p>
          <a:p>
            <a:pPr algn="l" marL="292608" indent="-292608">
              <a:spcAft>
                <a:spcPts val="300"/>
              </a:spcAft>
              <a:buClr>
                <a:srgbClr val="17375D"/>
              </a:buClr>
              <a:buFont typeface="Arial"/>
              <a:buChar char="•"/>
            </a:pPr>
            <a:r>
              <a:rPr sz="1450" b="1" i="0">
                <a:solidFill>
                  <a:srgbClr val="17375D"/>
                </a:solidFill>
                <a:latin typeface="Calibri"/>
              </a:rPr>
              <a:t>Next: </a:t>
            </a:r>
            <a:r>
              <a:rPr sz="1450" b="0" i="0">
                <a:solidFill>
                  <a:srgbClr val="1E2A3B"/>
                </a:solidFill>
                <a:latin typeface="Calibri"/>
              </a:rPr>
              <a:t>load Rule 27 registration data, big FMCG brands first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93776" y="329184"/>
            <a:ext cx="2185416" cy="1207008"/>
          </a:xfrm>
          <a:prstGeom prst="rect">
            <a:avLst/>
          </a:prstGeom>
        </p:spPr>
        <p:txBody>
          <a:bodyPr wrap="none" lIns="0" tIns="0" rIns="0" bIns="0" rtlCol="0" vert="horz" anchor="ctr">
            <a:spAutoFit/>
          </a:bodyPr>
          <a:lstStyle/>
          <a:p>
            <a:pPr algn="ctr">
              <a:lnSpc>
                <a:spcPct val="100000"/>
              </a:lnSpc>
              <a:spcBef>
                <a:spcPts val="100"/>
              </a:spcBef>
            </a:pPr>
            <a:r>
              <a:rPr dirty="0" sz="2800" b="1">
                <a:solidFill>
                  <a:srgbClr val="17375D"/>
                </a:solidFill>
                <a:latin typeface="Calibri"/>
                <a:cs typeface="Calibri"/>
              </a:rPr>
              <a:t>HexTech</a:t>
            </a:r>
            <a:endParaRPr sz="2700">
              <a:latin typeface="Calibri"/>
              <a:cs typeface="Calibri"/>
            </a:endParaRPr>
          </a:p>
        </p:txBody>
      </p:sp>
      <p:sp>
        <p:nvSpPr>
          <p:cNvPr id="2" name="object 2" descr="$PPTXTitle"/>
          <p:cNvSpPr txBox="1">
            <a:spLocks noGrp="1"/>
          </p:cNvSpPr>
          <p:nvPr>
            <p:ph type="title"/>
          </p:nvPr>
        </p:nvSpPr>
        <p:spPr>
          <a:xfrm>
            <a:off x="3108960" y="338328"/>
            <a:ext cx="12070080" cy="850392"/>
          </a:xfrm>
          <a:prstGeom prst="rect"/>
        </p:spPr>
        <p:txBody>
          <a:bodyPr wrap="square" lIns="0" tIns="0" rIns="0" bIns="0" rtlCol="0" vert="horz" anchor="ctr">
            <a:spAutoFit/>
          </a:bodyPr>
          <a:lstStyle/>
          <a:p>
            <a:pPr algn="ctr">
              <a:lnSpc>
                <a:spcPct val="100000"/>
              </a:lnSpc>
              <a:spcBef>
                <a:spcPts val="100"/>
              </a:spcBef>
            </a:pPr>
            <a:r>
              <a:rPr dirty="0"/>
              <a:t>IMPACT</a:t>
            </a:r>
            <a:r>
              <a:rPr dirty="0" spc="-165"/>
              <a:t> </a:t>
            </a:r>
            <a:r>
              <a:rPr dirty="0"/>
              <a:t>AND</a:t>
            </a:r>
            <a:r>
              <a:rPr dirty="0" spc="-165"/>
              <a:t> </a:t>
            </a:r>
            <a:r>
              <a:rPr dirty="0" spc="-10"/>
              <a:t>BENEFITS</a:t>
            </a:r>
          </a:p>
        </p:txBody>
      </p:sp>
      <p:sp>
        <p:nvSpPr>
          <p:cNvPr id="22" name="object 22"/>
          <p:cNvSpPr txBox="1">
            <a:spLocks noGrp="1"/>
          </p:cNvSpPr>
          <p:nvPr>
            <p:ph type="ftr" idx="5" sz="quarter"/>
          </p:nvPr>
        </p:nvSpPr>
        <p:spPr>
          <a:prstGeom prst="rect"/>
        </p:spPr>
        <p:txBody>
          <a:bodyPr wrap="square" lIns="0" tIns="0" rIns="0" bIns="0" rtlCol="0" vert="horz">
            <a:spAutoFit/>
          </a:body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21" name="object 21"/>
          <p:cNvSpPr txBox="1">
            <a:spLocks noGrp="1"/>
          </p:cNvSpPr>
          <p:nvPr>
            <p:ph type="sldNum" idx="7" sz="quarter"/>
          </p:nvPr>
        </p:nvSpPr>
        <p:spPr>
          <a:prstGeom prst="rect"/>
        </p:spPr>
        <p:txBody>
          <a:bodyPr wrap="square" lIns="0" tIns="0" rIns="0" bIns="0" rtlCol="0" vert="horz">
            <a:spAutoFit/>
          </a:bodyPr>
          <a:lstStyle/>
          <a:p>
            <a:pPr marL="38100">
              <a:lnSpc>
                <a:spcPts val="2090"/>
              </a:lnSpc>
            </a:pPr>
            <a:fld id="{81D60167-4931-47E6-BA6A-407CBD079E47}" type="slidenum">
              <a:rPr dirty="0" spc="-50"/>
              <a:t>2</a:t>
            </a:fld>
          </a:p>
        </p:txBody>
      </p:sp>
      <p:sp>
        <p:nvSpPr>
          <p:cNvPr id="23" name="TextBox 22"/>
          <p:cNvSpPr txBox="1"/>
          <p:nvPr/>
        </p:nvSpPr>
        <p:spPr>
          <a:xfrm>
            <a:off x="822960" y="1737360"/>
            <a:ext cx="1097280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Who benefits</a:t>
            </a:r>
          </a:p>
        </p:txBody>
      </p:sp>
      <p:sp>
        <p:nvSpPr>
          <p:cNvPr id="24" name="Rounded Rectangle 23"/>
          <p:cNvSpPr/>
          <p:nvPr/>
        </p:nvSpPr>
        <p:spPr>
          <a:xfrm>
            <a:off x="822960" y="2286000"/>
            <a:ext cx="3931920" cy="2971800"/>
          </a:xfrm>
          <a:prstGeom prst="roundRect">
            <a:avLst>
              <a:gd name="adj" fmla="val 8000"/>
            </a:avLst>
          </a:prstGeom>
          <a:solidFill>
            <a:srgbClr val="F3F6FB"/>
          </a:solidFill>
          <a:ln w="12700">
            <a:solidFill>
              <a:srgbClr val="D0D5E7"/>
            </a:solidFill>
          </a:ln>
          <a:effectLst/>
        </p:spPr>
        <p:txBody>
          <a:bodyPr rtlCol="0" anchor="ctr"/>
          <a:lstStyle/>
          <a:p/>
        </p:txBody>
      </p:sp>
      <p:sp>
        <p:nvSpPr>
          <p:cNvPr id="25" name="Oval 24"/>
          <p:cNvSpPr/>
          <p:nvPr/>
        </p:nvSpPr>
        <p:spPr>
          <a:xfrm>
            <a:off x="1097280" y="2542032"/>
            <a:ext cx="868680" cy="868680"/>
          </a:xfrm>
          <a:prstGeom prst="ellipse">
            <a:avLst/>
          </a:prstGeom>
          <a:solidFill>
            <a:srgbClr val="006EBF"/>
          </a:solidFill>
          <a:ln>
            <a:noFill/>
          </a:ln>
          <a:effectLst/>
        </p:spPr>
        <p:txBody>
          <a:bodyPr rtlCol="0" anchor="ctr"/>
          <a:lstStyle/>
          <a:p/>
        </p:txBody>
      </p:sp>
      <p:pic>
        <p:nvPicPr>
          <p:cNvPr id="26" name="Picture 25" descr="MdGroups.png"/>
          <p:cNvPicPr>
            <a:picLocks noChangeAspect="1"/>
          </p:cNvPicPr>
          <p:nvPr/>
        </p:nvPicPr>
        <p:blipFill>
          <a:blip r:embed="rId3"/>
          <a:stretch>
            <a:fillRect/>
          </a:stretch>
        </p:blipFill>
        <p:spPr>
          <a:xfrm>
            <a:off x="1271016" y="2715768"/>
            <a:ext cx="521207" cy="521207"/>
          </a:xfrm>
          <a:prstGeom prst="rect">
            <a:avLst/>
          </a:prstGeom>
        </p:spPr>
      </p:pic>
      <p:sp>
        <p:nvSpPr>
          <p:cNvPr id="27" name="TextBox 26"/>
          <p:cNvSpPr txBox="1"/>
          <p:nvPr/>
        </p:nvSpPr>
        <p:spPr>
          <a:xfrm>
            <a:off x="1097280" y="3566160"/>
            <a:ext cx="3383279" cy="502920"/>
          </a:xfrm>
          <a:prstGeom prst="rect">
            <a:avLst/>
          </a:prstGeom>
          <a:noFill/>
        </p:spPr>
        <p:txBody>
          <a:bodyPr wrap="square" lIns="0" rIns="0" tIns="0" bIns="0" anchor="t">
            <a:spAutoFit/>
          </a:bodyPr>
          <a:lstStyle/>
          <a:p>
            <a:pPr algn="l">
              <a:spcAft>
                <a:spcPts val="600"/>
              </a:spcAft>
              <a:buNone/>
            </a:pPr>
            <a:r>
              <a:rPr sz="1900" b="1" i="0">
                <a:solidFill>
                  <a:srgbClr val="17375D"/>
                </a:solidFill>
                <a:latin typeface="Calibri"/>
              </a:rPr>
              <a:t>Consumers</a:t>
            </a:r>
          </a:p>
        </p:txBody>
      </p:sp>
      <p:sp>
        <p:nvSpPr>
          <p:cNvPr id="28" name="TextBox 27"/>
          <p:cNvSpPr txBox="1"/>
          <p:nvPr/>
        </p:nvSpPr>
        <p:spPr>
          <a:xfrm>
            <a:off x="1097280" y="4069080"/>
            <a:ext cx="3383279" cy="1097280"/>
          </a:xfrm>
          <a:prstGeom prst="rect">
            <a:avLst/>
          </a:prstGeom>
          <a:noFill/>
        </p:spPr>
        <p:txBody>
          <a:bodyPr wrap="square" lIns="0" rIns="0" tIns="0" bIns="0" anchor="t">
            <a:spAutoFit/>
          </a:bodyPr>
          <a:lstStyle/>
          <a:p>
            <a:pPr algn="l">
              <a:spcAft>
                <a:spcPts val="600"/>
              </a:spcAft>
              <a:buNone/>
            </a:pPr>
            <a:r>
              <a:rPr sz="1500" b="0" i="0">
                <a:solidFill>
                  <a:srgbClr val="1E2A3B"/>
                </a:solidFill>
                <a:latin typeface="Calibri"/>
              </a:rPr>
              <a:t>Scan a pack right in the shop. If something's off, the complaint is filed for you, with your photo as proof.</a:t>
            </a:r>
          </a:p>
        </p:txBody>
      </p:sp>
      <p:sp>
        <p:nvSpPr>
          <p:cNvPr id="29" name="Rounded Rectangle 28"/>
          <p:cNvSpPr/>
          <p:nvPr/>
        </p:nvSpPr>
        <p:spPr>
          <a:xfrm>
            <a:off x="5059375" y="2286000"/>
            <a:ext cx="3931920" cy="2971800"/>
          </a:xfrm>
          <a:prstGeom prst="roundRect">
            <a:avLst>
              <a:gd name="adj" fmla="val 8000"/>
            </a:avLst>
          </a:prstGeom>
          <a:solidFill>
            <a:srgbClr val="F3F6FB"/>
          </a:solidFill>
          <a:ln w="12700">
            <a:solidFill>
              <a:srgbClr val="D0D5E7"/>
            </a:solidFill>
          </a:ln>
          <a:effectLst/>
        </p:spPr>
        <p:txBody>
          <a:bodyPr rtlCol="0" anchor="ctr"/>
          <a:lstStyle/>
          <a:p/>
        </p:txBody>
      </p:sp>
      <p:sp>
        <p:nvSpPr>
          <p:cNvPr id="30" name="Oval 29"/>
          <p:cNvSpPr/>
          <p:nvPr/>
        </p:nvSpPr>
        <p:spPr>
          <a:xfrm>
            <a:off x="5333695" y="2542032"/>
            <a:ext cx="868680" cy="868680"/>
          </a:xfrm>
          <a:prstGeom prst="ellipse">
            <a:avLst/>
          </a:prstGeom>
          <a:solidFill>
            <a:srgbClr val="17784F"/>
          </a:solidFill>
          <a:ln>
            <a:noFill/>
          </a:ln>
          <a:effectLst/>
        </p:spPr>
        <p:txBody>
          <a:bodyPr rtlCol="0" anchor="ctr"/>
          <a:lstStyle/>
          <a:p/>
        </p:txBody>
      </p:sp>
      <p:pic>
        <p:nvPicPr>
          <p:cNvPr id="31" name="Picture 30" descr="MdBadge.png"/>
          <p:cNvPicPr>
            <a:picLocks noChangeAspect="1"/>
          </p:cNvPicPr>
          <p:nvPr/>
        </p:nvPicPr>
        <p:blipFill>
          <a:blip r:embed="rId4"/>
          <a:stretch>
            <a:fillRect/>
          </a:stretch>
        </p:blipFill>
        <p:spPr>
          <a:xfrm>
            <a:off x="5507431" y="2715768"/>
            <a:ext cx="521207" cy="521207"/>
          </a:xfrm>
          <a:prstGeom prst="rect">
            <a:avLst/>
          </a:prstGeom>
        </p:spPr>
      </p:pic>
      <p:sp>
        <p:nvSpPr>
          <p:cNvPr id="32" name="TextBox 31"/>
          <p:cNvSpPr txBox="1"/>
          <p:nvPr/>
        </p:nvSpPr>
        <p:spPr>
          <a:xfrm>
            <a:off x="5333695" y="3566160"/>
            <a:ext cx="3383279" cy="502920"/>
          </a:xfrm>
          <a:prstGeom prst="rect">
            <a:avLst/>
          </a:prstGeom>
          <a:noFill/>
        </p:spPr>
        <p:txBody>
          <a:bodyPr wrap="square" lIns="0" rIns="0" tIns="0" bIns="0" anchor="t">
            <a:spAutoFit/>
          </a:bodyPr>
          <a:lstStyle/>
          <a:p>
            <a:pPr algn="l">
              <a:spcAft>
                <a:spcPts val="600"/>
              </a:spcAft>
              <a:buNone/>
            </a:pPr>
            <a:r>
              <a:rPr sz="1900" b="1" i="0">
                <a:solidFill>
                  <a:srgbClr val="17375D"/>
                </a:solidFill>
                <a:latin typeface="Calibri"/>
              </a:rPr>
              <a:t>Inspectors</a:t>
            </a:r>
          </a:p>
        </p:txBody>
      </p:sp>
      <p:sp>
        <p:nvSpPr>
          <p:cNvPr id="33" name="TextBox 32"/>
          <p:cNvSpPr txBox="1"/>
          <p:nvPr/>
        </p:nvSpPr>
        <p:spPr>
          <a:xfrm>
            <a:off x="5333695" y="4069080"/>
            <a:ext cx="3383279" cy="1097280"/>
          </a:xfrm>
          <a:prstGeom prst="rect">
            <a:avLst/>
          </a:prstGeom>
          <a:noFill/>
        </p:spPr>
        <p:txBody>
          <a:bodyPr wrap="square" lIns="0" rIns="0" tIns="0" bIns="0" anchor="t">
            <a:spAutoFit/>
          </a:bodyPr>
          <a:lstStyle/>
          <a:p>
            <a:pPr algn="l">
              <a:spcAft>
                <a:spcPts val="600"/>
              </a:spcAft>
              <a:buNone/>
            </a:pPr>
            <a:r>
              <a:rPr sz="1500" b="0" i="0">
                <a:solidFill>
                  <a:srgbClr val="1E2A3B"/>
                </a:solidFill>
                <a:latin typeface="Calibri"/>
              </a:rPr>
              <a:t>They only get cases with real evidence, pinned on a map, with the report already filled in.</a:t>
            </a:r>
          </a:p>
        </p:txBody>
      </p:sp>
      <p:sp>
        <p:nvSpPr>
          <p:cNvPr id="34" name="Rounded Rectangle 33"/>
          <p:cNvSpPr/>
          <p:nvPr/>
        </p:nvSpPr>
        <p:spPr>
          <a:xfrm>
            <a:off x="9295790" y="2286000"/>
            <a:ext cx="3931920" cy="2971800"/>
          </a:xfrm>
          <a:prstGeom prst="roundRect">
            <a:avLst>
              <a:gd name="adj" fmla="val 8000"/>
            </a:avLst>
          </a:prstGeom>
          <a:solidFill>
            <a:srgbClr val="F3F6FB"/>
          </a:solidFill>
          <a:ln w="12700">
            <a:solidFill>
              <a:srgbClr val="D0D5E7"/>
            </a:solidFill>
          </a:ln>
          <a:effectLst/>
        </p:spPr>
        <p:txBody>
          <a:bodyPr rtlCol="0" anchor="ctr"/>
          <a:lstStyle/>
          <a:p/>
        </p:txBody>
      </p:sp>
      <p:sp>
        <p:nvSpPr>
          <p:cNvPr id="35" name="Oval 34"/>
          <p:cNvSpPr/>
          <p:nvPr/>
        </p:nvSpPr>
        <p:spPr>
          <a:xfrm>
            <a:off x="9570110" y="2542032"/>
            <a:ext cx="868680" cy="868680"/>
          </a:xfrm>
          <a:prstGeom prst="ellipse">
            <a:avLst/>
          </a:prstGeom>
          <a:solidFill>
            <a:srgbClr val="8061A0"/>
          </a:solidFill>
          <a:ln>
            <a:noFill/>
          </a:ln>
          <a:effectLst/>
        </p:spPr>
        <p:txBody>
          <a:bodyPr rtlCol="0" anchor="ctr"/>
          <a:lstStyle/>
          <a:p/>
        </p:txBody>
      </p:sp>
      <p:pic>
        <p:nvPicPr>
          <p:cNvPr id="36" name="Picture 35" descr="MdAccountBalance.png"/>
          <p:cNvPicPr>
            <a:picLocks noChangeAspect="1"/>
          </p:cNvPicPr>
          <p:nvPr/>
        </p:nvPicPr>
        <p:blipFill>
          <a:blip r:embed="rId5"/>
          <a:stretch>
            <a:fillRect/>
          </a:stretch>
        </p:blipFill>
        <p:spPr>
          <a:xfrm>
            <a:off x="9743846" y="2715768"/>
            <a:ext cx="521207" cy="521207"/>
          </a:xfrm>
          <a:prstGeom prst="rect">
            <a:avLst/>
          </a:prstGeom>
        </p:spPr>
      </p:pic>
      <p:sp>
        <p:nvSpPr>
          <p:cNvPr id="37" name="TextBox 36"/>
          <p:cNvSpPr txBox="1"/>
          <p:nvPr/>
        </p:nvSpPr>
        <p:spPr>
          <a:xfrm>
            <a:off x="9570110" y="3566160"/>
            <a:ext cx="3383279" cy="502920"/>
          </a:xfrm>
          <a:prstGeom prst="rect">
            <a:avLst/>
          </a:prstGeom>
          <a:noFill/>
        </p:spPr>
        <p:txBody>
          <a:bodyPr wrap="square" lIns="0" rIns="0" tIns="0" bIns="0" anchor="t">
            <a:spAutoFit/>
          </a:bodyPr>
          <a:lstStyle/>
          <a:p>
            <a:pPr algn="l">
              <a:spcAft>
                <a:spcPts val="600"/>
              </a:spcAft>
              <a:buNone/>
            </a:pPr>
            <a:r>
              <a:rPr sz="1900" b="1" i="0">
                <a:solidFill>
                  <a:srgbClr val="17375D"/>
                </a:solidFill>
                <a:latin typeface="Calibri"/>
              </a:rPr>
              <a:t>Controller of Legal Metrology</a:t>
            </a:r>
          </a:p>
        </p:txBody>
      </p:sp>
      <p:sp>
        <p:nvSpPr>
          <p:cNvPr id="38" name="TextBox 37"/>
          <p:cNvSpPr txBox="1"/>
          <p:nvPr/>
        </p:nvSpPr>
        <p:spPr>
          <a:xfrm>
            <a:off x="9570110" y="4069080"/>
            <a:ext cx="3383279" cy="1097280"/>
          </a:xfrm>
          <a:prstGeom prst="rect">
            <a:avLst/>
          </a:prstGeom>
          <a:noFill/>
        </p:spPr>
        <p:txBody>
          <a:bodyPr wrap="square" lIns="0" rIns="0" tIns="0" bIns="0" anchor="t">
            <a:spAutoFit/>
          </a:bodyPr>
          <a:lstStyle/>
          <a:p>
            <a:pPr algn="l">
              <a:spcAft>
                <a:spcPts val="600"/>
              </a:spcAft>
              <a:buNone/>
            </a:pPr>
            <a:r>
              <a:rPr sz="1500" b="0" i="0">
                <a:solidFill>
                  <a:srgbClr val="1E2A3B"/>
                </a:solidFill>
                <a:latin typeface="Calibri"/>
              </a:rPr>
              <a:t>The photo, fingerprint check, GPS and time, all on one screen. Then confirm, reject or send the notice.</a:t>
            </a:r>
          </a:p>
        </p:txBody>
      </p:sp>
      <p:sp>
        <p:nvSpPr>
          <p:cNvPr id="39" name="Rounded Rectangle 38"/>
          <p:cNvSpPr/>
          <p:nvPr/>
        </p:nvSpPr>
        <p:spPr>
          <a:xfrm>
            <a:off x="13532205" y="2286000"/>
            <a:ext cx="3931920" cy="2971800"/>
          </a:xfrm>
          <a:prstGeom prst="roundRect">
            <a:avLst>
              <a:gd name="adj" fmla="val 8000"/>
            </a:avLst>
          </a:prstGeom>
          <a:solidFill>
            <a:srgbClr val="F3F6FB"/>
          </a:solidFill>
          <a:ln w="12700">
            <a:solidFill>
              <a:srgbClr val="D0D5E7"/>
            </a:solidFill>
          </a:ln>
          <a:effectLst/>
        </p:spPr>
        <p:txBody>
          <a:bodyPr rtlCol="0" anchor="ctr"/>
          <a:lstStyle/>
          <a:p/>
        </p:txBody>
      </p:sp>
      <p:sp>
        <p:nvSpPr>
          <p:cNvPr id="40" name="Oval 39"/>
          <p:cNvSpPr/>
          <p:nvPr/>
        </p:nvSpPr>
        <p:spPr>
          <a:xfrm>
            <a:off x="13806525" y="2542032"/>
            <a:ext cx="868680" cy="868680"/>
          </a:xfrm>
          <a:prstGeom prst="ellipse">
            <a:avLst/>
          </a:prstGeom>
          <a:solidFill>
            <a:srgbClr val="17375D"/>
          </a:solidFill>
          <a:ln>
            <a:noFill/>
          </a:ln>
          <a:effectLst/>
        </p:spPr>
        <p:txBody>
          <a:bodyPr rtlCol="0" anchor="ctr"/>
          <a:lstStyle/>
          <a:p/>
        </p:txBody>
      </p:sp>
      <p:pic>
        <p:nvPicPr>
          <p:cNvPr id="41" name="Picture 40" descr="MdStorefront.png"/>
          <p:cNvPicPr>
            <a:picLocks noChangeAspect="1"/>
          </p:cNvPicPr>
          <p:nvPr/>
        </p:nvPicPr>
        <p:blipFill>
          <a:blip r:embed="rId6"/>
          <a:stretch>
            <a:fillRect/>
          </a:stretch>
        </p:blipFill>
        <p:spPr>
          <a:xfrm>
            <a:off x="13980261" y="2715768"/>
            <a:ext cx="521207" cy="521207"/>
          </a:xfrm>
          <a:prstGeom prst="rect">
            <a:avLst/>
          </a:prstGeom>
        </p:spPr>
      </p:pic>
      <p:sp>
        <p:nvSpPr>
          <p:cNvPr id="42" name="TextBox 41"/>
          <p:cNvSpPr txBox="1"/>
          <p:nvPr/>
        </p:nvSpPr>
        <p:spPr>
          <a:xfrm>
            <a:off x="13806525" y="3566160"/>
            <a:ext cx="3383279" cy="502920"/>
          </a:xfrm>
          <a:prstGeom prst="rect">
            <a:avLst/>
          </a:prstGeom>
          <a:noFill/>
        </p:spPr>
        <p:txBody>
          <a:bodyPr wrap="square" lIns="0" rIns="0" tIns="0" bIns="0" anchor="t">
            <a:spAutoFit/>
          </a:bodyPr>
          <a:lstStyle/>
          <a:p>
            <a:pPr algn="l">
              <a:spcAft>
                <a:spcPts val="600"/>
              </a:spcAft>
              <a:buNone/>
            </a:pPr>
            <a:r>
              <a:rPr sz="1900" b="1" i="0">
                <a:solidFill>
                  <a:srgbClr val="17375D"/>
                </a:solidFill>
                <a:latin typeface="Calibri"/>
              </a:rPr>
              <a:t>Honest manufacturers</a:t>
            </a:r>
          </a:p>
        </p:txBody>
      </p:sp>
      <p:sp>
        <p:nvSpPr>
          <p:cNvPr id="43" name="TextBox 42"/>
          <p:cNvSpPr txBox="1"/>
          <p:nvPr/>
        </p:nvSpPr>
        <p:spPr>
          <a:xfrm>
            <a:off x="13806525" y="4069080"/>
            <a:ext cx="3383279" cy="1097280"/>
          </a:xfrm>
          <a:prstGeom prst="rect">
            <a:avLst/>
          </a:prstGeom>
          <a:noFill/>
        </p:spPr>
        <p:txBody>
          <a:bodyPr wrap="square" lIns="0" rIns="0" tIns="0" bIns="0" anchor="t">
            <a:spAutoFit/>
          </a:bodyPr>
          <a:lstStyle/>
          <a:p>
            <a:pPr algn="l">
              <a:spcAft>
                <a:spcPts val="600"/>
              </a:spcAft>
              <a:buNone/>
            </a:pPr>
            <a:r>
              <a:rPr sz="1500" b="0" i="0">
                <a:solidFill>
                  <a:srgbClr val="1E2A3B"/>
                </a:solidFill>
                <a:latin typeface="Calibri"/>
              </a:rPr>
              <a:t>When we're unsure, it's REVIEW, not FAIL, and two people must agree, so genuine packs don't get wrong notices.</a:t>
            </a:r>
          </a:p>
        </p:txBody>
      </p:sp>
      <p:sp>
        <p:nvSpPr>
          <p:cNvPr id="44" name="TextBox 43"/>
          <p:cNvSpPr txBox="1"/>
          <p:nvPr/>
        </p:nvSpPr>
        <p:spPr>
          <a:xfrm>
            <a:off x="822960" y="5623560"/>
            <a:ext cx="786384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How LMCS compares</a:t>
            </a:r>
          </a:p>
        </p:txBody>
      </p:sp>
      <p:graphicFrame>
        <p:nvGraphicFramePr>
          <p:cNvPr id="45" name="Table 44"/>
          <p:cNvGraphicFramePr>
            <a:graphicFrameLocks noGrp="1"/>
          </p:cNvGraphicFramePr>
          <p:nvPr/>
        </p:nvGraphicFramePr>
        <p:xfrm>
          <a:off x="822960" y="6144768"/>
          <a:ext cx="7863840" cy="2414016"/>
        </p:xfrm>
        <a:graphic>
          <a:graphicData uri="http://schemas.openxmlformats.org/drawingml/2006/table">
            <a:tbl>
              <a:tblPr>
                <a:tableStyleId>{2D5ABB26-0587-4C30-8999-92F81FD0307C}</a:tableStyleId>
              </a:tblPr>
              <a:tblGrid>
                <a:gridCol w="2651760"/>
                <a:gridCol w="1303020"/>
                <a:gridCol w="1303020"/>
                <a:gridCol w="1303020"/>
                <a:gridCol w="1303020"/>
              </a:tblGrid>
              <a:tr h="603504">
                <a:tc>
                  <a:txBody>
                    <a:bodyPr wrap="square"/>
                    <a:lstStyle/>
                    <a:p>
                      <a:r>
                        <a:rPr sz="1450" b="1">
                          <a:solidFill>
                            <a:srgbClr val="FFFFFF"/>
                          </a:solidFill>
                          <a:latin typeface="Calibri"/>
                        </a:rPr>
                        <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pPr algn="ctr"/>
                      <a:r>
                        <a:rPr sz="1450" b="1">
                          <a:solidFill>
                            <a:srgbClr val="FFFFFF"/>
                          </a:solidFill>
                          <a:latin typeface="Calibri"/>
                        </a:rPr>
                        <a:t>Reads label</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pPr algn="ctr"/>
                      <a:r>
                        <a:rPr sz="1450" b="1">
                          <a:solidFill>
                            <a:srgbClr val="FFFFFF"/>
                          </a:solidFill>
                          <a:latin typeface="Calibri"/>
                        </a:rPr>
                        <a:t>LM rule checks</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pPr algn="ctr"/>
                      <a:r>
                        <a:rPr sz="1450" b="1">
                          <a:solidFill>
                            <a:srgbClr val="FFFFFF"/>
                          </a:solidFill>
                          <a:latin typeface="Calibri"/>
                        </a:rPr>
                        <a:t>Registry tamper check</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pPr algn="ctr"/>
                      <a:r>
                        <a:rPr sz="1450" b="1">
                          <a:solidFill>
                            <a:srgbClr val="FFFFFF"/>
                          </a:solidFill>
                          <a:latin typeface="Calibri"/>
                        </a:rPr>
                        <a:t>Evidence to notice</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r>
              <a:tr h="603504">
                <a:tc>
                  <a:txBody>
                    <a:bodyPr wrap="square"/>
                    <a:lstStyle/>
                    <a:p>
                      <a:r>
                        <a:rPr sz="1350" b="1">
                          <a:solidFill>
                            <a:srgbClr val="17375D"/>
                          </a:solidFill>
                          <a:latin typeface="Calibri"/>
                        </a:rPr>
                        <a:t>LMCS</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1">
                          <a:solidFill>
                            <a:srgbClr val="17784F"/>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1">
                          <a:solidFill>
                            <a:srgbClr val="17784F"/>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1">
                          <a:solidFill>
                            <a:srgbClr val="17784F"/>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1">
                          <a:solidFill>
                            <a:srgbClr val="17784F"/>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603504">
                <a:tc>
                  <a:txBody>
                    <a:bodyPr wrap="square"/>
                    <a:lstStyle/>
                    <a:p>
                      <a:r>
                        <a:rPr sz="1350" b="1">
                          <a:solidFill>
                            <a:srgbClr val="1E2A3B"/>
                          </a:solidFill>
                          <a:latin typeface="Calibri"/>
                        </a:rPr>
                        <a:t>Label checkers</a:t>
                      </a:r>
                      <a:r>
                        <a:rPr sz="1250" b="0">
                          <a:solidFill>
                            <a:srgbClr val="4F5B6E"/>
                          </a:solidFill>
                          <a:latin typeface="Calibri"/>
                        </a:rPr>
                        <a:t> (LabelVeda, Esko Comply)</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1">
                          <a:solidFill>
                            <a:srgbClr val="17784F"/>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1">
                          <a:solidFill>
                            <a:srgbClr val="17784F"/>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0">
                          <a:solidFill>
                            <a:srgbClr val="4F5B6E"/>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0">
                          <a:solidFill>
                            <a:srgbClr val="4F5B6E"/>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603504">
                <a:tc>
                  <a:txBody>
                    <a:bodyPr wrap="square"/>
                    <a:lstStyle/>
                    <a:p>
                      <a:r>
                        <a:rPr sz="1350" b="1">
                          <a:solidFill>
                            <a:srgbClr val="1E2A3B"/>
                          </a:solidFill>
                          <a:latin typeface="Calibri"/>
                        </a:rPr>
                        <a:t>Govt portals</a:t>
                      </a:r>
                      <a:r>
                        <a:rPr sz="1250" b="0">
                          <a:solidFill>
                            <a:srgbClr val="4F5B6E"/>
                          </a:solidFill>
                          <a:latin typeface="Calibri"/>
                        </a:rPr>
                        <a:t> (eMaap, TN LMCTS)</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0">
                          <a:solidFill>
                            <a:srgbClr val="4F5B6E"/>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0">
                          <a:solidFill>
                            <a:srgbClr val="4F5B6E"/>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700" b="0">
                          <a:solidFill>
                            <a:srgbClr val="4F5B6E"/>
                          </a:solidFill>
                          <a:latin typeface="Calibri"/>
                        </a:rPr>
                        <a: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pPr algn="ctr"/>
                      <a:r>
                        <a:rPr sz="1350" b="0">
                          <a:solidFill>
                            <a:srgbClr val="9A6412"/>
                          </a:solidFill>
                          <a:latin typeface="Calibri"/>
                        </a:rPr>
                        <a:t>Partly</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bl>
          </a:graphicData>
        </a:graphic>
      </p:graphicFrame>
      <p:sp>
        <p:nvSpPr>
          <p:cNvPr id="46" name="TextBox 45"/>
          <p:cNvSpPr txBox="1"/>
          <p:nvPr/>
        </p:nvSpPr>
        <p:spPr>
          <a:xfrm>
            <a:off x="822960" y="8686800"/>
            <a:ext cx="7863840" cy="457200"/>
          </a:xfrm>
          <a:prstGeom prst="rect">
            <a:avLst/>
          </a:prstGeom>
          <a:noFill/>
        </p:spPr>
        <p:txBody>
          <a:bodyPr wrap="square" lIns="0" rIns="0" tIns="0" bIns="0" anchor="t">
            <a:spAutoFit/>
          </a:bodyPr>
          <a:lstStyle/>
          <a:p>
            <a:pPr algn="l">
              <a:spcAft>
                <a:spcPts val="600"/>
              </a:spcAft>
              <a:buNone/>
            </a:pPr>
            <a:r>
              <a:rPr sz="1250" b="0" i="1">
                <a:solidFill>
                  <a:srgbClr val="4F5B6E"/>
                </a:solidFill>
                <a:latin typeface="Calibri"/>
              </a:rPr>
              <a:t>Based on what these tools say about themselves publicly (details in our proposal).</a:t>
            </a:r>
          </a:p>
        </p:txBody>
      </p:sp>
      <p:cxnSp>
        <p:nvCxnSpPr>
          <p:cNvPr id="47" name="Connector 46"/>
          <p:cNvCxnSpPr/>
          <p:nvPr/>
        </p:nvCxnSpPr>
        <p:spPr>
          <a:xfrm>
            <a:off x="9006840" y="5669280"/>
            <a:ext cx="0" cy="3520440"/>
          </a:xfrm>
          <a:prstGeom prst="line">
            <a:avLst/>
          </a:prstGeom>
          <a:ln w="19050">
            <a:solidFill>
              <a:srgbClr val="D0D5E7"/>
            </a:solidFill>
          </a:ln>
        </p:spPr>
      </p:cxnSp>
      <p:sp>
        <p:nvSpPr>
          <p:cNvPr id="48" name="TextBox 47"/>
          <p:cNvSpPr txBox="1"/>
          <p:nvPr/>
        </p:nvSpPr>
        <p:spPr>
          <a:xfrm>
            <a:off x="9372600" y="5623560"/>
            <a:ext cx="8092440" cy="457200"/>
          </a:xfrm>
          <a:prstGeom prst="rect">
            <a:avLst/>
          </a:prstGeom>
          <a:noFill/>
        </p:spPr>
        <p:txBody>
          <a:bodyPr wrap="square" lIns="0" rIns="0" tIns="0" bIns="0" anchor="t">
            <a:spAutoFit/>
          </a:bodyPr>
          <a:lstStyle/>
          <a:p>
            <a:pPr algn="l">
              <a:spcAft>
                <a:spcPts val="600"/>
              </a:spcAft>
              <a:buNone/>
            </a:pPr>
            <a:r>
              <a:rPr sz="2600" b="1" i="0">
                <a:solidFill>
                  <a:srgbClr val="17375D"/>
                </a:solidFill>
                <a:latin typeface="Calibri"/>
              </a:rPr>
              <a:t>Roadmap</a:t>
            </a:r>
          </a:p>
        </p:txBody>
      </p:sp>
      <p:sp>
        <p:nvSpPr>
          <p:cNvPr id="49" name="Rounded Rectangle 48"/>
          <p:cNvSpPr/>
          <p:nvPr/>
        </p:nvSpPr>
        <p:spPr>
          <a:xfrm>
            <a:off x="9372600" y="6172200"/>
            <a:ext cx="2578608" cy="2514600"/>
          </a:xfrm>
          <a:prstGeom prst="roundRect">
            <a:avLst>
              <a:gd name="adj" fmla="val 8000"/>
            </a:avLst>
          </a:prstGeom>
          <a:solidFill>
            <a:srgbClr val="F3F6FB"/>
          </a:solidFill>
          <a:ln w="12700">
            <a:solidFill>
              <a:srgbClr val="D0D5E7"/>
            </a:solidFill>
          </a:ln>
          <a:effectLst/>
        </p:spPr>
        <p:txBody>
          <a:bodyPr rtlCol="0" anchor="ctr"/>
          <a:lstStyle/>
          <a:p/>
        </p:txBody>
      </p:sp>
      <p:sp>
        <p:nvSpPr>
          <p:cNvPr id="50" name="Rounded Rectangle 49"/>
          <p:cNvSpPr/>
          <p:nvPr/>
        </p:nvSpPr>
        <p:spPr>
          <a:xfrm>
            <a:off x="9537192" y="6336792"/>
            <a:ext cx="1737360" cy="347472"/>
          </a:xfrm>
          <a:prstGeom prst="roundRect">
            <a:avLst>
              <a:gd name="adj" fmla="val 50000"/>
            </a:avLst>
          </a:prstGeom>
          <a:solidFill>
            <a:srgbClr val="17784F"/>
          </a:solidFill>
          <a:ln>
            <a:noFill/>
          </a:ln>
          <a:effectLst/>
        </p:spPr>
        <p:txBody>
          <a:bodyPr rtlCol="0" anchor="ctr" lIns="0" rIns="0" tIns="0" bIns="0"/>
          <a:lstStyle/>
          <a:p>
            <a:pPr algn="ctr"/>
            <a:r>
              <a:rPr sz="1100" b="1">
                <a:solidFill>
                  <a:srgbClr val="FFFFFF"/>
                </a:solidFill>
                <a:latin typeface="Calibri"/>
              </a:rPr>
              <a:t>PHASE 1 · BUILT</a:t>
            </a:r>
          </a:p>
        </p:txBody>
      </p:sp>
      <p:sp>
        <p:nvSpPr>
          <p:cNvPr id="51" name="TextBox 50"/>
          <p:cNvSpPr txBox="1"/>
          <p:nvPr/>
        </p:nvSpPr>
        <p:spPr>
          <a:xfrm>
            <a:off x="9537192" y="6812280"/>
            <a:ext cx="2249424" cy="45720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Core system</a:t>
            </a:r>
          </a:p>
        </p:txBody>
      </p:sp>
      <p:sp>
        <p:nvSpPr>
          <p:cNvPr id="52" name="TextBox 51"/>
          <p:cNvSpPr txBox="1"/>
          <p:nvPr/>
        </p:nvSpPr>
        <p:spPr>
          <a:xfrm>
            <a:off x="9537192" y="7315200"/>
            <a:ext cx="2304288" cy="1828800"/>
          </a:xfrm>
          <a:prstGeom prst="rect">
            <a:avLst/>
          </a:prstGeom>
          <a:noFill/>
        </p:spPr>
        <p:txBody>
          <a:bodyPr wrap="square" lIns="0" rIns="0" tIns="0" bIns="0" anchor="t">
            <a:spAutoFit/>
          </a:bodyPr>
          <a:lstStyle/>
          <a:p>
            <a:pPr algn="l" marL="292608" indent="-292608">
              <a:spcAft>
                <a:spcPts val="400"/>
              </a:spcAft>
              <a:buClr>
                <a:srgbClr val="17375D"/>
              </a:buClr>
              <a:buFont typeface="Arial"/>
              <a:buChar char="•"/>
            </a:pPr>
            <a:r>
              <a:rPr sz="1350" b="0" i="0">
                <a:solidFill>
                  <a:srgbClr val="1E2A3B"/>
                </a:solidFill>
                <a:latin typeface="Calibri"/>
              </a:rPr>
              <a:t>App, server and dashboard</a:t>
            </a:r>
          </a:p>
          <a:p>
            <a:pPr algn="l" marL="292608" indent="-292608">
              <a:spcAft>
                <a:spcPts val="400"/>
              </a:spcAft>
              <a:buClr>
                <a:srgbClr val="17375D"/>
              </a:buClr>
              <a:buFont typeface="Arial"/>
              <a:buChar char="•"/>
            </a:pPr>
            <a:r>
              <a:rPr sz="1350" b="0" i="0">
                <a:solidFill>
                  <a:srgbClr val="1E2A3B"/>
                </a:solidFill>
                <a:latin typeface="Calibri"/>
              </a:rPr>
              <a:t>13 rules, evidence trail</a:t>
            </a:r>
          </a:p>
          <a:p>
            <a:pPr algn="l" marL="292608" indent="-292608">
              <a:spcAft>
                <a:spcPts val="400"/>
              </a:spcAft>
              <a:buClr>
                <a:srgbClr val="17375D"/>
              </a:buClr>
              <a:buFont typeface="Arial"/>
              <a:buChar char="•"/>
            </a:pPr>
            <a:r>
              <a:rPr sz="1350" b="0" i="0">
                <a:solidFill>
                  <a:srgbClr val="1E2A3B"/>
                </a:solidFill>
                <a:latin typeface="Calibri"/>
              </a:rPr>
              <a:t>Tested on 35 real scans</a:t>
            </a:r>
          </a:p>
        </p:txBody>
      </p:sp>
      <p:sp>
        <p:nvSpPr>
          <p:cNvPr id="53" name="Isosceles Triangle 52"/>
          <p:cNvSpPr/>
          <p:nvPr/>
        </p:nvSpPr>
        <p:spPr>
          <a:xfrm rot="5400000">
            <a:off x="11960352" y="7543800"/>
            <a:ext cx="155448" cy="237744"/>
          </a:xfrm>
          <a:prstGeom prst="triangle">
            <a:avLst/>
          </a:prstGeom>
          <a:solidFill>
            <a:srgbClr val="006EBF"/>
          </a:solidFill>
          <a:ln>
            <a:noFill/>
          </a:ln>
          <a:effectLst/>
        </p:spPr>
        <p:txBody>
          <a:bodyPr rtlCol="0" anchor="ctr"/>
          <a:lstStyle/>
          <a:p/>
        </p:txBody>
      </p:sp>
      <p:sp>
        <p:nvSpPr>
          <p:cNvPr id="54" name="Rounded Rectangle 53"/>
          <p:cNvSpPr/>
          <p:nvPr/>
        </p:nvSpPr>
        <p:spPr>
          <a:xfrm>
            <a:off x="12129516" y="6172200"/>
            <a:ext cx="2578608" cy="2514600"/>
          </a:xfrm>
          <a:prstGeom prst="roundRect">
            <a:avLst>
              <a:gd name="adj" fmla="val 8000"/>
            </a:avLst>
          </a:prstGeom>
          <a:solidFill>
            <a:srgbClr val="F3F6FB"/>
          </a:solidFill>
          <a:ln w="12700">
            <a:solidFill>
              <a:srgbClr val="D0D5E7"/>
            </a:solidFill>
          </a:ln>
          <a:effectLst/>
        </p:spPr>
        <p:txBody>
          <a:bodyPr rtlCol="0" anchor="ctr"/>
          <a:lstStyle/>
          <a:p/>
        </p:txBody>
      </p:sp>
      <p:sp>
        <p:nvSpPr>
          <p:cNvPr id="55" name="Rounded Rectangle 54"/>
          <p:cNvSpPr/>
          <p:nvPr/>
        </p:nvSpPr>
        <p:spPr>
          <a:xfrm>
            <a:off x="12294108" y="6336792"/>
            <a:ext cx="1005840" cy="347472"/>
          </a:xfrm>
          <a:prstGeom prst="roundRect">
            <a:avLst>
              <a:gd name="adj" fmla="val 50000"/>
            </a:avLst>
          </a:prstGeom>
          <a:solidFill>
            <a:srgbClr val="006EBF"/>
          </a:solidFill>
          <a:ln>
            <a:noFill/>
          </a:ln>
          <a:effectLst/>
        </p:spPr>
        <p:txBody>
          <a:bodyPr rtlCol="0" anchor="ctr" lIns="0" rIns="0" tIns="0" bIns="0"/>
          <a:lstStyle/>
          <a:p>
            <a:pPr algn="ctr"/>
            <a:r>
              <a:rPr sz="1100" b="1">
                <a:solidFill>
                  <a:srgbClr val="FFFFFF"/>
                </a:solidFill>
                <a:latin typeface="Calibri"/>
              </a:rPr>
              <a:t>PHASE 2</a:t>
            </a:r>
          </a:p>
        </p:txBody>
      </p:sp>
      <p:sp>
        <p:nvSpPr>
          <p:cNvPr id="56" name="TextBox 55"/>
          <p:cNvSpPr txBox="1"/>
          <p:nvPr/>
        </p:nvSpPr>
        <p:spPr>
          <a:xfrm>
            <a:off x="12294108" y="6812280"/>
            <a:ext cx="2249424" cy="45720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Registry &amp; reach</a:t>
            </a:r>
          </a:p>
        </p:txBody>
      </p:sp>
      <p:sp>
        <p:nvSpPr>
          <p:cNvPr id="57" name="TextBox 56"/>
          <p:cNvSpPr txBox="1"/>
          <p:nvPr/>
        </p:nvSpPr>
        <p:spPr>
          <a:xfrm>
            <a:off x="12294108" y="7315200"/>
            <a:ext cx="2304288" cy="1828800"/>
          </a:xfrm>
          <a:prstGeom prst="rect">
            <a:avLst/>
          </a:prstGeom>
          <a:noFill/>
        </p:spPr>
        <p:txBody>
          <a:bodyPr wrap="square" lIns="0" rIns="0" tIns="0" bIns="0" anchor="t">
            <a:spAutoFit/>
          </a:bodyPr>
          <a:lstStyle/>
          <a:p>
            <a:pPr algn="l" marL="292608" indent="-292608">
              <a:spcAft>
                <a:spcPts val="400"/>
              </a:spcAft>
              <a:buClr>
                <a:srgbClr val="17375D"/>
              </a:buClr>
              <a:buFont typeface="Arial"/>
              <a:buChar char="•"/>
            </a:pPr>
            <a:r>
              <a:rPr sz="1350" b="0" i="0">
                <a:solidFill>
                  <a:srgbClr val="1E2A3B"/>
                </a:solidFill>
                <a:latin typeface="Calibri"/>
              </a:rPr>
              <a:t>Registry from Rule 27 data</a:t>
            </a:r>
          </a:p>
          <a:p>
            <a:pPr algn="l" marL="292608" indent="-292608">
              <a:spcAft>
                <a:spcPts val="400"/>
              </a:spcAft>
              <a:buClr>
                <a:srgbClr val="17375D"/>
              </a:buClr>
              <a:buFont typeface="Arial"/>
              <a:buChar char="•"/>
            </a:pPr>
            <a:r>
              <a:rPr sz="1350" b="0" i="0">
                <a:solidFill>
                  <a:srgbClr val="1E2A3B"/>
                </a:solidFill>
                <a:latin typeface="Calibri"/>
              </a:rPr>
              <a:t>Hindi and regional labels</a:t>
            </a:r>
          </a:p>
          <a:p>
            <a:pPr algn="l" marL="292608" indent="-292608">
              <a:spcAft>
                <a:spcPts val="400"/>
              </a:spcAft>
              <a:buClr>
                <a:srgbClr val="17375D"/>
              </a:buClr>
              <a:buFont typeface="Arial"/>
              <a:buChar char="•"/>
            </a:pPr>
            <a:r>
              <a:rPr sz="1350" b="0" i="0">
                <a:solidFill>
                  <a:srgbClr val="1E2A3B"/>
                </a:solidFill>
                <a:latin typeface="Calibri"/>
              </a:rPr>
              <a:t>Offline mode for inspectors</a:t>
            </a:r>
          </a:p>
          <a:p>
            <a:pPr algn="l" marL="292608" indent="-292608">
              <a:spcAft>
                <a:spcPts val="400"/>
              </a:spcAft>
              <a:buClr>
                <a:srgbClr val="17375D"/>
              </a:buClr>
              <a:buFont typeface="Arial"/>
              <a:buChar char="•"/>
            </a:pPr>
            <a:r>
              <a:rPr sz="1350" b="0" i="0">
                <a:solidFill>
                  <a:srgbClr val="1E2A3B"/>
                </a:solidFill>
                <a:latin typeface="Calibri"/>
              </a:rPr>
              <a:t>Cloud hosting over HTTPS</a:t>
            </a:r>
          </a:p>
        </p:txBody>
      </p:sp>
      <p:sp>
        <p:nvSpPr>
          <p:cNvPr id="58" name="Isosceles Triangle 57"/>
          <p:cNvSpPr/>
          <p:nvPr/>
        </p:nvSpPr>
        <p:spPr>
          <a:xfrm rot="5400000">
            <a:off x="14717268" y="7543800"/>
            <a:ext cx="155448" cy="237744"/>
          </a:xfrm>
          <a:prstGeom prst="triangle">
            <a:avLst/>
          </a:prstGeom>
          <a:solidFill>
            <a:srgbClr val="006EBF"/>
          </a:solidFill>
          <a:ln>
            <a:noFill/>
          </a:ln>
          <a:effectLst/>
        </p:spPr>
        <p:txBody>
          <a:bodyPr rtlCol="0" anchor="ctr"/>
          <a:lstStyle/>
          <a:p/>
        </p:txBody>
      </p:sp>
      <p:sp>
        <p:nvSpPr>
          <p:cNvPr id="59" name="Rounded Rectangle 58"/>
          <p:cNvSpPr/>
          <p:nvPr/>
        </p:nvSpPr>
        <p:spPr>
          <a:xfrm>
            <a:off x="14886432" y="6172200"/>
            <a:ext cx="2578608" cy="2514600"/>
          </a:xfrm>
          <a:prstGeom prst="roundRect">
            <a:avLst>
              <a:gd name="adj" fmla="val 8000"/>
            </a:avLst>
          </a:prstGeom>
          <a:solidFill>
            <a:srgbClr val="F3F6FB"/>
          </a:solidFill>
          <a:ln w="12700">
            <a:solidFill>
              <a:srgbClr val="D0D5E7"/>
            </a:solidFill>
          </a:ln>
          <a:effectLst/>
        </p:spPr>
        <p:txBody>
          <a:bodyPr rtlCol="0" anchor="ctr"/>
          <a:lstStyle/>
          <a:p/>
        </p:txBody>
      </p:sp>
      <p:sp>
        <p:nvSpPr>
          <p:cNvPr id="60" name="Rounded Rectangle 59"/>
          <p:cNvSpPr/>
          <p:nvPr/>
        </p:nvSpPr>
        <p:spPr>
          <a:xfrm>
            <a:off x="15051024" y="6336792"/>
            <a:ext cx="1005840" cy="347472"/>
          </a:xfrm>
          <a:prstGeom prst="roundRect">
            <a:avLst>
              <a:gd name="adj" fmla="val 50000"/>
            </a:avLst>
          </a:prstGeom>
          <a:solidFill>
            <a:srgbClr val="8061A0"/>
          </a:solidFill>
          <a:ln>
            <a:noFill/>
          </a:ln>
          <a:effectLst/>
        </p:spPr>
        <p:txBody>
          <a:bodyPr rtlCol="0" anchor="ctr" lIns="0" rIns="0" tIns="0" bIns="0"/>
          <a:lstStyle/>
          <a:p>
            <a:pPr algn="ctr"/>
            <a:r>
              <a:rPr sz="1100" b="1">
                <a:solidFill>
                  <a:srgbClr val="FFFFFF"/>
                </a:solidFill>
                <a:latin typeface="Calibri"/>
              </a:rPr>
              <a:t>PHASE 3</a:t>
            </a:r>
          </a:p>
        </p:txBody>
      </p:sp>
      <p:sp>
        <p:nvSpPr>
          <p:cNvPr id="61" name="TextBox 60"/>
          <p:cNvSpPr txBox="1"/>
          <p:nvPr/>
        </p:nvSpPr>
        <p:spPr>
          <a:xfrm>
            <a:off x="15051024" y="6812280"/>
            <a:ext cx="2249424" cy="457200"/>
          </a:xfrm>
          <a:prstGeom prst="rect">
            <a:avLst/>
          </a:prstGeom>
          <a:noFill/>
        </p:spPr>
        <p:txBody>
          <a:bodyPr wrap="square" lIns="0" rIns="0" tIns="0" bIns="0" anchor="t">
            <a:spAutoFit/>
          </a:bodyPr>
          <a:lstStyle/>
          <a:p>
            <a:pPr algn="l">
              <a:spcAft>
                <a:spcPts val="600"/>
              </a:spcAft>
              <a:buNone/>
            </a:pPr>
            <a:r>
              <a:rPr sz="1700" b="1" i="0">
                <a:solidFill>
                  <a:srgbClr val="17375D"/>
                </a:solidFill>
                <a:latin typeface="Calibri"/>
              </a:rPr>
              <a:t>Pilot</a:t>
            </a:r>
          </a:p>
        </p:txBody>
      </p:sp>
      <p:sp>
        <p:nvSpPr>
          <p:cNvPr id="62" name="TextBox 61"/>
          <p:cNvSpPr txBox="1"/>
          <p:nvPr/>
        </p:nvSpPr>
        <p:spPr>
          <a:xfrm>
            <a:off x="15051024" y="7315200"/>
            <a:ext cx="2304288" cy="1828800"/>
          </a:xfrm>
          <a:prstGeom prst="rect">
            <a:avLst/>
          </a:prstGeom>
          <a:noFill/>
        </p:spPr>
        <p:txBody>
          <a:bodyPr wrap="square" lIns="0" rIns="0" tIns="0" bIns="0" anchor="t">
            <a:spAutoFit/>
          </a:bodyPr>
          <a:lstStyle/>
          <a:p>
            <a:pPr algn="l" marL="292608" indent="-292608">
              <a:spcAft>
                <a:spcPts val="400"/>
              </a:spcAft>
              <a:buClr>
                <a:srgbClr val="17375D"/>
              </a:buClr>
              <a:buFont typeface="Arial"/>
              <a:buChar char="•"/>
            </a:pPr>
            <a:r>
              <a:rPr sz="1350" b="0" i="0">
                <a:solidFill>
                  <a:srgbClr val="1E2A3B"/>
                </a:solidFill>
                <a:latin typeface="Calibri"/>
              </a:rPr>
              <a:t>Try it with a Legal Metrology office</a:t>
            </a:r>
          </a:p>
          <a:p>
            <a:pPr algn="l" marL="292608" indent="-292608">
              <a:spcAft>
                <a:spcPts val="400"/>
              </a:spcAft>
              <a:buClr>
                <a:srgbClr val="17375D"/>
              </a:buClr>
              <a:buFont typeface="Arial"/>
              <a:buChar char="•"/>
            </a:pPr>
            <a:r>
              <a:rPr sz="1350" b="0" i="0">
                <a:solidFill>
                  <a:srgbClr val="1E2A3B"/>
                </a:solidFill>
                <a:latin typeface="Calibri"/>
              </a:rPr>
              <a:t>Trained FSSAI-mark detector</a:t>
            </a:r>
          </a:p>
          <a:p>
            <a:pPr algn="l" marL="292608" indent="-292608">
              <a:spcAft>
                <a:spcPts val="400"/>
              </a:spcAft>
              <a:buClr>
                <a:srgbClr val="17375D"/>
              </a:buClr>
              <a:buFont typeface="Arial"/>
              <a:buChar char="•"/>
            </a:pPr>
            <a:r>
              <a:rPr sz="1350" b="0" i="0">
                <a:solidFill>
                  <a:srgbClr val="1E2A3B"/>
                </a:solidFill>
                <a:latin typeface="Calibri"/>
              </a:rPr>
              <a:t>Check e-commerce listings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93776" y="329184"/>
            <a:ext cx="2185416" cy="1207008"/>
          </a:xfrm>
          <a:custGeom>
            <a:avLst/>
            <a:gdLst/>
            <a:ahLst/>
            <a:cxnLst/>
            <a:rect l="l" t="t" r="r" b="b"/>
            <a:pathLst>
              <a:path w="2256790" h="1209040">
                <a:moveTo>
                  <a:pt x="0" y="604258"/>
                </a:moveTo>
                <a:lnTo>
                  <a:pt x="14764" y="506213"/>
                </a:lnTo>
                <a:lnTo>
                  <a:pt x="57535" y="413309"/>
                </a:lnTo>
                <a:lnTo>
                  <a:pt x="125930" y="326497"/>
                </a:lnTo>
                <a:lnTo>
                  <a:pt x="169082" y="285947"/>
                </a:lnTo>
                <a:lnTo>
                  <a:pt x="217664" y="247300"/>
                </a:lnTo>
                <a:lnTo>
                  <a:pt x="271580" y="210938"/>
                </a:lnTo>
                <a:lnTo>
                  <a:pt x="330449" y="177051"/>
                </a:lnTo>
                <a:lnTo>
                  <a:pt x="393986" y="145448"/>
                </a:lnTo>
                <a:lnTo>
                  <a:pt x="461905" y="116511"/>
                </a:lnTo>
                <a:lnTo>
                  <a:pt x="533920" y="90619"/>
                </a:lnTo>
                <a:lnTo>
                  <a:pt x="609745" y="67393"/>
                </a:lnTo>
                <a:lnTo>
                  <a:pt x="689095" y="47404"/>
                </a:lnTo>
                <a:lnTo>
                  <a:pt x="771684" y="30841"/>
                </a:lnTo>
                <a:lnTo>
                  <a:pt x="857130" y="17514"/>
                </a:lnTo>
                <a:lnTo>
                  <a:pt x="945244" y="7995"/>
                </a:lnTo>
                <a:lnTo>
                  <a:pt x="1035739" y="2094"/>
                </a:lnTo>
                <a:lnTo>
                  <a:pt x="1128234" y="0"/>
                </a:lnTo>
                <a:lnTo>
                  <a:pt x="1220730" y="2094"/>
                </a:lnTo>
                <a:lnTo>
                  <a:pt x="1311225" y="7995"/>
                </a:lnTo>
                <a:lnTo>
                  <a:pt x="1399338" y="17514"/>
                </a:lnTo>
                <a:lnTo>
                  <a:pt x="1484880" y="30841"/>
                </a:lnTo>
                <a:lnTo>
                  <a:pt x="1567373" y="47404"/>
                </a:lnTo>
                <a:lnTo>
                  <a:pt x="1646818" y="67393"/>
                </a:lnTo>
                <a:lnTo>
                  <a:pt x="1722643" y="90619"/>
                </a:lnTo>
                <a:lnTo>
                  <a:pt x="1794658" y="116511"/>
                </a:lnTo>
                <a:lnTo>
                  <a:pt x="1862482" y="145448"/>
                </a:lnTo>
                <a:lnTo>
                  <a:pt x="1926114" y="177051"/>
                </a:lnTo>
                <a:lnTo>
                  <a:pt x="1984983" y="210938"/>
                </a:lnTo>
                <a:lnTo>
                  <a:pt x="2038900" y="247300"/>
                </a:lnTo>
                <a:lnTo>
                  <a:pt x="2087481" y="285947"/>
                </a:lnTo>
                <a:lnTo>
                  <a:pt x="2130538" y="326497"/>
                </a:lnTo>
                <a:lnTo>
                  <a:pt x="2198933" y="413309"/>
                </a:lnTo>
                <a:lnTo>
                  <a:pt x="2241799" y="506213"/>
                </a:lnTo>
                <a:lnTo>
                  <a:pt x="2256469" y="604258"/>
                </a:lnTo>
                <a:lnTo>
                  <a:pt x="2252658" y="653756"/>
                </a:lnTo>
                <a:lnTo>
                  <a:pt x="2223700" y="749516"/>
                </a:lnTo>
                <a:lnTo>
                  <a:pt x="2167879" y="839374"/>
                </a:lnTo>
                <a:lnTo>
                  <a:pt x="2087481" y="922569"/>
                </a:lnTo>
                <a:lnTo>
                  <a:pt x="2038900" y="961216"/>
                </a:lnTo>
                <a:lnTo>
                  <a:pt x="1984984" y="997578"/>
                </a:lnTo>
                <a:lnTo>
                  <a:pt x="1926114" y="1031465"/>
                </a:lnTo>
                <a:lnTo>
                  <a:pt x="1862482" y="1063068"/>
                </a:lnTo>
                <a:lnTo>
                  <a:pt x="1794658" y="1092005"/>
                </a:lnTo>
                <a:lnTo>
                  <a:pt x="1722644" y="1117896"/>
                </a:lnTo>
                <a:lnTo>
                  <a:pt x="1646818" y="1141123"/>
                </a:lnTo>
                <a:lnTo>
                  <a:pt x="1567373" y="1161112"/>
                </a:lnTo>
                <a:lnTo>
                  <a:pt x="1484880" y="1177675"/>
                </a:lnTo>
                <a:lnTo>
                  <a:pt x="1399338" y="1191001"/>
                </a:lnTo>
                <a:lnTo>
                  <a:pt x="1311225" y="1200520"/>
                </a:lnTo>
                <a:lnTo>
                  <a:pt x="1220730" y="1206422"/>
                </a:lnTo>
                <a:lnTo>
                  <a:pt x="1128234" y="1208516"/>
                </a:lnTo>
                <a:lnTo>
                  <a:pt x="1035739" y="1206422"/>
                </a:lnTo>
                <a:lnTo>
                  <a:pt x="945244" y="1200520"/>
                </a:lnTo>
                <a:lnTo>
                  <a:pt x="857130" y="1191001"/>
                </a:lnTo>
                <a:lnTo>
                  <a:pt x="771684" y="1177675"/>
                </a:lnTo>
                <a:lnTo>
                  <a:pt x="689095" y="1161112"/>
                </a:lnTo>
                <a:lnTo>
                  <a:pt x="609745" y="1141123"/>
                </a:lnTo>
                <a:lnTo>
                  <a:pt x="533920" y="1117897"/>
                </a:lnTo>
                <a:lnTo>
                  <a:pt x="461905" y="1092005"/>
                </a:lnTo>
                <a:lnTo>
                  <a:pt x="393986" y="1063068"/>
                </a:lnTo>
                <a:lnTo>
                  <a:pt x="330449" y="1031465"/>
                </a:lnTo>
                <a:lnTo>
                  <a:pt x="271580" y="997578"/>
                </a:lnTo>
                <a:lnTo>
                  <a:pt x="217664" y="961216"/>
                </a:lnTo>
                <a:lnTo>
                  <a:pt x="168987" y="922569"/>
                </a:lnTo>
                <a:lnTo>
                  <a:pt x="125835" y="882019"/>
                </a:lnTo>
                <a:lnTo>
                  <a:pt x="57440" y="795207"/>
                </a:lnTo>
                <a:lnTo>
                  <a:pt x="14764" y="702302"/>
                </a:lnTo>
                <a:lnTo>
                  <a:pt x="0" y="604258"/>
                </a:lnTo>
                <a:close/>
              </a:path>
            </a:pathLst>
          </a:custGeom>
          <a:ln w="9520">
            <a:solidFill>
              <a:srgbClr val="8061A0"/>
            </a:solidFill>
          </a:ln>
        </p:spPr>
        <p:txBody>
          <a:bodyPr wrap="square" lIns="0" tIns="0" rIns="0" bIns="0" rtlCol="0"/>
          <a:lstStyle/>
          <a:p/>
        </p:txBody>
      </p:sp>
      <p:sp>
        <p:nvSpPr>
          <p:cNvPr id="4" name="object 4"/>
          <p:cNvSpPr txBox="1"/>
          <p:nvPr/>
        </p:nvSpPr>
        <p:spPr>
          <a:xfrm>
            <a:off x="493776" y="329184"/>
            <a:ext cx="2185416" cy="1207008"/>
          </a:xfrm>
          <a:prstGeom prst="rect">
            <a:avLst/>
          </a:prstGeom>
        </p:spPr>
        <p:txBody>
          <a:bodyPr wrap="none" lIns="0" tIns="0" rIns="0" bIns="0" rtlCol="0" vert="horz" anchor="ctr">
            <a:spAutoFit/>
          </a:bodyPr>
          <a:lstStyle/>
          <a:p>
            <a:pPr algn="ctr">
              <a:lnSpc>
                <a:spcPct val="100000"/>
              </a:lnSpc>
              <a:spcBef>
                <a:spcPts val="100"/>
              </a:spcBef>
            </a:pPr>
            <a:r>
              <a:rPr dirty="0" sz="2800" b="1">
                <a:solidFill>
                  <a:srgbClr val="17375D"/>
                </a:solidFill>
                <a:latin typeface="Calibri"/>
                <a:cs typeface="Calibri"/>
              </a:rPr>
              <a:t>HexTech</a:t>
            </a:r>
            <a:endParaRPr sz="2700">
              <a:latin typeface="Calibri"/>
              <a:cs typeface="Calibri"/>
            </a:endParaRPr>
          </a:p>
        </p:txBody>
      </p:sp>
      <p:sp>
        <p:nvSpPr>
          <p:cNvPr id="2" name="object 2" descr="$PPTXTitle"/>
          <p:cNvSpPr txBox="1">
            <a:spLocks noGrp="1"/>
          </p:cNvSpPr>
          <p:nvPr>
            <p:ph type="title"/>
          </p:nvPr>
        </p:nvSpPr>
        <p:spPr>
          <a:xfrm>
            <a:off x="3108960" y="338328"/>
            <a:ext cx="12070080" cy="850392"/>
          </a:xfrm>
          <a:prstGeom prst="rect"/>
        </p:spPr>
        <p:txBody>
          <a:bodyPr wrap="square" lIns="0" tIns="0" rIns="0" bIns="0" rtlCol="0" vert="horz" anchor="ctr">
            <a:spAutoFit/>
          </a:bodyPr>
          <a:lstStyle/>
          <a:p>
            <a:pPr algn="ctr">
              <a:lnSpc>
                <a:spcPct val="100000"/>
              </a:lnSpc>
              <a:spcBef>
                <a:spcPts val="100"/>
              </a:spcBef>
            </a:pPr>
            <a:r>
              <a:rPr dirty="0"/>
              <a:t>RESEARCH AND </a:t>
            </a:r>
            <a:r>
              <a:rPr dirty="0" spc="-10"/>
              <a:t>REFERENCES</a:t>
            </a:r>
          </a:p>
        </p:txBody>
      </p:sp>
      <p:pic>
        <p:nvPicPr>
          <p:cNvPr id="5" name="object 5"/>
          <p:cNvPicPr/>
          <p:nvPr/>
        </p:nvPicPr>
        <p:blipFill>
          <a:blip r:embed="rId2" cstate="print"/>
          <a:stretch>
            <a:fillRect/>
          </a:stretch>
        </p:blipFill>
        <p:spPr>
          <a:xfrm>
            <a:off x="14712123" y="30937"/>
            <a:ext cx="3304793" cy="1535906"/>
          </a:xfrm>
          <a:prstGeom prst="rect">
            <a:avLst/>
          </a:prstGeom>
        </p:spPr>
      </p:pic>
      <p:sp>
        <p:nvSpPr>
          <p:cNvPr id="8" name="object 8"/>
          <p:cNvSpPr/>
          <p:nvPr/>
        </p:nvSpPr>
        <p:spPr>
          <a:xfrm>
            <a:off x="10599949" y="8126678"/>
            <a:ext cx="11430" cy="28575"/>
          </a:xfrm>
          <a:custGeom>
            <a:avLst/>
            <a:gdLst/>
            <a:ahLst/>
            <a:cxnLst/>
            <a:rect l="l" t="t" r="r" b="b"/>
            <a:pathLst>
              <a:path w="11429" h="28575">
                <a:moveTo>
                  <a:pt x="11211" y="28574"/>
                </a:moveTo>
                <a:lnTo>
                  <a:pt x="0" y="28574"/>
                </a:lnTo>
                <a:lnTo>
                  <a:pt x="0" y="0"/>
                </a:lnTo>
                <a:lnTo>
                  <a:pt x="11211" y="0"/>
                </a:lnTo>
                <a:lnTo>
                  <a:pt x="11211" y="28574"/>
                </a:lnTo>
                <a:close/>
              </a:path>
            </a:pathLst>
          </a:custGeom>
          <a:solidFill>
            <a:srgbClr val="1F467B"/>
          </a:solidFill>
        </p:spPr>
        <p:txBody>
          <a:bodyPr wrap="square" lIns="0" tIns="0" rIns="0" bIns="0" rtlCol="0"/>
          <a:lstStyle/>
          <a:p/>
        </p:txBody>
      </p:sp>
      <p:sp>
        <p:nvSpPr>
          <p:cNvPr id="9" name="object 9"/>
          <p:cNvSpPr/>
          <p:nvPr/>
        </p:nvSpPr>
        <p:spPr>
          <a:xfrm>
            <a:off x="10709624" y="8126678"/>
            <a:ext cx="224154" cy="28575"/>
          </a:xfrm>
          <a:custGeom>
            <a:avLst/>
            <a:gdLst/>
            <a:ahLst/>
            <a:cxnLst/>
            <a:rect l="l" t="t" r="r" b="b"/>
            <a:pathLst>
              <a:path w="224154" h="28575">
                <a:moveTo>
                  <a:pt x="223622" y="28574"/>
                </a:moveTo>
                <a:lnTo>
                  <a:pt x="0" y="28574"/>
                </a:lnTo>
                <a:lnTo>
                  <a:pt x="0" y="0"/>
                </a:lnTo>
                <a:lnTo>
                  <a:pt x="223622" y="0"/>
                </a:lnTo>
                <a:lnTo>
                  <a:pt x="223622" y="28574"/>
                </a:lnTo>
                <a:close/>
              </a:path>
            </a:pathLst>
          </a:custGeom>
          <a:solidFill>
            <a:srgbClr val="1F467B"/>
          </a:solidFill>
        </p:spPr>
        <p:txBody>
          <a:bodyPr wrap="square" lIns="0" tIns="0" rIns="0" bIns="0" rtlCol="0"/>
          <a:lstStyle/>
          <a:p/>
        </p:txBody>
      </p:sp>
      <p:sp>
        <p:nvSpPr>
          <p:cNvPr id="10" name="object 10"/>
          <p:cNvSpPr txBox="1"/>
          <p:nvPr/>
        </p:nvSpPr>
        <p:spPr>
          <a:xfrm>
            <a:off x="7254875" y="7082255"/>
            <a:ext cx="3778250" cy="1105535"/>
          </a:xfrm>
          <a:prstGeom prst="rect">
            <a:avLst/>
          </a:prstGeom>
        </p:spPr>
        <p:txBody>
          <a:bodyPr wrap="square" lIns="0" tIns="13970" rIns="0" bIns="0" rtlCol="0" vert="horz">
            <a:spAutoFit/>
          </a:bodyPr>
          <a:lstStyle/>
          <a:p>
            <a:pPr marL="12700">
              <a:lnSpc>
                <a:spcPct val="100000"/>
              </a:lnSpc>
              <a:spcBef>
                <a:spcPts val="110"/>
              </a:spcBef>
            </a:pPr>
            <a:r>
              <a:rPr dirty="0" sz="2600" spc="-10" b="1">
                <a:solidFill>
                  <a:srgbClr val="17375D"/>
                </a:solidFill>
                <a:latin typeface="Calibri"/>
                <a:cs typeface="Calibri"/>
              </a:rPr>
              <a:t>Prototype</a:t>
            </a:r>
            <a:r>
              <a:rPr dirty="0" sz="2600" spc="-75" b="1">
                <a:solidFill>
                  <a:srgbClr val="17375D"/>
                </a:solidFill>
                <a:latin typeface="Calibri"/>
                <a:cs typeface="Calibri"/>
              </a:rPr>
              <a:t> </a:t>
            </a:r>
            <a:r>
              <a:rPr dirty="0" sz="2600" b="1">
                <a:solidFill>
                  <a:srgbClr val="17375D"/>
                </a:solidFill>
                <a:latin typeface="Calibri"/>
                <a:cs typeface="Calibri"/>
              </a:rPr>
              <a:t>Demo</a:t>
            </a:r>
            <a:r>
              <a:rPr dirty="0" sz="2600" spc="-75" b="1">
                <a:solidFill>
                  <a:srgbClr val="17375D"/>
                </a:solidFill>
                <a:latin typeface="Calibri"/>
                <a:cs typeface="Calibri"/>
              </a:rPr>
              <a:t> </a:t>
            </a:r>
            <a:r>
              <a:rPr dirty="0" sz="2600" b="1">
                <a:solidFill>
                  <a:srgbClr val="17375D"/>
                </a:solidFill>
                <a:latin typeface="Calibri"/>
                <a:cs typeface="Calibri"/>
              </a:rPr>
              <a:t>Video</a:t>
            </a:r>
            <a:r>
              <a:rPr dirty="0" sz="2600" spc="-75" b="1">
                <a:solidFill>
                  <a:srgbClr val="17375D"/>
                </a:solidFill>
                <a:latin typeface="Calibri"/>
                <a:cs typeface="Calibri"/>
              </a:rPr>
              <a:t> </a:t>
            </a:r>
            <a:r>
              <a:rPr dirty="0" sz="2600" spc="-20" b="1">
                <a:solidFill>
                  <a:srgbClr val="17375D"/>
                </a:solidFill>
                <a:latin typeface="Calibri"/>
                <a:cs typeface="Calibri"/>
              </a:rPr>
              <a:t>Link</a:t>
            </a:r>
            <a:endParaRPr sz="2600">
              <a:latin typeface="Calibri"/>
              <a:cs typeface="Calibri"/>
            </a:endParaRPr>
          </a:p>
          <a:p>
            <a:pPr marL="115570">
              <a:lnSpc>
                <a:spcPct val="100000"/>
              </a:lnSpc>
              <a:spcBef>
                <a:spcPts val="2240"/>
              </a:spcBef>
            </a:pPr>
            <a:r>
              <a:rPr dirty="0" u="sng" sz="2600" spc="-190" b="1">
                <a:solidFill>
                  <a:srgbClr val="17375D"/>
                </a:solidFill>
                <a:uFill>
                  <a:solidFill>
                    <a:srgbClr val="1F467B"/>
                  </a:solidFill>
                </a:uFill>
                <a:latin typeface="Malgun Gothic"/>
                <a:cs typeface="Malgun Gothic"/>
                <a:hlinkClick r:id="rId6">
                  <a:extLst>
                    <a:ext uri="{A12FA001-AC4F-418D-AE19-62706E023703}">
                      <ahyp:hlinkClr xmlns:ahyp="http://schemas.microsoft.com/office/drawing/2018/hyperlinkcolor" val="tx"/>
                    </a:ext>
                  </a:extLst>
                </a:hlinkClick>
              </a:rPr>
              <a:t>▶</a:t>
            </a:r>
            <a:r>
              <a:rPr dirty="0" sz="2600" spc="-455" b="1" u="sng">
                <a:solidFill>
                  <a:srgbClr val="17375D"/>
                </a:solidFill>
                <a:latin typeface="Malgun Gothic"/>
                <a:cs typeface="Malgun Gothic"/>
                <a:hlinkClick r:id="rId6">
                  <a:extLst>
                    <a:ext uri="{A12FA001-AC4F-418D-AE19-62706E023703}">
                      <ahyp:hlinkClr xmlns:ahyp="http://schemas.microsoft.com/office/drawing/2018/hyperlinkcolor" val="tx"/>
                    </a:ext>
                  </a:extLst>
                </a:hlinkClick>
              </a:rPr>
              <a:t> </a:t>
            </a:r>
            <a:r>
              <a:rPr dirty="0" u="sng" sz="2400" spc="-55" b="1">
                <a:solidFill>
                  <a:srgbClr val="17375D"/>
                </a:solidFill>
                <a:uFill>
                  <a:solidFill>
                    <a:srgbClr val="1F467B"/>
                  </a:solidFill>
                </a:uFill>
                <a:latin typeface="Calibri"/>
                <a:cs typeface="Calibri"/>
                <a:hlinkClick r:id="rId6">
                  <a:extLst>
                    <a:ext uri="{A12FA001-AC4F-418D-AE19-62706E023703}">
                      <ahyp:hlinkClr xmlns:ahyp="http://schemas.microsoft.com/office/drawing/2018/hyperlinkcolor" val="tx"/>
                    </a:ext>
                  </a:extLst>
                </a:hlinkClick>
              </a:rPr>
              <a:t>Watch</a:t>
            </a:r>
            <a:r>
              <a:rPr dirty="0" u="sng" sz="2400" spc="-30" b="1">
                <a:solidFill>
                  <a:srgbClr val="17375D"/>
                </a:solidFill>
                <a:uFill>
                  <a:solidFill>
                    <a:srgbClr val="1F467B"/>
                  </a:solidFill>
                </a:uFill>
                <a:latin typeface="Calibri"/>
                <a:cs typeface="Calibri"/>
                <a:hlinkClick r:id="rId6">
                  <a:extLst>
                    <a:ext uri="{A12FA001-AC4F-418D-AE19-62706E023703}">
                      <ahyp:hlinkClr xmlns:ahyp="http://schemas.microsoft.com/office/drawing/2018/hyperlinkcolor" val="tx"/>
                    </a:ext>
                  </a:extLst>
                </a:hlinkClick>
              </a:rPr>
              <a:t> </a:t>
            </a:r>
            <a:r>
              <a:rPr dirty="0" u="sng" sz="2400" spc="-25" b="1">
                <a:solidFill>
                  <a:srgbClr val="17375D"/>
                </a:solidFill>
                <a:uFill>
                  <a:solidFill>
                    <a:srgbClr val="1F467B"/>
                  </a:solidFill>
                </a:uFill>
                <a:latin typeface="Calibri"/>
                <a:cs typeface="Calibri"/>
                <a:hlinkClick r:id="rId6">
                  <a:extLst>
                    <a:ext uri="{A12FA001-AC4F-418D-AE19-62706E023703}">
                      <ahyp:hlinkClr xmlns:ahyp="http://schemas.microsoft.com/office/drawing/2018/hyperlinkcolor" val="tx"/>
                    </a:ext>
                  </a:extLst>
                </a:hlinkClick>
              </a:rPr>
              <a:t>Working</a:t>
            </a:r>
            <a:r>
              <a:rPr dirty="0" u="sng" sz="2400" spc="-254" b="1">
                <a:solidFill>
                  <a:srgbClr val="17375D"/>
                </a:solidFill>
                <a:uFill>
                  <a:solidFill>
                    <a:srgbClr val="1F467B"/>
                  </a:solidFill>
                </a:uFill>
                <a:latin typeface="Calibri"/>
                <a:cs typeface="Calibri"/>
                <a:hlinkClick r:id="rId6">
                  <a:extLst>
                    <a:ext uri="{A12FA001-AC4F-418D-AE19-62706E023703}">
                      <ahyp:hlinkClr xmlns:ahyp="http://schemas.microsoft.com/office/drawing/2018/hyperlinkcolor" val="tx"/>
                    </a:ext>
                  </a:extLst>
                </a:hlinkClick>
              </a:rPr>
              <a:t> </a:t>
            </a:r>
            <a:r>
              <a:rPr dirty="0" u="sng" sz="2400" spc="-10" b="1">
                <a:solidFill>
                  <a:srgbClr val="17375D"/>
                </a:solidFill>
                <a:uFill>
                  <a:solidFill>
                    <a:srgbClr val="1F467B"/>
                  </a:solidFill>
                </a:uFill>
                <a:latin typeface="Calibri"/>
                <a:cs typeface="Calibri"/>
                <a:hlinkClick r:id="rId6">
                  <a:extLst>
                    <a:ext uri="{A12FA001-AC4F-418D-AE19-62706E023703}">
                      <ahyp:hlinkClr xmlns:ahyp="http://schemas.microsoft.com/office/drawing/2018/hyperlinkcolor" val="tx"/>
                    </a:ext>
                  </a:extLst>
                </a:hlinkClick>
              </a:rPr>
              <a:t>Protot</a:t>
            </a:r>
            <a:r>
              <a:rPr dirty="0" sz="2400" spc="-10" b="1" u="sng">
                <a:solidFill>
                  <a:srgbClr val="17375D"/>
                </a:solidFill>
                <a:latin typeface="Calibri"/>
                <a:cs typeface="Calibri"/>
                <a:hlinkClick r:id="rId6">
                  <a:extLst>
                    <a:ext uri="{A12FA001-AC4F-418D-AE19-62706E023703}">
                      <ahyp:hlinkClr xmlns:ahyp="http://schemas.microsoft.com/office/drawing/2018/hyperlinkcolor" val="tx"/>
                    </a:ext>
                  </a:extLst>
                </a:hlinkClick>
              </a:rPr>
              <a:t>ype</a:t>
            </a:r>
            <a:endParaRPr sz="2400">
              <a:latin typeface="Calibri"/>
              <a:cs typeface="Calibri"/>
            </a:endParaRPr>
          </a:p>
        </p:txBody>
      </p:sp>
      <p:sp>
        <p:nvSpPr>
          <p:cNvPr id="7" name="object 7"/>
          <p:cNvSpPr txBox="1"/>
          <p:nvPr/>
        </p:nvSpPr>
        <p:spPr>
          <a:xfrm>
            <a:off x="6696710" y="8799543"/>
            <a:ext cx="4894580" cy="423545"/>
          </a:xfrm>
          <a:prstGeom prst="rect">
            <a:avLst/>
          </a:prstGeom>
        </p:spPr>
        <p:txBody>
          <a:bodyPr wrap="square" lIns="0" tIns="13970" rIns="0" bIns="0" rtlCol="0" vert="horz">
            <a:spAutoFit/>
          </a:bodyPr>
          <a:lstStyle/>
          <a:p>
            <a:pPr marL="12700" algn="ctr">
              <a:lnSpc>
                <a:spcPct val="100000"/>
              </a:lnSpc>
              <a:spcBef>
                <a:spcPts val="110"/>
              </a:spcBef>
            </a:pPr>
            <a:r>
              <a:rPr dirty="0" sz="2600" b="1">
                <a:solidFill>
                  <a:srgbClr val="17375D"/>
                </a:solidFill>
                <a:latin typeface="Calibri"/>
                <a:cs typeface="Calibri"/>
              </a:rPr>
              <a:t>Scan</a:t>
            </a:r>
            <a:r>
              <a:rPr dirty="0" sz="2600" spc="-105" b="1">
                <a:solidFill>
                  <a:srgbClr val="17375D"/>
                </a:solidFill>
                <a:latin typeface="Calibri"/>
                <a:cs typeface="Calibri"/>
              </a:rPr>
              <a:t> </a:t>
            </a:r>
            <a:r>
              <a:rPr dirty="0" sz="2600" b="1">
                <a:solidFill>
                  <a:srgbClr val="17375D"/>
                </a:solidFill>
                <a:latin typeface="Calibri"/>
                <a:cs typeface="Calibri"/>
              </a:rPr>
              <a:t>Smart.</a:t>
            </a:r>
            <a:r>
              <a:rPr dirty="0" sz="2600" spc="-100" b="1">
                <a:solidFill>
                  <a:srgbClr val="17375D"/>
                </a:solidFill>
                <a:latin typeface="Calibri"/>
                <a:cs typeface="Calibri"/>
              </a:rPr>
              <a:t> </a:t>
            </a:r>
            <a:r>
              <a:rPr dirty="0" sz="2600" b="1">
                <a:solidFill>
                  <a:srgbClr val="17375D"/>
                </a:solidFill>
                <a:latin typeface="Calibri"/>
                <a:cs typeface="Calibri"/>
              </a:rPr>
              <a:t>Verify</a:t>
            </a:r>
            <a:r>
              <a:rPr dirty="0" sz="2600" spc="-105" b="1">
                <a:solidFill>
                  <a:srgbClr val="17375D"/>
                </a:solidFill>
                <a:latin typeface="Calibri"/>
                <a:cs typeface="Calibri"/>
              </a:rPr>
              <a:t> </a:t>
            </a:r>
            <a:r>
              <a:rPr dirty="0" sz="2600" b="1">
                <a:solidFill>
                  <a:srgbClr val="17375D"/>
                </a:solidFill>
                <a:latin typeface="Calibri"/>
                <a:cs typeface="Calibri"/>
              </a:rPr>
              <a:t>Right.</a:t>
            </a:r>
            <a:r>
              <a:rPr dirty="0" sz="2600" spc="-100" b="1">
                <a:solidFill>
                  <a:srgbClr val="17375D"/>
                </a:solidFill>
                <a:latin typeface="Calibri"/>
                <a:cs typeface="Calibri"/>
              </a:rPr>
              <a:t> </a:t>
            </a:r>
            <a:r>
              <a:rPr dirty="0" sz="2600" b="1">
                <a:solidFill>
                  <a:srgbClr val="17375D"/>
                </a:solidFill>
                <a:latin typeface="Calibri"/>
                <a:cs typeface="Calibri"/>
              </a:rPr>
              <a:t>Protect</a:t>
            </a:r>
            <a:r>
              <a:rPr dirty="0" sz="2600" spc="-105" b="1">
                <a:solidFill>
                  <a:srgbClr val="17375D"/>
                </a:solidFill>
                <a:latin typeface="Calibri"/>
                <a:cs typeface="Calibri"/>
              </a:rPr>
              <a:t> </a:t>
            </a:r>
            <a:r>
              <a:rPr dirty="0" sz="2600" spc="-25" b="1">
                <a:solidFill>
                  <a:srgbClr val="17375D"/>
                </a:solidFill>
                <a:latin typeface="Calibri"/>
                <a:cs typeface="Calibri"/>
              </a:rPr>
              <a:t>All</a:t>
            </a:r>
            <a:endParaRPr sz="2600">
              <a:latin typeface="Calibri"/>
              <a:cs typeface="Calibri"/>
            </a:endParaRPr>
          </a:p>
        </p:txBody>
      </p:sp>
      <p:sp>
        <p:nvSpPr>
          <p:cNvPr id="12" name="object 12"/>
          <p:cNvSpPr txBox="1">
            <a:spLocks noGrp="1"/>
          </p:cNvSpPr>
          <p:nvPr>
            <p:ph type="ftr" idx="5" sz="quarter"/>
          </p:nvPr>
        </p:nvSpPr>
        <p:spPr>
          <a:prstGeom prst="rect"/>
        </p:spPr>
        <p:txBody>
          <a:bodyPr wrap="square" lIns="0" tIns="0" rIns="0" bIns="0" rtlCol="0" vert="horz">
            <a:spAutoFit/>
          </a:bodyPr>
          <a:lstStyle/>
          <a:p>
            <a:pPr marL="12700">
              <a:lnSpc>
                <a:spcPts val="1810"/>
              </a:lnSpc>
            </a:pPr>
            <a:r>
              <a:rPr dirty="0"/>
              <a:t>@SIH</a:t>
            </a:r>
            <a:r>
              <a:rPr dirty="0" spc="-70"/>
              <a:t> </a:t>
            </a:r>
            <a:r>
              <a:rPr dirty="0"/>
              <a:t>Idea</a:t>
            </a:r>
            <a:r>
              <a:rPr dirty="0" spc="-65"/>
              <a:t> </a:t>
            </a:r>
            <a:r>
              <a:rPr dirty="0" spc="-20"/>
              <a:t>submission-</a:t>
            </a:r>
            <a:r>
              <a:rPr dirty="0" spc="-70"/>
              <a:t> </a:t>
            </a:r>
            <a:r>
              <a:rPr dirty="0" spc="-10"/>
              <a:t>Template</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2090"/>
              </a:lnSpc>
            </a:pPr>
            <a:fld id="{81D60167-4931-47E6-BA6A-407CBD079E47}" type="slidenum">
              <a:rPr dirty="0" spc="-50"/>
              <a:t>2</a:t>
            </a:fld>
          </a:p>
        </p:txBody>
      </p:sp>
      <p:graphicFrame>
        <p:nvGraphicFramePr>
          <p:cNvPr id="13" name="Table 12"/>
          <p:cNvGraphicFramePr>
            <a:graphicFrameLocks noGrp="1"/>
          </p:cNvGraphicFramePr>
          <p:nvPr/>
        </p:nvGraphicFramePr>
        <p:xfrm>
          <a:off x="822960" y="2011680"/>
          <a:ext cx="16642080" cy="4526280"/>
        </p:xfrm>
        <a:graphic>
          <a:graphicData uri="http://schemas.openxmlformats.org/drawingml/2006/table">
            <a:tbl>
              <a:tblPr>
                <a:tableStyleId>{2D5ABB26-0587-4C30-8999-92F81FD0307C}</a:tableStyleId>
              </a:tblPr>
              <a:tblGrid>
                <a:gridCol w="8321040"/>
                <a:gridCol w="8321040"/>
              </a:tblGrid>
              <a:tr h="502920">
                <a:tc>
                  <a:txBody>
                    <a:bodyPr wrap="square"/>
                    <a:lstStyle/>
                    <a:p>
                      <a:r>
                        <a:rPr sz="1550" b="1">
                          <a:solidFill>
                            <a:srgbClr val="FFFFFF"/>
                          </a:solidFill>
                          <a:latin typeface="Calibri"/>
                        </a:rPr>
                        <a:t>Reference</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c>
                  <a:txBody>
                    <a:bodyPr wrap="square"/>
                    <a:lstStyle/>
                    <a:p>
                      <a:r>
                        <a:rPr sz="1550" b="1">
                          <a:solidFill>
                            <a:srgbClr val="FFFFFF"/>
                          </a:solidFill>
                          <a:latin typeface="Calibri"/>
                        </a:rPr>
                        <a:t>How we used it</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17375D"/>
                    </a:solidFill>
                  </a:tcPr>
                </a:tc>
              </a:tr>
              <a:tr h="502920">
                <a:tc>
                  <a:txBody>
                    <a:bodyPr wrap="square"/>
                    <a:lstStyle/>
                    <a:p>
                      <a:r>
                        <a:rPr sz="1450" b="1">
                          <a:solidFill>
                            <a:srgbClr val="1E2A3B"/>
                          </a:solidFill>
                          <a:latin typeface="Calibri"/>
                        </a:rPr>
                        <a:t>Legal Metrology (Packaged Commodities) Rules, 2011</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12 checks cite Rules 6, 9 and 27; the GSTIN check cites GST Rule 46</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502920">
                <a:tc>
                  <a:txBody>
                    <a:bodyPr wrap="square"/>
                    <a:lstStyle/>
                    <a:p>
                      <a:r>
                        <a:rPr sz="1450" b="1">
                          <a:solidFill>
                            <a:srgbClr val="1E2A3B"/>
                          </a:solidFill>
                          <a:latin typeface="Calibri"/>
                        </a:rPr>
                        <a:t>Machine vision &amp; product code recognition</a:t>
                      </a:r>
                    </a:p>
                    <a:p>
                      <a:r>
                        <a:rPr sz="1350" b="0" u="sng">
                          <a:solidFill>
                            <a:srgbClr val="17375D"/>
                          </a:solidFill>
                          <a:latin typeface="Calibri"/>
                          <a:hlinkClick r:id="rId3">
                            <a:extLst>
                              <a:ext uri="{A12FA001-AC4F-418D-AE19-62706E023703}">
                                <ahyp:hlinkClr xmlns:ahyp="http://schemas.microsoft.com/office/drawing/2018/hyperlinkcolor" val="tx"/>
                              </a:ext>
                            </a:extLst>
                          </a:hlinkClick>
                        </a:rPr>
                        <a:t>pmc.ncbi.nlm.nih.gov/articles/PMC10521108</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How OCR and text detection work on packaging</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502920">
                <a:tc>
                  <a:txBody>
                    <a:bodyPr wrap="square"/>
                    <a:lstStyle/>
                    <a:p>
                      <a:r>
                        <a:rPr sz="1450" b="1">
                          <a:solidFill>
                            <a:srgbClr val="1E2A3B"/>
                          </a:solidFill>
                          <a:latin typeface="Calibri"/>
                        </a:rPr>
                        <a:t>Packaged Commodities Registration portal</a:t>
                      </a:r>
                    </a:p>
                    <a:p>
                      <a:r>
                        <a:rPr sz="1350" b="0" u="sng">
                          <a:solidFill>
                            <a:srgbClr val="17375D"/>
                          </a:solidFill>
                          <a:latin typeface="Calibri"/>
                          <a:hlinkClick r:id="rId4">
                            <a:extLst>
                              <a:ext uri="{A12FA001-AC4F-418D-AE19-62706E023703}">
                                <ahyp:hlinkClr xmlns:ahyp="http://schemas.microsoft.com/office/drawing/2018/hyperlinkcolor" val="tx"/>
                              </a:ext>
                            </a:extLst>
                          </a:hlinkClick>
                        </a:rPr>
                        <a:t>lm.doca.gov.in/pcr/certificates</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Where a real product registry would get its data (Rule 27)</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502920">
                <a:tc>
                  <a:txBody>
                    <a:bodyPr wrap="square"/>
                    <a:lstStyle/>
                    <a:p>
                      <a:r>
                        <a:rPr sz="1450" b="1">
                          <a:solidFill>
                            <a:srgbClr val="1E2A3B"/>
                          </a:solidFill>
                          <a:latin typeface="Calibri"/>
                        </a:rPr>
                        <a:t>Grocery label detection &amp; recognition</a:t>
                      </a:r>
                    </a:p>
                    <a:p>
                      <a:r>
                        <a:rPr sz="1350" b="0" u="sng">
                          <a:solidFill>
                            <a:srgbClr val="17375D"/>
                          </a:solidFill>
                          <a:latin typeface="Calibri"/>
                          <a:hlinkClick r:id="rId5">
                            <a:extLst>
                              <a:ext uri="{A12FA001-AC4F-418D-AE19-62706E023703}">
                                <ahyp:hlinkClr xmlns:ahyp="http://schemas.microsoft.com/office/drawing/2018/hyperlinkcolor" val="tx"/>
                              </a:ext>
                            </a:extLst>
                          </a:hlinkClick>
                        </a:rPr>
                        <a:t>mdpi.com/2076-3417/13/5/2871</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What goes wrong with label photos: glare, curves, messy layouts</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502920">
                <a:tc>
                  <a:txBody>
                    <a:bodyPr wrap="square"/>
                    <a:lstStyle/>
                    <a:p>
                      <a:r>
                        <a:rPr sz="1450" b="1">
                          <a:solidFill>
                            <a:srgbClr val="1E2A3B"/>
                          </a:solidFill>
                          <a:latin typeface="Calibri"/>
                        </a:rPr>
                        <a:t>Google ML Kit: Text Recognition v2 and Barcode Scanning</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Reads the label text (with line positions) and the barcode on the phone</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502920">
                <a:tc>
                  <a:txBody>
                    <a:bodyPr wrap="square"/>
                    <a:lstStyle/>
                    <a:p>
                      <a:r>
                        <a:rPr sz="1450" b="1">
                          <a:solidFill>
                            <a:srgbClr val="1E2A3B"/>
                          </a:solidFill>
                          <a:latin typeface="Calibri"/>
                        </a:rPr>
                        <a:t>N. Otsu (1979), threshold selection from gray-level histograms</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OpenCV uses Otsu's method to split ink from paper for the Rule 10 contrast check</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502920">
                <a:tc>
                  <a:txBody>
                    <a:bodyPr wrap="square"/>
                    <a:lstStyle/>
                    <a:p>
                      <a:r>
                        <a:rPr sz="1450" b="1">
                          <a:solidFill>
                            <a:srgbClr val="1E2A3B"/>
                          </a:solidFill>
                          <a:latin typeface="Calibri"/>
                        </a:rPr>
                        <a:t>GS1 General Specifications</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An EAN-13 barcode is 37.29 mm wide, so we use it as a ruler for Rule 9</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r h="502920">
                <a:tc>
                  <a:txBody>
                    <a:bodyPr wrap="square"/>
                    <a:lstStyle/>
                    <a:p>
                      <a:r>
                        <a:rPr sz="1450" b="1">
                          <a:solidFill>
                            <a:srgbClr val="1E2A3B"/>
                          </a:solidFill>
                          <a:latin typeface="Calibri"/>
                        </a:rPr>
                        <a:t>WCAG 2.1 contrast ratio</a:t>
                      </a:r>
                    </a:p>
                    <a:p>
                      <a:r>
                        <a:rPr sz="1350" b="0" u="sng">
                          <a:solidFill>
                            <a:srgbClr val="17375D"/>
                          </a:solidFill>
                          <a:latin typeface="Calibri"/>
                          <a:hlinkClick r:id="rId7">
                            <a:extLst>
                              <a:ext uri="{A12FA001-AC4F-418D-AE19-62706E023703}">
                                <ahyp:hlinkClr xmlns:ahyp="http://schemas.microsoft.com/office/drawing/2018/hyperlinkcolor" val="tx"/>
                              </a:ext>
                            </a:extLst>
                          </a:hlinkClick>
                        </a:rPr>
                        <a:t>w3.org/TR/WCAG21</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c>
                  <a:txBody>
                    <a:bodyPr wrap="square"/>
                    <a:lstStyle/>
                    <a:p>
                      <a:r>
                        <a:rPr sz="1450" b="0">
                          <a:solidFill>
                            <a:srgbClr val="1E2A3B"/>
                          </a:solidFill>
                          <a:latin typeface="Calibri"/>
                        </a:rPr>
                        <a:t>Where our 4.5:1 readability line for Rule 10 comes from</a:t>
                      </a:r>
                    </a:p>
                  </a:txBody>
                  <a:tcPr marL="109728" marR="109728" marT="64008" marB="64008" anchor="ctr">
                    <a:lnL w="9525" cap="flat" cmpd="sng" algn="ctr">
                      <a:solidFill>
                        <a:srgbClr val="BFC8D6"/>
                      </a:solidFill>
                      <a:prstDash val="solid"/>
                    </a:lnL>
                    <a:lnR w="9525" cap="flat" cmpd="sng" algn="ctr">
                      <a:solidFill>
                        <a:srgbClr val="BFC8D6"/>
                      </a:solidFill>
                      <a:prstDash val="solid"/>
                    </a:lnR>
                    <a:lnT w="9525" cap="flat" cmpd="sng" algn="ctr">
                      <a:solidFill>
                        <a:srgbClr val="BFC8D6"/>
                      </a:solidFill>
                      <a:prstDash val="solid"/>
                    </a:lnT>
                    <a:lnB w="9525" cap="flat" cmpd="sng" algn="ctr">
                      <a:solidFill>
                        <a:srgbClr val="BFC8D6"/>
                      </a:solidFill>
                      <a:prstDash val="soli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JERBIN M URK24CS1265</dc:creator>
  <cp:keywords>DAHVDURAeOo,BAGbmgv4leQ</cp:keywords>
  <dc:title>Problem Statement ID – 26034 Problem Statement Title- Software System to check compliance of packaged commodities under Legal Metrology (Packaged Commodities) Rules,2011 by scanning product images and labels. Theme- Miscellaneous PS Category- Software</dc:title>
  <dcterms:created xsi:type="dcterms:W3CDTF">2026-09-21T10:58:39Z</dcterms:created>
  <dcterms:modified xsi:type="dcterms:W3CDTF">2026-09-21T10:58:39Z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v10.0.20070.1</vt:lpwstr>
  </property>
  <property fmtid="{D5CDD505-2E9C-101B-9397-08002B2CF9AE}" pid="3" name="Created">
    <vt:filetime>2026-09-14T00:00:00Z</vt:filetime>
  </property>
  <property fmtid="{D5CDD505-2E9C-101B-9397-08002B2CF9AE}" pid="4" name="Creator">
    <vt:lpwstr>Canva</vt:lpwstr>
  </property>
  <property fmtid="{D5CDD505-2E9C-101B-9397-08002B2CF9AE}" pid="5" name="LastSaved">
    <vt:filetime>2026-09-21T00:00:00Z</vt:filetime>
  </property>
  <property fmtid="{D5CDD505-2E9C-101B-9397-08002B2CF9AE}" pid="6" name="Producer">
    <vt:lpwstr>Canva</vt:lpwstr>
  </property>
  <property fmtid="{D5CDD505-2E9C-101B-9397-08002B2CF9AE}" pid="7" name="containsAiGeneratedContent">
    <vt:lpwstr>Yes</vt:lpwstr>
  </property>
</Properties>
</file>
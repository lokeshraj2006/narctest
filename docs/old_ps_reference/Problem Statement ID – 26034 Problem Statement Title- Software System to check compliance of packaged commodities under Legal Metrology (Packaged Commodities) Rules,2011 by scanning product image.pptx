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nature.com/articles/s41598-026-42266-9" TargetMode="External" Type="http://schemas.openxmlformats.org/officeDocument/2006/relationships/hyperlink"/><Relationship Id="rId11" Target="https://www.pib.gov.in/PressReleasePage.aspx?PRID=2278745&amp;lang=1&amp;reg=3" TargetMode="External" Type="http://schemas.openxmlformats.org/officeDocument/2006/relationships/hyperlink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https://consumeraffairs.gov.in/pages/legal-metrology-act" TargetMode="External" Type="http://schemas.openxmlformats.org/officeDocument/2006/relationships/hyperlink"/><Relationship Id="rId7" Target="https://lm.doca.gov.in/pcr/certificates" TargetMode="External" Type="http://schemas.openxmlformats.org/officeDocument/2006/relationships/hyperlink"/><Relationship Id="rId8" Target="https://consumerhelpline.gov.in/public/" TargetMode="External" Type="http://schemas.openxmlformats.org/officeDocument/2006/relationships/hyperlink"/><Relationship Id="rId9" Target="https://youtu.be/mnKpSr1TcaA?si=O-i5wA8bHeqz7oG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69262" y="2286"/>
            <a:ext cx="3376422" cy="1593342"/>
            <a:chOff x="0" y="0"/>
            <a:chExt cx="4501896" cy="2124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01896" cy="2124456"/>
            </a:xfrm>
            <a:custGeom>
              <a:avLst/>
              <a:gdLst/>
              <a:ahLst/>
              <a:cxnLst/>
              <a:rect r="r" b="b" t="t" l="l"/>
              <a:pathLst>
                <a:path h="2124456" w="4501896">
                  <a:moveTo>
                    <a:pt x="0" y="0"/>
                  </a:moveTo>
                  <a:lnTo>
                    <a:pt x="4501896" y="0"/>
                  </a:lnTo>
                  <a:lnTo>
                    <a:pt x="4501896" y="2124456"/>
                  </a:lnTo>
                  <a:lnTo>
                    <a:pt x="0" y="2124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6" t="0" r="-166" b="0"/>
              </a:stretch>
            </a:blipFill>
          </p:spPr>
        </p:sp>
      </p:grpSp>
      <p:sp>
        <p:nvSpPr>
          <p:cNvPr name="TextBox 7" id="7" descr="$PPTXTitle"/>
          <p:cNvSpPr txBox="true"/>
          <p:nvPr/>
        </p:nvSpPr>
        <p:spPr>
          <a:xfrm rot="0">
            <a:off x="2204847" y="177994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5821" y="2227550"/>
            <a:ext cx="10175481" cy="637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26034</a:t>
            </a:r>
          </a:p>
          <a:p>
            <a:pPr algn="l">
              <a:lnSpc>
                <a:spcPts val="5661"/>
              </a:lnSpc>
            </a:pPr>
            <a:r>
              <a:rPr lang="en-US" sz="2933" b="true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 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System to check 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 of Packaged Commodities under Legal Metrology (Packaged Commodities) Rules, 2011 by scanning products, images and labels.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Miscellaneous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7952906" y="1874069"/>
            <a:ext cx="0" cy="7384231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91335" y="4893331"/>
            <a:ext cx="7288123" cy="4564540"/>
          </a:xfrm>
          <a:custGeom>
            <a:avLst/>
            <a:gdLst/>
            <a:ahLst/>
            <a:cxnLst/>
            <a:rect r="r" b="b" t="t" l="l"/>
            <a:pathLst>
              <a:path h="4564540" w="7288123">
                <a:moveTo>
                  <a:pt x="0" y="0"/>
                </a:moveTo>
                <a:lnTo>
                  <a:pt x="7288123" y="0"/>
                </a:lnTo>
                <a:lnTo>
                  <a:pt x="7288123" y="4564540"/>
                </a:lnTo>
                <a:lnTo>
                  <a:pt x="0" y="4564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392" t="-31527" r="-12763" b="-41101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671017" y="4261403"/>
            <a:ext cx="7281890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952906" y="4625461"/>
            <a:ext cx="9306394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969601" y="5654161"/>
            <a:ext cx="9488741" cy="3076428"/>
          </a:xfrm>
          <a:custGeom>
            <a:avLst/>
            <a:gdLst/>
            <a:ahLst/>
            <a:cxnLst/>
            <a:rect r="r" b="b" t="t" l="l"/>
            <a:pathLst>
              <a:path h="3076428" w="9488741">
                <a:moveTo>
                  <a:pt x="0" y="0"/>
                </a:moveTo>
                <a:lnTo>
                  <a:pt x="9488741" y="0"/>
                </a:lnTo>
                <a:lnTo>
                  <a:pt x="9488741" y="3076427"/>
                </a:lnTo>
                <a:lnTo>
                  <a:pt x="0" y="307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91802" y="460629"/>
            <a:ext cx="697284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5999" b="true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5" id="15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915" y="1965141"/>
            <a:ext cx="6943256" cy="205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"/>
              </a:lnSpc>
            </a:pPr>
            <a:r>
              <a:rPr lang="en-US" sz="2299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Problem: </a:t>
            </a:r>
          </a:p>
          <a:p>
            <a:pPr algn="l">
              <a:lnSpc>
                <a:spcPts val="3449"/>
              </a:lnSpc>
            </a:pP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Checki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 each label manually takes a lot of time, and mistakes are easy to make.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Most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people don't know what a label must contain, so missing or misleading details go unnoticed.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11900" y="1927041"/>
            <a:ext cx="8804144" cy="250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1"/>
              </a:lnSpc>
            </a:pPr>
            <a:r>
              <a:rPr lang="en-US" b="true" sz="2300" spc="-11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 &amp; Uniqueness:</a:t>
            </a:r>
          </a:p>
          <a:p>
            <a:pPr algn="l">
              <a:lnSpc>
                <a:spcPts val="3450"/>
              </a:lnSpc>
            </a:pP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</a:t>
            </a:r>
            <a:r>
              <a:rPr lang="en-US" sz="2000" spc="-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 Evidence -</a:t>
            </a:r>
            <a:r>
              <a:rPr lang="en-US" sz="2000" spc="-11">
                <a:solidFill>
                  <a:srgbClr val="17375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000" spc="-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Image + GPS + timestamp + Evidence ID + SHA-256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Compliance Management - Admin can update or modify the rules when they are revised.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Human Verification - Unclear results - REVIEW with Inspector and Controller approval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5073" y="4405917"/>
            <a:ext cx="341233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ROLE-BASED</a:t>
            </a:r>
            <a:r>
              <a:rPr lang="en-US" sz="19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SYSTEM WORKFLOW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04721" y="5035036"/>
            <a:ext cx="41153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COMPLIANCE</a:t>
            </a:r>
            <a:r>
              <a:rPr lang="en-US" sz="19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VERIFICATION WORKFLOW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12124" y="30937"/>
            <a:ext cx="3304794" cy="1535925"/>
            <a:chOff x="0" y="0"/>
            <a:chExt cx="4406392" cy="204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06392" cy="2047875"/>
            </a:xfrm>
            <a:custGeom>
              <a:avLst/>
              <a:gdLst/>
              <a:ahLst/>
              <a:cxnLst/>
              <a:rect r="r" b="b" t="t" l="l"/>
              <a:pathLst>
                <a:path h="2047875" w="4406392">
                  <a:moveTo>
                    <a:pt x="0" y="0"/>
                  </a:moveTo>
                  <a:lnTo>
                    <a:pt x="4406392" y="0"/>
                  </a:lnTo>
                  <a:lnTo>
                    <a:pt x="4406392" y="2047875"/>
                  </a:lnTo>
                  <a:lnTo>
                    <a:pt x="0" y="2047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7" t="0" r="-167" b="-1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74372" y="5460150"/>
            <a:ext cx="15433703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6423295" y="6369788"/>
            <a:ext cx="0" cy="2091288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35872" y="2831712"/>
            <a:ext cx="10454720" cy="2439008"/>
          </a:xfrm>
          <a:custGeom>
            <a:avLst/>
            <a:gdLst/>
            <a:ahLst/>
            <a:cxnLst/>
            <a:rect r="r" b="b" t="t" l="l"/>
            <a:pathLst>
              <a:path h="2439008" w="10454720">
                <a:moveTo>
                  <a:pt x="0" y="0"/>
                </a:moveTo>
                <a:lnTo>
                  <a:pt x="10454720" y="0"/>
                </a:lnTo>
                <a:lnTo>
                  <a:pt x="10454720" y="2439008"/>
                </a:lnTo>
                <a:lnTo>
                  <a:pt x="0" y="24390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286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66170" y="7593765"/>
            <a:ext cx="1380967" cy="566197"/>
          </a:xfrm>
          <a:custGeom>
            <a:avLst/>
            <a:gdLst/>
            <a:ahLst/>
            <a:cxnLst/>
            <a:rect r="r" b="b" t="t" l="l"/>
            <a:pathLst>
              <a:path h="566197" w="1380967">
                <a:moveTo>
                  <a:pt x="0" y="0"/>
                </a:moveTo>
                <a:lnTo>
                  <a:pt x="1380967" y="0"/>
                </a:lnTo>
                <a:lnTo>
                  <a:pt x="1380967" y="566197"/>
                </a:lnTo>
                <a:lnTo>
                  <a:pt x="0" y="566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7947137" y="7880051"/>
            <a:ext cx="191020" cy="0"/>
          </a:xfrm>
          <a:prstGeom prst="line">
            <a:avLst/>
          </a:prstGeom>
          <a:ln cap="flat" w="19050">
            <a:solidFill>
              <a:srgbClr val="17375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2353411" y="8770470"/>
            <a:ext cx="8139767" cy="452756"/>
            <a:chOff x="0" y="0"/>
            <a:chExt cx="138918695" cy="7727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918702" cy="7727042"/>
            </a:xfrm>
            <a:custGeom>
              <a:avLst/>
              <a:gdLst/>
              <a:ahLst/>
              <a:cxnLst/>
              <a:rect r="r" b="b" t="t" l="l"/>
              <a:pathLst>
                <a:path h="7727042" w="138918702">
                  <a:moveTo>
                    <a:pt x="22827" y="0"/>
                  </a:moveTo>
                  <a:lnTo>
                    <a:pt x="138895869" y="0"/>
                  </a:lnTo>
                  <a:cubicBezTo>
                    <a:pt x="138908482" y="0"/>
                    <a:pt x="138918702" y="10220"/>
                    <a:pt x="138918702" y="22827"/>
                  </a:cubicBezTo>
                  <a:lnTo>
                    <a:pt x="138918702" y="7704215"/>
                  </a:lnTo>
                  <a:cubicBezTo>
                    <a:pt x="138918702" y="7716822"/>
                    <a:pt x="138908482" y="7727042"/>
                    <a:pt x="138895869" y="7727042"/>
                  </a:cubicBezTo>
                  <a:lnTo>
                    <a:pt x="22827" y="7727042"/>
                  </a:lnTo>
                  <a:cubicBezTo>
                    <a:pt x="10220" y="7727042"/>
                    <a:pt x="0" y="7716822"/>
                    <a:pt x="0" y="7704215"/>
                  </a:cubicBezTo>
                  <a:lnTo>
                    <a:pt x="0" y="22827"/>
                  </a:lnTo>
                  <a:cubicBezTo>
                    <a:pt x="0" y="10220"/>
                    <a:pt x="10220" y="0"/>
                    <a:pt x="22827" y="0"/>
                  </a:cubicBezTo>
                  <a:close/>
                </a:path>
              </a:pathLst>
            </a:custGeom>
            <a:solidFill>
              <a:srgbClr val="D0D6E8"/>
            </a:solidFill>
            <a:ln w="19050" cap="rnd">
              <a:solidFill>
                <a:srgbClr val="1F477B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138918695" cy="7831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357812" y="2072813"/>
            <a:ext cx="0" cy="3387337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8138157" y="7593765"/>
            <a:ext cx="1380967" cy="566197"/>
          </a:xfrm>
          <a:custGeom>
            <a:avLst/>
            <a:gdLst/>
            <a:ahLst/>
            <a:cxnLst/>
            <a:rect r="r" b="b" t="t" l="l"/>
            <a:pathLst>
              <a:path h="566197" w="1380967">
                <a:moveTo>
                  <a:pt x="0" y="0"/>
                </a:moveTo>
                <a:lnTo>
                  <a:pt x="1380968" y="0"/>
                </a:lnTo>
                <a:lnTo>
                  <a:pt x="1380968" y="566197"/>
                </a:lnTo>
                <a:lnTo>
                  <a:pt x="0" y="566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09625" y="7596953"/>
            <a:ext cx="1380967" cy="566197"/>
          </a:xfrm>
          <a:custGeom>
            <a:avLst/>
            <a:gdLst/>
            <a:ahLst/>
            <a:cxnLst/>
            <a:rect r="r" b="b" t="t" l="l"/>
            <a:pathLst>
              <a:path h="566197" w="1380967">
                <a:moveTo>
                  <a:pt x="0" y="0"/>
                </a:moveTo>
                <a:lnTo>
                  <a:pt x="1380967" y="0"/>
                </a:lnTo>
                <a:lnTo>
                  <a:pt x="1380967" y="566196"/>
                </a:lnTo>
                <a:lnTo>
                  <a:pt x="0" y="566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281092" y="7593765"/>
            <a:ext cx="1380967" cy="566197"/>
          </a:xfrm>
          <a:custGeom>
            <a:avLst/>
            <a:gdLst/>
            <a:ahLst/>
            <a:cxnLst/>
            <a:rect r="r" b="b" t="t" l="l"/>
            <a:pathLst>
              <a:path h="566197" w="1380967">
                <a:moveTo>
                  <a:pt x="0" y="0"/>
                </a:moveTo>
                <a:lnTo>
                  <a:pt x="1380967" y="0"/>
                </a:lnTo>
                <a:lnTo>
                  <a:pt x="1380967" y="566197"/>
                </a:lnTo>
                <a:lnTo>
                  <a:pt x="0" y="566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9518604" y="7867338"/>
            <a:ext cx="191020" cy="0"/>
          </a:xfrm>
          <a:prstGeom prst="line">
            <a:avLst/>
          </a:prstGeom>
          <a:ln cap="flat" w="19050">
            <a:solidFill>
              <a:srgbClr val="17375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V="true">
            <a:off x="11090592" y="7857813"/>
            <a:ext cx="191020" cy="0"/>
          </a:xfrm>
          <a:prstGeom prst="line">
            <a:avLst/>
          </a:prstGeom>
          <a:ln cap="flat" w="19050">
            <a:solidFill>
              <a:srgbClr val="17375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2802916" y="5460150"/>
            <a:ext cx="0" cy="3681373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971576" y="2072813"/>
            <a:ext cx="4536499" cy="3092062"/>
            <a:chOff x="0" y="0"/>
            <a:chExt cx="77422917" cy="527711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422915" cy="52771191"/>
            </a:xfrm>
            <a:custGeom>
              <a:avLst/>
              <a:gdLst/>
              <a:ahLst/>
              <a:cxnLst/>
              <a:rect r="r" b="b" t="t" l="l"/>
              <a:pathLst>
                <a:path h="52771191" w="77422915">
                  <a:moveTo>
                    <a:pt x="17066" y="0"/>
                  </a:moveTo>
                  <a:lnTo>
                    <a:pt x="77405849" y="0"/>
                  </a:lnTo>
                  <a:cubicBezTo>
                    <a:pt x="77410376" y="0"/>
                    <a:pt x="77414717" y="1798"/>
                    <a:pt x="77417916" y="4998"/>
                  </a:cubicBezTo>
                  <a:cubicBezTo>
                    <a:pt x="77421116" y="8199"/>
                    <a:pt x="77422915" y="12540"/>
                    <a:pt x="77422915" y="17066"/>
                  </a:cubicBezTo>
                  <a:lnTo>
                    <a:pt x="77422915" y="52754126"/>
                  </a:lnTo>
                  <a:cubicBezTo>
                    <a:pt x="77422915" y="52758653"/>
                    <a:pt x="77421116" y="52762993"/>
                    <a:pt x="77417916" y="52766193"/>
                  </a:cubicBezTo>
                  <a:cubicBezTo>
                    <a:pt x="77414717" y="52769393"/>
                    <a:pt x="77410376" y="52771191"/>
                    <a:pt x="77405849" y="52771191"/>
                  </a:cubicBezTo>
                  <a:lnTo>
                    <a:pt x="17066" y="52771191"/>
                  </a:lnTo>
                  <a:cubicBezTo>
                    <a:pt x="12540" y="52771191"/>
                    <a:pt x="8199" y="52769393"/>
                    <a:pt x="4998" y="52766193"/>
                  </a:cubicBezTo>
                  <a:cubicBezTo>
                    <a:pt x="1798" y="52762993"/>
                    <a:pt x="0" y="52758653"/>
                    <a:pt x="0" y="52754126"/>
                  </a:cubicBezTo>
                  <a:lnTo>
                    <a:pt x="0" y="17066"/>
                  </a:lnTo>
                  <a:cubicBezTo>
                    <a:pt x="0" y="12540"/>
                    <a:pt x="1798" y="8199"/>
                    <a:pt x="4998" y="4998"/>
                  </a:cubicBezTo>
                  <a:cubicBezTo>
                    <a:pt x="8199" y="1798"/>
                    <a:pt x="12540" y="0"/>
                    <a:pt x="17066" y="0"/>
                  </a:cubicBezTo>
                  <a:close/>
                </a:path>
              </a:pathLst>
            </a:custGeom>
            <a:solidFill>
              <a:srgbClr val="D0D6E8"/>
            </a:solidFill>
            <a:ln w="9525" cap="sq">
              <a:solidFill>
                <a:srgbClr val="17375E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7422917" cy="52828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060091" y="6257595"/>
            <a:ext cx="4325892" cy="2883928"/>
          </a:xfrm>
          <a:custGeom>
            <a:avLst/>
            <a:gdLst/>
            <a:ahLst/>
            <a:cxnLst/>
            <a:rect r="r" b="b" t="t" l="l"/>
            <a:pathLst>
              <a:path h="2883928" w="4325892">
                <a:moveTo>
                  <a:pt x="0" y="0"/>
                </a:moveTo>
                <a:lnTo>
                  <a:pt x="4325892" y="0"/>
                </a:lnTo>
                <a:lnTo>
                  <a:pt x="4325892" y="2883928"/>
                </a:lnTo>
                <a:lnTo>
                  <a:pt x="0" y="28839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 descr="$PPTXTitle"/>
          <p:cNvSpPr txBox="true"/>
          <p:nvPr/>
        </p:nvSpPr>
        <p:spPr>
          <a:xfrm rot="0">
            <a:off x="4574058" y="300016"/>
            <a:ext cx="822885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74058" y="1879212"/>
            <a:ext cx="296478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500" spc="-13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</a:t>
            </a:r>
            <a:r>
              <a:rPr lang="en-US" b="true" sz="2500" spc="-13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ology Workflow</a:t>
            </a:r>
          </a:p>
        </p:txBody>
      </p:sp>
      <p:sp>
        <p:nvSpPr>
          <p:cNvPr name="TextBox 32" id="32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91246" y="5703038"/>
            <a:ext cx="475275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300" spc="-12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Barcode-Based Complia</a:t>
            </a:r>
            <a:r>
              <a:rPr lang="en-US" b="true" sz="2300" spc="-12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nce Verification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4122" y="6448150"/>
            <a:ext cx="379993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Barcode-Based Fo</a:t>
            </a:r>
            <a:r>
              <a:rPr lang="en-US" b="true" sz="2000" spc="-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nt Size Estimation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34865" y="6448150"/>
            <a:ext cx="418792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Barcode-Based Produc</a:t>
            </a:r>
            <a:r>
              <a:rPr lang="en-US" b="true" sz="2000" spc="-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 Verification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5028" y="6822776"/>
            <a:ext cx="5573017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5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Barcode as Scale - Known barc</a:t>
            </a:r>
            <a:r>
              <a:rPr lang="en-US" sz="1800" spc="-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ode width converts pixels into millimetres.</a:t>
            </a:r>
          </a:p>
          <a:p>
            <a:pPr algn="l" marL="388625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 Measurement - ML Kit measures letter height in pixels.</a:t>
            </a:r>
          </a:p>
          <a:p>
            <a:pPr algn="l" marL="388625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 7(2) Check - Converted text height is compared with the legal minimum.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37083" y="7738751"/>
            <a:ext cx="12338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6"/>
              </a:lnSpc>
              <a:spcBef>
                <a:spcPct val="0"/>
              </a:spcBef>
            </a:pP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</a:t>
            </a: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Barcode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84009" y="6802316"/>
            <a:ext cx="552626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</a:t>
            </a:r>
            <a:r>
              <a:rPr lang="en-US" sz="1800" spc="-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GTIN is used to identify the product and retrieve available reference information.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97269" y="8825398"/>
            <a:ext cx="694729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ML Kit fails t</a:t>
            </a:r>
            <a:r>
              <a:rPr lang="en-US" sz="18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detect the barcode </a:t>
            </a:r>
            <a:r>
              <a:rPr lang="en-US" b="true" sz="1800" spc="-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  <a:r>
              <a:rPr lang="en-US" sz="18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Server-side Pyzbar extracts the barcode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10753" y="5703038"/>
            <a:ext cx="21999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300" spc="-12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Evidence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11714" y="7632401"/>
            <a:ext cx="123385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6"/>
              </a:lnSpc>
              <a:spcBef>
                <a:spcPct val="0"/>
              </a:spcBef>
            </a:pP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</a:t>
            </a: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entify Product (GTIN)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83181" y="7738751"/>
            <a:ext cx="12338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6"/>
              </a:lnSpc>
              <a:spcBef>
                <a:spcPct val="0"/>
              </a:spcBef>
            </a:pP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</a:t>
            </a: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eck Product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57812" y="7719701"/>
            <a:ext cx="12338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6"/>
              </a:lnSpc>
              <a:spcBef>
                <a:spcPct val="0"/>
              </a:spcBef>
            </a:pP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1489" spc="-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ompare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10270" y="2269737"/>
            <a:ext cx="20780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1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Compliance Check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46515" y="2726937"/>
            <a:ext cx="4128455" cy="227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6" indent="-161928" lvl="1">
              <a:lnSpc>
                <a:spcPts val="2550"/>
              </a:lnSpc>
              <a:buFont typeface="Arial"/>
              <a:buChar char="•"/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 6 : Mandat</a:t>
            </a: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ory declarations, MRP, quantity &amp; manufacturer details</a:t>
            </a:r>
          </a:p>
          <a:p>
            <a:pPr algn="l" marL="323856" indent="-161928" lvl="1">
              <a:lnSpc>
                <a:spcPts val="2550"/>
              </a:lnSpc>
              <a:buFont typeface="Arial"/>
              <a:buChar char="•"/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 7 : Font size &amp; declaration visibility</a:t>
            </a:r>
          </a:p>
          <a:p>
            <a:pPr algn="l" marL="323856" indent="-161928" lvl="1">
              <a:lnSpc>
                <a:spcPts val="2550"/>
              </a:lnSpc>
              <a:buFont typeface="Arial"/>
              <a:buChar char="•"/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 8 : Declaration placement / display panel</a:t>
            </a:r>
          </a:p>
          <a:p>
            <a:pPr algn="l" marL="323856" indent="-161928" lvl="1">
              <a:lnSpc>
                <a:spcPts val="2550"/>
              </a:lnSpc>
              <a:buFont typeface="Arial"/>
              <a:buChar char="•"/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 13 : Net quantity declaration</a:t>
            </a:r>
          </a:p>
          <a:p>
            <a:pPr algn="l" marL="323856" indent="-161928" lvl="1">
              <a:lnSpc>
                <a:spcPts val="2550"/>
              </a:lnSpc>
              <a:buFont typeface="Arial"/>
              <a:buChar char="•"/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 17 : Declaration format &amp; visibility</a:t>
            </a:r>
          </a:p>
          <a:p>
            <a:pPr algn="l" marL="323856" indent="-161928" lvl="1">
              <a:lnSpc>
                <a:spcPts val="2550"/>
              </a:lnSpc>
              <a:buFont typeface="Arial"/>
              <a:buChar char="•"/>
            </a:pPr>
            <a:r>
              <a:rPr lang="en-US" sz="1500" spc="-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 27 : LMPC registration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82597" y="21869"/>
            <a:ext cx="3302698" cy="1538135"/>
            <a:chOff x="0" y="0"/>
            <a:chExt cx="4403598" cy="20508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03598" cy="2050796"/>
            </a:xfrm>
            <a:custGeom>
              <a:avLst/>
              <a:gdLst/>
              <a:ahLst/>
              <a:cxnLst/>
              <a:rect r="r" b="b" t="t" l="l"/>
              <a:pathLst>
                <a:path h="2050796" w="4403598">
                  <a:moveTo>
                    <a:pt x="0" y="0"/>
                  </a:moveTo>
                  <a:lnTo>
                    <a:pt x="4403598" y="0"/>
                  </a:lnTo>
                  <a:lnTo>
                    <a:pt x="4403598" y="2050796"/>
                  </a:lnTo>
                  <a:lnTo>
                    <a:pt x="0" y="205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1" t="0" r="-271" b="-2"/>
              </a:stretch>
            </a:blip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444429" y="5091234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System response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Blurry or shiny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Marked REVIEW, a person checks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OCR reads something wrong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 can correct it, and the change is saved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Product not in our registry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Shown as not verified, no complaint raised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Evidence tampering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Fingerprint, place and time expose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Google ML Kit cannot recognize the barcode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 server-side Pyzbar to extract the barcode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3" id="13"/>
          <p:cNvSpPr/>
          <p:nvPr/>
        </p:nvSpPr>
        <p:spPr>
          <a:xfrm>
            <a:off x="9880066" y="2068323"/>
            <a:ext cx="0" cy="6987505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43233" y="4330269"/>
            <a:ext cx="8435637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9880066" y="6262416"/>
            <a:ext cx="6963395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0649424" y="2757150"/>
            <a:ext cx="5351215" cy="2981391"/>
          </a:xfrm>
          <a:custGeom>
            <a:avLst/>
            <a:gdLst/>
            <a:ahLst/>
            <a:cxnLst/>
            <a:rect r="r" b="b" t="t" l="l"/>
            <a:pathLst>
              <a:path h="2981391" w="5351215">
                <a:moveTo>
                  <a:pt x="0" y="0"/>
                </a:moveTo>
                <a:lnTo>
                  <a:pt x="5351216" y="0"/>
                </a:lnTo>
                <a:lnTo>
                  <a:pt x="5351216" y="2981391"/>
                </a:lnTo>
                <a:lnTo>
                  <a:pt x="0" y="29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 descr="$PPTXTitle"/>
          <p:cNvSpPr txBox="true"/>
          <p:nvPr/>
        </p:nvSpPr>
        <p:spPr>
          <a:xfrm rot="0">
            <a:off x="4029456" y="366951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4429" y="1896873"/>
            <a:ext cx="7398980" cy="222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200" spc="-11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</a:t>
            </a:r>
          </a:p>
          <a:p>
            <a:pPr algn="l" marL="410211" indent="-205106" lvl="1">
              <a:lnSpc>
                <a:spcPts val="3420"/>
              </a:lnSpc>
              <a:buFont typeface="Arial"/>
              <a:buChar char="•"/>
            </a:pPr>
            <a:r>
              <a:rPr lang="en-US" b="true" sz="1900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- </a:t>
            </a:r>
            <a:r>
              <a:rPr lang="en-US" sz="1900" spc="-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OCR, barcode, and rule checks work automatically.</a:t>
            </a:r>
          </a:p>
          <a:p>
            <a:pPr algn="l" marL="410211" indent="-205106" lvl="1">
              <a:lnSpc>
                <a:spcPts val="3420"/>
              </a:lnSpc>
              <a:buFont typeface="Arial"/>
              <a:buChar char="•"/>
            </a:pPr>
            <a:r>
              <a:rPr lang="en-US" b="true" sz="1900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- </a:t>
            </a:r>
            <a:r>
              <a:rPr lang="en-US" sz="1900" spc="-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Inspector takes one photo and gets the details.</a:t>
            </a:r>
          </a:p>
          <a:p>
            <a:pPr algn="l" marL="410211" indent="-205106" lvl="1">
              <a:lnSpc>
                <a:spcPts val="3420"/>
              </a:lnSpc>
              <a:buFont typeface="Arial"/>
              <a:buChar char="•"/>
            </a:pPr>
            <a:r>
              <a:rPr lang="en-US" b="true" sz="1900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Cost - </a:t>
            </a:r>
            <a:r>
              <a:rPr lang="en-US" sz="1900" spc="-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phones and free tools.</a:t>
            </a:r>
          </a:p>
          <a:p>
            <a:pPr algn="l" marL="410211" indent="-205106" lvl="1">
              <a:lnSpc>
                <a:spcPts val="3420"/>
              </a:lnSpc>
              <a:buFont typeface="Arial"/>
              <a:buChar char="•"/>
            </a:pPr>
            <a:r>
              <a:rPr lang="en-US" b="true" sz="1900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 - </a:t>
            </a:r>
            <a:r>
              <a:rPr lang="en-US" sz="1900" spc="-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Start with one district and expand.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3233" y="4577919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otential Challenges &amp; Strategies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64196" y="9616983"/>
            <a:ext cx="332755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999" spc="-1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00633" y="2020698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Phased Implementation &amp; Scalability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0633" y="6738666"/>
            <a:ext cx="30272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Success Targets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00633" y="7269313"/>
            <a:ext cx="6260586" cy="12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OCR Accuracy: ≥92% on clear labels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Inspecti</a:t>
            </a: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Time: ≤45 sec per item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 spc="-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False-Positive Rate: &lt;5% after human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14410" y="28727"/>
            <a:ext cx="3302698" cy="1538135"/>
            <a:chOff x="0" y="0"/>
            <a:chExt cx="4403598" cy="20508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03598" cy="2050796"/>
            </a:xfrm>
            <a:custGeom>
              <a:avLst/>
              <a:gdLst/>
              <a:ahLst/>
              <a:cxnLst/>
              <a:rect r="r" b="b" t="t" l="l"/>
              <a:pathLst>
                <a:path h="2050796" w="4403598">
                  <a:moveTo>
                    <a:pt x="0" y="0"/>
                  </a:moveTo>
                  <a:lnTo>
                    <a:pt x="4403598" y="0"/>
                  </a:lnTo>
                  <a:lnTo>
                    <a:pt x="4403598" y="2050796"/>
                  </a:lnTo>
                  <a:lnTo>
                    <a:pt x="0" y="205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1" t="0" r="-271" b="-2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8184679" y="1720188"/>
            <a:ext cx="0" cy="7508284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873664" y="5393550"/>
            <a:ext cx="14492095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99054" y="1720188"/>
            <a:ext cx="6574225" cy="3434023"/>
          </a:xfrm>
          <a:custGeom>
            <a:avLst/>
            <a:gdLst/>
            <a:ahLst/>
            <a:cxnLst/>
            <a:rect r="r" b="b" t="t" l="l"/>
            <a:pathLst>
              <a:path h="3434023" w="6574225">
                <a:moveTo>
                  <a:pt x="0" y="0"/>
                </a:moveTo>
                <a:lnTo>
                  <a:pt x="6574224" y="0"/>
                </a:lnTo>
                <a:lnTo>
                  <a:pt x="6574224" y="3434023"/>
                </a:lnTo>
                <a:lnTo>
                  <a:pt x="0" y="34340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 descr="$PPTXTitle"/>
          <p:cNvSpPr txBox="true"/>
          <p:nvPr/>
        </p:nvSpPr>
        <p:spPr>
          <a:xfrm rot="0">
            <a:off x="5177028" y="369313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261" y="1798643"/>
            <a:ext cx="5767802" cy="330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b="true" sz="2499" spc="-13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identification of label compliance issues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Less manual checking and inspection effort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and secure digital evidence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Standardized and consistent rule-based checks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sz="2100" spc="-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Easy d</a:t>
            </a:r>
            <a:r>
              <a:rPr lang="en-US" sz="2100" spc="-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igital reporting and case management</a:t>
            </a:r>
          </a:p>
          <a:p>
            <a:pPr algn="l">
              <a:lnSpc>
                <a:spcPts val="253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899054" y="5650724"/>
            <a:ext cx="7087680" cy="3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b="true" sz="2499" spc="-13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b="true" sz="2100" spc="-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E-Com</a:t>
            </a:r>
            <a:r>
              <a:rPr lang="en-US" b="true" sz="2100" spc="-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</a:t>
            </a:r>
            <a:r>
              <a:rPr lang="en-US" b="true" sz="2100" spc="-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rce Compliance -</a:t>
            </a:r>
            <a:r>
              <a:rPr lang="en-US" sz="2100" spc="-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Online product listing checks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b="true" sz="2100" spc="-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Multilingual Support -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Regional-language labels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b="true" sz="2100" spc="-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Visual Checks -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Better label analysis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b="true" sz="2100" spc="-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Nat</a:t>
            </a:r>
            <a:r>
              <a:rPr lang="en-US" b="true" sz="2100" spc="-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ional-Scale Deployment - 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across inspection teams</a:t>
            </a:r>
          </a:p>
          <a:p>
            <a:pPr algn="l" marL="453390" indent="-226695" lvl="1">
              <a:lnSpc>
                <a:spcPts val="3759"/>
              </a:lnSpc>
              <a:buFont typeface="Arial"/>
              <a:buChar char="•"/>
            </a:pPr>
            <a:r>
              <a:rPr lang="en-US" b="true" sz="2100" spc="-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Model Enhancement -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Improve product and label recognition with advanced models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261" y="5965050"/>
            <a:ext cx="6194227" cy="248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4"/>
              </a:lnSpc>
            </a:pPr>
            <a:r>
              <a:rPr lang="en-US" b="true" sz="2499" spc="-12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Expected Impact</a:t>
            </a:r>
          </a:p>
          <a:p>
            <a:pPr algn="just" marL="453392" indent="-226696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ect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- Less repetitive manual checking</a:t>
            </a:r>
          </a:p>
          <a:p>
            <a:pPr algn="just" marL="453392" indent="-226696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 - 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ructured inspection records</a:t>
            </a:r>
          </a:p>
          <a:p>
            <a:pPr algn="just" marL="453392" indent="-226696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Consumer - 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etter visibility of required declarations</a:t>
            </a:r>
          </a:p>
          <a:p>
            <a:pPr algn="just" marL="453392" indent="-226696" lvl="1">
              <a:lnSpc>
                <a:spcPts val="3759"/>
              </a:lnSpc>
              <a:buFont typeface="Arial"/>
              <a:buChar char="•"/>
            </a:pP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100" spc="-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nforcement - Traceable digital evidence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12124" y="30937"/>
            <a:ext cx="3304794" cy="1535925"/>
            <a:chOff x="0" y="0"/>
            <a:chExt cx="4406392" cy="204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06392" cy="2047875"/>
            </a:xfrm>
            <a:custGeom>
              <a:avLst/>
              <a:gdLst/>
              <a:ahLst/>
              <a:cxnLst/>
              <a:rect r="r" b="b" t="t" l="l"/>
              <a:pathLst>
                <a:path h="2047875" w="4406392">
                  <a:moveTo>
                    <a:pt x="0" y="0"/>
                  </a:moveTo>
                  <a:lnTo>
                    <a:pt x="4406392" y="0"/>
                  </a:lnTo>
                  <a:lnTo>
                    <a:pt x="4406392" y="2047875"/>
                  </a:lnTo>
                  <a:lnTo>
                    <a:pt x="0" y="2047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7" t="0" r="-167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443239" y="2020822"/>
          <a:ext cx="4816061" cy="4692661"/>
        </p:xfrm>
        <a:graphic>
          <a:graphicData uri="http://schemas.openxmlformats.org/drawingml/2006/table">
            <a:tbl>
              <a:tblPr/>
              <a:tblGrid>
                <a:gridCol w="4816061"/>
              </a:tblGrid>
              <a:tr h="7444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Official Sources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</a:tr>
              <a:tr h="13171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Legal Metrology Act &amp; Rules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 u="sng">
                          <a:solidFill>
                            <a:srgbClr val="006EC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6" tooltip="https://consumeraffairs.gov.in/pages/legal-metrology-act"/>
                        </a:rPr>
                        <a:t>https://consumeraffairs.gov.in/pages/legal-metrology-act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71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Packaged Commodities Registration Portal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 u="sng">
                          <a:solidFill>
                            <a:srgbClr val="006EC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7" tooltip="https://lm.doca.gov.in/pcr/certificates"/>
                        </a:rPr>
                        <a:t>https://lm.doca.gov.in/pcr/certificates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9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National Consumer Helpline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  <a:r>
                        <a:rPr lang="en-US" sz="1699" u="sng">
                          <a:solidFill>
                            <a:srgbClr val="006EC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8" tooltip="https://consumerhelpline.gov.in/public/"/>
                        </a:rPr>
                        <a:t>https://consumerhelpline.gov.in/public/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 descr="$PPTXTitle"/>
          <p:cNvSpPr txBox="true"/>
          <p:nvPr/>
        </p:nvSpPr>
        <p:spPr>
          <a:xfrm rot="0">
            <a:off x="3644188" y="489837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59351" y="8877300"/>
            <a:ext cx="420482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5"/>
              </a:lnSpc>
            </a:pPr>
            <a:r>
              <a:rPr lang="en-US" sz="2212" spc="-11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Scan Smart. Verify Right. Protect All</a:t>
            </a:r>
          </a:p>
        </p:txBody>
      </p:sp>
      <p:sp>
        <p:nvSpPr>
          <p:cNvPr name="TextBox 14" id="14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3463" y="7710099"/>
            <a:ext cx="278713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spc="-25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300" spc="-25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rototype Demo Video: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30624" y="7710099"/>
            <a:ext cx="219944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youtu.be/mnKpSr1TcaA?si=O-i5wA8bHeqz7oGt"/>
              </a:rPr>
              <a:t>Prototype Video Link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74372" y="1848033"/>
            <a:ext cx="10765262" cy="5075866"/>
            <a:chOff x="0" y="0"/>
            <a:chExt cx="183727130" cy="86628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727130" cy="86628114"/>
            </a:xfrm>
            <a:custGeom>
              <a:avLst/>
              <a:gdLst/>
              <a:ahLst/>
              <a:cxnLst/>
              <a:rect r="r" b="b" t="t" l="l"/>
              <a:pathLst>
                <a:path h="86628114" w="183727130">
                  <a:moveTo>
                    <a:pt x="7192" y="0"/>
                  </a:moveTo>
                  <a:lnTo>
                    <a:pt x="183719936" y="0"/>
                  </a:lnTo>
                  <a:cubicBezTo>
                    <a:pt x="183721846" y="0"/>
                    <a:pt x="183723669" y="758"/>
                    <a:pt x="183725021" y="2106"/>
                  </a:cubicBezTo>
                  <a:cubicBezTo>
                    <a:pt x="183726373" y="3455"/>
                    <a:pt x="183727130" y="5284"/>
                    <a:pt x="183727130" y="7192"/>
                  </a:cubicBezTo>
                  <a:lnTo>
                    <a:pt x="183727130" y="86620921"/>
                  </a:lnTo>
                  <a:cubicBezTo>
                    <a:pt x="183727130" y="86622830"/>
                    <a:pt x="183726373" y="86624660"/>
                    <a:pt x="183725021" y="86626005"/>
                  </a:cubicBezTo>
                  <a:cubicBezTo>
                    <a:pt x="183723669" y="86627357"/>
                    <a:pt x="183721846" y="86628114"/>
                    <a:pt x="183719936" y="86628114"/>
                  </a:cubicBezTo>
                  <a:lnTo>
                    <a:pt x="7192" y="86628114"/>
                  </a:lnTo>
                  <a:cubicBezTo>
                    <a:pt x="5284" y="86628114"/>
                    <a:pt x="3455" y="86627357"/>
                    <a:pt x="2106" y="86626005"/>
                  </a:cubicBezTo>
                  <a:cubicBezTo>
                    <a:pt x="758" y="86624660"/>
                    <a:pt x="0" y="86622830"/>
                    <a:pt x="0" y="86620921"/>
                  </a:cubicBezTo>
                  <a:lnTo>
                    <a:pt x="0" y="7192"/>
                  </a:lnTo>
                  <a:cubicBezTo>
                    <a:pt x="0" y="5284"/>
                    <a:pt x="758" y="3455"/>
                    <a:pt x="2106" y="2106"/>
                  </a:cubicBezTo>
                  <a:cubicBezTo>
                    <a:pt x="3455" y="758"/>
                    <a:pt x="5284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77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183727130" cy="86770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08733" y="2077189"/>
            <a:ext cx="60958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lang="en-US" sz="25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esearch Insights and Our Proposed Approach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86294" y="3141608"/>
            <a:ext cx="7905034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Computer vision identifies products from real-world images.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Gap: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Product recognition does not verify legal declarations.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Approach: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Barcode/GTIN identifies the product; OCR checks label details.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22" u="sng">
                <a:solidFill>
                  <a:srgbClr val="1F477B"/>
                </a:solidFill>
                <a:latin typeface="Calibri (MS)"/>
                <a:ea typeface="Calibri (MS)"/>
                <a:cs typeface="Calibri (MS)"/>
                <a:sym typeface="Calibri (MS)"/>
                <a:hlinkClick r:id="rId10" tooltip="https://www.nature.com/articles/s41598-026-42266-9"/>
              </a:rPr>
              <a:t>https://www.nature.com/articles/s41598-026-42266-9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8733" y="2701077"/>
            <a:ext cx="398010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3" indent="-226697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2100" spc="-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</a:t>
            </a:r>
            <a:r>
              <a:rPr lang="en-US" b="true" sz="2100" spc="-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utomated Product Recognition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86294" y="5151383"/>
            <a:ext cx="890546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Change: 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2026 reforms introduced Improvement Notices for specified first-time non-compliances.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Gap: 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Inspection evidence needs traceability and integrity.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Approach: </a:t>
            </a:r>
            <a:r>
              <a:rPr lang="en-US" sz="2000" spc="-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Image + GPS + time + Evidence ID + SHA-256 secure the evidence record.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22" u="sng">
                <a:solidFill>
                  <a:srgbClr val="1F477B"/>
                </a:solidFill>
                <a:latin typeface="Calibri (MS)"/>
                <a:ea typeface="Calibri (MS)"/>
                <a:cs typeface="Calibri (MS)"/>
                <a:sym typeface="Calibri (MS)"/>
                <a:hlinkClick r:id="rId11" tooltip="https://www.pib.gov.in/PressReleasePage.aspx?PRID=2278745&amp;lang=1&amp;reg=3"/>
              </a:rPr>
              <a:t>https://www.pib.gov.in/PressReleasePage.aspx?PRID=2278745&amp;lang=1&amp;reg=3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8733" y="4589408"/>
            <a:ext cx="580697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3" indent="-226697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2100" spc="-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Sec</a:t>
            </a:r>
            <a:r>
              <a:rPr lang="en-US" b="true" sz="2100" spc="-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ure Evidence &amp; Legal Metrology Enforcement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
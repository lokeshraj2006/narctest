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image2.svg" ContentType="image/svg+xml"/>
  <Override PartName="/ppt/media/image7.svg" ContentType="image/svg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</p:sldIdLst>
  <p:sldSz cx="18288000" cy="10287000"/>
  <p:notesSz cx="6858000" cy="9144000"/>
  <p:embeddedFontLst>
    <p:embeddedFont>
      <p:font typeface="Times New Roman Bold" charset="1" panose="02020803070505020304"/>
      <p:regular r:id="rId12"/>
    </p:embeddedFont>
    <p:embeddedFont>
      <p:font typeface="Times New Roman" charset="1" panose="02020603050405020304"/>
      <p:regular r:id="rId13"/>
    </p:embeddedFont>
    <p:embeddedFont>
      <p:font typeface="Calibri (MS) Bold" charset="1" panose="020F0702030404030204"/>
      <p:regular r:id="rId14"/>
    </p:embeddedFont>
    <p:embeddedFont>
      <p:font typeface="Calibri (MS)" charset="1" panose="020F0502020204030204"/>
      <p:regular r:id="rId15"/>
    </p:embeddedFont>
    <p:embeddedFont>
      <p:font typeface="Canva Sans Bold" charset="1" panose="020B0803030501040103"/>
      <p:regular r:id="rId16"/>
    </p:embeddedFont>
    <p:embeddedFont>
      <p:font typeface="Canva Sans" charset="1" panose="020B0503030501040103"/>
      <p:regular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esProps" Target="presProps.xml"/><Relationship Id="rId3" Type="http://schemas.openxmlformats.org/officeDocument/2006/relationships/viewProps" Target="viewProps.xml"/><Relationship Id="rId4" Type="http://schemas.openxmlformats.org/officeDocument/2006/relationships/theme" Target="theme/theme1.xml"/><Relationship Id="rId5" Type="http://schemas.openxmlformats.org/officeDocument/2006/relationships/tableStyles" Target="tableStyles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font" Target="fonts/font12.fntdata"/><Relationship Id="rId13" Type="http://schemas.openxmlformats.org/officeDocument/2006/relationships/font" Target="fonts/font13.fntdata"/><Relationship Id="rId14" Type="http://schemas.openxmlformats.org/officeDocument/2006/relationships/font" Target="fonts/font14.fntdata"/><Relationship Id="rId15" Type="http://schemas.openxmlformats.org/officeDocument/2006/relationships/font" Target="fonts/font15.fntdata"/><Relationship Id="rId16" Type="http://schemas.openxmlformats.org/officeDocument/2006/relationships/font" Target="fonts/font16.fntdata"/><Relationship Id="rId17" Type="http://schemas.openxmlformats.org/officeDocument/2006/relationships/font" Target="fonts/font17.fntdata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svg"/><Relationship Id="rId4" Type="http://schemas.openxmlformats.org/officeDocument/2006/relationships/image" Target="../media/image3.png"/><Relationship Id="rId5" Type="http://schemas.openxmlformats.org/officeDocument/2006/relationships/image" Target="../media/image4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Relationship Id="rId4" Type="http://schemas.openxmlformats.org/officeDocument/2006/relationships/image" Target="../media/image7.sv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6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image" Target="../media/image17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6.png"/><Relationship Id="rId5" Type="http://schemas.openxmlformats.org/officeDocument/2006/relationships/image" Target="../media/image7.svg"/><Relationship Id="rId6" Type="http://schemas.openxmlformats.org/officeDocument/2006/relationships/hyperlink" Target="https://www.indiacode.nic.in/handle/123456789/1791" TargetMode="External"/><Relationship Id="rId7" Type="http://schemas.openxmlformats.org/officeDocument/2006/relationships/hyperlink" Target="https://narcoticsindia.nic.in/DLEA/1.pdf" TargetMode="External"/><Relationship Id="rId8" Type="http://schemas.openxmlformats.org/officeDocument/2006/relationships/hyperlink" Target="https://www.unodc.org/documents/scientific/Rapid_Testing_Methods_of_Drugs_of_Abuse_E.pdf" TargetMode="External"/><Relationship Id="rId9" Type="http://schemas.openxmlformats.org/officeDocument/2006/relationships/hyperlink" Target="https://youtu.be/mnKpSr1TcaA?si=O-i5wA8bHeqz7oGt" TargetMode="External"/><Relationship Id="rId10" Type="http://schemas.openxmlformats.org/officeDocument/2006/relationships/hyperlink" Target="https://www.nature.com/articles/s41598-026-42266-9" TargetMode="External"/><Relationship Id="rId11" Type="http://schemas.openxmlformats.org/officeDocument/2006/relationships/hyperlink" Target="https://www.pib.gov.in/PressReleasePage.aspx?PRID=2278745&amp;lang=1&amp;reg=3" TargetMode="External"/><Relationship Id="rId12" Type="http://schemas.openxmlformats.org/officeDocument/2006/relationships/hyperlink" Target="https://ieeexplore.ieee.org/document/7591895" TargetMode="External"/><Relationship Id="rId13" Type="http://schemas.openxmlformats.org/officeDocument/2006/relationships/hyperlink" Target="https://ieeexplore.ieee.org/document/10835509" TargetMode="External"/><Relationship Id="rId14" Type="http://schemas.openxmlformats.org/officeDocument/2006/relationships/hyperlink" Target="https://doi.org/10.1016/j.forsciint.2013.11.018" TargetMode="External"/><Relationship Id="rId15" Type="http://schemas.openxmlformats.org/officeDocument/2006/relationships/hyperlink" Target="https://doi.org/10.1021/acs.analchem.6b01982" TargetMode="External"/><Relationship Id="rId16" Type="http://schemas.openxmlformats.org/officeDocument/2006/relationships/hyperlink" Target="https://pmc.ncbi.nlm.nih.gov/articles/PMC10408571/" TargetMode="External"/><Relationship Id="rId17" Type="http://schemas.openxmlformats.org/officeDocument/2006/relationships/hyperlink" Target="https://doi.org/10.1007/s00216-025-06021-9" TargetMode="External"/><Relationship Id="rId18" Type="http://schemas.openxmlformats.org/officeDocument/2006/relationships/hyperlink" Target="https://doi.org/10.1016/j.forsciint.2004.11.011" TargetMode="External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8485632" y="1277874"/>
            <a:ext cx="6958965" cy="7731443"/>
          </a:xfrm>
          <a:custGeom>
            <a:avLst/>
            <a:gdLst/>
            <a:ahLst/>
            <a:cxnLst/>
            <a:rect r="r" b="b" t="t" l="l"/>
            <a:pathLst>
              <a:path h="7731443" w="6958965">
                <a:moveTo>
                  <a:pt x="0" y="0"/>
                </a:moveTo>
                <a:lnTo>
                  <a:pt x="6958965" y="0"/>
                </a:lnTo>
                <a:lnTo>
                  <a:pt x="6958965" y="7731443"/>
                </a:lnTo>
                <a:lnTo>
                  <a:pt x="0" y="773144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10728198" y="2119122"/>
            <a:ext cx="4805172" cy="5138928"/>
            <a:chOff x="0" y="0"/>
            <a:chExt cx="6406896" cy="6851904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6406896" cy="6851904"/>
            </a:xfrm>
            <a:custGeom>
              <a:avLst/>
              <a:gdLst/>
              <a:ahLst/>
              <a:cxnLst/>
              <a:rect r="r" b="b" t="t" l="l"/>
              <a:pathLst>
                <a:path h="6851904" w="6406896">
                  <a:moveTo>
                    <a:pt x="0" y="0"/>
                  </a:moveTo>
                  <a:lnTo>
                    <a:pt x="6406896" y="0"/>
                  </a:lnTo>
                  <a:lnTo>
                    <a:pt x="6406896" y="6851904"/>
                  </a:lnTo>
                  <a:lnTo>
                    <a:pt x="0" y="685190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46" t="0" r="-47" b="0"/>
              </a:stretch>
            </a:blipFill>
          </p:spPr>
        </p:sp>
      </p:grpSp>
      <p:grpSp>
        <p:nvGrpSpPr>
          <p:cNvPr name="Group 5" id="5"/>
          <p:cNvGrpSpPr/>
          <p:nvPr/>
        </p:nvGrpSpPr>
        <p:grpSpPr>
          <a:xfrm rot="0">
            <a:off x="14669262" y="2286"/>
            <a:ext cx="3376422" cy="1593342"/>
            <a:chOff x="0" y="0"/>
            <a:chExt cx="4501896" cy="2124456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501896" cy="2124456"/>
            </a:xfrm>
            <a:custGeom>
              <a:avLst/>
              <a:gdLst/>
              <a:ahLst/>
              <a:cxnLst/>
              <a:rect r="r" b="b" t="t" l="l"/>
              <a:pathLst>
                <a:path h="2124456" w="4501896">
                  <a:moveTo>
                    <a:pt x="0" y="0"/>
                  </a:moveTo>
                  <a:lnTo>
                    <a:pt x="4501896" y="0"/>
                  </a:lnTo>
                  <a:lnTo>
                    <a:pt x="4501896" y="2124456"/>
                  </a:lnTo>
                  <a:lnTo>
                    <a:pt x="0" y="212445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66" t="0" r="-166" b="0"/>
              </a:stretch>
            </a:blipFill>
          </p:spPr>
        </p:sp>
      </p:grpSp>
      <p:sp>
        <p:nvSpPr>
          <p:cNvPr name="TextBox 7" id="7" descr="$PPTXTitle"/>
          <p:cNvSpPr txBox="true"/>
          <p:nvPr/>
        </p:nvSpPr>
        <p:spPr>
          <a:xfrm rot="0">
            <a:off x="2204847" y="177994"/>
            <a:ext cx="12130088" cy="978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b="true" sz="6000" spc="-15">
                <a:solidFill>
                  <a:srgbClr val="1F477B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SMART INDIA HACKATHON 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05821" y="2227550"/>
            <a:ext cx="10175481" cy="63761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668"/>
              </a:lnSpc>
            </a:pPr>
            <a:r>
              <a:rPr lang="en-US" b="true" sz="2936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ID - </a:t>
            </a:r>
            <a:r>
              <a:rPr lang="en-US" sz="2936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26231</a:t>
            </a:r>
          </a:p>
          <a:p>
            <a:pPr algn="l">
              <a:lnSpc>
                <a:spcPts val="5661"/>
              </a:lnSpc>
            </a:pPr>
            <a:r>
              <a:rPr lang="en-US" sz="2933" b="true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Problem Statement Title - 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Digital Companion for Field Drug Testing</a:t>
            </a:r>
            <a:r>
              <a:rPr lang="en-US" sz="2933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/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Theme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MedTech / BioTech / HealthTech</a:t>
            </a:r>
          </a:p>
          <a:p>
            <a:pPr algn="just">
              <a:lnSpc>
                <a:spcPts val="5668"/>
              </a:lnSpc>
            </a:pPr>
            <a:r>
              <a:rPr lang="en-US" b="true" sz="2936" spc="-1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PS Category - </a:t>
            </a:r>
            <a:r>
              <a:rPr lang="en-US" sz="2936" spc="-1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Software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ID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K26234</a:t>
            </a:r>
          </a:p>
          <a:p>
            <a:pPr algn="just">
              <a:lnSpc>
                <a:spcPts val="5668"/>
              </a:lnSpc>
            </a:pPr>
            <a:r>
              <a:rPr lang="en-US" b="true" sz="2936" spc="-44">
                <a:solidFill>
                  <a:srgbClr val="0D0D0D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Team Name - </a:t>
            </a:r>
            <a:r>
              <a:rPr lang="en-US" sz="2936" spc="-44">
                <a:solidFill>
                  <a:srgbClr val="0D0D0D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HexTech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4571" cy="718937"/>
            <a:chOff x="0" y="0"/>
            <a:chExt cx="24379428" cy="95858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9428" cy="958596"/>
            </a:xfrm>
            <a:custGeom>
              <a:avLst/>
              <a:gdLst/>
              <a:ahLst/>
              <a:cxnLst/>
              <a:rect r="r" b="b" t="t" l="l"/>
              <a:pathLst>
                <a:path h="958596" w="24379428">
                  <a:moveTo>
                    <a:pt x="0" y="0"/>
                  </a:moveTo>
                  <a:lnTo>
                    <a:pt x="24379428" y="0"/>
                  </a:lnTo>
                  <a:lnTo>
                    <a:pt x="24379428" y="958596"/>
                  </a:lnTo>
                  <a:lnTo>
                    <a:pt x="0" y="9585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64" r="0" b="-62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144"/>
            <a:ext cx="18288000" cy="755332"/>
            <a:chOff x="0" y="0"/>
            <a:chExt cx="24384000" cy="100711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6475"/>
            </a:xfrm>
            <a:custGeom>
              <a:avLst/>
              <a:gdLst/>
              <a:ahLst/>
              <a:cxnLst/>
              <a:rect r="r" b="b" t="t" l="l"/>
              <a:pathLst>
                <a:path h="1006475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6475"/>
                  </a:lnTo>
                  <a:lnTo>
                    <a:pt x="24384000" y="1006475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FC0"/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4720116" y="33423"/>
            <a:ext cx="3287373" cy="1531268"/>
            <a:chOff x="0" y="0"/>
            <a:chExt cx="4383164" cy="204169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383151" cy="2041652"/>
            </a:xfrm>
            <a:custGeom>
              <a:avLst/>
              <a:gdLst/>
              <a:ahLst/>
              <a:cxnLst/>
              <a:rect r="r" b="b" t="t" l="l"/>
              <a:pathLst>
                <a:path h="2041652" w="4383151">
                  <a:moveTo>
                    <a:pt x="0" y="0"/>
                  </a:moveTo>
                  <a:lnTo>
                    <a:pt x="4383151" y="0"/>
                  </a:lnTo>
                  <a:lnTo>
                    <a:pt x="4383151" y="2041652"/>
                  </a:lnTo>
                  <a:lnTo>
                    <a:pt x="0" y="204165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0" t="-106" r="0" b="-108"/>
              </a:stretch>
            </a:blipFill>
          </p:spPr>
        </p:sp>
      </p:grpSp>
      <p:sp>
        <p:nvSpPr>
          <p:cNvPr name="AutoShape 9" id="9"/>
          <p:cNvSpPr/>
          <p:nvPr/>
        </p:nvSpPr>
        <p:spPr>
          <a:xfrm>
            <a:off x="7952906" y="1874069"/>
            <a:ext cx="0" cy="7384231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1" id="11"/>
          <p:cNvSpPr/>
          <p:nvPr/>
        </p:nvSpPr>
        <p:spPr>
          <a:xfrm>
            <a:off x="671017" y="4261403"/>
            <a:ext cx="7281890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2" id="12"/>
          <p:cNvSpPr/>
          <p:nvPr/>
        </p:nvSpPr>
        <p:spPr>
          <a:xfrm>
            <a:off x="7952906" y="4590288"/>
            <a:ext cx="9306394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4" id="14"/>
          <p:cNvSpPr txBox="true"/>
          <p:nvPr/>
        </p:nvSpPr>
        <p:spPr>
          <a:xfrm rot="0">
            <a:off x="4891802" y="460629"/>
            <a:ext cx="6972842" cy="9334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199"/>
              </a:lnSpc>
            </a:pPr>
            <a:r>
              <a:rPr lang="en-US" sz="5999" b="true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Proposed Solution</a:t>
            </a:r>
          </a:p>
        </p:txBody>
      </p:sp>
      <p:sp>
        <p:nvSpPr>
          <p:cNvPr name="TextBox 15" id="15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1874519"/>
            <a:ext cx="68580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Problem: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7824" y="2377440"/>
            <a:ext cx="6949440" cy="18288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Calibri"/>
              </a:rPr>
              <a:t>Today, police check the drug-test kit colour with their own eyes. Different officer or different light = different answer.</a:t>
            </a:r>
          </a:p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sz="1700">
                <a:solidFill>
                  <a:srgbClr val="1A1A1A"/>
                </a:solidFill>
                <a:latin typeface="Calibri"/>
              </a:rPr>
              <a:t>There is no proof of when, where and by whom the test was done. So the result cannot be used as evidence in court.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75320" y="1874519"/>
            <a:ext cx="89611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Innovation &amp; Uniqueness (what is new):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331720"/>
            <a:ext cx="9418320" cy="22402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300"/>
              </a:spcAft>
              <a:buFont typeface="Arial"/>
              <a:buChar char="•"/>
            </a:pPr>
            <a:r>
              <a:rPr b="1" sz="1550">
                <a:solidFill>
                  <a:srgbClr val="1A1A1A"/>
                </a:solidFill>
                <a:latin typeface="Calibri"/>
              </a:rPr>
              <a:t>App reads the colour, not the eye - </a:t>
            </a:r>
            <a:r>
              <a:rPr sz="1550">
                <a:solidFill>
                  <a:srgbClr val="1A1A1A"/>
                </a:solidFill>
                <a:latin typeface="Calibri"/>
              </a:rPr>
              <a:t>a ₹10 printed colour card fixes the light, and the app gives a colour score.</a:t>
            </a:r>
          </a:p>
          <a:p>
            <a:pPr marL="292608" indent="-256032">
              <a:spcAft>
                <a:spcPts val="300"/>
              </a:spcAft>
              <a:buFont typeface="Arial"/>
              <a:buChar char="•"/>
            </a:pPr>
            <a:r>
              <a:rPr b="1" sz="1550">
                <a:solidFill>
                  <a:srgbClr val="1A1A1A"/>
                </a:solidFill>
                <a:latin typeface="Calibri"/>
              </a:rPr>
              <a:t>Honestly says "Not Sure" - </a:t>
            </a:r>
            <a:r>
              <a:rPr sz="1550">
                <a:solidFill>
                  <a:srgbClr val="1A1A1A"/>
                </a:solidFill>
                <a:latin typeface="Calibri"/>
              </a:rPr>
              <a:t>blurry photo, shine or unclear colour → INCONCLUSIVE with the reason; a senior officer checks.</a:t>
            </a:r>
          </a:p>
          <a:p>
            <a:pPr marL="292608" indent="-256032">
              <a:spcAft>
                <a:spcPts val="300"/>
              </a:spcAft>
              <a:buFont typeface="Arial"/>
              <a:buChar char="•"/>
            </a:pPr>
            <a:r>
              <a:rPr b="1" sz="1550">
                <a:solidFill>
                  <a:srgbClr val="1A1A1A"/>
                </a:solidFill>
                <a:latin typeface="Calibri"/>
              </a:rPr>
              <a:t>Proof that cannot be faked - </a:t>
            </a:r>
            <a:r>
              <a:rPr sz="1550">
                <a:solidFill>
                  <a:srgbClr val="1A1A1A"/>
                </a:solidFill>
                <a:latin typeface="Calibri"/>
              </a:rPr>
              <a:t>photo fingerprint + GPS + internet time + officer ID, digitally signed; check by scanning QR.</a:t>
            </a:r>
          </a:p>
          <a:p>
            <a:pPr marL="292608" indent="-256032">
              <a:spcAft>
                <a:spcPts val="300"/>
              </a:spcAft>
              <a:buFont typeface="Arial"/>
              <a:buChar char="•"/>
            </a:pPr>
            <a:r>
              <a:rPr b="1" sz="1550">
                <a:solidFill>
                  <a:srgbClr val="1A1A1A"/>
                </a:solidFill>
                <a:latin typeface="Calibri"/>
              </a:rPr>
              <a:t>Works with any test kit - </a:t>
            </a:r>
            <a:r>
              <a:rPr sz="1550">
                <a:solidFill>
                  <a:srgbClr val="1A1A1A"/>
                </a:solidFill>
                <a:latin typeface="Calibri"/>
              </a:rPr>
              <a:t>new kits are added from the website with their colours. No app update needed.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4370832"/>
            <a:ext cx="59436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WHO DOES WHAT (ROLE-BASED WORKFLOW)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743200" y="4800600"/>
            <a:ext cx="2560320" cy="566928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LOGIN</a:t>
            </a:r>
          </a:p>
          <a:p>
            <a:pPr algn="ctr"/>
            <a:r>
              <a:rPr sz="1050" b="0">
                <a:solidFill>
                  <a:srgbClr val="1A1A1A"/>
                </a:solidFill>
                <a:latin typeface="Calibri"/>
              </a:rPr>
              <a:t>Each person sees only their own work</a:t>
            </a:r>
          </a:p>
        </p:txBody>
      </p:sp>
      <p:cxnSp>
        <p:nvCxnSpPr>
          <p:cNvPr id="26" name="Connector 25"/>
          <p:cNvCxnSpPr/>
          <p:nvPr/>
        </p:nvCxnSpPr>
        <p:spPr>
          <a:xfrm>
            <a:off x="4023360" y="5367528"/>
            <a:ext cx="0" cy="210312"/>
          </a:xfrm>
          <a:prstGeom prst="line">
            <a:avLst/>
          </a:prstGeom>
          <a:ln w="22225">
            <a:solidFill>
              <a:srgbClr val="B07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1600200" y="5577840"/>
            <a:ext cx="4846320" cy="0"/>
          </a:xfrm>
          <a:prstGeom prst="line">
            <a:avLst/>
          </a:prstGeom>
          <a:ln w="22225">
            <a:solidFill>
              <a:srgbClr val="B07C5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1600200" y="557784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548640" y="580644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Field Officer</a:t>
            </a:r>
          </a:p>
        </p:txBody>
      </p:sp>
      <p:cxnSp>
        <p:nvCxnSpPr>
          <p:cNvPr id="30" name="Connector 29"/>
          <p:cNvCxnSpPr/>
          <p:nvPr/>
        </p:nvCxnSpPr>
        <p:spPr>
          <a:xfrm>
            <a:off x="4023360" y="557784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Rounded Rectangle 30"/>
          <p:cNvSpPr/>
          <p:nvPr/>
        </p:nvSpPr>
        <p:spPr>
          <a:xfrm>
            <a:off x="2971800" y="580644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Senior Officer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6446520" y="557784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Rounded Rectangle 32"/>
          <p:cNvSpPr/>
          <p:nvPr/>
        </p:nvSpPr>
        <p:spPr>
          <a:xfrm>
            <a:off x="5394960" y="5806440"/>
            <a:ext cx="2103120" cy="50292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1A1A1A"/>
                </a:solidFill>
                <a:latin typeface="Calibri"/>
              </a:rPr>
              <a:t>Admin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600200" y="6309360"/>
            <a:ext cx="0" cy="27432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548640" y="658368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Choose the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Test Kit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1600200" y="713232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48640" y="73609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Take Photo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(with colour card)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1600200" y="790956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548640" y="813816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Get Result +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Sealed Record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4023360" y="6309360"/>
            <a:ext cx="0" cy="27432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2971800" y="658368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Check the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"Not Sure" results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4023360" y="713232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2971800" y="73609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Approve or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Ask to Retest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4023360" y="790956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Rounded Rectangle 44"/>
          <p:cNvSpPr/>
          <p:nvPr/>
        </p:nvSpPr>
        <p:spPr>
          <a:xfrm>
            <a:off x="2971800" y="813816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Final Signed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Report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6446520" y="6309360"/>
            <a:ext cx="0" cy="27432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Rounded Rectangle 46"/>
          <p:cNvSpPr/>
          <p:nvPr/>
        </p:nvSpPr>
        <p:spPr>
          <a:xfrm>
            <a:off x="5394960" y="658368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Add / Edit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Test Kits</a:t>
            </a:r>
          </a:p>
        </p:txBody>
      </p:sp>
      <p:cxnSp>
        <p:nvCxnSpPr>
          <p:cNvPr id="48" name="Connector 47"/>
          <p:cNvCxnSpPr/>
          <p:nvPr/>
        </p:nvCxnSpPr>
        <p:spPr>
          <a:xfrm>
            <a:off x="6446520" y="713232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Rounded Rectangle 48"/>
          <p:cNvSpPr/>
          <p:nvPr/>
        </p:nvSpPr>
        <p:spPr>
          <a:xfrm>
            <a:off x="5394960" y="736092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Add Officers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&amp; Logins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6446520" y="7909560"/>
            <a:ext cx="0" cy="228600"/>
          </a:xfrm>
          <a:prstGeom prst="line">
            <a:avLst/>
          </a:prstGeom>
          <a:ln w="22225">
            <a:solidFill>
              <a:srgbClr val="B07C5B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Rounded Rectangle 50"/>
          <p:cNvSpPr/>
          <p:nvPr/>
        </p:nvSpPr>
        <p:spPr>
          <a:xfrm>
            <a:off x="5394960" y="8138160"/>
            <a:ext cx="2103120" cy="548640"/>
          </a:xfrm>
          <a:prstGeom prst="roundRect">
            <a:avLst>
              <a:gd name="adj" fmla="val 12000"/>
            </a:avLst>
          </a:prstGeom>
          <a:solidFill>
            <a:srgbClr val="FDF8F3"/>
          </a:solidFill>
          <a:ln w="15875">
            <a:solidFill>
              <a:srgbClr val="E0B99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See All Tests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on Map + Excel</a:t>
            </a:r>
          </a:p>
        </p:txBody>
      </p:sp>
      <p:cxnSp>
        <p:nvCxnSpPr>
          <p:cNvPr id="52" name="Connector 51"/>
          <p:cNvCxnSpPr/>
          <p:nvPr/>
        </p:nvCxnSpPr>
        <p:spPr>
          <a:xfrm>
            <a:off x="1600200" y="8686800"/>
            <a:ext cx="0" cy="365760"/>
          </a:xfrm>
          <a:prstGeom prst="line">
            <a:avLst/>
          </a:prstGeom>
          <a:ln w="22225">
            <a:solidFill>
              <a:srgbClr val="B07C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3" name="Connector 52"/>
          <p:cNvCxnSpPr/>
          <p:nvPr/>
        </p:nvCxnSpPr>
        <p:spPr>
          <a:xfrm>
            <a:off x="1600200" y="9052560"/>
            <a:ext cx="1216152" cy="0"/>
          </a:xfrm>
          <a:prstGeom prst="line">
            <a:avLst/>
          </a:prstGeom>
          <a:ln w="22225">
            <a:solidFill>
              <a:srgbClr val="B07C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4" name="Connector 53"/>
          <p:cNvCxnSpPr/>
          <p:nvPr/>
        </p:nvCxnSpPr>
        <p:spPr>
          <a:xfrm flipV="1">
            <a:off x="2816352" y="6858000"/>
            <a:ext cx="0" cy="2194560"/>
          </a:xfrm>
          <a:prstGeom prst="line">
            <a:avLst/>
          </a:prstGeom>
          <a:ln w="22225">
            <a:solidFill>
              <a:srgbClr val="B07C5B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5" name="Connector 54"/>
          <p:cNvCxnSpPr/>
          <p:nvPr/>
        </p:nvCxnSpPr>
        <p:spPr>
          <a:xfrm>
            <a:off x="2816352" y="6858000"/>
            <a:ext cx="155448" cy="0"/>
          </a:xfrm>
          <a:prstGeom prst="line">
            <a:avLst/>
          </a:prstGeom>
          <a:ln w="22225">
            <a:solidFill>
              <a:srgbClr val="B07C5B"/>
            </a:solidFill>
            <a:prstDash val="dash"/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6" name="Rounded Rectangle 55"/>
          <p:cNvSpPr/>
          <p:nvPr/>
        </p:nvSpPr>
        <p:spPr>
          <a:xfrm>
            <a:off x="1691640" y="8796528"/>
            <a:ext cx="1051560" cy="219456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B07C5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1A1A1A"/>
                </a:solidFill>
                <a:latin typeface="Calibri"/>
              </a:rPr>
              <a:t>NOT SURE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9692640" y="4736592"/>
            <a:ext cx="73152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700" b="1" i="0">
                <a:solidFill>
                  <a:srgbClr val="1F3864"/>
                </a:solidFill>
                <a:latin typeface="Calibri"/>
              </a:rPr>
              <a:t>HOW THE APP DECIDES THE RESULT</a:t>
            </a:r>
          </a:p>
        </p:txBody>
      </p:sp>
      <p:sp>
        <p:nvSpPr>
          <p:cNvPr id="58" name="Rounded Rectangle 57"/>
          <p:cNvSpPr/>
          <p:nvPr/>
        </p:nvSpPr>
        <p:spPr>
          <a:xfrm>
            <a:off x="8229600" y="5440680"/>
            <a:ext cx="1737360" cy="658368"/>
          </a:xfrm>
          <a:prstGeom prst="roundRect">
            <a:avLst>
              <a:gd name="adj" fmla="val 12000"/>
            </a:avLst>
          </a:prstGeom>
          <a:solidFill>
            <a:srgbClr val="DDE8E8"/>
          </a:solidFill>
          <a:ln w="15875">
            <a:solidFill>
              <a:srgbClr val="6E7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Take Photo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(card in frame)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195560" y="5440680"/>
            <a:ext cx="1737360" cy="658368"/>
          </a:xfrm>
          <a:prstGeom prst="roundRect">
            <a:avLst>
              <a:gd name="adj" fmla="val 12000"/>
            </a:avLst>
          </a:prstGeom>
          <a:solidFill>
            <a:srgbClr val="DDE8E8"/>
          </a:solidFill>
          <a:ln w="15875">
            <a:solidFill>
              <a:srgbClr val="6E7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Photo Check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(blur / shine)</a:t>
            </a:r>
          </a:p>
        </p:txBody>
      </p:sp>
      <p:sp>
        <p:nvSpPr>
          <p:cNvPr id="60" name="Rounded Rectangle 59"/>
          <p:cNvSpPr/>
          <p:nvPr/>
        </p:nvSpPr>
        <p:spPr>
          <a:xfrm>
            <a:off x="12161520" y="5440680"/>
            <a:ext cx="1737360" cy="658368"/>
          </a:xfrm>
          <a:prstGeom prst="roundRect">
            <a:avLst>
              <a:gd name="adj" fmla="val 12000"/>
            </a:avLst>
          </a:prstGeom>
          <a:solidFill>
            <a:srgbClr val="DDE8E8"/>
          </a:solidFill>
          <a:ln w="15875">
            <a:solidFill>
              <a:srgbClr val="6E7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Find Card &amp;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Fix Colours</a:t>
            </a:r>
          </a:p>
        </p:txBody>
      </p:sp>
      <p:sp>
        <p:nvSpPr>
          <p:cNvPr id="61" name="Diamond 60"/>
          <p:cNvSpPr/>
          <p:nvPr/>
        </p:nvSpPr>
        <p:spPr>
          <a:xfrm>
            <a:off x="14127480" y="5212080"/>
            <a:ext cx="1691640" cy="1115568"/>
          </a:xfrm>
          <a:prstGeom prst="diamond">
            <a:avLst/>
          </a:prstGeom>
          <a:solidFill>
            <a:srgbClr val="F6D7A7"/>
          </a:solidFill>
          <a:ln w="15875">
            <a:solidFill>
              <a:srgbClr val="B08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Compare with</a:t>
            </a:r>
          </a:p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Kit Colours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9966960" y="5769864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3" name="Connector 62"/>
          <p:cNvCxnSpPr/>
          <p:nvPr/>
        </p:nvCxnSpPr>
        <p:spPr>
          <a:xfrm>
            <a:off x="11932920" y="5769864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4" name="Connector 63"/>
          <p:cNvCxnSpPr/>
          <p:nvPr/>
        </p:nvCxnSpPr>
        <p:spPr>
          <a:xfrm>
            <a:off x="13898880" y="5769864"/>
            <a:ext cx="228600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5" name="Rounded Rectangle 64"/>
          <p:cNvSpPr/>
          <p:nvPr/>
        </p:nvSpPr>
        <p:spPr>
          <a:xfrm>
            <a:off x="10332720" y="6217920"/>
            <a:ext cx="14630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1A1A1A"/>
                </a:solidFill>
                <a:latin typeface="Calibri"/>
              </a:rPr>
              <a:t>fail → NOT SURE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2298680" y="6217920"/>
            <a:ext cx="1463040" cy="237744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9525">
            <a:solidFill>
              <a:srgbClr val="9B59B6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800" b="1">
                <a:solidFill>
                  <a:srgbClr val="1A1A1A"/>
                </a:solidFill>
                <a:latin typeface="Calibri"/>
              </a:rPr>
              <a:t>fail → NOT SURE</a:t>
            </a:r>
          </a:p>
        </p:txBody>
      </p:sp>
      <p:cxnSp>
        <p:nvCxnSpPr>
          <p:cNvPr id="67" name="Connector 66"/>
          <p:cNvCxnSpPr/>
          <p:nvPr/>
        </p:nvCxnSpPr>
        <p:spPr>
          <a:xfrm>
            <a:off x="14973300" y="6327648"/>
            <a:ext cx="0" cy="256032"/>
          </a:xfrm>
          <a:prstGeom prst="line">
            <a:avLst/>
          </a:prstGeom>
          <a:ln w="222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Connector 67"/>
          <p:cNvCxnSpPr/>
          <p:nvPr/>
        </p:nvCxnSpPr>
        <p:spPr>
          <a:xfrm>
            <a:off x="13670280" y="6583680"/>
            <a:ext cx="3337560" cy="0"/>
          </a:xfrm>
          <a:prstGeom prst="line">
            <a:avLst/>
          </a:prstGeom>
          <a:ln w="222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9" name="Connector 68"/>
          <p:cNvCxnSpPr/>
          <p:nvPr/>
        </p:nvCxnSpPr>
        <p:spPr>
          <a:xfrm>
            <a:off x="13670280" y="6583680"/>
            <a:ext cx="0" cy="22860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0" name="Oval 69"/>
          <p:cNvSpPr/>
          <p:nvPr/>
        </p:nvSpPr>
        <p:spPr>
          <a:xfrm>
            <a:off x="12893040" y="6766560"/>
            <a:ext cx="1554480" cy="548640"/>
          </a:xfrm>
          <a:prstGeom prst="ellipse">
            <a:avLst/>
          </a:prstGeom>
          <a:solidFill>
            <a:srgbClr val="FF7C8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POSITIVE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5361920" y="6583680"/>
            <a:ext cx="0" cy="22860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2" name="Oval 71"/>
          <p:cNvSpPr/>
          <p:nvPr/>
        </p:nvSpPr>
        <p:spPr>
          <a:xfrm>
            <a:off x="14584680" y="6766560"/>
            <a:ext cx="1554480" cy="548640"/>
          </a:xfrm>
          <a:prstGeom prst="ellipse">
            <a:avLst/>
          </a:prstGeom>
          <a:solidFill>
            <a:srgbClr val="C6EFA0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NEGATIVE</a:t>
            </a:r>
          </a:p>
        </p:txBody>
      </p:sp>
      <p:cxnSp>
        <p:nvCxnSpPr>
          <p:cNvPr id="73" name="Connector 72"/>
          <p:cNvCxnSpPr/>
          <p:nvPr/>
        </p:nvCxnSpPr>
        <p:spPr>
          <a:xfrm>
            <a:off x="17007840" y="6583680"/>
            <a:ext cx="0" cy="22860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Oval 73"/>
          <p:cNvSpPr/>
          <p:nvPr/>
        </p:nvSpPr>
        <p:spPr>
          <a:xfrm>
            <a:off x="16230600" y="6766560"/>
            <a:ext cx="1554480" cy="548640"/>
          </a:xfrm>
          <a:prstGeom prst="ellipse">
            <a:avLst/>
          </a:prstGeom>
          <a:solidFill>
            <a:srgbClr val="E6C8F5"/>
          </a:solidFill>
          <a:ln w="15875"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INCONCLUSIVE</a:t>
            </a:r>
          </a:p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(not sure)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12893040" y="7726679"/>
            <a:ext cx="3246120" cy="640080"/>
          </a:xfrm>
          <a:prstGeom prst="roundRect">
            <a:avLst>
              <a:gd name="adj" fmla="val 12000"/>
            </a:avLst>
          </a:prstGeom>
          <a:solidFill>
            <a:srgbClr val="DDE8E8"/>
          </a:solidFill>
          <a:ln w="15875">
            <a:solidFill>
              <a:srgbClr val="6E7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Sealed Record</a:t>
            </a:r>
          </a:p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>photo fingerprint + GPS + time + signature</a:t>
            </a:r>
          </a:p>
        </p:txBody>
      </p:sp>
      <p:sp>
        <p:nvSpPr>
          <p:cNvPr id="76" name="Rounded Rectangle 75"/>
          <p:cNvSpPr/>
          <p:nvPr/>
        </p:nvSpPr>
        <p:spPr>
          <a:xfrm>
            <a:off x="16230600" y="7726679"/>
            <a:ext cx="1554480" cy="640080"/>
          </a:xfrm>
          <a:prstGeom prst="roundRect">
            <a:avLst>
              <a:gd name="adj" fmla="val 12000"/>
            </a:avLst>
          </a:prstGeom>
          <a:solidFill>
            <a:srgbClr val="DDE8E8"/>
          </a:solidFill>
          <a:ln w="15875">
            <a:solidFill>
              <a:srgbClr val="6E7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Senior Officer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Checks</a:t>
            </a:r>
          </a:p>
        </p:txBody>
      </p:sp>
      <p:cxnSp>
        <p:nvCxnSpPr>
          <p:cNvPr id="77" name="Connector 76"/>
          <p:cNvCxnSpPr/>
          <p:nvPr/>
        </p:nvCxnSpPr>
        <p:spPr>
          <a:xfrm>
            <a:off x="13670280" y="7315200"/>
            <a:ext cx="0" cy="411479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8" name="Connector 77"/>
          <p:cNvCxnSpPr/>
          <p:nvPr/>
        </p:nvCxnSpPr>
        <p:spPr>
          <a:xfrm>
            <a:off x="15361920" y="7315200"/>
            <a:ext cx="0" cy="411479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9" name="Connector 78"/>
          <p:cNvCxnSpPr/>
          <p:nvPr/>
        </p:nvCxnSpPr>
        <p:spPr>
          <a:xfrm>
            <a:off x="17007840" y="7315200"/>
            <a:ext cx="0" cy="411479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0" name="Rounded Rectangle 79"/>
          <p:cNvSpPr/>
          <p:nvPr/>
        </p:nvSpPr>
        <p:spPr>
          <a:xfrm>
            <a:off x="12893040" y="8686800"/>
            <a:ext cx="3246120" cy="548640"/>
          </a:xfrm>
          <a:prstGeom prst="roundRect">
            <a:avLst>
              <a:gd name="adj" fmla="val 12000"/>
            </a:avLst>
          </a:prstGeom>
          <a:solidFill>
            <a:srgbClr val="DDE8E8"/>
          </a:solidFill>
          <a:ln w="15875">
            <a:solidFill>
              <a:srgbClr val="6E7F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0">
                <a:solidFill>
                  <a:srgbClr val="1A1A1A"/>
                </a:solidFill>
                <a:latin typeface="Calibri"/>
              </a:rPr>
              <a:t>Saved in Test Log · Map · PDF with QR</a:t>
            </a:r>
          </a:p>
        </p:txBody>
      </p:sp>
      <p:cxnSp>
        <p:nvCxnSpPr>
          <p:cNvPr id="81" name="Connector 80"/>
          <p:cNvCxnSpPr/>
          <p:nvPr/>
        </p:nvCxnSpPr>
        <p:spPr>
          <a:xfrm>
            <a:off x="14516100" y="8366760"/>
            <a:ext cx="0" cy="32004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2" name="Connector 81"/>
          <p:cNvCxnSpPr/>
          <p:nvPr/>
        </p:nvCxnSpPr>
        <p:spPr>
          <a:xfrm>
            <a:off x="17007840" y="8366760"/>
            <a:ext cx="0" cy="594360"/>
          </a:xfrm>
          <a:prstGeom prst="line">
            <a:avLst/>
          </a:prstGeom>
          <a:ln w="22225">
            <a:solidFill>
              <a:srgbClr val="7F7F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3" name="Connector 82"/>
          <p:cNvCxnSpPr/>
          <p:nvPr/>
        </p:nvCxnSpPr>
        <p:spPr>
          <a:xfrm flipH="1">
            <a:off x="16139159" y="8961120"/>
            <a:ext cx="868681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4" name="Rounded Rectangle 83"/>
          <p:cNvSpPr/>
          <p:nvPr/>
        </p:nvSpPr>
        <p:spPr>
          <a:xfrm>
            <a:off x="8229600" y="6720840"/>
            <a:ext cx="4297680" cy="2514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8366760" y="6784848"/>
            <a:ext cx="4023360" cy="32004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100" b="1" i="0">
                <a:solidFill>
                  <a:srgbClr val="1F3864"/>
                </a:solidFill>
                <a:latin typeface="Calibri"/>
              </a:rPr>
              <a:t>RESULT SCREEN (what the officer sees)</a:t>
            </a:r>
          </a:p>
        </p:txBody>
      </p:sp>
      <p:sp>
        <p:nvSpPr>
          <p:cNvPr id="86" name="Rounded Rectangle 85"/>
          <p:cNvSpPr/>
          <p:nvPr/>
        </p:nvSpPr>
        <p:spPr>
          <a:xfrm>
            <a:off x="8412480" y="7150608"/>
            <a:ext cx="3931920" cy="384048"/>
          </a:xfrm>
          <a:prstGeom prst="roundRect">
            <a:avLst>
              <a:gd name="adj" fmla="val 12000"/>
            </a:avLst>
          </a:prstGeom>
          <a:solidFill>
            <a:srgbClr val="FF7C80"/>
          </a:solidFill>
          <a:ln w="15875">
            <a:solidFill>
              <a:srgbClr val="C05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POSITIVE · opium-type drug · 91% sure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8412480" y="7571231"/>
            <a:ext cx="4023360" cy="2743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50" b="0" i="0">
                <a:solidFill>
                  <a:srgbClr val="404040"/>
                </a:solidFill>
                <a:latin typeface="Calibri"/>
              </a:rPr>
              <a:t>Colour difference = 4.2 (small number = close match)</a:t>
            </a:r>
          </a:p>
        </p:txBody>
      </p:sp>
      <p:sp>
        <p:nvSpPr>
          <p:cNvPr id="88" name="Rounded Rectangle 87"/>
          <p:cNvSpPr/>
          <p:nvPr/>
        </p:nvSpPr>
        <p:spPr>
          <a:xfrm>
            <a:off x="8549640" y="7909560"/>
            <a:ext cx="384048" cy="384048"/>
          </a:xfrm>
          <a:prstGeom prst="roundRect">
            <a:avLst/>
          </a:prstGeom>
          <a:solidFill>
            <a:srgbClr val="D67AB1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TextBox 88"/>
          <p:cNvSpPr txBox="1"/>
          <p:nvPr/>
        </p:nvSpPr>
        <p:spPr>
          <a:xfrm>
            <a:off x="8961119" y="7882127"/>
            <a:ext cx="8961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Photo colour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(fixed)</a:t>
            </a:r>
          </a:p>
        </p:txBody>
      </p:sp>
      <p:sp>
        <p:nvSpPr>
          <p:cNvPr id="90" name="Rounded Rectangle 89"/>
          <p:cNvSpPr/>
          <p:nvPr/>
        </p:nvSpPr>
        <p:spPr>
          <a:xfrm>
            <a:off x="9875519" y="7909560"/>
            <a:ext cx="384048" cy="384048"/>
          </a:xfrm>
          <a:prstGeom prst="roundRect">
            <a:avLst/>
          </a:prstGeom>
          <a:solidFill>
            <a:srgbClr val="C85FA8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TextBox 90"/>
          <p:cNvSpPr txBox="1"/>
          <p:nvPr/>
        </p:nvSpPr>
        <p:spPr>
          <a:xfrm>
            <a:off x="10286999" y="7882127"/>
            <a:ext cx="8961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Kit colour: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Positive</a:t>
            </a:r>
          </a:p>
        </p:txBody>
      </p:sp>
      <p:sp>
        <p:nvSpPr>
          <p:cNvPr id="92" name="Rounded Rectangle 91"/>
          <p:cNvSpPr/>
          <p:nvPr/>
        </p:nvSpPr>
        <p:spPr>
          <a:xfrm>
            <a:off x="11201400" y="7909560"/>
            <a:ext cx="384048" cy="384048"/>
          </a:xfrm>
          <a:prstGeom prst="roundRect">
            <a:avLst/>
          </a:prstGeom>
          <a:solidFill>
            <a:srgbClr val="E8C07A"/>
          </a:solidFill>
          <a:ln>
            <a:solidFill>
              <a:srgbClr val="7F7F7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TextBox 92"/>
          <p:cNvSpPr txBox="1"/>
          <p:nvPr/>
        </p:nvSpPr>
        <p:spPr>
          <a:xfrm>
            <a:off x="11612880" y="7882127"/>
            <a:ext cx="896112" cy="45720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Kit colour:</a:t>
            </a:r>
          </a:p>
          <a:p>
            <a:pPr algn="l"/>
            <a:r>
              <a:rPr sz="900" b="0" i="0">
                <a:solidFill>
                  <a:srgbClr val="404040"/>
                </a:solidFill>
                <a:latin typeface="Calibri"/>
              </a:rPr>
              <a:t>Negative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8366760" y="8412480"/>
            <a:ext cx="4069080" cy="73152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000" b="0" i="1">
                <a:solidFill>
                  <a:srgbClr val="7F7F7F"/>
                </a:solidFill>
                <a:latin typeface="Calibri"/>
              </a:rPr>
              <a:t>This is a first-level field result. The final answer always comes from the lab.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12124" y="30937"/>
            <a:ext cx="3304794" cy="1535925"/>
            <a:chOff x="0" y="0"/>
            <a:chExt cx="4406392" cy="204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6392" cy="2047875"/>
            </a:xfrm>
            <a:custGeom>
              <a:avLst/>
              <a:gdLst/>
              <a:ahLst/>
              <a:cxnLst/>
              <a:rect r="r" b="b" t="t" l="l"/>
              <a:pathLst>
                <a:path h="2047875" w="4406392">
                  <a:moveTo>
                    <a:pt x="0" y="0"/>
                  </a:moveTo>
                  <a:lnTo>
                    <a:pt x="4406392" y="0"/>
                  </a:lnTo>
                  <a:lnTo>
                    <a:pt x="4406392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7" t="0" r="-167" b="-1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1074372" y="5460150"/>
            <a:ext cx="15433703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9" id="9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0" id="10"/>
          <p:cNvSpPr/>
          <p:nvPr/>
        </p:nvSpPr>
        <p:spPr>
          <a:xfrm>
            <a:off x="6423295" y="6369788"/>
            <a:ext cx="0" cy="2091288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7" id="17"/>
          <p:cNvSpPr/>
          <p:nvPr/>
        </p:nvSpPr>
        <p:spPr>
          <a:xfrm>
            <a:off x="11357812" y="2072813"/>
            <a:ext cx="0" cy="3387337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12802916" y="5460150"/>
            <a:ext cx="0" cy="3681373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8" id="28" descr="$PPTXTitle"/>
          <p:cNvSpPr txBox="true"/>
          <p:nvPr/>
        </p:nvSpPr>
        <p:spPr>
          <a:xfrm rot="0">
            <a:off x="4574058" y="300016"/>
            <a:ext cx="8228859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TECHNICAL APPROACH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3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2926080" y="1879212"/>
            <a:ext cx="6858000" cy="438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000"/>
              </a:lnSpc>
            </a:pPr>
            <a:r>
              <a:rPr lang="en-US" b="true" sz="2500" spc="-13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Technology Workflow (step by step)</a:t>
            </a:r>
            <a:r>
              <a:rPr lang="en-US" b="true" sz="2500" spc="-13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/>
            </a:r>
          </a:p>
        </p:txBody>
      </p:sp>
      <p:sp>
        <p:nvSpPr>
          <p:cNvPr name="TextBox 32" id="32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685800" y="269748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BEFB5"/>
          </a:solidFill>
          <a:ln w="15875">
            <a:solidFill>
              <a:srgbClr val="B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1. Take Photo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Flutter mobile app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(guide + timer)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3310128" y="269748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2. Photo Check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OpenCV checks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blur / shine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5934456" y="269748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BEFB5"/>
          </a:solidFill>
          <a:ln w="15875">
            <a:solidFill>
              <a:srgbClr val="B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3. Find the Card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4 corner markers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(ArUco)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8558784" y="269748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4. Fix the Colours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using the card's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known colours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685800" y="416052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8. Officer Website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React + map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+ PDF / Excel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3310128" y="416052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BEFB5"/>
          </a:solidFill>
          <a:ln w="15875">
            <a:solidFill>
              <a:srgbClr val="B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7. Save on Server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FastAPI +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PostgreSQL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5934456" y="416052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E4E4E4"/>
          </a:solidFill>
          <a:ln w="15875">
            <a:solidFill>
              <a:srgbClr val="A6A6A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6. Seal the Record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fingerprint + GPS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+ time + signature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8558784" y="4160520"/>
            <a:ext cx="2331720" cy="868680"/>
          </a:xfrm>
          <a:prstGeom prst="roundRect">
            <a:avLst>
              <a:gd name="adj" fmla="val 12000"/>
            </a:avLst>
          </a:prstGeom>
          <a:solidFill>
            <a:srgbClr val="FBEFB5"/>
          </a:solidFill>
          <a:ln w="15875">
            <a:solidFill>
              <a:srgbClr val="B8A04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50" b="1">
                <a:solidFill>
                  <a:srgbClr val="1A1A1A"/>
                </a:solidFill>
                <a:latin typeface="Calibri"/>
              </a:rPr>
              <a:t>5. Decide Result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colour difference</a:t>
            </a:r>
          </a:p>
          <a:p>
            <a:pPr algn="ctr"/>
            <a:r>
              <a:rPr sz="1250" b="0">
                <a:solidFill>
                  <a:srgbClr val="1A1A1A"/>
                </a:solidFill>
                <a:latin typeface="Calibri"/>
              </a:rPr>
              <a:t>score (ΔE)</a:t>
            </a:r>
          </a:p>
        </p:txBody>
      </p:sp>
      <p:cxnSp>
        <p:nvCxnSpPr>
          <p:cNvPr id="41" name="Connector 40"/>
          <p:cNvCxnSpPr/>
          <p:nvPr/>
        </p:nvCxnSpPr>
        <p:spPr>
          <a:xfrm>
            <a:off x="3017520" y="3131820"/>
            <a:ext cx="292608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2" name="Connector 41"/>
          <p:cNvCxnSpPr/>
          <p:nvPr/>
        </p:nvCxnSpPr>
        <p:spPr>
          <a:xfrm flipH="1">
            <a:off x="3017520" y="4594859"/>
            <a:ext cx="292608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3" name="Connector 42"/>
          <p:cNvCxnSpPr/>
          <p:nvPr/>
        </p:nvCxnSpPr>
        <p:spPr>
          <a:xfrm>
            <a:off x="5641848" y="3131820"/>
            <a:ext cx="292608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Connector 43"/>
          <p:cNvCxnSpPr/>
          <p:nvPr/>
        </p:nvCxnSpPr>
        <p:spPr>
          <a:xfrm flipH="1">
            <a:off x="5641848" y="4594859"/>
            <a:ext cx="292608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5" name="Connector 44"/>
          <p:cNvCxnSpPr/>
          <p:nvPr/>
        </p:nvCxnSpPr>
        <p:spPr>
          <a:xfrm>
            <a:off x="8266175" y="3131820"/>
            <a:ext cx="292609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6" name="Connector 45"/>
          <p:cNvCxnSpPr/>
          <p:nvPr/>
        </p:nvCxnSpPr>
        <p:spPr>
          <a:xfrm flipH="1">
            <a:off x="8266175" y="4594859"/>
            <a:ext cx="292609" cy="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7" name="Connector 46"/>
          <p:cNvCxnSpPr/>
          <p:nvPr/>
        </p:nvCxnSpPr>
        <p:spPr>
          <a:xfrm>
            <a:off x="9724644" y="3566160"/>
            <a:ext cx="0" cy="594360"/>
          </a:xfrm>
          <a:prstGeom prst="line">
            <a:avLst/>
          </a:prstGeom>
          <a:ln w="22225">
            <a:solidFill>
              <a:srgbClr val="7F7F7F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8" name="Rounded Rectangle 47"/>
          <p:cNvSpPr/>
          <p:nvPr/>
        </p:nvSpPr>
        <p:spPr>
          <a:xfrm>
            <a:off x="11841480" y="2057400"/>
            <a:ext cx="5760720" cy="3200400"/>
          </a:xfrm>
          <a:prstGeom prst="roundRect">
            <a:avLst>
              <a:gd name="adj" fmla="val 4000"/>
            </a:avLst>
          </a:prstGeom>
          <a:solidFill>
            <a:srgbClr val="D9DEF0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/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2024360" y="2148840"/>
            <a:ext cx="539496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100" b="1" i="0">
                <a:solidFill>
                  <a:srgbClr val="1F3864"/>
                </a:solidFill>
                <a:latin typeface="Calibri"/>
              </a:rPr>
              <a:t>How the App Decides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2024360" y="2606040"/>
            <a:ext cx="5486400" cy="2651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700"/>
              </a:spcAft>
              <a:buFont typeface="Arial"/>
              <a:buChar char="•"/>
            </a:pPr>
            <a:r>
              <a:rPr b="1" sz="1600">
                <a:solidFill>
                  <a:srgbClr val="1A1A1A"/>
                </a:solidFill>
                <a:latin typeface="Calibri"/>
              </a:rPr>
              <a:t>POSITIVE / NEGATIVE: </a:t>
            </a:r>
            <a:r>
              <a:rPr sz="1600">
                <a:solidFill>
                  <a:srgbClr val="1A1A1A"/>
                </a:solidFill>
                <a:latin typeface="Calibri"/>
              </a:rPr>
              <a:t>colour clearly matches one kit result</a:t>
            </a:r>
          </a:p>
          <a:p>
            <a:pPr marL="292608" indent="-256032">
              <a:spcAft>
                <a:spcPts val="700"/>
              </a:spcAft>
              <a:buFont typeface="Arial"/>
              <a:buChar char="•"/>
            </a:pPr>
            <a:r>
              <a:rPr b="1" sz="1600">
                <a:solidFill>
                  <a:srgbClr val="1A1A1A"/>
                </a:solidFill>
                <a:latin typeface="Calibri"/>
              </a:rPr>
              <a:t>NOT SURE: </a:t>
            </a:r>
            <a:r>
              <a:rPr sz="1600">
                <a:solidFill>
                  <a:srgbClr val="1A1A1A"/>
                </a:solidFill>
                <a:latin typeface="Calibri"/>
              </a:rPr>
              <a:t>colour card not found in the photo</a:t>
            </a:r>
          </a:p>
          <a:p>
            <a:pPr marL="292608" indent="-256032">
              <a:spcAft>
                <a:spcPts val="700"/>
              </a:spcAft>
              <a:buFont typeface="Arial"/>
              <a:buChar char="•"/>
            </a:pPr>
            <a:r>
              <a:rPr b="1" sz="1600">
                <a:solidFill>
                  <a:srgbClr val="1A1A1A"/>
                </a:solidFill>
                <a:latin typeface="Calibri"/>
              </a:rPr>
              <a:t>NOT SURE: </a:t>
            </a:r>
            <a:r>
              <a:rPr sz="1600">
                <a:solidFill>
                  <a:srgbClr val="1A1A1A"/>
                </a:solidFill>
                <a:latin typeface="Calibri"/>
              </a:rPr>
              <a:t>photo is blurry or shiny</a:t>
            </a:r>
          </a:p>
          <a:p>
            <a:pPr marL="292608" indent="-256032">
              <a:spcAft>
                <a:spcPts val="700"/>
              </a:spcAft>
              <a:buFont typeface="Arial"/>
              <a:buChar char="•"/>
            </a:pPr>
            <a:r>
              <a:rPr b="1" sz="1600">
                <a:solidFill>
                  <a:srgbClr val="1A1A1A"/>
                </a:solidFill>
                <a:latin typeface="Calibri"/>
              </a:rPr>
              <a:t>NOT SURE: </a:t>
            </a:r>
            <a:r>
              <a:rPr sz="1600">
                <a:solidFill>
                  <a:srgbClr val="1A1A1A"/>
                </a:solidFill>
                <a:latin typeface="Calibri"/>
              </a:rPr>
              <a:t>colour does not match any result</a:t>
            </a:r>
          </a:p>
          <a:p>
            <a:pPr marL="292608" indent="-256032">
              <a:spcAft>
                <a:spcPts val="700"/>
              </a:spcAft>
              <a:buFont typeface="Arial"/>
              <a:buChar char="•"/>
            </a:pPr>
            <a:r>
              <a:rPr b="1" sz="1600">
                <a:solidFill>
                  <a:srgbClr val="1A1A1A"/>
                </a:solidFill>
                <a:latin typeface="Calibri"/>
              </a:rPr>
              <a:t>NOT SURE: </a:t>
            </a:r>
            <a:r>
              <a:rPr sz="1600">
                <a:solidFill>
                  <a:srgbClr val="1A1A1A"/>
                </a:solidFill>
                <a:latin typeface="Calibri"/>
              </a:rPr>
              <a:t>colour is in between two results</a:t>
            </a:r>
          </a:p>
          <a:p>
            <a:pPr marL="292608" indent="-256032">
              <a:spcAft>
                <a:spcPts val="700"/>
              </a:spcAft>
              <a:buFont typeface="Arial"/>
              <a:buChar char="•"/>
            </a:pPr>
            <a:r>
              <a:rPr b="1" sz="1600">
                <a:solidFill>
                  <a:srgbClr val="1A1A1A"/>
                </a:solidFill>
                <a:latin typeface="Calibri"/>
              </a:rPr>
              <a:t>"% sure": </a:t>
            </a:r>
            <a:r>
              <a:rPr sz="1600">
                <a:solidFill>
                  <a:srgbClr val="1A1A1A"/>
                </a:solidFill>
                <a:latin typeface="Calibri"/>
              </a:rPr>
              <a:t>how clearly it matches the best result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3291840" y="5577840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200" b="1" i="0">
                <a:solidFill>
                  <a:srgbClr val="1F3864"/>
                </a:solidFill>
                <a:latin typeface="Calibri"/>
              </a:rPr>
              <a:t>How the ₹10 Colour Card Works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77240" y="6263640"/>
            <a:ext cx="548640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Printed Colour Card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777240" y="6675120"/>
            <a:ext cx="553212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Calibri"/>
              </a:rPr>
              <a:t>4 corner markers - </a:t>
            </a:r>
            <a:r>
              <a:rPr sz="1500">
                <a:solidFill>
                  <a:srgbClr val="1A1A1A"/>
                </a:solidFill>
                <a:latin typeface="Calibri"/>
              </a:rPr>
              <a:t>app finds and straightens the card</a:t>
            </a:r>
          </a:p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Calibri"/>
              </a:rPr>
              <a:t>24 boxes of known colours - </a:t>
            </a:r>
            <a:r>
              <a:rPr sz="1500">
                <a:solidFill>
                  <a:srgbClr val="1A1A1A"/>
                </a:solidFill>
                <a:latin typeface="Calibri"/>
              </a:rPr>
              <a:t>app learns how the light changed colours</a:t>
            </a:r>
          </a:p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500">
                <a:solidFill>
                  <a:srgbClr val="1A1A1A"/>
                </a:solidFill>
                <a:latin typeface="Calibri"/>
              </a:rPr>
              <a:t>Test window - </a:t>
            </a:r>
            <a:r>
              <a:rPr sz="1500">
                <a:solidFill>
                  <a:srgbClr val="1A1A1A"/>
                </a:solidFill>
                <a:latin typeface="Calibri"/>
              </a:rPr>
              <a:t>app fixes the kit colour and gives a score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6675120" y="6263640"/>
            <a:ext cx="585216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800" b="1" i="0">
                <a:solidFill>
                  <a:srgbClr val="1A1A1A"/>
                </a:solidFill>
                <a:latin typeface="Calibri"/>
              </a:rPr>
              <a:t>Add Any Test Kit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6675120" y="6675120"/>
            <a:ext cx="5852160" cy="6400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400" b="0" i="0">
                <a:solidFill>
                  <a:srgbClr val="1A1A1A"/>
                </a:solidFill>
                <a:latin typeface="Calibri"/>
              </a:rPr>
              <a:t>Admin adds a kit with its result colours from the website. No app update needed.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6675120" y="75438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Admin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Adds Kit</a:t>
            </a:r>
          </a:p>
        </p:txBody>
      </p:sp>
      <p:cxnSp>
        <p:nvCxnSpPr>
          <p:cNvPr id="57" name="Connector 56"/>
          <p:cNvCxnSpPr/>
          <p:nvPr/>
        </p:nvCxnSpPr>
        <p:spPr>
          <a:xfrm>
            <a:off x="8001000" y="7872983"/>
            <a:ext cx="182879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8" name="Rounded Rectangle 57"/>
          <p:cNvSpPr/>
          <p:nvPr/>
        </p:nvSpPr>
        <p:spPr>
          <a:xfrm>
            <a:off x="8183879" y="75438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Enter Result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Colours</a:t>
            </a:r>
          </a:p>
        </p:txBody>
      </p:sp>
      <p:cxnSp>
        <p:nvCxnSpPr>
          <p:cNvPr id="59" name="Connector 58"/>
          <p:cNvCxnSpPr/>
          <p:nvPr/>
        </p:nvCxnSpPr>
        <p:spPr>
          <a:xfrm>
            <a:off x="9509759" y="7872983"/>
            <a:ext cx="182881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Rounded Rectangle 59"/>
          <p:cNvSpPr/>
          <p:nvPr/>
        </p:nvSpPr>
        <p:spPr>
          <a:xfrm>
            <a:off x="9692640" y="75438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Set Match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Limit</a:t>
            </a:r>
          </a:p>
        </p:txBody>
      </p:sp>
      <p:cxnSp>
        <p:nvCxnSpPr>
          <p:cNvPr id="61" name="Connector 60"/>
          <p:cNvCxnSpPr/>
          <p:nvPr/>
        </p:nvCxnSpPr>
        <p:spPr>
          <a:xfrm>
            <a:off x="11018519" y="7872983"/>
            <a:ext cx="182881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2" name="Rounded Rectangle 61"/>
          <p:cNvSpPr/>
          <p:nvPr/>
        </p:nvSpPr>
        <p:spPr>
          <a:xfrm>
            <a:off x="11201400" y="7543800"/>
            <a:ext cx="1325880" cy="658368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Ready in</a:t>
            </a:r>
          </a:p>
          <a:p>
            <a:pPr algn="ctr"/>
            <a:r>
              <a:rPr sz="1200" b="0">
                <a:solidFill>
                  <a:srgbClr val="1A1A1A"/>
                </a:solidFill>
                <a:latin typeface="Calibri"/>
              </a:rPr>
              <a:t>App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2103120" y="8686800"/>
            <a:ext cx="9692640" cy="457200"/>
          </a:xfrm>
          <a:prstGeom prst="roundRect">
            <a:avLst>
              <a:gd name="adj" fmla="val 12000"/>
            </a:avLst>
          </a:prstGeom>
          <a:solidFill>
            <a:srgbClr val="D9DEF0"/>
          </a:solidFill>
          <a:ln w="15875">
            <a:solidFill>
              <a:srgbClr val="2F559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0">
                <a:solidFill>
                  <a:srgbClr val="1A1A1A"/>
                </a:solidFill>
                <a:latin typeface="Calibri"/>
              </a:rPr>
              <a:t>Any phone, any light → same fixed colour   |   Card not read properly → NOT SURE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13121640" y="5577840"/>
            <a:ext cx="484632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000" b="1" i="0">
                <a:solidFill>
                  <a:srgbClr val="1F3864"/>
                </a:solidFill>
                <a:latin typeface="Calibri"/>
              </a:rPr>
              <a:t>Proof That Cannot Be Faked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3167360" y="621792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Take Photo</a:t>
            </a:r>
          </a:p>
        </p:txBody>
      </p:sp>
      <p:sp>
        <p:nvSpPr>
          <p:cNvPr id="66" name="Rounded Rectangle 65"/>
          <p:cNvSpPr/>
          <p:nvPr/>
        </p:nvSpPr>
        <p:spPr>
          <a:xfrm>
            <a:off x="15773400" y="6217920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FFF2CC"/>
          </a:solidFill>
          <a:ln w="15875">
            <a:solidFill>
              <a:srgbClr val="BF90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1A1A1A"/>
                </a:solidFill>
                <a:latin typeface="Calibri"/>
              </a:rPr>
              <a:t>Original Photo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15773400" y="713232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E2F0D9"/>
          </a:solidFill>
          <a:ln w="15875">
            <a:solidFill>
              <a:srgbClr val="70AD4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GPS + Internet Time</a:t>
            </a:r>
          </a:p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+ Officer + Phone ID</a:t>
            </a:r>
          </a:p>
        </p:txBody>
      </p:sp>
      <p:sp>
        <p:nvSpPr>
          <p:cNvPr id="68" name="Rounded Rectangle 67"/>
          <p:cNvSpPr/>
          <p:nvPr/>
        </p:nvSpPr>
        <p:spPr>
          <a:xfrm>
            <a:off x="13167360" y="7132320"/>
            <a:ext cx="1920240" cy="685800"/>
          </a:xfrm>
          <a:prstGeom prst="roundRect">
            <a:avLst>
              <a:gd name="adj" fmla="val 12000"/>
            </a:avLst>
          </a:prstGeom>
          <a:solidFill>
            <a:srgbClr val="FBE5D6"/>
          </a:solidFill>
          <a:ln w="15875">
            <a:solidFill>
              <a:srgbClr val="C55A1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Photo Fingerprint</a:t>
            </a:r>
          </a:p>
          <a:p>
            <a:pPr algn="ctr"/>
            <a:r>
              <a:rPr sz="1050" b="1">
                <a:solidFill>
                  <a:srgbClr val="1A1A1A"/>
                </a:solidFill>
                <a:latin typeface="Calibri"/>
              </a:rPr>
              <a:t>(SHA-256) + Signature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13167360" y="8183879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E4DFEC"/>
          </a:solidFill>
          <a:ln w="15875"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1A1A1A"/>
                </a:solidFill>
                <a:latin typeface="Calibri"/>
              </a:rPr>
              <a:t>Chained Test Log</a:t>
            </a:r>
          </a:p>
        </p:txBody>
      </p:sp>
      <p:sp>
        <p:nvSpPr>
          <p:cNvPr id="70" name="Rounded Rectangle 69"/>
          <p:cNvSpPr/>
          <p:nvPr/>
        </p:nvSpPr>
        <p:spPr>
          <a:xfrm>
            <a:off x="15773400" y="8183879"/>
            <a:ext cx="1920240" cy="548640"/>
          </a:xfrm>
          <a:prstGeom prst="roundRect">
            <a:avLst>
              <a:gd name="adj" fmla="val 12000"/>
            </a:avLst>
          </a:prstGeom>
          <a:solidFill>
            <a:srgbClr val="DDEBF7"/>
          </a:solidFill>
          <a:ln w="15875">
            <a:solidFill>
              <a:srgbClr val="5B9BD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150" b="1">
                <a:solidFill>
                  <a:srgbClr val="1A1A1A"/>
                </a:solidFill>
                <a:latin typeface="Calibri"/>
              </a:rPr>
              <a:t>QR Check Page</a:t>
            </a:r>
          </a:p>
        </p:txBody>
      </p:sp>
      <p:cxnSp>
        <p:nvCxnSpPr>
          <p:cNvPr id="71" name="Connector 70"/>
          <p:cNvCxnSpPr/>
          <p:nvPr/>
        </p:nvCxnSpPr>
        <p:spPr>
          <a:xfrm>
            <a:off x="15087600" y="6492240"/>
            <a:ext cx="6858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Connector 71"/>
          <p:cNvCxnSpPr/>
          <p:nvPr/>
        </p:nvCxnSpPr>
        <p:spPr>
          <a:xfrm>
            <a:off x="16733520" y="6766560"/>
            <a:ext cx="0" cy="36576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Connector 72"/>
          <p:cNvCxnSpPr/>
          <p:nvPr/>
        </p:nvCxnSpPr>
        <p:spPr>
          <a:xfrm flipH="1">
            <a:off x="15087600" y="7475220"/>
            <a:ext cx="6858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4" name="Connector 73"/>
          <p:cNvCxnSpPr/>
          <p:nvPr/>
        </p:nvCxnSpPr>
        <p:spPr>
          <a:xfrm>
            <a:off x="14127480" y="7818120"/>
            <a:ext cx="0" cy="365759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5" name="Connector 74"/>
          <p:cNvCxnSpPr/>
          <p:nvPr/>
        </p:nvCxnSpPr>
        <p:spPr>
          <a:xfrm>
            <a:off x="15087600" y="8458200"/>
            <a:ext cx="685800" cy="0"/>
          </a:xfrm>
          <a:prstGeom prst="line">
            <a:avLst/>
          </a:prstGeom>
          <a:ln w="22225">
            <a:solidFill>
              <a:srgbClr val="404040"/>
            </a:solidFill>
            <a:tailEnd type="triangle" w="med" h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6" name="TextBox 75"/>
          <p:cNvSpPr txBox="1"/>
          <p:nvPr/>
        </p:nvSpPr>
        <p:spPr>
          <a:xfrm>
            <a:off x="13167360" y="8823960"/>
            <a:ext cx="4754880" cy="36576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1200" b="1" i="0">
                <a:solidFill>
                  <a:srgbClr val="C00000"/>
                </a:solidFill>
                <a:latin typeface="Calibri"/>
              </a:rPr>
              <a:t>Change even 1 byte → QR page shows TAMPERED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10" id="10"/>
          <p:cNvGrpSpPr/>
          <p:nvPr/>
        </p:nvGrpSpPr>
        <p:grpSpPr>
          <a:xfrm rot="0">
            <a:off x="14682597" y="21869"/>
            <a:ext cx="3302698" cy="1538135"/>
            <a:chOff x="0" y="0"/>
            <a:chExt cx="4403598" cy="2050847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4403598" cy="2050796"/>
            </a:xfrm>
            <a:custGeom>
              <a:avLst/>
              <a:gdLst/>
              <a:ahLst/>
              <a:cxnLst/>
              <a:rect r="r" b="b" t="t" l="l"/>
              <a:pathLst>
                <a:path h="2050796" w="4403598">
                  <a:moveTo>
                    <a:pt x="0" y="0"/>
                  </a:moveTo>
                  <a:lnTo>
                    <a:pt x="4403598" y="0"/>
                  </a:lnTo>
                  <a:lnTo>
                    <a:pt x="4403598" y="2050796"/>
                  </a:lnTo>
                  <a:lnTo>
                    <a:pt x="0" y="205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1" t="0" r="-271" b="-2"/>
              </a:stretch>
            </a:blipFill>
          </p:spPr>
        </p:sp>
      </p:grpSp>
      <p:graphicFrame>
        <p:nvGraphicFramePr>
          <p:cNvPr name="Table 12" id="12"/>
          <p:cNvGraphicFramePr>
            <a:graphicFrameLocks noGrp="true"/>
          </p:cNvGraphicFramePr>
          <p:nvPr/>
        </p:nvGraphicFramePr>
        <p:xfrm>
          <a:off x="1444429" y="5091234"/>
          <a:ext cx="7695951" cy="4167066"/>
        </p:xfrm>
        <a:graphic>
          <a:graphicData uri="http://schemas.openxmlformats.org/drawingml/2006/table">
            <a:tbl>
              <a:tblPr/>
              <a:tblGrid>
                <a:gridCol w="3597282"/>
                <a:gridCol w="4098669"/>
              </a:tblGrid>
              <a:tr h="77329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Real-world problem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659"/>
                        </a:lnSpc>
                        <a:defRPr/>
                      </a:pPr>
                      <a:r>
                        <a:rPr lang="en-US" sz="1899" b="true">
                          <a:solidFill>
                            <a:srgbClr val="000000"/>
                          </a:solidFill>
                          <a:latin typeface="Calibri (MS) Bold"/>
                          <a:ea typeface="Calibri (MS) Bold"/>
                          <a:cs typeface="Calibri (MS) Bold"/>
                          <a:sym typeface="Calibri (MS) Bold"/>
                        </a:rPr>
                        <a:t>What our app does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Bad light (street lamp / torch)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Colour card fixes the colours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2476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Shiny or blurry photo, card missing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Says NOT SURE and asks to retake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Colour is in between two results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Says NOT SURE; senior officer checks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Fake photo or edited record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In-app camera only + photo fingerprint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77824"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Different kits and phones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l">
                        <a:lnSpc>
                          <a:spcPts val="1959"/>
                        </a:lnSpc>
                        <a:defRPr/>
                      </a:pPr>
                      <a:r>
                        <a:rPr lang="en-US" sz="1399">
                          <a:solidFill>
                            <a:srgbClr val="000000"/>
                          </a:solidFill>
                          <a:latin typeface="Calibri (MS)"/>
                          <a:ea typeface="Calibri (MS)"/>
                          <a:cs typeface="Calibri (MS)"/>
                          <a:sym typeface="Calibri (MS)"/>
                        </a:rPr>
                        <a:t>Kit settings + colours fixed every photo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AutoShape 13" id="13"/>
          <p:cNvSpPr/>
          <p:nvPr/>
        </p:nvSpPr>
        <p:spPr>
          <a:xfrm>
            <a:off x="9880066" y="2068323"/>
            <a:ext cx="0" cy="6987505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4" id="14"/>
          <p:cNvSpPr/>
          <p:nvPr/>
        </p:nvSpPr>
        <p:spPr>
          <a:xfrm>
            <a:off x="1443233" y="4330269"/>
            <a:ext cx="8435637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5" id="15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16" id="16"/>
          <p:cNvSpPr/>
          <p:nvPr/>
        </p:nvSpPr>
        <p:spPr>
          <a:xfrm>
            <a:off x="9880066" y="6262416"/>
            <a:ext cx="6963395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7" id="17"/>
          <p:cNvSpPr/>
          <p:nvPr/>
        </p:nvSpPr>
        <p:spPr>
          <a:xfrm flipH="false" flipV="false" rot="0">
            <a:off x="10649424" y="2757150"/>
            <a:ext cx="5351215" cy="2981391"/>
          </a:xfrm>
          <a:custGeom>
            <a:avLst/>
            <a:gdLst/>
            <a:ahLst/>
            <a:cxnLst/>
            <a:rect r="r" b="b" t="t" l="l"/>
            <a:pathLst>
              <a:path h="2981391" w="5351215">
                <a:moveTo>
                  <a:pt x="0" y="0"/>
                </a:moveTo>
                <a:lnTo>
                  <a:pt x="5351216" y="0"/>
                </a:lnTo>
                <a:lnTo>
                  <a:pt x="5351216" y="2981391"/>
                </a:lnTo>
                <a:lnTo>
                  <a:pt x="0" y="2981391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  <p:sp>
        <p:nvSpPr>
          <p:cNvPr name="TextBox 18" id="18" descr="$PPTXTitle"/>
          <p:cNvSpPr txBox="true"/>
          <p:nvPr/>
        </p:nvSpPr>
        <p:spPr>
          <a:xfrm rot="0">
            <a:off x="4029456" y="366951"/>
            <a:ext cx="9813370" cy="847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30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FEASIBILITY AND VIABILITY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443233" y="4577919"/>
            <a:ext cx="59436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otential Challenges &amp; Strategies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7664196" y="9616983"/>
            <a:ext cx="3327559" cy="346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374"/>
              </a:lnSpc>
            </a:pPr>
            <a:r>
              <a:rPr lang="en-US" sz="1999" spc="-16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4</a:t>
            </a:r>
          </a:p>
        </p:txBody>
      </p:sp>
      <p:sp>
        <p:nvSpPr>
          <p:cNvPr name="TextBox 23" id="23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0400633" y="2020698"/>
            <a:ext cx="68580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Phased Implementation &amp; Scalability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0400633" y="6738666"/>
            <a:ext cx="59436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40"/>
              </a:lnSpc>
            </a:pPr>
            <a:r>
              <a:rPr lang="en-US" sz="2200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Our Goals for the Prototype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444752" y="1874519"/>
            <a:ext cx="73152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Feasibility (can we really do it?)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600200" y="2331720"/>
            <a:ext cx="813816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800">
                <a:solidFill>
                  <a:srgbClr val="1A1A1A"/>
                </a:solidFill>
                <a:latin typeface="Calibri"/>
              </a:rPr>
              <a:t>Technical - </a:t>
            </a:r>
            <a:r>
              <a:rPr sz="1800">
                <a:solidFill>
                  <a:srgbClr val="1A1A1A"/>
                </a:solidFill>
                <a:latin typeface="Calibri"/>
              </a:rPr>
              <a:t>built on our old project's tested code + OpenCV for colours.</a:t>
            </a:r>
          </a:p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800">
                <a:solidFill>
                  <a:srgbClr val="1A1A1A"/>
                </a:solidFill>
                <a:latin typeface="Calibri"/>
              </a:rPr>
              <a:t>Easy to use - </a:t>
            </a:r>
            <a:r>
              <a:rPr sz="1800">
                <a:solidFill>
                  <a:srgbClr val="1A1A1A"/>
                </a:solidFill>
                <a:latin typeface="Calibri"/>
              </a:rPr>
              <a:t>officer takes one photo, gets the result in seconds.</a:t>
            </a:r>
          </a:p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800">
                <a:solidFill>
                  <a:srgbClr val="1A1A1A"/>
                </a:solidFill>
                <a:latin typeface="Calibri"/>
              </a:rPr>
              <a:t>Low cost - </a:t>
            </a:r>
            <a:r>
              <a:rPr sz="1800">
                <a:solidFill>
                  <a:srgbClr val="1A1A1A"/>
                </a:solidFill>
                <a:latin typeface="Calibri"/>
              </a:rPr>
              <a:t>phone + ₹10 printed card + free software. No new machine.</a:t>
            </a:r>
          </a:p>
          <a:p>
            <a:pPr marL="292608" indent="-256032">
              <a:spcAft>
                <a:spcPts val="400"/>
              </a:spcAft>
              <a:buFont typeface="Arial"/>
              <a:buChar char="•"/>
            </a:pPr>
            <a:r>
              <a:rPr b="1" sz="1800">
                <a:solidFill>
                  <a:srgbClr val="1A1A1A"/>
                </a:solidFill>
                <a:latin typeface="Calibri"/>
              </a:rPr>
              <a:t>Scalable - </a:t>
            </a:r>
            <a:r>
              <a:rPr sz="1800">
                <a:solidFill>
                  <a:srgbClr val="1A1A1A"/>
                </a:solidFill>
                <a:latin typeface="Calibri"/>
              </a:rPr>
              <a:t>add any new kit from the website; works on any Android phone.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15600" y="7223760"/>
            <a:ext cx="7498079" cy="21945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200"/>
              </a:spcAft>
              <a:buFont typeface="Arial"/>
              <a:buChar char="•"/>
            </a:pPr>
            <a:r>
              <a:rPr b="1" sz="1650">
                <a:solidFill>
                  <a:srgbClr val="1A1A1A"/>
                </a:solidFill>
                <a:latin typeface="Calibri"/>
              </a:rPr>
              <a:t>Accuracy: </a:t>
            </a:r>
            <a:r>
              <a:rPr sz="1650">
                <a:solidFill>
                  <a:srgbClr val="1A1A1A"/>
                </a:solidFill>
                <a:latin typeface="Calibri"/>
              </a:rPr>
              <a:t>90%+ correct on our demo colour samples in 4 types of light</a:t>
            </a:r>
          </a:p>
          <a:p>
            <a:pPr marL="292608" indent="-256032">
              <a:spcAft>
                <a:spcPts val="200"/>
              </a:spcAft>
              <a:buFont typeface="Arial"/>
              <a:buChar char="•"/>
            </a:pPr>
            <a:r>
              <a:rPr b="1" sz="1650">
                <a:solidFill>
                  <a:srgbClr val="1A1A1A"/>
                </a:solidFill>
                <a:latin typeface="Calibri"/>
              </a:rPr>
              <a:t>Speed: </a:t>
            </a:r>
            <a:r>
              <a:rPr sz="1650">
                <a:solidFill>
                  <a:srgbClr val="1A1A1A"/>
                </a:solidFill>
                <a:latin typeface="Calibri"/>
              </a:rPr>
              <a:t>result + sealed record in 10 seconds or less</a:t>
            </a:r>
          </a:p>
          <a:p>
            <a:pPr marL="292608" indent="-256032">
              <a:spcAft>
                <a:spcPts val="200"/>
              </a:spcAft>
              <a:buFont typeface="Arial"/>
              <a:buChar char="•"/>
            </a:pPr>
            <a:r>
              <a:rPr b="1" sz="1650">
                <a:solidFill>
                  <a:srgbClr val="1A1A1A"/>
                </a:solidFill>
                <a:latin typeface="Calibri"/>
              </a:rPr>
              <a:t>Tamper check: </a:t>
            </a:r>
            <a:r>
              <a:rPr sz="1650">
                <a:solidFill>
                  <a:srgbClr val="1A1A1A"/>
                </a:solidFill>
                <a:latin typeface="Calibri"/>
              </a:rPr>
              <a:t>change even 1 byte → check fails</a:t>
            </a:r>
          </a:p>
          <a:p>
            <a:pPr marL="292608" indent="-256032">
              <a:spcAft>
                <a:spcPts val="200"/>
              </a:spcAft>
              <a:buFont typeface="Arial"/>
              <a:buChar char="•"/>
            </a:pPr>
            <a:r>
              <a:rPr b="1" sz="1650">
                <a:solidFill>
                  <a:srgbClr val="1A1A1A"/>
                </a:solidFill>
                <a:latin typeface="Calibri"/>
              </a:rPr>
              <a:t>Honesty: </a:t>
            </a:r>
            <a:r>
              <a:rPr sz="1650">
                <a:solidFill>
                  <a:srgbClr val="1A1A1A"/>
                </a:solidFill>
                <a:latin typeface="Calibri"/>
              </a:rPr>
              <a:t>never guesses - unclear means NOT SURE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14410" y="28727"/>
            <a:ext cx="3302698" cy="1538135"/>
            <a:chOff x="0" y="0"/>
            <a:chExt cx="4403598" cy="2050847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3598" cy="2050796"/>
            </a:xfrm>
            <a:custGeom>
              <a:avLst/>
              <a:gdLst/>
              <a:ahLst/>
              <a:cxnLst/>
              <a:rect r="r" b="b" t="t" l="l"/>
              <a:pathLst>
                <a:path h="2050796" w="4403598">
                  <a:moveTo>
                    <a:pt x="0" y="0"/>
                  </a:moveTo>
                  <a:lnTo>
                    <a:pt x="4403598" y="0"/>
                  </a:lnTo>
                  <a:lnTo>
                    <a:pt x="4403598" y="2050796"/>
                  </a:lnTo>
                  <a:lnTo>
                    <a:pt x="0" y="205079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271" t="0" r="-271" b="-2"/>
              </a:stretch>
            </a:blipFill>
          </p:spPr>
        </p:sp>
      </p:grpSp>
      <p:sp>
        <p:nvSpPr>
          <p:cNvPr name="AutoShape 8" id="8"/>
          <p:cNvSpPr/>
          <p:nvPr/>
        </p:nvSpPr>
        <p:spPr>
          <a:xfrm>
            <a:off x="8184679" y="1720188"/>
            <a:ext cx="0" cy="7508284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9" id="9"/>
          <p:cNvSpPr/>
          <p:nvPr/>
        </p:nvSpPr>
        <p:spPr>
          <a:xfrm flipV="true">
            <a:off x="1873664" y="5393550"/>
            <a:ext cx="14492095" cy="0"/>
          </a:xfrm>
          <a:prstGeom prst="line">
            <a:avLst/>
          </a:prstGeom>
          <a:ln cap="flat" w="38100">
            <a:solidFill>
              <a:srgbClr val="D0D6E8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10" id="10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2" id="12" descr="$PPTXTitle"/>
          <p:cNvSpPr txBox="true"/>
          <p:nvPr/>
        </p:nvSpPr>
        <p:spPr>
          <a:xfrm rot="0">
            <a:off x="5177028" y="369313"/>
            <a:ext cx="7916228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b="true" sz="5400" spc="-15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IMPACT AND BENEFITS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5</a:t>
            </a:r>
          </a:p>
        </p:txBody>
      </p:sp>
      <p:sp>
        <p:nvSpPr>
          <p:cNvPr name="TextBox 17" id="17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09928" y="1783080"/>
            <a:ext cx="5943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Benefits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28800" y="2240280"/>
            <a:ext cx="62179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Same result, whoever does the test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Proof of every test: time, place, officer, photo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Fewer wrong cases - app says "not sure" instead of guessing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No paperwork: PDF with QR, Excel, search and map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sz="1900">
                <a:solidFill>
                  <a:srgbClr val="1A1A1A"/>
                </a:solidFill>
                <a:latin typeface="Calibri"/>
              </a:rPr>
              <a:t>Follows new laws: BNSS Sec 105 and BSA Sec 63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709928" y="5623560"/>
            <a:ext cx="59436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Expected Impact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28800" y="6080760"/>
            <a:ext cx="621792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Field Officer - </a:t>
            </a:r>
            <a:r>
              <a:rPr sz="1900">
                <a:solidFill>
                  <a:srgbClr val="1A1A1A"/>
                </a:solidFill>
                <a:latin typeface="Calibri"/>
              </a:rPr>
              <a:t>quick and confident, no colour guessing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NCB / Police - </a:t>
            </a:r>
            <a:r>
              <a:rPr sz="1900">
                <a:solidFill>
                  <a:srgbClr val="1A1A1A"/>
                </a:solidFill>
                <a:latin typeface="Calibri"/>
              </a:rPr>
              <a:t>every test saved, searchable, on a map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Courts / Labs - </a:t>
            </a:r>
            <a:r>
              <a:rPr sz="1900">
                <a:solidFill>
                  <a:srgbClr val="1A1A1A"/>
                </a:solidFill>
                <a:latin typeface="Calibri"/>
              </a:rPr>
              <a:t>scan QR to check the record is real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Common people - </a:t>
            </a:r>
            <a:r>
              <a:rPr sz="1900">
                <a:solidFill>
                  <a:srgbClr val="1A1A1A"/>
                </a:solidFill>
                <a:latin typeface="Calibri"/>
              </a:rPr>
              <a:t>less chance of wrong arrest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292840" y="1828800"/>
            <a:ext cx="2194560" cy="566928"/>
          </a:xfrm>
          <a:prstGeom prst="roundRect">
            <a:avLst>
              <a:gd name="adj" fmla="val 12000"/>
            </a:avLst>
          </a:prstGeom>
          <a:solidFill>
            <a:srgbClr val="404040"/>
          </a:solidFill>
          <a:ln w="15875">
            <a:solidFill>
              <a:srgbClr val="4040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Who Gets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Helped?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12390120" y="2395728"/>
            <a:ext cx="0" cy="301752"/>
          </a:xfrm>
          <a:prstGeom prst="line">
            <a:avLst/>
          </a:prstGeom>
          <a:ln w="222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9784080" y="2697480"/>
            <a:ext cx="5212079" cy="0"/>
          </a:xfrm>
          <a:prstGeom prst="line">
            <a:avLst/>
          </a:prstGeom>
          <a:ln w="222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784080" y="2697480"/>
            <a:ext cx="0" cy="320040"/>
          </a:xfrm>
          <a:prstGeom prst="line">
            <a:avLst/>
          </a:prstGeom>
          <a:ln w="222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06840" y="3017520"/>
            <a:ext cx="1554480" cy="411480"/>
          </a:xfrm>
          <a:prstGeom prst="roundRect">
            <a:avLst>
              <a:gd name="adj" fmla="val 12000"/>
            </a:avLst>
          </a:prstGeom>
          <a:solidFill>
            <a:srgbClr val="7F9A3C"/>
          </a:solidFill>
          <a:ln w="15875">
            <a:solidFill>
              <a:srgbClr val="7F9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FIELD OFFICERS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9098280" y="3566160"/>
            <a:ext cx="1371600" cy="1097280"/>
          </a:xfrm>
          <a:prstGeom prst="roundRect">
            <a:avLst>
              <a:gd name="adj" fmla="val 12000"/>
            </a:avLst>
          </a:prstGeom>
          <a:solidFill>
            <a:srgbClr val="B6CF6B"/>
          </a:solidFill>
          <a:ln w="15875">
            <a:solidFill>
              <a:srgbClr val="B6CF6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 colour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guessing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11521440" y="2697480"/>
            <a:ext cx="0" cy="320040"/>
          </a:xfrm>
          <a:prstGeom prst="line">
            <a:avLst/>
          </a:prstGeom>
          <a:ln w="222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0744200" y="3017520"/>
            <a:ext cx="1554480" cy="411480"/>
          </a:xfrm>
          <a:prstGeom prst="roundRect">
            <a:avLst>
              <a:gd name="adj" fmla="val 12000"/>
            </a:avLst>
          </a:prstGeom>
          <a:solidFill>
            <a:srgbClr val="8C6D3F"/>
          </a:solidFill>
          <a:ln w="15875">
            <a:solidFill>
              <a:srgbClr val="8C6D3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NCB &amp; POLICE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10835640" y="3566160"/>
            <a:ext cx="1371600" cy="1097280"/>
          </a:xfrm>
          <a:prstGeom prst="roundRect">
            <a:avLst>
              <a:gd name="adj" fmla="val 12000"/>
            </a:avLst>
          </a:prstGeom>
          <a:solidFill>
            <a:srgbClr val="D9A55B"/>
          </a:solidFill>
          <a:ln w="15875">
            <a:solidFill>
              <a:srgbClr val="D9A55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All tests in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one place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13258800" y="2697480"/>
            <a:ext cx="0" cy="320040"/>
          </a:xfrm>
          <a:prstGeom prst="line">
            <a:avLst/>
          </a:prstGeom>
          <a:ln w="222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Rounded Rectangle 31"/>
          <p:cNvSpPr/>
          <p:nvPr/>
        </p:nvSpPr>
        <p:spPr>
          <a:xfrm>
            <a:off x="12481560" y="3017520"/>
            <a:ext cx="1554480" cy="411480"/>
          </a:xfrm>
          <a:prstGeom prst="roundRect">
            <a:avLst>
              <a:gd name="adj" fmla="val 12000"/>
            </a:avLst>
          </a:prstGeom>
          <a:solidFill>
            <a:srgbClr val="B5475A"/>
          </a:solidFill>
          <a:ln w="15875">
            <a:solidFill>
              <a:srgbClr val="B5475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COURTS &amp; LABS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12573000" y="3566160"/>
            <a:ext cx="1371600" cy="1097280"/>
          </a:xfrm>
          <a:prstGeom prst="roundRect">
            <a:avLst>
              <a:gd name="adj" fmla="val 12000"/>
            </a:avLst>
          </a:prstGeom>
          <a:solidFill>
            <a:srgbClr val="DA6A7C"/>
          </a:solidFill>
          <a:ln w="15875">
            <a:solidFill>
              <a:srgbClr val="DA6A7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Easy to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verify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14996160" y="2697480"/>
            <a:ext cx="0" cy="320040"/>
          </a:xfrm>
          <a:prstGeom prst="line">
            <a:avLst/>
          </a:prstGeom>
          <a:ln w="22225">
            <a:solidFill>
              <a:srgbClr val="40404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Rounded Rectangle 34"/>
          <p:cNvSpPr/>
          <p:nvPr/>
        </p:nvSpPr>
        <p:spPr>
          <a:xfrm>
            <a:off x="14218920" y="3017520"/>
            <a:ext cx="1554480" cy="411480"/>
          </a:xfrm>
          <a:prstGeom prst="roundRect">
            <a:avLst>
              <a:gd name="adj" fmla="val 12000"/>
            </a:avLst>
          </a:prstGeom>
          <a:solidFill>
            <a:srgbClr val="4C4C9D"/>
          </a:solidFill>
          <a:ln w="15875">
            <a:solidFill>
              <a:srgbClr val="4C4C9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CITIZENS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4310360" y="3566160"/>
            <a:ext cx="1371600" cy="1097280"/>
          </a:xfrm>
          <a:prstGeom prst="roundRect">
            <a:avLst>
              <a:gd name="adj" fmla="val 12000"/>
            </a:avLst>
          </a:prstGeom>
          <a:solidFill>
            <a:srgbClr val="6D6DD6"/>
          </a:solidFill>
          <a:ln w="15875">
            <a:solidFill>
              <a:srgbClr val="6D6DD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18288" bIns="18288"/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Fewer wrong</a:t>
            </a:r>
          </a:p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arrests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897112" y="5669280"/>
            <a:ext cx="6400800" cy="411480"/>
          </a:xfrm>
          <a:prstGeom prst="rect">
            <a:avLst/>
          </a:prstGeom>
          <a:noFill/>
        </p:spPr>
        <p:txBody>
          <a:bodyPr wrap="square" anchor="t" lIns="45720" rIns="45720" tIns="18288" bIns="18288">
            <a:spAutoFit/>
          </a:bodyPr>
          <a:lstStyle/>
          <a:p>
            <a:pPr algn="l"/>
            <a:r>
              <a:rPr sz="2300" b="1" i="0">
                <a:solidFill>
                  <a:srgbClr val="1F3864"/>
                </a:solidFill>
                <a:latin typeface="Calibri"/>
              </a:rPr>
              <a:t>Future Scope (next steps)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052560" y="6126480"/>
            <a:ext cx="8503920" cy="3200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Works offline - </a:t>
            </a:r>
            <a:r>
              <a:rPr sz="1900">
                <a:solidFill>
                  <a:srgbClr val="1A1A1A"/>
                </a:solidFill>
                <a:latin typeface="Calibri"/>
              </a:rPr>
              <a:t>at highways / borders, sends data later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Phone security chip - </a:t>
            </a:r>
            <a:r>
              <a:rPr sz="1900">
                <a:solidFill>
                  <a:srgbClr val="1A1A1A"/>
                </a:solidFill>
                <a:latin typeface="Calibri"/>
              </a:rPr>
              <a:t>phone also signs every test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Link with police systems - </a:t>
            </a:r>
            <a:r>
              <a:rPr sz="1900">
                <a:solidFill>
                  <a:srgbClr val="1A1A1A"/>
                </a:solidFill>
                <a:latin typeface="Calibri"/>
              </a:rPr>
              <a:t>e-Sakshya and CCTNS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Match with lab results - </a:t>
            </a:r>
            <a:r>
              <a:rPr sz="1900">
                <a:solidFill>
                  <a:srgbClr val="1A1A1A"/>
                </a:solidFill>
                <a:latin typeface="Calibri"/>
              </a:rPr>
              <a:t>find which kits are most accurate</a:t>
            </a:r>
          </a:p>
          <a:p>
            <a:pPr marL="292608" indent="-256032">
              <a:spcAft>
                <a:spcPts val="600"/>
              </a:spcAft>
              <a:buFont typeface="Arial"/>
              <a:buChar char="•"/>
            </a:pPr>
            <a:r>
              <a:rPr b="1" sz="1900">
                <a:solidFill>
                  <a:srgbClr val="1A1A1A"/>
                </a:solidFill>
                <a:latin typeface="Calibri"/>
              </a:rPr>
              <a:t>Hindi + regional languages - </a:t>
            </a:r>
            <a:r>
              <a:rPr sz="1900">
                <a:solidFill>
                  <a:srgbClr val="1A1A1A"/>
                </a:solidFill>
                <a:latin typeface="Calibri"/>
              </a:rPr>
              <a:t>with voice help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564624"/>
            <a:ext cx="18280761" cy="715289"/>
            <a:chOff x="0" y="0"/>
            <a:chExt cx="24374348" cy="953719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24374348" cy="953770"/>
            </a:xfrm>
            <a:custGeom>
              <a:avLst/>
              <a:gdLst/>
              <a:ahLst/>
              <a:cxnLst/>
              <a:rect r="r" b="b" t="t" l="l"/>
              <a:pathLst>
                <a:path h="953770" w="24374348">
                  <a:moveTo>
                    <a:pt x="0" y="0"/>
                  </a:moveTo>
                  <a:lnTo>
                    <a:pt x="24374348" y="0"/>
                  </a:lnTo>
                  <a:lnTo>
                    <a:pt x="24374348" y="953770"/>
                  </a:lnTo>
                  <a:lnTo>
                    <a:pt x="0" y="95377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914" r="0" b="-909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9532620"/>
            <a:ext cx="18288000" cy="754380"/>
            <a:chOff x="0" y="0"/>
            <a:chExt cx="24384000" cy="100584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005840"/>
            </a:xfrm>
            <a:custGeom>
              <a:avLst/>
              <a:gdLst/>
              <a:ahLst/>
              <a:cxnLst/>
              <a:rect r="r" b="b" t="t" l="l"/>
              <a:pathLst>
                <a:path h="1005840" w="24384000">
                  <a:moveTo>
                    <a:pt x="24384000" y="0"/>
                  </a:moveTo>
                  <a:lnTo>
                    <a:pt x="0" y="0"/>
                  </a:lnTo>
                  <a:lnTo>
                    <a:pt x="0" y="1005840"/>
                  </a:lnTo>
                  <a:lnTo>
                    <a:pt x="24384000" y="1005840"/>
                  </a:lnTo>
                  <a:lnTo>
                    <a:pt x="24384000" y="0"/>
                  </a:lnTo>
                  <a:close/>
                </a:path>
              </a:pathLst>
            </a:custGeom>
            <a:solidFill>
              <a:srgbClr val="006EC0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4712124" y="30937"/>
            <a:ext cx="3304794" cy="1535925"/>
            <a:chOff x="0" y="0"/>
            <a:chExt cx="4406392" cy="20479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406392" cy="2047875"/>
            </a:xfrm>
            <a:custGeom>
              <a:avLst/>
              <a:gdLst/>
              <a:ahLst/>
              <a:cxnLst/>
              <a:rect r="r" b="b" t="t" l="l"/>
              <a:pathLst>
                <a:path h="2047875" w="4406392">
                  <a:moveTo>
                    <a:pt x="0" y="0"/>
                  </a:moveTo>
                  <a:lnTo>
                    <a:pt x="4406392" y="0"/>
                  </a:lnTo>
                  <a:lnTo>
                    <a:pt x="4406392" y="2047875"/>
                  </a:lnTo>
                  <a:lnTo>
                    <a:pt x="0" y="2047875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167" t="0" r="-167" b="-1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391335" y="315011"/>
            <a:ext cx="2629852" cy="1249680"/>
          </a:xfrm>
          <a:custGeom>
            <a:avLst/>
            <a:gdLst/>
            <a:ahLst/>
            <a:cxnLst/>
            <a:rect r="r" b="b" t="t" l="l"/>
            <a:pathLst>
              <a:path h="1249680" w="2629852">
                <a:moveTo>
                  <a:pt x="0" y="0"/>
                </a:moveTo>
                <a:lnTo>
                  <a:pt x="2629852" y="0"/>
                </a:lnTo>
                <a:lnTo>
                  <a:pt x="2629852" y="1249680"/>
                </a:lnTo>
                <a:lnTo>
                  <a:pt x="0" y="124968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aphicFrame>
        <p:nvGraphicFramePr>
          <p:cNvPr name="Table 9" id="9"/>
          <p:cNvGraphicFramePr>
            <a:graphicFrameLocks noGrp="true"/>
          </p:cNvGraphicFramePr>
          <p:nvPr/>
        </p:nvGraphicFramePr>
        <p:xfrm>
          <a:off x="12443239" y="1783080"/>
          <a:ext cx="4816061" cy="4692661"/>
        </p:xfrm>
        <a:graphic>
          <a:graphicData uri="http://schemas.openxmlformats.org/drawingml/2006/table">
            <a:tbl>
              <a:tblPr/>
              <a:tblGrid>
                <a:gridCol w="4816061"/>
              </a:tblGrid>
              <a:tr h="744461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520"/>
                        </a:lnSpc>
                        <a:defRPr/>
                      </a:pPr>
                      <a:r>
                        <a:rPr lang="en-US" sz="1800" b="true">
                          <a:solidFill>
                            <a:srgbClr val="000000"/>
                          </a:solidFill>
                          <a:latin typeface="Canva Sans Bold"/>
                          <a:ea typeface="Canva Sans Bold"/>
                          <a:cs typeface="Canva Sans Bold"/>
                          <a:sym typeface="Canva Sans Bold"/>
                        </a:rPr>
                        <a:t>Official Sources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0D6E8"/>
                    </a:solidFill>
                  </a:tcPr>
                </a:tc>
              </a:tr>
              <a:tr h="1317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NDPS Act (drug law) &amp; Sampling Rules 2022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 u="sng">
                          <a:solidFill>
                            <a:srgbClr val="006EC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6"/>
                        </a:rPr>
                        <a:t>https://www.indiacode.nic.in/handle/123456789/1791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712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80"/>
                        </a:lnSpc>
                        <a:defRPr/>
                      </a:pPr>
                      <a:r>
                        <a:rPr lang="en-US" sz="1700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NCB Field Officers' Handbook</a:t>
                      </a:r>
                      <a:endParaRPr lang="en-US" sz="1100"/>
                    </a:p>
                    <a:p>
                      <a:pPr algn="ctr">
                        <a:lnSpc>
                          <a:spcPts val="2380"/>
                        </a:lnSpc>
                      </a:pPr>
                      <a:r>
                        <a:rPr lang="en-US" sz="1700" u="sng">
                          <a:solidFill>
                            <a:srgbClr val="006EC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7"/>
                        </a:rPr>
                        <a:t>https://narcoticsindia.nic.in/DLEA/1.pdf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313953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379"/>
                        </a:lnSpc>
                        <a:defRPr/>
                      </a:pPr>
                      <a:r>
                        <a:rPr lang="en-US" sz="1699">
                          <a:solidFill>
                            <a:srgbClr val="00000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</a:rPr>
                        <a:t>UNODC Drug Field-Testing Manual</a:t>
                      </a:r>
                      <a:endParaRPr lang="en-US" sz="1100"/>
                    </a:p>
                    <a:p>
                      <a:pPr algn="ctr">
                        <a:lnSpc>
                          <a:spcPts val="2379"/>
                        </a:lnSpc>
                      </a:pPr>
                      <a:r>
                        <a:rPr lang="en-US" sz="1699" u="sng">
                          <a:solidFill>
                            <a:srgbClr val="006EC0"/>
                          </a:solidFill>
                          <a:latin typeface="Canva Sans"/>
                          <a:ea typeface="Canva Sans"/>
                          <a:cs typeface="Canva Sans"/>
                          <a:sym typeface="Canva Sans"/>
                          <a:hlinkClick r:id="rId8"/>
                        </a:rPr>
                        <a:t>https://www.unodc.org/documents/scientific/Rapid_Testing_Methods_of_Drugs_of_Abuse_E.pdf</a:t>
                      </a:r>
                    </a:p>
                  </a:txBody>
                  <a:tcPr marL="190500" marR="190500" marT="190500" marB="190500" anchor="ctr">
                    <a:lnL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9525">
                      <a:solidFill>
                        <a:srgbClr val="1737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10" id="10" descr="$PPTXTitle"/>
          <p:cNvSpPr txBox="true"/>
          <p:nvPr/>
        </p:nvSpPr>
        <p:spPr>
          <a:xfrm rot="0">
            <a:off x="3644188" y="489837"/>
            <a:ext cx="10421112" cy="87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480"/>
              </a:lnSpc>
            </a:pPr>
            <a:r>
              <a:rPr lang="en-US" sz="5400" b="true">
                <a:solidFill>
                  <a:srgbClr val="17375E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RESEARCH AND REFERENCES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664196" y="9626508"/>
            <a:ext cx="2995136" cy="3076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sz="1800" spc="-14">
                <a:solidFill>
                  <a:srgbClr val="FFFFFF"/>
                </a:solidFill>
                <a:latin typeface="Calibri (MS)"/>
                <a:ea typeface="Calibri (MS)"/>
                <a:cs typeface="Calibri (MS)"/>
                <a:sym typeface="Calibri (MS)"/>
              </a:rPr>
              <a:t>@SIH Idea submission- Template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063656" y="9649673"/>
            <a:ext cx="104775" cy="2886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137"/>
              </a:lnSpc>
            </a:pPr>
            <a:r>
              <a:rPr lang="en-US" b="true" sz="1800" spc="-75">
                <a:solidFill>
                  <a:srgbClr val="FFFFFF"/>
                </a:solidFill>
                <a:latin typeface="Times New Roman Bold"/>
                <a:ea typeface="Times New Roman Bold"/>
                <a:cs typeface="Times New Roman Bold"/>
                <a:sym typeface="Times New Roman Bold"/>
              </a:rPr>
              <a:t>6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412480" y="8503919"/>
            <a:ext cx="8229600" cy="3810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>
              <a:lnSpc>
                <a:spcPts val="2655"/>
              </a:lnSpc>
            </a:pPr>
            <a:r>
              <a:rPr lang="en-US" sz="2212" spc="-11" b="true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Take photo → Fix colour → Get result → Keep proof</a:t>
            </a:r>
          </a:p>
        </p:txBody>
      </p:sp>
      <p:sp>
        <p:nvSpPr>
          <p:cNvPr name="TextBox 14" id="14" descr="$PPTXTitle"/>
          <p:cNvSpPr txBox="true"/>
          <p:nvPr/>
        </p:nvSpPr>
        <p:spPr>
          <a:xfrm rot="0">
            <a:off x="1074372" y="677913"/>
            <a:ext cx="1461403" cy="466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40"/>
              </a:lnSpc>
            </a:pPr>
            <a:r>
              <a:rPr lang="en-US" b="true" sz="2700" spc="-29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HexTech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914400" y="8503919"/>
            <a:ext cx="3931920" cy="390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760"/>
              </a:lnSpc>
              <a:spcBef>
                <a:spcPct val="0"/>
              </a:spcBef>
            </a:pPr>
            <a:r>
              <a:rPr lang="en-US" b="true" sz="2300" spc="-25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P</a:t>
            </a:r>
            <a:r>
              <a:rPr lang="en-US" b="true" sz="2300" spc="-25">
                <a:solidFill>
                  <a:srgbClr val="17375E"/>
                </a:solidFill>
                <a:latin typeface="Calibri (MS) Bold"/>
                <a:ea typeface="Calibri (MS) Bold"/>
                <a:cs typeface="Calibri (MS) Bold"/>
                <a:sym typeface="Calibri (MS) Bold"/>
              </a:rPr>
              <a:t>rototype Demo Video: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4754880" y="8503919"/>
            <a:ext cx="3200400" cy="361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520"/>
              </a:lnSpc>
            </a:pPr>
            <a:r>
              <a:rPr lang="en-US" sz="2100" spc="-23" u="sng">
                <a:solidFill>
                  <a:srgbClr val="006EC0"/>
                </a:solidFill>
                <a:latin typeface="Calibri (MS)"/>
                <a:ea typeface="Calibri (MS)"/>
                <a:cs typeface="Calibri (MS)"/>
                <a:sym typeface="Calibri (MS)"/>
                <a:hlinkClick r:id="rId9" tooltip="https://youtu.be/mnKpSr1TcaA?si=O-i5wA8bHeqz7oGt"/>
              </a:rPr>
              <a:t>Prototype Video Link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777240" y="1783080"/>
          <a:ext cx="11384280" cy="6537960"/>
        </p:xfrm>
        <a:graphic>
          <a:graphicData uri="http://schemas.openxmlformats.org/drawingml/2006/table">
            <a:tbl>
              <a:tblPr firstRow="1">
                <a:tableStyleId>{5940675A-B579-460E-94D1-54222C63F5DA}</a:tableStyleId>
              </a:tblPr>
              <a:tblGrid>
                <a:gridCol w="411480"/>
                <a:gridCol w="4983480"/>
                <a:gridCol w="3154680"/>
                <a:gridCol w="2834640"/>
              </a:tblGrid>
              <a:tr h="457200">
                <a:tc>
                  <a:txBody>
                    <a:bodyPr wrap="square"/>
                    <a:lstStyle/>
                    <a:p>
                      <a:pPr algn="ctr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 anchor="ctr" marL="64008" marR="64008" marT="27432" marB="27432">
                    <a:solidFill>
                      <a:srgbClr val="CFD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Research (click the title to open)</a:t>
                      </a:r>
                    </a:p>
                  </a:txBody>
                  <a:tcPr anchor="ctr" marL="64008" marR="64008" marT="27432" marB="27432">
                    <a:solidFill>
                      <a:srgbClr val="CFD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What they found</a:t>
                      </a:r>
                    </a:p>
                  </a:txBody>
                  <a:tcPr anchor="ctr" marL="64008" marR="64008" marT="27432" marB="27432">
                    <a:solidFill>
                      <a:srgbClr val="CFD5EA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F3864"/>
                          </a:solidFill>
                          <a:latin typeface="Calibri"/>
                        </a:rPr>
                        <a:t>How we use it</a:t>
                      </a:r>
                    </a:p>
                  </a:txBody>
                  <a:tcPr anchor="ctr" marL="64008" marR="64008" marT="27432" marB="27432">
                    <a:solidFill>
                      <a:srgbClr val="CFD5EA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629B"/>
                          </a:solidFill>
                          <a:latin typeface="Calibri"/>
                        </a:rPr>
                        <a:t>IEEE EMBC 2016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2"/>
                        </a:rPr>
                        <a:t>Illumination and device independence for colorimetric detection with smartphone (Karisen &amp; Dong)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Phone camera colours change with light and phone model; a reference fixes this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Our ₹10 colour card fixes colours in every photo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00629B"/>
                          </a:solidFill>
                          <a:latin typeface="Calibri"/>
                        </a:rPr>
                        <a:t>IEEE TPS-ISA 2024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3"/>
                        </a:rPr>
                        <a:t>Digital Evidence Chain of Custody: Navigating New Realities of Digital Forensics (Nath et al.)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Digital evidence must prove it was never changed, and who handled it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Photo fingerprint + signature + chained log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Forensic Science International 2014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4"/>
                        </a:rPr>
                        <a:t>Real-time quantitative colourimetric test for methamphetamine using mobile phone technology (Choodum et al.)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A phone camera can measure drug-test colours as numbers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Our app reads the test colour as a number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Analytical Chemistry 2016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5"/>
                        </a:rPr>
                        <a:t>Objective presumptive field-testing of illicit drugs using smartphone analysis (Krauss et al.)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Reading test colours by eye is a personal guess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App gives POSITIVE / NEGATIVE / NOT SURE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Digital Discovery 2023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6"/>
                        </a:rPr>
                        <a:t>Teaching old presumptive tests new digital tricks with computer vision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Different people describe the same colour differently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App shows photo colour next to kit colours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Analytical &amp; Bioanalytical Chemistry 2025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7"/>
                        </a:rPr>
                        <a:t>RGB colour correction and gamut limitations in smartphone-based analysis (Fyfe et al.)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Light and camera angle change colours; colour correction fixes most of it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Colour fixing + NOT SURE if fixing fails</a:t>
                      </a:r>
                    </a:p>
                  </a:txBody>
                  <a:tcPr anchor="ctr" marL="64008" marR="64008" marT="27432" marB="27432">
                    <a:solidFill>
                      <a:srgbClr val="F4F6FB"/>
                    </a:solidFill>
                  </a:tcPr>
                </a:tc>
              </a:tr>
              <a:tr h="868680">
                <a:tc>
                  <a:txBody>
                    <a:bodyPr wrap="square"/>
                    <a:lstStyle/>
                    <a:p>
                      <a:pPr algn="ctr"/>
                      <a:r>
                        <a:rPr sz="1300" b="1">
                          <a:solidFill>
                            <a:srgbClr val="1F3864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1F3864"/>
                          </a:solidFill>
                          <a:latin typeface="Calibri"/>
                        </a:rPr>
                        <a:t>Forensic Science International 2005</a:t>
                      </a:r>
                    </a:p>
                    <a:p>
                      <a:pPr algn="l"/>
                      <a:r>
                        <a:rPr sz="1200" b="0" u="sng">
                          <a:solidFill>
                            <a:srgbClr val="0563C1"/>
                          </a:solidFill>
                          <a:latin typeface="Calibri"/>
                          <a:hlinkClick r:id="rId18"/>
                        </a:rPr>
                        <a:t>False positives and false negatives with a cocaine-specific field test (Tsumura et al.)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>
                          <a:solidFill>
                            <a:srgbClr val="1A1A1A"/>
                          </a:solidFill>
                          <a:latin typeface="Calibri"/>
                        </a:rPr>
                        <a:t>Field colour tests can give wrong results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>
                          <a:solidFill>
                            <a:srgbClr val="2E5E2E"/>
                          </a:solidFill>
                          <a:latin typeface="Calibri"/>
                        </a:rPr>
                        <a:t>App says NOT SURE; final answer from the lab</a:t>
                      </a:r>
                    </a:p>
                  </a:txBody>
                  <a:tcPr anchor="ctr" marL="64008" marR="64008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DAHVDURAeOo</dc:identifier>
  <dcterms:modified xsi:type="dcterms:W3CDTF">2011-08-01T06:04:30Z</dcterms:modified>
  <cp:revision>1</cp:revision>
  <dc:title>Problem Statement ID – 26034 Problem Statement Title- Software System to check compliance of packaged commodities under Legal Metrology (Packaged Commodities) Rules,2011 by scanning product images and labels. Theme- Miscellaneous PS Category- Software</dc:title>
</cp:coreProperties>
</file>
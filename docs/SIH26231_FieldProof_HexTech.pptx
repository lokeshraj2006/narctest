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2.svg" ContentType="image/svg+xml"/>
  <Override PartName="/ppt/media/image7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</p:sldIdLst>
  <p:sldSz cx="18288000" cy="10287000"/>
  <p:notesSz cx="6858000" cy="9144000"/>
  <p:embeddedFontLst>
    <p:embeddedFont>
      <p:font typeface="Times New Roman Bold" charset="1" panose="02020803070505020304"/>
      <p:regular r:id="rId12"/>
    </p:embeddedFont>
    <p:embeddedFont>
      <p:font typeface="Times New Roman" charset="1" panose="02020603050405020304"/>
      <p:regular r:id="rId13"/>
    </p:embeddedFont>
    <p:embeddedFont>
      <p:font typeface="Calibri (MS) Bold" charset="1" panose="020F0702030404030204"/>
      <p:regular r:id="rId14"/>
    </p:embeddedFont>
    <p:embeddedFont>
      <p:font typeface="Calibri (MS)" charset="1" panose="020F0502020204030204"/>
      <p:regular r:id="rId15"/>
    </p:embeddedFont>
    <p:embeddedFont>
      <p:font typeface="Canva Sans Bold" charset="1" panose="020B0803030501040103"/>
      <p:regular r:id="rId16"/>
    </p:embeddedFont>
    <p:embeddedFont>
      <p:font typeface="Canva Sans" charset="1" panose="020B0503030501040103"/>
      <p:regular r:id="rId1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font" Target="fonts/font12.fntdata"/><Relationship Id="rId13" Type="http://schemas.openxmlformats.org/officeDocument/2006/relationships/font" Target="fonts/font13.fntdata"/><Relationship Id="rId14" Type="http://schemas.openxmlformats.org/officeDocument/2006/relationships/font" Target="fonts/font14.fntdata"/><Relationship Id="rId15" Type="http://schemas.openxmlformats.org/officeDocument/2006/relationships/font" Target="fonts/font15.fntdata"/><Relationship Id="rId16" Type="http://schemas.openxmlformats.org/officeDocument/2006/relationships/font" Target="fonts/font16.fntdata"/><Relationship Id="rId17" Type="http://schemas.openxmlformats.org/officeDocument/2006/relationships/font" Target="fonts/font17.fntdata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sv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6.png"/><Relationship Id="rId5" Type="http://schemas.openxmlformats.org/officeDocument/2006/relationships/image" Target="../media/image7.svg"/><Relationship Id="rId6" Type="http://schemas.openxmlformats.org/officeDocument/2006/relationships/image" Target="../media/image13.png"/><Relationship Id="rId7" Type="http://schemas.openxmlformats.org/officeDocument/2006/relationships/image" Target="../media/image14.png"/><Relationship Id="rId8" Type="http://schemas.openxmlformats.org/officeDocument/2006/relationships/image" Target="../media/image1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6.png"/><Relationship Id="rId5" Type="http://schemas.openxmlformats.org/officeDocument/2006/relationships/image" Target="../media/image7.svg"/><Relationship Id="rId6" Type="http://schemas.openxmlformats.org/officeDocument/2006/relationships/image" Target="../media/image1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6.png"/><Relationship Id="rId5" Type="http://schemas.openxmlformats.org/officeDocument/2006/relationships/image" Target="../media/image7.svg"/><Relationship Id="rId6" Type="http://schemas.openxmlformats.org/officeDocument/2006/relationships/image" Target="../media/image1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6.png"/><Relationship Id="rId5" Type="http://schemas.openxmlformats.org/officeDocument/2006/relationships/image" Target="../media/image7.svg"/><Relationship Id="rId6" Type="http://schemas.openxmlformats.org/officeDocument/2006/relationships/hyperlink" Target="https://consumeraffairs.gov.in/pages/legal-metrology-act" TargetMode="External"/><Relationship Id="rId7" Type="http://schemas.openxmlformats.org/officeDocument/2006/relationships/hyperlink" Target="https://lm.doca.gov.in/pcr/certificates" TargetMode="External"/><Relationship Id="rId8" Type="http://schemas.openxmlformats.org/officeDocument/2006/relationships/hyperlink" Target="https://consumerhelpline.gov.in/public/" TargetMode="External"/><Relationship Id="rId9" Type="http://schemas.openxmlformats.org/officeDocument/2006/relationships/hyperlink" Target="https://youtu.be/mnKpSr1TcaA?si=O-i5wA8bHeqz7oGt" TargetMode="External"/><Relationship Id="rId10" Type="http://schemas.openxmlformats.org/officeDocument/2006/relationships/hyperlink" Target="https://www.nature.com/articles/s41598-026-42266-9" TargetMode="External"/><Relationship Id="rId11" Type="http://schemas.openxmlformats.org/officeDocument/2006/relationships/hyperlink" Target="https://www.pib.gov.in/PressReleasePage.aspx?PRID=2278745&amp;lang=1&amp;reg=3" TargetMode="External"/><Relationship Id="rId12" Type="http://schemas.openxmlformats.org/officeDocument/2006/relationships/hyperlink" Target="https://ieeexplore.ieee.org/document/7591895" TargetMode="External"/><Relationship Id="rId13" Type="http://schemas.openxmlformats.org/officeDocument/2006/relationships/hyperlink" Target="https://ieeexplore.ieee.org/document/10835509" TargetMode="External"/><Relationship Id="rId14" Type="http://schemas.openxmlformats.org/officeDocument/2006/relationships/hyperlink" Target="https://doi.org/10.1016/j.forsciint.2013.11.018" TargetMode="External"/><Relationship Id="rId15" Type="http://schemas.openxmlformats.org/officeDocument/2006/relationships/hyperlink" Target="https://doi.org/10.1021/acs.analchem.6b01982" TargetMode="External"/><Relationship Id="rId16" Type="http://schemas.openxmlformats.org/officeDocument/2006/relationships/hyperlink" Target="https://pmc.ncbi.nlm.nih.gov/articles/PMC10408571/" TargetMode="External"/><Relationship Id="rId17" Type="http://schemas.openxmlformats.org/officeDocument/2006/relationships/hyperlink" Target="https://doi.org/10.1007/s00216-025-06021-9" TargetMode="External"/><Relationship Id="rId18" Type="http://schemas.openxmlformats.org/officeDocument/2006/relationships/hyperlink" Target="https://doi.org/10.1016/j.forsciint.2004.11.011" TargetMode="External"/><Relationship Id="rId19" Type="http://schemas.openxmlformats.org/officeDocument/2006/relationships/hyperlink" Target="https://www.indiacode.nic.in/handle/123456789/1791" TargetMode="External"/><Relationship Id="rId20" Type="http://schemas.openxmlformats.org/officeDocument/2006/relationships/hyperlink" Target="https://narcoticsindia.nic.in/DLEA/1.pdf" TargetMode="External"/><Relationship Id="rId21" Type="http://schemas.openxmlformats.org/officeDocument/2006/relationships/hyperlink" Target="https://www.unodc.org/documents/scientific/Rapid_Testing_Methods_of_Drugs_of_Abuse_E.pdf" TargetMode="External"/><Relationship Id="rId22" Type="http://schemas.openxmlformats.org/officeDocument/2006/relationships/hyperlink" Target="https://www.mha.gov.in/sites/default/files/2024-04/250882_english_01042024_0.pdf" TargetMode="External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8485632" y="1277874"/>
            <a:ext cx="6958965" cy="7731443"/>
          </a:xfrm>
          <a:custGeom>
            <a:avLst/>
            <a:gdLst/>
            <a:ahLst/>
            <a:cxnLst/>
            <a:rect r="r" b="b" t="t" l="l"/>
            <a:pathLst>
              <a:path h="7731443" w="6958965">
                <a:moveTo>
                  <a:pt x="0" y="0"/>
                </a:moveTo>
                <a:lnTo>
                  <a:pt x="6958965" y="0"/>
                </a:lnTo>
                <a:lnTo>
                  <a:pt x="6958965" y="7731443"/>
                </a:lnTo>
                <a:lnTo>
                  <a:pt x="0" y="773144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10728198" y="2119122"/>
            <a:ext cx="4805172" cy="5138928"/>
            <a:chOff x="0" y="0"/>
            <a:chExt cx="6406896" cy="6851904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6406896" cy="6851904"/>
            </a:xfrm>
            <a:custGeom>
              <a:avLst/>
              <a:gdLst/>
              <a:ahLst/>
              <a:cxnLst/>
              <a:rect r="r" b="b" t="t" l="l"/>
              <a:pathLst>
                <a:path h="6851904" w="6406896">
                  <a:moveTo>
                    <a:pt x="0" y="0"/>
                  </a:moveTo>
                  <a:lnTo>
                    <a:pt x="6406896" y="0"/>
                  </a:lnTo>
                  <a:lnTo>
                    <a:pt x="6406896" y="6851904"/>
                  </a:lnTo>
                  <a:lnTo>
                    <a:pt x="0" y="68519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46" t="0" r="-47" b="0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14669262" y="2286"/>
            <a:ext cx="3376422" cy="1593342"/>
            <a:chOff x="0" y="0"/>
            <a:chExt cx="4501896" cy="212445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4501896" cy="2124456"/>
            </a:xfrm>
            <a:custGeom>
              <a:avLst/>
              <a:gdLst/>
              <a:ahLst/>
              <a:cxnLst/>
              <a:rect r="r" b="b" t="t" l="l"/>
              <a:pathLst>
                <a:path h="2124456" w="4501896">
                  <a:moveTo>
                    <a:pt x="0" y="0"/>
                  </a:moveTo>
                  <a:lnTo>
                    <a:pt x="4501896" y="0"/>
                  </a:lnTo>
                  <a:lnTo>
                    <a:pt x="4501896" y="2124456"/>
                  </a:lnTo>
                  <a:lnTo>
                    <a:pt x="0" y="212445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-166" t="0" r="-166" b="0"/>
              </a:stretch>
            </a:blipFill>
          </p:spPr>
        </p:sp>
      </p:grpSp>
      <p:sp>
        <p:nvSpPr>
          <p:cNvPr name="TextBox 7" id="7" descr="$PPTXTitle"/>
          <p:cNvSpPr txBox="true"/>
          <p:nvPr/>
        </p:nvSpPr>
        <p:spPr>
          <a:xfrm rot="0">
            <a:off x="2204847" y="177994"/>
            <a:ext cx="12130088" cy="9785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200"/>
              </a:lnSpc>
            </a:pPr>
            <a:r>
              <a:rPr lang="en-US" b="true" sz="6000" spc="-15">
                <a:solidFill>
                  <a:srgbClr val="1F477B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SMART INDIA HACKATHON 2026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505821" y="2227550"/>
            <a:ext cx="10175481" cy="63761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5668"/>
              </a:lnSpc>
            </a:pPr>
            <a:r>
              <a:rPr lang="en-US" b="true" sz="2936">
                <a:solidFill>
                  <a:srgbClr val="0D0D0D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Problem Statement ID - </a:t>
            </a:r>
            <a:r>
              <a:rPr lang="en-US" sz="2936">
                <a:solidFill>
                  <a:srgbClr val="0D0D0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26231</a:t>
            </a:r>
          </a:p>
          <a:p>
            <a:pPr algn="l">
              <a:lnSpc>
                <a:spcPts val="5661"/>
              </a:lnSpc>
            </a:pPr>
            <a:r>
              <a:rPr lang="en-US" sz="2933" b="true">
                <a:solidFill>
                  <a:srgbClr val="0D0D0D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Problem Statement Title - </a:t>
            </a:r>
            <a:r>
              <a:rPr lang="en-US" sz="2933">
                <a:solidFill>
                  <a:srgbClr val="0D0D0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Digital Companion for Field Drug Testing</a:t>
            </a:r>
            <a:r>
              <a:rPr lang="en-US" sz="2933">
                <a:solidFill>
                  <a:srgbClr val="0D0D0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/>
            </a:r>
          </a:p>
          <a:p>
            <a:pPr algn="just">
              <a:lnSpc>
                <a:spcPts val="5668"/>
              </a:lnSpc>
            </a:pPr>
            <a:r>
              <a:rPr lang="en-US" b="true" sz="2936" spc="-14">
                <a:solidFill>
                  <a:srgbClr val="0D0D0D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Theme - </a:t>
            </a:r>
            <a:r>
              <a:rPr lang="en-US" sz="2936" spc="-14">
                <a:solidFill>
                  <a:srgbClr val="0D0D0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MedTech / BioTech / HealthTech</a:t>
            </a:r>
          </a:p>
          <a:p>
            <a:pPr algn="just">
              <a:lnSpc>
                <a:spcPts val="5668"/>
              </a:lnSpc>
            </a:pPr>
            <a:r>
              <a:rPr lang="en-US" b="true" sz="2936" spc="-14">
                <a:solidFill>
                  <a:srgbClr val="0D0D0D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PS Category - </a:t>
            </a:r>
            <a:r>
              <a:rPr lang="en-US" sz="2936" spc="-14">
                <a:solidFill>
                  <a:srgbClr val="0D0D0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Software</a:t>
            </a:r>
          </a:p>
          <a:p>
            <a:pPr algn="just">
              <a:lnSpc>
                <a:spcPts val="5668"/>
              </a:lnSpc>
            </a:pPr>
            <a:r>
              <a:rPr lang="en-US" b="true" sz="2936" spc="-44">
                <a:solidFill>
                  <a:srgbClr val="0D0D0D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Team ID - </a:t>
            </a:r>
            <a:r>
              <a:rPr lang="en-US" sz="2936" spc="-44">
                <a:solidFill>
                  <a:srgbClr val="0D0D0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K26234</a:t>
            </a:r>
          </a:p>
          <a:p>
            <a:pPr algn="just">
              <a:lnSpc>
                <a:spcPts val="5668"/>
              </a:lnSpc>
            </a:pPr>
            <a:r>
              <a:rPr lang="en-US" b="true" sz="2936" spc="-44">
                <a:solidFill>
                  <a:srgbClr val="0D0D0D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Team Name - </a:t>
            </a:r>
            <a:r>
              <a:rPr lang="en-US" sz="2936" spc="-44">
                <a:solidFill>
                  <a:srgbClr val="0D0D0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HexTech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9564624"/>
            <a:ext cx="18284571" cy="718937"/>
            <a:chOff x="0" y="0"/>
            <a:chExt cx="24379428" cy="95858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79428" cy="958596"/>
            </a:xfrm>
            <a:custGeom>
              <a:avLst/>
              <a:gdLst/>
              <a:ahLst/>
              <a:cxnLst/>
              <a:rect r="r" b="b" t="t" l="l"/>
              <a:pathLst>
                <a:path h="958596" w="24379428">
                  <a:moveTo>
                    <a:pt x="0" y="0"/>
                  </a:moveTo>
                  <a:lnTo>
                    <a:pt x="24379428" y="0"/>
                  </a:lnTo>
                  <a:lnTo>
                    <a:pt x="24379428" y="958596"/>
                  </a:lnTo>
                  <a:lnTo>
                    <a:pt x="0" y="95859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-64" r="0" b="-62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9532144"/>
            <a:ext cx="18288000" cy="755332"/>
            <a:chOff x="0" y="0"/>
            <a:chExt cx="24384000" cy="100711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384000" cy="1006475"/>
            </a:xfrm>
            <a:custGeom>
              <a:avLst/>
              <a:gdLst/>
              <a:ahLst/>
              <a:cxnLst/>
              <a:rect r="r" b="b" t="t" l="l"/>
              <a:pathLst>
                <a:path h="1006475" w="24384000">
                  <a:moveTo>
                    <a:pt x="24384000" y="0"/>
                  </a:moveTo>
                  <a:lnTo>
                    <a:pt x="0" y="0"/>
                  </a:lnTo>
                  <a:lnTo>
                    <a:pt x="0" y="1006475"/>
                  </a:lnTo>
                  <a:lnTo>
                    <a:pt x="24384000" y="1006475"/>
                  </a:lnTo>
                  <a:lnTo>
                    <a:pt x="24384000" y="0"/>
                  </a:lnTo>
                  <a:close/>
                </a:path>
              </a:pathLst>
            </a:custGeom>
            <a:solidFill>
              <a:srgbClr val="006FC0"/>
            </a:solidFill>
          </p:spPr>
        </p:sp>
      </p:grpSp>
      <p:sp>
        <p:nvSpPr>
          <p:cNvPr name="Freeform 6" id="6"/>
          <p:cNvSpPr/>
          <p:nvPr/>
        </p:nvSpPr>
        <p:spPr>
          <a:xfrm flipH="false" flipV="false" rot="0">
            <a:off x="391335" y="315011"/>
            <a:ext cx="2629852" cy="1249680"/>
          </a:xfrm>
          <a:custGeom>
            <a:avLst/>
            <a:gdLst/>
            <a:ahLst/>
            <a:cxnLst/>
            <a:rect r="r" b="b" t="t" l="l"/>
            <a:pathLst>
              <a:path h="1249680" w="2629852">
                <a:moveTo>
                  <a:pt x="0" y="0"/>
                </a:moveTo>
                <a:lnTo>
                  <a:pt x="2629852" y="0"/>
                </a:lnTo>
                <a:lnTo>
                  <a:pt x="2629852" y="1249680"/>
                </a:lnTo>
                <a:lnTo>
                  <a:pt x="0" y="124968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7" id="7"/>
          <p:cNvGrpSpPr/>
          <p:nvPr/>
        </p:nvGrpSpPr>
        <p:grpSpPr>
          <a:xfrm rot="0">
            <a:off x="14720116" y="33423"/>
            <a:ext cx="3287373" cy="1531268"/>
            <a:chOff x="0" y="0"/>
            <a:chExt cx="4383164" cy="204169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4383151" cy="2041652"/>
            </a:xfrm>
            <a:custGeom>
              <a:avLst/>
              <a:gdLst/>
              <a:ahLst/>
              <a:cxnLst/>
              <a:rect r="r" b="b" t="t" l="l"/>
              <a:pathLst>
                <a:path h="2041652" w="4383151">
                  <a:moveTo>
                    <a:pt x="0" y="0"/>
                  </a:moveTo>
                  <a:lnTo>
                    <a:pt x="4383151" y="0"/>
                  </a:lnTo>
                  <a:lnTo>
                    <a:pt x="4383151" y="2041652"/>
                  </a:lnTo>
                  <a:lnTo>
                    <a:pt x="0" y="20416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-106" r="0" b="-108"/>
              </a:stretch>
            </a:blipFill>
          </p:spPr>
        </p:sp>
      </p:grpSp>
      <p:sp>
        <p:nvSpPr>
          <p:cNvPr name="AutoShape 9" id="9"/>
          <p:cNvSpPr/>
          <p:nvPr/>
        </p:nvSpPr>
        <p:spPr>
          <a:xfrm>
            <a:off x="7952906" y="1874069"/>
            <a:ext cx="0" cy="7384231"/>
          </a:xfrm>
          <a:prstGeom prst="line">
            <a:avLst/>
          </a:prstGeom>
          <a:ln cap="flat" w="38100">
            <a:solidFill>
              <a:srgbClr val="D0D6E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1" id="11"/>
          <p:cNvSpPr/>
          <p:nvPr/>
        </p:nvSpPr>
        <p:spPr>
          <a:xfrm>
            <a:off x="671017" y="4261403"/>
            <a:ext cx="7281890" cy="0"/>
          </a:xfrm>
          <a:prstGeom prst="line">
            <a:avLst/>
          </a:prstGeom>
          <a:ln cap="flat" w="38100">
            <a:solidFill>
              <a:srgbClr val="D0D6E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2" id="12"/>
          <p:cNvSpPr/>
          <p:nvPr/>
        </p:nvSpPr>
        <p:spPr>
          <a:xfrm>
            <a:off x="7952906" y="4590288"/>
            <a:ext cx="9306394" cy="0"/>
          </a:xfrm>
          <a:prstGeom prst="line">
            <a:avLst/>
          </a:prstGeom>
          <a:ln cap="flat" w="38100">
            <a:solidFill>
              <a:srgbClr val="D0D6E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14" id="14"/>
          <p:cNvSpPr txBox="true"/>
          <p:nvPr/>
        </p:nvSpPr>
        <p:spPr>
          <a:xfrm rot="0">
            <a:off x="4891802" y="460629"/>
            <a:ext cx="6972842" cy="9334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199"/>
              </a:lnSpc>
            </a:pPr>
            <a:r>
              <a:rPr lang="en-US" sz="5999" b="true">
                <a:solidFill>
                  <a:srgbClr val="17375E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Proposed Solution</a:t>
            </a:r>
          </a:p>
        </p:txBody>
      </p:sp>
      <p:sp>
        <p:nvSpPr>
          <p:cNvPr name="TextBox 15" id="15" descr="$PPTXTitle"/>
          <p:cNvSpPr txBox="true"/>
          <p:nvPr/>
        </p:nvSpPr>
        <p:spPr>
          <a:xfrm rot="0">
            <a:off x="1074372" y="677913"/>
            <a:ext cx="1461403" cy="466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40"/>
              </a:lnSpc>
            </a:pPr>
            <a:r>
              <a:rPr lang="en-US" b="true" sz="2700" spc="-29">
                <a:solidFill>
                  <a:srgbClr val="17375E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HexTech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7664196" y="9626508"/>
            <a:ext cx="2995136" cy="30765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37"/>
              </a:lnSpc>
            </a:pPr>
            <a:r>
              <a:rPr lang="en-US" sz="1800" spc="-14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@SIH Idea submission- Template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7063656" y="9649673"/>
            <a:ext cx="104775" cy="2886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37"/>
              </a:lnSpc>
            </a:pPr>
            <a:r>
              <a:rPr lang="en-US" b="true" sz="1800" spc="-75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6080" y="1298448"/>
            <a:ext cx="1170432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50" b="1" i="1">
                <a:solidFill>
                  <a:srgbClr val="0F766E"/>
                </a:solidFill>
                <a:latin typeface="Calibri"/>
              </a:rPr>
              <a:t>FieldProof: any phone + a ₹10 colour card = an objective drug-test result, sealed as tamper-proof evidence.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7824" y="1874519"/>
            <a:ext cx="68580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300" b="1" i="0">
                <a:solidFill>
                  <a:srgbClr val="1F3864"/>
                </a:solidFill>
                <a:latin typeface="Calibri"/>
              </a:rPr>
              <a:t>Problem: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7824" y="2377440"/>
            <a:ext cx="6949440" cy="1828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92608" indent="-256032">
              <a:spcAft>
                <a:spcPts val="400"/>
              </a:spcAft>
              <a:buFont typeface="Arial"/>
              <a:buChar char="•"/>
            </a:pPr>
            <a:r>
              <a:rPr sz="1700">
                <a:solidFill>
                  <a:srgbClr val="1A1A1A"/>
                </a:solidFill>
                <a:latin typeface="Calibri"/>
              </a:rPr>
              <a:t>Today, police check the drug-test kit colour with their own eyes. Different officer or different light = different answer.</a:t>
            </a:r>
          </a:p>
          <a:p>
            <a:pPr marL="292608" indent="-256032">
              <a:spcAft>
                <a:spcPts val="400"/>
              </a:spcAft>
              <a:buFont typeface="Arial"/>
              <a:buChar char="•"/>
            </a:pPr>
            <a:r>
              <a:rPr sz="1700">
                <a:solidFill>
                  <a:srgbClr val="1A1A1A"/>
                </a:solidFill>
                <a:latin typeface="Calibri"/>
              </a:rPr>
              <a:t>There is no proof of when, where and by whom the test was done. So the result cannot be used as evidence in court.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5320" y="1874519"/>
            <a:ext cx="896112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300" b="1" i="0">
                <a:solidFill>
                  <a:srgbClr val="1F3864"/>
                </a:solidFill>
                <a:latin typeface="Calibri"/>
              </a:rPr>
              <a:t>Innovation &amp; Uniqueness (what is new):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5320" y="2331720"/>
            <a:ext cx="9418320" cy="2240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92608" indent="-256032">
              <a:spcAft>
                <a:spcPts val="300"/>
              </a:spcAft>
              <a:buFont typeface="Arial"/>
              <a:buChar char="•"/>
            </a:pPr>
            <a:r>
              <a:rPr b="1" sz="1550">
                <a:solidFill>
                  <a:srgbClr val="1A1A1A"/>
                </a:solidFill>
                <a:latin typeface="Calibri"/>
              </a:rPr>
              <a:t>App reads the colour, not the eye - </a:t>
            </a:r>
            <a:r>
              <a:rPr sz="1550">
                <a:solidFill>
                  <a:srgbClr val="1A1A1A"/>
                </a:solidFill>
                <a:latin typeface="Calibri"/>
              </a:rPr>
              <a:t>a ₹10 printed colour card fixes the light, and the app gives a colour score.</a:t>
            </a:r>
          </a:p>
          <a:p>
            <a:pPr marL="292608" indent="-256032">
              <a:spcAft>
                <a:spcPts val="300"/>
              </a:spcAft>
              <a:buFont typeface="Arial"/>
              <a:buChar char="•"/>
            </a:pPr>
            <a:r>
              <a:rPr b="1" sz="1550">
                <a:solidFill>
                  <a:srgbClr val="1A1A1A"/>
                </a:solidFill>
                <a:latin typeface="Calibri"/>
              </a:rPr>
              <a:t>Honestly says "Not Sure" - </a:t>
            </a:r>
            <a:r>
              <a:rPr sz="1550">
                <a:solidFill>
                  <a:srgbClr val="1A1A1A"/>
                </a:solidFill>
                <a:latin typeface="Calibri"/>
              </a:rPr>
              <a:t>blurry photo, shine or unclear colour → INCONCLUSIVE with the reason; a senior officer checks.</a:t>
            </a:r>
          </a:p>
          <a:p>
            <a:pPr marL="292608" indent="-256032">
              <a:spcAft>
                <a:spcPts val="300"/>
              </a:spcAft>
              <a:buFont typeface="Arial"/>
              <a:buChar char="•"/>
            </a:pPr>
            <a:r>
              <a:rPr b="1" sz="1550">
                <a:solidFill>
                  <a:srgbClr val="1A1A1A"/>
                </a:solidFill>
                <a:latin typeface="Calibri"/>
              </a:rPr>
              <a:t>Proof that cannot be faked - </a:t>
            </a:r>
            <a:r>
              <a:rPr sz="1550">
                <a:solidFill>
                  <a:srgbClr val="1A1A1A"/>
                </a:solidFill>
                <a:latin typeface="Calibri"/>
              </a:rPr>
              <a:t>photo fingerprint + GPS + internet time + officer ID, digitally signed; check by scanning QR.</a:t>
            </a:r>
          </a:p>
          <a:p>
            <a:pPr marL="292608" indent="-256032">
              <a:spcAft>
                <a:spcPts val="300"/>
              </a:spcAft>
              <a:buFont typeface="Arial"/>
              <a:buChar char="•"/>
            </a:pPr>
            <a:r>
              <a:rPr b="1" sz="1550">
                <a:solidFill>
                  <a:srgbClr val="1A1A1A"/>
                </a:solidFill>
                <a:latin typeface="Calibri"/>
              </a:rPr>
              <a:t>Works with any test kit - </a:t>
            </a:r>
            <a:r>
              <a:rPr sz="1550">
                <a:solidFill>
                  <a:srgbClr val="1A1A1A"/>
                </a:solidFill>
                <a:latin typeface="Calibri"/>
              </a:rPr>
              <a:t>new kits are added from the website with their colours. No app update needed.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4370832"/>
            <a:ext cx="5943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700" b="1" i="0">
                <a:solidFill>
                  <a:srgbClr val="1F3864"/>
                </a:solidFill>
                <a:latin typeface="Calibri"/>
              </a:rPr>
              <a:t>WHO DOES WHAT (ROLE-BASED WORKFLOW)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743200" y="4800600"/>
            <a:ext cx="2560320" cy="566928"/>
          </a:xfrm>
          <a:prstGeom prst="roundRect">
            <a:avLst>
              <a:gd name="adj" fmla="val 12000"/>
            </a:avLst>
          </a:prstGeom>
          <a:solidFill>
            <a:srgbClr val="FDF8F3"/>
          </a:solidFill>
          <a:ln w="15875">
            <a:solidFill>
              <a:srgbClr val="E0B9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050" b="0">
                <a:solidFill>
                  <a:srgbClr val="1A1A1A"/>
                </a:solidFill>
                <a:latin typeface="Calibri"/>
              </a:rPr>
              <a:t>LOGIN</a:t>
            </a:r>
          </a:p>
          <a:p>
            <a:pPr algn="ctr"/>
            <a:r>
              <a:rPr sz="1050" b="0">
                <a:solidFill>
                  <a:srgbClr val="1A1A1A"/>
                </a:solidFill>
                <a:latin typeface="Calibri"/>
              </a:rPr>
              <a:t>Each person sees only their own work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4023360" y="5367528"/>
            <a:ext cx="0" cy="210312"/>
          </a:xfrm>
          <a:prstGeom prst="line">
            <a:avLst/>
          </a:prstGeom>
          <a:ln w="22225">
            <a:solidFill>
              <a:srgbClr val="B07C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600200" y="5577840"/>
            <a:ext cx="4846320" cy="0"/>
          </a:xfrm>
          <a:prstGeom prst="line">
            <a:avLst/>
          </a:prstGeom>
          <a:ln w="22225">
            <a:solidFill>
              <a:srgbClr val="B07C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1600200" y="5577840"/>
            <a:ext cx="0" cy="228600"/>
          </a:xfrm>
          <a:prstGeom prst="line">
            <a:avLst/>
          </a:prstGeom>
          <a:ln w="22225">
            <a:solidFill>
              <a:srgbClr val="B07C5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548640" y="5806440"/>
            <a:ext cx="2103120" cy="502920"/>
          </a:xfrm>
          <a:prstGeom prst="roundRect">
            <a:avLst>
              <a:gd name="adj" fmla="val 12000"/>
            </a:avLst>
          </a:prstGeom>
          <a:solidFill>
            <a:srgbClr val="FDF8F3"/>
          </a:solidFill>
          <a:ln w="15875">
            <a:solidFill>
              <a:srgbClr val="E0B9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400" b="1">
                <a:solidFill>
                  <a:srgbClr val="1A1A1A"/>
                </a:solidFill>
                <a:latin typeface="Calibri"/>
              </a:rPr>
              <a:t>Field Officer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4023360" y="5577840"/>
            <a:ext cx="0" cy="228600"/>
          </a:xfrm>
          <a:prstGeom prst="line">
            <a:avLst/>
          </a:prstGeom>
          <a:ln w="22225">
            <a:solidFill>
              <a:srgbClr val="B07C5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2971800" y="5806440"/>
            <a:ext cx="2103120" cy="502920"/>
          </a:xfrm>
          <a:prstGeom prst="roundRect">
            <a:avLst>
              <a:gd name="adj" fmla="val 12000"/>
            </a:avLst>
          </a:prstGeom>
          <a:solidFill>
            <a:srgbClr val="FDF8F3"/>
          </a:solidFill>
          <a:ln w="15875">
            <a:solidFill>
              <a:srgbClr val="E0B9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400" b="1">
                <a:solidFill>
                  <a:srgbClr val="1A1A1A"/>
                </a:solidFill>
                <a:latin typeface="Calibri"/>
              </a:rPr>
              <a:t>Senior Officer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446520" y="5577840"/>
            <a:ext cx="0" cy="228600"/>
          </a:xfrm>
          <a:prstGeom prst="line">
            <a:avLst/>
          </a:prstGeom>
          <a:ln w="22225">
            <a:solidFill>
              <a:srgbClr val="B07C5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5394960" y="5806440"/>
            <a:ext cx="2103120" cy="502920"/>
          </a:xfrm>
          <a:prstGeom prst="roundRect">
            <a:avLst>
              <a:gd name="adj" fmla="val 12000"/>
            </a:avLst>
          </a:prstGeom>
          <a:solidFill>
            <a:srgbClr val="FDF8F3"/>
          </a:solidFill>
          <a:ln w="15875">
            <a:solidFill>
              <a:srgbClr val="E0B9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400" b="1">
                <a:solidFill>
                  <a:srgbClr val="1A1A1A"/>
                </a:solidFill>
                <a:latin typeface="Calibri"/>
              </a:rPr>
              <a:t>Admin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1600200" y="6309360"/>
            <a:ext cx="0" cy="274320"/>
          </a:xfrm>
          <a:prstGeom prst="line">
            <a:avLst/>
          </a:prstGeom>
          <a:ln w="22225">
            <a:solidFill>
              <a:srgbClr val="B07C5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548640" y="6583680"/>
            <a:ext cx="2103120" cy="548640"/>
          </a:xfrm>
          <a:prstGeom prst="roundRect">
            <a:avLst>
              <a:gd name="adj" fmla="val 12000"/>
            </a:avLst>
          </a:prstGeom>
          <a:solidFill>
            <a:srgbClr val="FDF8F3"/>
          </a:solidFill>
          <a:ln w="15875">
            <a:solidFill>
              <a:srgbClr val="E0B9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0">
                <a:solidFill>
                  <a:srgbClr val="1A1A1A"/>
                </a:solidFill>
                <a:latin typeface="Calibri"/>
              </a:rPr>
              <a:t>Choose the</a:t>
            </a:r>
          </a:p>
          <a:p>
            <a:pPr algn="ctr"/>
            <a:r>
              <a:rPr sz="1200" b="0">
                <a:solidFill>
                  <a:srgbClr val="1A1A1A"/>
                </a:solidFill>
                <a:latin typeface="Calibri"/>
              </a:rPr>
              <a:t>Test Kit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600200" y="7132320"/>
            <a:ext cx="0" cy="228600"/>
          </a:xfrm>
          <a:prstGeom prst="line">
            <a:avLst/>
          </a:prstGeom>
          <a:ln w="22225">
            <a:solidFill>
              <a:srgbClr val="B07C5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548640" y="7360920"/>
            <a:ext cx="2103120" cy="548640"/>
          </a:xfrm>
          <a:prstGeom prst="roundRect">
            <a:avLst>
              <a:gd name="adj" fmla="val 12000"/>
            </a:avLst>
          </a:prstGeom>
          <a:solidFill>
            <a:srgbClr val="FDF8F3"/>
          </a:solidFill>
          <a:ln w="15875">
            <a:solidFill>
              <a:srgbClr val="E0B9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0">
                <a:solidFill>
                  <a:srgbClr val="1A1A1A"/>
                </a:solidFill>
                <a:latin typeface="Calibri"/>
              </a:rPr>
              <a:t>Take Photo</a:t>
            </a:r>
          </a:p>
          <a:p>
            <a:pPr algn="ctr"/>
            <a:r>
              <a:rPr sz="1200" b="0">
                <a:solidFill>
                  <a:srgbClr val="1A1A1A"/>
                </a:solidFill>
                <a:latin typeface="Calibri"/>
              </a:rPr>
              <a:t>(with colour card)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600200" y="7909560"/>
            <a:ext cx="0" cy="228600"/>
          </a:xfrm>
          <a:prstGeom prst="line">
            <a:avLst/>
          </a:prstGeom>
          <a:ln w="22225">
            <a:solidFill>
              <a:srgbClr val="B07C5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548640" y="8138160"/>
            <a:ext cx="2103120" cy="548640"/>
          </a:xfrm>
          <a:prstGeom prst="roundRect">
            <a:avLst>
              <a:gd name="adj" fmla="val 12000"/>
            </a:avLst>
          </a:prstGeom>
          <a:solidFill>
            <a:srgbClr val="FDF8F3"/>
          </a:solidFill>
          <a:ln w="15875">
            <a:solidFill>
              <a:srgbClr val="E0B9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0">
                <a:solidFill>
                  <a:srgbClr val="1A1A1A"/>
                </a:solidFill>
                <a:latin typeface="Calibri"/>
              </a:rPr>
              <a:t>Get Result +</a:t>
            </a:r>
          </a:p>
          <a:p>
            <a:pPr algn="ctr"/>
            <a:r>
              <a:rPr sz="1200" b="0">
                <a:solidFill>
                  <a:srgbClr val="1A1A1A"/>
                </a:solidFill>
                <a:latin typeface="Calibri"/>
              </a:rPr>
              <a:t>Sealed Record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4023360" y="6309360"/>
            <a:ext cx="0" cy="274320"/>
          </a:xfrm>
          <a:prstGeom prst="line">
            <a:avLst/>
          </a:prstGeom>
          <a:ln w="22225">
            <a:solidFill>
              <a:srgbClr val="B07C5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41"/>
          <p:cNvSpPr/>
          <p:nvPr/>
        </p:nvSpPr>
        <p:spPr>
          <a:xfrm>
            <a:off x="2971800" y="6583680"/>
            <a:ext cx="2103120" cy="548640"/>
          </a:xfrm>
          <a:prstGeom prst="roundRect">
            <a:avLst>
              <a:gd name="adj" fmla="val 12000"/>
            </a:avLst>
          </a:prstGeom>
          <a:solidFill>
            <a:srgbClr val="FDF8F3"/>
          </a:solidFill>
          <a:ln w="15875">
            <a:solidFill>
              <a:srgbClr val="E0B9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0">
                <a:solidFill>
                  <a:srgbClr val="1A1A1A"/>
                </a:solidFill>
                <a:latin typeface="Calibri"/>
              </a:rPr>
              <a:t>Check the</a:t>
            </a:r>
          </a:p>
          <a:p>
            <a:pPr algn="ctr"/>
            <a:r>
              <a:rPr sz="1200" b="0">
                <a:solidFill>
                  <a:srgbClr val="1A1A1A"/>
                </a:solidFill>
                <a:latin typeface="Calibri"/>
              </a:rPr>
              <a:t>"Not Sure" results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4023360" y="7132320"/>
            <a:ext cx="0" cy="228600"/>
          </a:xfrm>
          <a:prstGeom prst="line">
            <a:avLst/>
          </a:prstGeom>
          <a:ln w="22225">
            <a:solidFill>
              <a:srgbClr val="B07C5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ounded Rectangle 43"/>
          <p:cNvSpPr/>
          <p:nvPr/>
        </p:nvSpPr>
        <p:spPr>
          <a:xfrm>
            <a:off x="2971800" y="7360920"/>
            <a:ext cx="2103120" cy="548640"/>
          </a:xfrm>
          <a:prstGeom prst="roundRect">
            <a:avLst>
              <a:gd name="adj" fmla="val 12000"/>
            </a:avLst>
          </a:prstGeom>
          <a:solidFill>
            <a:srgbClr val="FDF8F3"/>
          </a:solidFill>
          <a:ln w="15875">
            <a:solidFill>
              <a:srgbClr val="E0B9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0">
                <a:solidFill>
                  <a:srgbClr val="1A1A1A"/>
                </a:solidFill>
                <a:latin typeface="Calibri"/>
              </a:rPr>
              <a:t>Approve or</a:t>
            </a:r>
          </a:p>
          <a:p>
            <a:pPr algn="ctr"/>
            <a:r>
              <a:rPr sz="1200" b="0">
                <a:solidFill>
                  <a:srgbClr val="1A1A1A"/>
                </a:solidFill>
                <a:latin typeface="Calibri"/>
              </a:rPr>
              <a:t>Ask to Retest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4023360" y="7909560"/>
            <a:ext cx="0" cy="228600"/>
          </a:xfrm>
          <a:prstGeom prst="line">
            <a:avLst/>
          </a:prstGeom>
          <a:ln w="22225">
            <a:solidFill>
              <a:srgbClr val="B07C5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ounded Rectangle 45"/>
          <p:cNvSpPr/>
          <p:nvPr/>
        </p:nvSpPr>
        <p:spPr>
          <a:xfrm>
            <a:off x="2971800" y="8138160"/>
            <a:ext cx="2103120" cy="548640"/>
          </a:xfrm>
          <a:prstGeom prst="roundRect">
            <a:avLst>
              <a:gd name="adj" fmla="val 12000"/>
            </a:avLst>
          </a:prstGeom>
          <a:solidFill>
            <a:srgbClr val="FDF8F3"/>
          </a:solidFill>
          <a:ln w="15875">
            <a:solidFill>
              <a:srgbClr val="E0B9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0">
                <a:solidFill>
                  <a:srgbClr val="1A1A1A"/>
                </a:solidFill>
                <a:latin typeface="Calibri"/>
              </a:rPr>
              <a:t>Final Signed</a:t>
            </a:r>
          </a:p>
          <a:p>
            <a:pPr algn="ctr"/>
            <a:r>
              <a:rPr sz="1200" b="0">
                <a:solidFill>
                  <a:srgbClr val="1A1A1A"/>
                </a:solidFill>
                <a:latin typeface="Calibri"/>
              </a:rPr>
              <a:t>Report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6446520" y="6309360"/>
            <a:ext cx="0" cy="274320"/>
          </a:xfrm>
          <a:prstGeom prst="line">
            <a:avLst/>
          </a:prstGeom>
          <a:ln w="22225">
            <a:solidFill>
              <a:srgbClr val="B07C5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ounded Rectangle 47"/>
          <p:cNvSpPr/>
          <p:nvPr/>
        </p:nvSpPr>
        <p:spPr>
          <a:xfrm>
            <a:off x="5394960" y="6583680"/>
            <a:ext cx="2103120" cy="548640"/>
          </a:xfrm>
          <a:prstGeom prst="roundRect">
            <a:avLst>
              <a:gd name="adj" fmla="val 12000"/>
            </a:avLst>
          </a:prstGeom>
          <a:solidFill>
            <a:srgbClr val="FDF8F3"/>
          </a:solidFill>
          <a:ln w="15875">
            <a:solidFill>
              <a:srgbClr val="E0B9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0">
                <a:solidFill>
                  <a:srgbClr val="1A1A1A"/>
                </a:solidFill>
                <a:latin typeface="Calibri"/>
              </a:rPr>
              <a:t>Add / Edit</a:t>
            </a:r>
          </a:p>
          <a:p>
            <a:pPr algn="ctr"/>
            <a:r>
              <a:rPr sz="1200" b="0">
                <a:solidFill>
                  <a:srgbClr val="1A1A1A"/>
                </a:solidFill>
                <a:latin typeface="Calibri"/>
              </a:rPr>
              <a:t>Test Kits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6446520" y="7132320"/>
            <a:ext cx="0" cy="228600"/>
          </a:xfrm>
          <a:prstGeom prst="line">
            <a:avLst/>
          </a:prstGeom>
          <a:ln w="22225">
            <a:solidFill>
              <a:srgbClr val="B07C5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ounded Rectangle 49"/>
          <p:cNvSpPr/>
          <p:nvPr/>
        </p:nvSpPr>
        <p:spPr>
          <a:xfrm>
            <a:off x="5394960" y="7360920"/>
            <a:ext cx="2103120" cy="548640"/>
          </a:xfrm>
          <a:prstGeom prst="roundRect">
            <a:avLst>
              <a:gd name="adj" fmla="val 12000"/>
            </a:avLst>
          </a:prstGeom>
          <a:solidFill>
            <a:srgbClr val="FDF8F3"/>
          </a:solidFill>
          <a:ln w="15875">
            <a:solidFill>
              <a:srgbClr val="E0B9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0">
                <a:solidFill>
                  <a:srgbClr val="1A1A1A"/>
                </a:solidFill>
                <a:latin typeface="Calibri"/>
              </a:rPr>
              <a:t>Add Officers</a:t>
            </a:r>
          </a:p>
          <a:p>
            <a:pPr algn="ctr"/>
            <a:r>
              <a:rPr sz="1200" b="0">
                <a:solidFill>
                  <a:srgbClr val="1A1A1A"/>
                </a:solidFill>
                <a:latin typeface="Calibri"/>
              </a:rPr>
              <a:t>&amp; Logins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6446520" y="7909560"/>
            <a:ext cx="0" cy="228600"/>
          </a:xfrm>
          <a:prstGeom prst="line">
            <a:avLst/>
          </a:prstGeom>
          <a:ln w="22225">
            <a:solidFill>
              <a:srgbClr val="B07C5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ounded Rectangle 51"/>
          <p:cNvSpPr/>
          <p:nvPr/>
        </p:nvSpPr>
        <p:spPr>
          <a:xfrm>
            <a:off x="5394960" y="8138160"/>
            <a:ext cx="2103120" cy="548640"/>
          </a:xfrm>
          <a:prstGeom prst="roundRect">
            <a:avLst>
              <a:gd name="adj" fmla="val 12000"/>
            </a:avLst>
          </a:prstGeom>
          <a:solidFill>
            <a:srgbClr val="FDF8F3"/>
          </a:solidFill>
          <a:ln w="15875">
            <a:solidFill>
              <a:srgbClr val="E0B9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0">
                <a:solidFill>
                  <a:srgbClr val="1A1A1A"/>
                </a:solidFill>
                <a:latin typeface="Calibri"/>
              </a:rPr>
              <a:t>See All Tests</a:t>
            </a:r>
          </a:p>
          <a:p>
            <a:pPr algn="ctr"/>
            <a:r>
              <a:rPr sz="1200" b="0">
                <a:solidFill>
                  <a:srgbClr val="1A1A1A"/>
                </a:solidFill>
                <a:latin typeface="Calibri"/>
              </a:rPr>
              <a:t>on Map + Excel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1600200" y="8686800"/>
            <a:ext cx="0" cy="365760"/>
          </a:xfrm>
          <a:prstGeom prst="line">
            <a:avLst/>
          </a:prstGeom>
          <a:ln w="22225">
            <a:solidFill>
              <a:srgbClr val="B07C5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1600200" y="9052560"/>
            <a:ext cx="1216152" cy="0"/>
          </a:xfrm>
          <a:prstGeom prst="line">
            <a:avLst/>
          </a:prstGeom>
          <a:ln w="22225">
            <a:solidFill>
              <a:srgbClr val="B07C5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2816352" y="6858000"/>
            <a:ext cx="0" cy="2194560"/>
          </a:xfrm>
          <a:prstGeom prst="line">
            <a:avLst/>
          </a:prstGeom>
          <a:ln w="22225">
            <a:solidFill>
              <a:srgbClr val="B07C5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2816352" y="6858000"/>
            <a:ext cx="155448" cy="0"/>
          </a:xfrm>
          <a:prstGeom prst="line">
            <a:avLst/>
          </a:prstGeom>
          <a:ln w="22225">
            <a:solidFill>
              <a:srgbClr val="B07C5B"/>
            </a:solidFill>
            <a:prstDash val="dash"/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ounded Rectangle 56"/>
          <p:cNvSpPr/>
          <p:nvPr/>
        </p:nvSpPr>
        <p:spPr>
          <a:xfrm>
            <a:off x="1691640" y="8796528"/>
            <a:ext cx="1051560" cy="21945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B07C5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800" b="1">
                <a:solidFill>
                  <a:srgbClr val="1A1A1A"/>
                </a:solidFill>
                <a:latin typeface="Calibri"/>
              </a:rPr>
              <a:t>NOT SURE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692640" y="4736592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700" b="1" i="0">
                <a:solidFill>
                  <a:srgbClr val="1F3864"/>
                </a:solidFill>
                <a:latin typeface="Calibri"/>
              </a:rPr>
              <a:t>HOW THE APP DECIDES THE RESULT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229600" y="5440680"/>
            <a:ext cx="1737360" cy="658368"/>
          </a:xfrm>
          <a:prstGeom prst="roundRect">
            <a:avLst>
              <a:gd name="adj" fmla="val 12000"/>
            </a:avLst>
          </a:prstGeom>
          <a:solidFill>
            <a:srgbClr val="DDE8E8"/>
          </a:solidFill>
          <a:ln w="15875">
            <a:solidFill>
              <a:srgbClr val="6E7F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0">
                <a:solidFill>
                  <a:srgbClr val="1A1A1A"/>
                </a:solidFill>
                <a:latin typeface="Calibri"/>
              </a:rPr>
              <a:t>Take Photo</a:t>
            </a:r>
          </a:p>
          <a:p>
            <a:pPr algn="ctr"/>
            <a:r>
              <a:rPr sz="1200" b="0">
                <a:solidFill>
                  <a:srgbClr val="1A1A1A"/>
                </a:solidFill>
                <a:latin typeface="Calibri"/>
              </a:rPr>
              <a:t>(card in frame)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0195560" y="5440680"/>
            <a:ext cx="1737360" cy="658368"/>
          </a:xfrm>
          <a:prstGeom prst="roundRect">
            <a:avLst>
              <a:gd name="adj" fmla="val 12000"/>
            </a:avLst>
          </a:prstGeom>
          <a:solidFill>
            <a:srgbClr val="DDE8E8"/>
          </a:solidFill>
          <a:ln w="15875">
            <a:solidFill>
              <a:srgbClr val="6E7F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0">
                <a:solidFill>
                  <a:srgbClr val="1A1A1A"/>
                </a:solidFill>
                <a:latin typeface="Calibri"/>
              </a:rPr>
              <a:t>Photo Check</a:t>
            </a:r>
          </a:p>
          <a:p>
            <a:pPr algn="ctr"/>
            <a:r>
              <a:rPr sz="1200" b="0">
                <a:solidFill>
                  <a:srgbClr val="1A1A1A"/>
                </a:solidFill>
                <a:latin typeface="Calibri"/>
              </a:rPr>
              <a:t>(blur / shine)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2161520" y="5440680"/>
            <a:ext cx="1737360" cy="658368"/>
          </a:xfrm>
          <a:prstGeom prst="roundRect">
            <a:avLst>
              <a:gd name="adj" fmla="val 12000"/>
            </a:avLst>
          </a:prstGeom>
          <a:solidFill>
            <a:srgbClr val="DDE8E8"/>
          </a:solidFill>
          <a:ln w="15875">
            <a:solidFill>
              <a:srgbClr val="6E7F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0">
                <a:solidFill>
                  <a:srgbClr val="1A1A1A"/>
                </a:solidFill>
                <a:latin typeface="Calibri"/>
              </a:rPr>
              <a:t>Find Card &amp;</a:t>
            </a:r>
          </a:p>
          <a:p>
            <a:pPr algn="ctr"/>
            <a:r>
              <a:rPr sz="1200" b="0">
                <a:solidFill>
                  <a:srgbClr val="1A1A1A"/>
                </a:solidFill>
                <a:latin typeface="Calibri"/>
              </a:rPr>
              <a:t>Fix Colours</a:t>
            </a:r>
          </a:p>
        </p:txBody>
      </p:sp>
      <p:sp>
        <p:nvSpPr>
          <p:cNvPr id="62" name="Diamond 61"/>
          <p:cNvSpPr/>
          <p:nvPr/>
        </p:nvSpPr>
        <p:spPr>
          <a:xfrm>
            <a:off x="14127480" y="5212080"/>
            <a:ext cx="1691640" cy="1115568"/>
          </a:xfrm>
          <a:prstGeom prst="diamond">
            <a:avLst/>
          </a:prstGeom>
          <a:solidFill>
            <a:srgbClr val="F6D7A7"/>
          </a:solidFill>
          <a:ln w="15875">
            <a:solidFill>
              <a:srgbClr val="B08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050" b="1">
                <a:solidFill>
                  <a:srgbClr val="1A1A1A"/>
                </a:solidFill>
                <a:latin typeface="Calibri"/>
              </a:rPr>
              <a:t>Compare with</a:t>
            </a:r>
          </a:p>
          <a:p>
            <a:pPr algn="ctr"/>
            <a:r>
              <a:rPr sz="1050" b="1">
                <a:solidFill>
                  <a:srgbClr val="1A1A1A"/>
                </a:solidFill>
                <a:latin typeface="Calibri"/>
              </a:rPr>
              <a:t>Kit Colours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9966960" y="5769864"/>
            <a:ext cx="228600" cy="0"/>
          </a:xfrm>
          <a:prstGeom prst="line">
            <a:avLst/>
          </a:prstGeom>
          <a:ln w="22225">
            <a:solidFill>
              <a:srgbClr val="7F7F7F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11932920" y="5769864"/>
            <a:ext cx="228600" cy="0"/>
          </a:xfrm>
          <a:prstGeom prst="line">
            <a:avLst/>
          </a:prstGeom>
          <a:ln w="22225">
            <a:solidFill>
              <a:srgbClr val="7F7F7F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13898880" y="5769864"/>
            <a:ext cx="228600" cy="0"/>
          </a:xfrm>
          <a:prstGeom prst="line">
            <a:avLst/>
          </a:prstGeom>
          <a:ln w="22225">
            <a:solidFill>
              <a:srgbClr val="7F7F7F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ounded Rectangle 65"/>
          <p:cNvSpPr/>
          <p:nvPr/>
        </p:nvSpPr>
        <p:spPr>
          <a:xfrm>
            <a:off x="10332720" y="6217920"/>
            <a:ext cx="1463040" cy="23774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9B59B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800" b="1">
                <a:solidFill>
                  <a:srgbClr val="1A1A1A"/>
                </a:solidFill>
                <a:latin typeface="Calibri"/>
              </a:rPr>
              <a:t>fail → NOT SURE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12298680" y="6217920"/>
            <a:ext cx="1463040" cy="23774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9B59B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800" b="1">
                <a:solidFill>
                  <a:srgbClr val="1A1A1A"/>
                </a:solidFill>
                <a:latin typeface="Calibri"/>
              </a:rPr>
              <a:t>fail → NOT SURE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14973300" y="6327648"/>
            <a:ext cx="0" cy="256032"/>
          </a:xfrm>
          <a:prstGeom prst="line">
            <a:avLst/>
          </a:prstGeom>
          <a:ln w="22225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13670280" y="6583680"/>
            <a:ext cx="3337560" cy="0"/>
          </a:xfrm>
          <a:prstGeom prst="line">
            <a:avLst/>
          </a:prstGeom>
          <a:ln w="22225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13670280" y="6583680"/>
            <a:ext cx="0" cy="228600"/>
          </a:xfrm>
          <a:prstGeom prst="line">
            <a:avLst/>
          </a:prstGeom>
          <a:ln w="22225">
            <a:solidFill>
              <a:srgbClr val="7F7F7F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Oval 70"/>
          <p:cNvSpPr/>
          <p:nvPr/>
        </p:nvSpPr>
        <p:spPr>
          <a:xfrm>
            <a:off x="12893040" y="6766560"/>
            <a:ext cx="1554480" cy="548640"/>
          </a:xfrm>
          <a:prstGeom prst="ellipse">
            <a:avLst/>
          </a:prstGeom>
          <a:solidFill>
            <a:srgbClr val="FF7C80"/>
          </a:solidFill>
          <a:ln w="15875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050" b="1">
                <a:solidFill>
                  <a:srgbClr val="1A1A1A"/>
                </a:solidFill>
                <a:latin typeface="Calibri"/>
              </a:rPr>
              <a:t>POSITIVE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15361920" y="6583680"/>
            <a:ext cx="0" cy="228600"/>
          </a:xfrm>
          <a:prstGeom prst="line">
            <a:avLst/>
          </a:prstGeom>
          <a:ln w="22225">
            <a:solidFill>
              <a:srgbClr val="7F7F7F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Oval 72"/>
          <p:cNvSpPr/>
          <p:nvPr/>
        </p:nvSpPr>
        <p:spPr>
          <a:xfrm>
            <a:off x="14584680" y="6766560"/>
            <a:ext cx="1554480" cy="548640"/>
          </a:xfrm>
          <a:prstGeom prst="ellipse">
            <a:avLst/>
          </a:prstGeom>
          <a:solidFill>
            <a:srgbClr val="C6EFA0"/>
          </a:solidFill>
          <a:ln w="15875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050" b="1">
                <a:solidFill>
                  <a:srgbClr val="1A1A1A"/>
                </a:solidFill>
                <a:latin typeface="Calibri"/>
              </a:rPr>
              <a:t>NEGATIVE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17007840" y="6583680"/>
            <a:ext cx="0" cy="228600"/>
          </a:xfrm>
          <a:prstGeom prst="line">
            <a:avLst/>
          </a:prstGeom>
          <a:ln w="22225">
            <a:solidFill>
              <a:srgbClr val="7F7F7F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Oval 74"/>
          <p:cNvSpPr/>
          <p:nvPr/>
        </p:nvSpPr>
        <p:spPr>
          <a:xfrm>
            <a:off x="16230600" y="6766560"/>
            <a:ext cx="1554480" cy="548640"/>
          </a:xfrm>
          <a:prstGeom prst="ellipse">
            <a:avLst/>
          </a:prstGeom>
          <a:solidFill>
            <a:srgbClr val="E6C8F5"/>
          </a:solidFill>
          <a:ln w="15875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050" b="1">
                <a:solidFill>
                  <a:srgbClr val="1A1A1A"/>
                </a:solidFill>
                <a:latin typeface="Calibri"/>
              </a:rPr>
              <a:t>INCONCLUSIVE</a:t>
            </a:r>
          </a:p>
          <a:p>
            <a:pPr algn="ctr"/>
            <a:r>
              <a:rPr sz="1050" b="1">
                <a:solidFill>
                  <a:srgbClr val="1A1A1A"/>
                </a:solidFill>
                <a:latin typeface="Calibri"/>
              </a:rPr>
              <a:t>(not sure)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12893040" y="7726679"/>
            <a:ext cx="3246120" cy="640080"/>
          </a:xfrm>
          <a:prstGeom prst="roundRect">
            <a:avLst>
              <a:gd name="adj" fmla="val 12000"/>
            </a:avLst>
          </a:prstGeom>
          <a:solidFill>
            <a:srgbClr val="DDE8E8"/>
          </a:solidFill>
          <a:ln w="15875">
            <a:solidFill>
              <a:srgbClr val="6E7F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100" b="0">
                <a:solidFill>
                  <a:srgbClr val="1A1A1A"/>
                </a:solidFill>
                <a:latin typeface="Calibri"/>
              </a:rPr>
              <a:t>Sealed Record</a:t>
            </a:r>
          </a:p>
          <a:p>
            <a:pPr algn="ctr"/>
            <a:r>
              <a:rPr sz="1100" b="0">
                <a:solidFill>
                  <a:srgbClr val="1A1A1A"/>
                </a:solidFill>
                <a:latin typeface="Calibri"/>
              </a:rPr>
              <a:t>photo fingerprint + GPS + time + signature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16230600" y="7726679"/>
            <a:ext cx="1554480" cy="640080"/>
          </a:xfrm>
          <a:prstGeom prst="roundRect">
            <a:avLst>
              <a:gd name="adj" fmla="val 12000"/>
            </a:avLst>
          </a:prstGeom>
          <a:solidFill>
            <a:srgbClr val="DDE8E8"/>
          </a:solidFill>
          <a:ln w="15875">
            <a:solidFill>
              <a:srgbClr val="6E7F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0">
                <a:solidFill>
                  <a:srgbClr val="1A1A1A"/>
                </a:solidFill>
                <a:latin typeface="Calibri"/>
              </a:rPr>
              <a:t>Senior Officer</a:t>
            </a:r>
          </a:p>
          <a:p>
            <a:pPr algn="ctr"/>
            <a:r>
              <a:rPr sz="1200" b="0">
                <a:solidFill>
                  <a:srgbClr val="1A1A1A"/>
                </a:solidFill>
                <a:latin typeface="Calibri"/>
              </a:rPr>
              <a:t>Checks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13670280" y="7315200"/>
            <a:ext cx="0" cy="411479"/>
          </a:xfrm>
          <a:prstGeom prst="line">
            <a:avLst/>
          </a:prstGeom>
          <a:ln w="22225">
            <a:solidFill>
              <a:srgbClr val="7F7F7F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15361920" y="7315200"/>
            <a:ext cx="0" cy="411479"/>
          </a:xfrm>
          <a:prstGeom prst="line">
            <a:avLst/>
          </a:prstGeom>
          <a:ln w="22225">
            <a:solidFill>
              <a:srgbClr val="7F7F7F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17007840" y="7315200"/>
            <a:ext cx="0" cy="411479"/>
          </a:xfrm>
          <a:prstGeom prst="line">
            <a:avLst/>
          </a:prstGeom>
          <a:ln w="22225">
            <a:solidFill>
              <a:srgbClr val="7F7F7F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Rounded Rectangle 80"/>
          <p:cNvSpPr/>
          <p:nvPr/>
        </p:nvSpPr>
        <p:spPr>
          <a:xfrm>
            <a:off x="12893040" y="8686800"/>
            <a:ext cx="3246120" cy="548640"/>
          </a:xfrm>
          <a:prstGeom prst="roundRect">
            <a:avLst>
              <a:gd name="adj" fmla="val 12000"/>
            </a:avLst>
          </a:prstGeom>
          <a:solidFill>
            <a:srgbClr val="DDE8E8"/>
          </a:solidFill>
          <a:ln w="15875">
            <a:solidFill>
              <a:srgbClr val="6E7F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150" b="0">
                <a:solidFill>
                  <a:srgbClr val="1A1A1A"/>
                </a:solidFill>
                <a:latin typeface="Calibri"/>
              </a:rPr>
              <a:t>Saved in Test Log · Map · PDF with QR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14516100" y="8366760"/>
            <a:ext cx="0" cy="320040"/>
          </a:xfrm>
          <a:prstGeom prst="line">
            <a:avLst/>
          </a:prstGeom>
          <a:ln w="22225">
            <a:solidFill>
              <a:srgbClr val="7F7F7F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17007840" y="8366760"/>
            <a:ext cx="0" cy="594360"/>
          </a:xfrm>
          <a:prstGeom prst="line">
            <a:avLst/>
          </a:prstGeom>
          <a:ln w="22225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H="1">
            <a:off x="16139159" y="8961120"/>
            <a:ext cx="868681" cy="0"/>
          </a:xfrm>
          <a:prstGeom prst="line">
            <a:avLst/>
          </a:prstGeom>
          <a:ln w="22225">
            <a:solidFill>
              <a:srgbClr val="7F7F7F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Rounded Rectangle 84"/>
          <p:cNvSpPr/>
          <p:nvPr/>
        </p:nvSpPr>
        <p:spPr>
          <a:xfrm>
            <a:off x="8229600" y="6720840"/>
            <a:ext cx="4297680" cy="2514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100" b="0">
                <a:solidFill>
                  <a:srgbClr val="1A1A1A"/>
                </a:solidFill>
                <a:latin typeface="Calibri"/>
              </a:rPr>
              <a:t/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366760" y="6784848"/>
            <a:ext cx="402336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1F3864"/>
                </a:solidFill>
                <a:latin typeface="Calibri"/>
              </a:rPr>
              <a:t>REAL RESULT from our phone test (28 Sep)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8412480" y="7150608"/>
            <a:ext cx="3931920" cy="384048"/>
          </a:xfrm>
          <a:prstGeom prst="roundRect">
            <a:avLst>
              <a:gd name="adj" fmla="val 12000"/>
            </a:avLst>
          </a:prstGeom>
          <a:solidFill>
            <a:srgbClr val="FF7C80"/>
          </a:solidFill>
          <a:ln w="15875">
            <a:solidFill>
              <a:srgbClr val="C050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50" b="1">
                <a:solidFill>
                  <a:srgbClr val="1A1A1A"/>
                </a:solidFill>
                <a:latin typeface="Calibri"/>
              </a:rPr>
              <a:t>POSITIVE · opium-type drug · 75% sure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412480" y="7571231"/>
            <a:ext cx="40233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404040"/>
                </a:solidFill>
                <a:latin typeface="Calibri"/>
              </a:rPr>
              <a:t>Colour difference = 6.8 (small number = close match)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8549640" y="7909560"/>
            <a:ext cx="384048" cy="384048"/>
          </a:xfrm>
          <a:prstGeom prst="roundRect">
            <a:avLst/>
          </a:prstGeom>
          <a:solidFill>
            <a:srgbClr val="D67AB1"/>
          </a:solidFill>
          <a:ln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8961119" y="7882127"/>
            <a:ext cx="896112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  <a:latin typeface="Calibri"/>
              </a:rPr>
              <a:t>Photo colour</a:t>
            </a:r>
          </a:p>
          <a:p>
            <a:pPr algn="l"/>
            <a:r>
              <a:rPr sz="900" b="0" i="0">
                <a:solidFill>
                  <a:srgbClr val="404040"/>
                </a:solidFill>
                <a:latin typeface="Calibri"/>
              </a:rPr>
              <a:t>(fixed)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9875519" y="7909560"/>
            <a:ext cx="384048" cy="384048"/>
          </a:xfrm>
          <a:prstGeom prst="roundRect">
            <a:avLst/>
          </a:prstGeom>
          <a:solidFill>
            <a:srgbClr val="C85FA8"/>
          </a:solidFill>
          <a:ln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10286999" y="7882127"/>
            <a:ext cx="896112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  <a:latin typeface="Calibri"/>
              </a:rPr>
              <a:t>Kit colour:</a:t>
            </a:r>
          </a:p>
          <a:p>
            <a:pPr algn="l"/>
            <a:r>
              <a:rPr sz="900" b="0" i="0">
                <a:solidFill>
                  <a:srgbClr val="404040"/>
                </a:solidFill>
                <a:latin typeface="Calibri"/>
              </a:rPr>
              <a:t>Positive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11201400" y="7909560"/>
            <a:ext cx="384048" cy="384048"/>
          </a:xfrm>
          <a:prstGeom prst="roundRect">
            <a:avLst/>
          </a:prstGeom>
          <a:solidFill>
            <a:srgbClr val="E8C07A"/>
          </a:solidFill>
          <a:ln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1612880" y="7882127"/>
            <a:ext cx="896112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  <a:latin typeface="Calibri"/>
              </a:rPr>
              <a:t>Kit colour:</a:t>
            </a:r>
          </a:p>
          <a:p>
            <a:pPr algn="l"/>
            <a:r>
              <a:rPr sz="900" b="0" i="0">
                <a:solidFill>
                  <a:srgbClr val="404040"/>
                </a:solidFill>
                <a:latin typeface="Calibri"/>
              </a:rPr>
              <a:t>Negative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366760" y="8412480"/>
            <a:ext cx="406908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1">
                <a:solidFill>
                  <a:srgbClr val="7F7F7F"/>
                </a:solidFill>
                <a:latin typeface="Calibri"/>
              </a:rPr>
              <a:t>This is a first-level field result. The final answer always comes from the lab.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9564624"/>
            <a:ext cx="18280761" cy="715289"/>
            <a:chOff x="0" y="0"/>
            <a:chExt cx="24374348" cy="95371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74348" cy="953770"/>
            </a:xfrm>
            <a:custGeom>
              <a:avLst/>
              <a:gdLst/>
              <a:ahLst/>
              <a:cxnLst/>
              <a:rect r="r" b="b" t="t" l="l"/>
              <a:pathLst>
                <a:path h="953770" w="24374348">
                  <a:moveTo>
                    <a:pt x="0" y="0"/>
                  </a:moveTo>
                  <a:lnTo>
                    <a:pt x="24374348" y="0"/>
                  </a:lnTo>
                  <a:lnTo>
                    <a:pt x="24374348" y="953770"/>
                  </a:lnTo>
                  <a:lnTo>
                    <a:pt x="0" y="9537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-914" r="0" b="-909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9532620"/>
            <a:ext cx="18288000" cy="754380"/>
            <a:chOff x="0" y="0"/>
            <a:chExt cx="24384000" cy="100584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384000" cy="1005840"/>
            </a:xfrm>
            <a:custGeom>
              <a:avLst/>
              <a:gdLst/>
              <a:ahLst/>
              <a:cxnLst/>
              <a:rect r="r" b="b" t="t" l="l"/>
              <a:pathLst>
                <a:path h="1005840" w="24384000">
                  <a:moveTo>
                    <a:pt x="24384000" y="0"/>
                  </a:moveTo>
                  <a:lnTo>
                    <a:pt x="0" y="0"/>
                  </a:lnTo>
                  <a:lnTo>
                    <a:pt x="0" y="1005840"/>
                  </a:lnTo>
                  <a:lnTo>
                    <a:pt x="24384000" y="1005840"/>
                  </a:lnTo>
                  <a:lnTo>
                    <a:pt x="24384000" y="0"/>
                  </a:lnTo>
                  <a:close/>
                </a:path>
              </a:pathLst>
            </a:custGeom>
            <a:solidFill>
              <a:srgbClr val="006EC0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14712124" y="30937"/>
            <a:ext cx="3304794" cy="1535925"/>
            <a:chOff x="0" y="0"/>
            <a:chExt cx="4406392" cy="20479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4406392" cy="2047875"/>
            </a:xfrm>
            <a:custGeom>
              <a:avLst/>
              <a:gdLst/>
              <a:ahLst/>
              <a:cxnLst/>
              <a:rect r="r" b="b" t="t" l="l"/>
              <a:pathLst>
                <a:path h="2047875" w="4406392">
                  <a:moveTo>
                    <a:pt x="0" y="0"/>
                  </a:moveTo>
                  <a:lnTo>
                    <a:pt x="4406392" y="0"/>
                  </a:lnTo>
                  <a:lnTo>
                    <a:pt x="4406392" y="2047875"/>
                  </a:lnTo>
                  <a:lnTo>
                    <a:pt x="0" y="204787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67" t="0" r="-167" b="-1"/>
              </a:stretch>
            </a:blipFill>
          </p:spPr>
        </p:sp>
      </p:grpSp>
      <p:sp>
        <p:nvSpPr>
          <p:cNvPr name="AutoShape 8" id="8"/>
          <p:cNvSpPr/>
          <p:nvPr/>
        </p:nvSpPr>
        <p:spPr>
          <a:xfrm>
            <a:off x="1074372" y="5460150"/>
            <a:ext cx="15433703" cy="0"/>
          </a:xfrm>
          <a:prstGeom prst="line">
            <a:avLst/>
          </a:prstGeom>
          <a:ln cap="flat" w="38100">
            <a:solidFill>
              <a:srgbClr val="D0D6E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9" id="9"/>
          <p:cNvSpPr/>
          <p:nvPr/>
        </p:nvSpPr>
        <p:spPr>
          <a:xfrm flipH="false" flipV="false" rot="0">
            <a:off x="391335" y="315011"/>
            <a:ext cx="2629852" cy="1249680"/>
          </a:xfrm>
          <a:custGeom>
            <a:avLst/>
            <a:gdLst/>
            <a:ahLst/>
            <a:cxnLst/>
            <a:rect r="r" b="b" t="t" l="l"/>
            <a:pathLst>
              <a:path h="1249680" w="2629852">
                <a:moveTo>
                  <a:pt x="0" y="0"/>
                </a:moveTo>
                <a:lnTo>
                  <a:pt x="2629852" y="0"/>
                </a:lnTo>
                <a:lnTo>
                  <a:pt x="2629852" y="1249680"/>
                </a:lnTo>
                <a:lnTo>
                  <a:pt x="0" y="124968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AutoShape 10" id="10"/>
          <p:cNvSpPr/>
          <p:nvPr/>
        </p:nvSpPr>
        <p:spPr>
          <a:xfrm>
            <a:off x="6423295" y="6369788"/>
            <a:ext cx="0" cy="2091288"/>
          </a:xfrm>
          <a:prstGeom prst="line">
            <a:avLst/>
          </a:prstGeom>
          <a:ln cap="flat" w="38100">
            <a:solidFill>
              <a:srgbClr val="D0D6E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7" id="17"/>
          <p:cNvSpPr/>
          <p:nvPr/>
        </p:nvSpPr>
        <p:spPr>
          <a:xfrm>
            <a:off x="11357812" y="2072813"/>
            <a:ext cx="0" cy="3387337"/>
          </a:xfrm>
          <a:prstGeom prst="line">
            <a:avLst/>
          </a:prstGeom>
          <a:ln cap="flat" w="38100">
            <a:solidFill>
              <a:srgbClr val="D0D6E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23" id="23"/>
          <p:cNvSpPr/>
          <p:nvPr/>
        </p:nvSpPr>
        <p:spPr>
          <a:xfrm>
            <a:off x="12802916" y="5460150"/>
            <a:ext cx="0" cy="3681373"/>
          </a:xfrm>
          <a:prstGeom prst="line">
            <a:avLst/>
          </a:prstGeom>
          <a:ln cap="flat" w="38100">
            <a:solidFill>
              <a:srgbClr val="D0D6E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28" id="28" descr="$PPTXTitle"/>
          <p:cNvSpPr txBox="true"/>
          <p:nvPr/>
        </p:nvSpPr>
        <p:spPr>
          <a:xfrm rot="0">
            <a:off x="4574058" y="300016"/>
            <a:ext cx="8228859" cy="847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480"/>
              </a:lnSpc>
            </a:pPr>
            <a:r>
              <a:rPr lang="en-US" b="true" sz="5400" spc="-15">
                <a:solidFill>
                  <a:srgbClr val="17375E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TECHNICAL APPROACH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7664196" y="9626508"/>
            <a:ext cx="2995136" cy="30765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37"/>
              </a:lnSpc>
            </a:pPr>
            <a:r>
              <a:rPr lang="en-US" sz="1800" spc="-14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@SIH Idea submission- Template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17063656" y="9649673"/>
            <a:ext cx="104775" cy="2886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37"/>
              </a:lnSpc>
            </a:pPr>
            <a:r>
              <a:rPr lang="en-US" b="true" sz="1800" spc="-75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3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2926080" y="1879212"/>
            <a:ext cx="6858000" cy="438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00"/>
              </a:lnSpc>
            </a:pPr>
            <a:r>
              <a:rPr lang="en-US" b="true" sz="2500" spc="-13">
                <a:solidFill>
                  <a:srgbClr val="17375E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Technology Workflow (step by step)</a:t>
            </a:r>
            <a:r>
              <a:rPr lang="en-US" b="true" sz="2500" spc="-13">
                <a:solidFill>
                  <a:srgbClr val="17375E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/>
            </a:r>
          </a:p>
        </p:txBody>
      </p:sp>
      <p:sp>
        <p:nvSpPr>
          <p:cNvPr name="TextBox 32" id="32" descr="$PPTXTitle"/>
          <p:cNvSpPr txBox="true"/>
          <p:nvPr/>
        </p:nvSpPr>
        <p:spPr>
          <a:xfrm rot="0">
            <a:off x="1074372" y="677913"/>
            <a:ext cx="1461403" cy="466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40"/>
              </a:lnSpc>
            </a:pPr>
            <a:r>
              <a:rPr lang="en-US" b="true" sz="2700" spc="-29">
                <a:solidFill>
                  <a:srgbClr val="17375E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HexTech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85800" y="2697480"/>
            <a:ext cx="2331720" cy="868680"/>
          </a:xfrm>
          <a:prstGeom prst="roundRect">
            <a:avLst>
              <a:gd name="adj" fmla="val 12000"/>
            </a:avLst>
          </a:prstGeom>
          <a:solidFill>
            <a:srgbClr val="FBEFB5"/>
          </a:solidFill>
          <a:ln w="15875">
            <a:solidFill>
              <a:srgbClr val="B8A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50" b="1">
                <a:solidFill>
                  <a:srgbClr val="1A1A1A"/>
                </a:solidFill>
                <a:latin typeface="Calibri"/>
              </a:rPr>
              <a:t>1. Take Photo</a:t>
            </a:r>
          </a:p>
          <a:p>
            <a:pPr algn="ctr"/>
            <a:r>
              <a:rPr sz="1250" b="0">
                <a:solidFill>
                  <a:srgbClr val="1A1A1A"/>
                </a:solidFill>
                <a:latin typeface="Calibri"/>
              </a:rPr>
              <a:t>Flutter mobile app</a:t>
            </a:r>
          </a:p>
          <a:p>
            <a:pPr algn="ctr"/>
            <a:r>
              <a:rPr sz="1250" b="0">
                <a:solidFill>
                  <a:srgbClr val="1A1A1A"/>
                </a:solidFill>
                <a:latin typeface="Calibri"/>
              </a:rPr>
              <a:t>(guide + timer)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310128" y="2697480"/>
            <a:ext cx="2331720" cy="86868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587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50" b="1">
                <a:solidFill>
                  <a:srgbClr val="1A1A1A"/>
                </a:solidFill>
                <a:latin typeface="Calibri"/>
              </a:rPr>
              <a:t>2. Photo Check</a:t>
            </a:r>
          </a:p>
          <a:p>
            <a:pPr algn="ctr"/>
            <a:r>
              <a:rPr sz="1250" b="0">
                <a:solidFill>
                  <a:srgbClr val="1A1A1A"/>
                </a:solidFill>
                <a:latin typeface="Calibri"/>
              </a:rPr>
              <a:t>OpenCV checks</a:t>
            </a:r>
          </a:p>
          <a:p>
            <a:pPr algn="ctr"/>
            <a:r>
              <a:rPr sz="1250" b="0">
                <a:solidFill>
                  <a:srgbClr val="1A1A1A"/>
                </a:solidFill>
                <a:latin typeface="Calibri"/>
              </a:rPr>
              <a:t>blur / shine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934456" y="2697480"/>
            <a:ext cx="2331720" cy="868680"/>
          </a:xfrm>
          <a:prstGeom prst="roundRect">
            <a:avLst>
              <a:gd name="adj" fmla="val 12000"/>
            </a:avLst>
          </a:prstGeom>
          <a:solidFill>
            <a:srgbClr val="FBEFB5"/>
          </a:solidFill>
          <a:ln w="15875">
            <a:solidFill>
              <a:srgbClr val="B8A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50" b="1">
                <a:solidFill>
                  <a:srgbClr val="1A1A1A"/>
                </a:solidFill>
                <a:latin typeface="Calibri"/>
              </a:rPr>
              <a:t>3. Find the Card</a:t>
            </a:r>
          </a:p>
          <a:p>
            <a:pPr algn="ctr"/>
            <a:r>
              <a:rPr sz="1250" b="0">
                <a:solidFill>
                  <a:srgbClr val="1A1A1A"/>
                </a:solidFill>
                <a:latin typeface="Calibri"/>
              </a:rPr>
              <a:t>4 corner markers</a:t>
            </a:r>
          </a:p>
          <a:p>
            <a:pPr algn="ctr"/>
            <a:r>
              <a:rPr sz="1250" b="0">
                <a:solidFill>
                  <a:srgbClr val="1A1A1A"/>
                </a:solidFill>
                <a:latin typeface="Calibri"/>
              </a:rPr>
              <a:t>(ArUco)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558784" y="2697480"/>
            <a:ext cx="2331720" cy="86868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587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50" b="1">
                <a:solidFill>
                  <a:srgbClr val="1A1A1A"/>
                </a:solidFill>
                <a:latin typeface="Calibri"/>
              </a:rPr>
              <a:t>4. Fix the Colours</a:t>
            </a:r>
          </a:p>
          <a:p>
            <a:pPr algn="ctr"/>
            <a:r>
              <a:rPr sz="1250" b="0">
                <a:solidFill>
                  <a:srgbClr val="1A1A1A"/>
                </a:solidFill>
                <a:latin typeface="Calibri"/>
              </a:rPr>
              <a:t>using the card's</a:t>
            </a:r>
          </a:p>
          <a:p>
            <a:pPr algn="ctr"/>
            <a:r>
              <a:rPr sz="1250" b="0">
                <a:solidFill>
                  <a:srgbClr val="1A1A1A"/>
                </a:solidFill>
                <a:latin typeface="Calibri"/>
              </a:rPr>
              <a:t>known colours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85800" y="4160520"/>
            <a:ext cx="2331720" cy="86868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587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50" b="1">
                <a:solidFill>
                  <a:srgbClr val="1A1A1A"/>
                </a:solidFill>
                <a:latin typeface="Calibri"/>
              </a:rPr>
              <a:t>8. Officer Website</a:t>
            </a:r>
          </a:p>
          <a:p>
            <a:pPr algn="ctr"/>
            <a:r>
              <a:rPr sz="1250" b="0">
                <a:solidFill>
                  <a:srgbClr val="1A1A1A"/>
                </a:solidFill>
                <a:latin typeface="Calibri"/>
              </a:rPr>
              <a:t>React + map</a:t>
            </a:r>
          </a:p>
          <a:p>
            <a:pPr algn="ctr"/>
            <a:r>
              <a:rPr sz="1250" b="0">
                <a:solidFill>
                  <a:srgbClr val="1A1A1A"/>
                </a:solidFill>
                <a:latin typeface="Calibri"/>
              </a:rPr>
              <a:t>+ PDF / Excel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310128" y="4160520"/>
            <a:ext cx="2331720" cy="868680"/>
          </a:xfrm>
          <a:prstGeom prst="roundRect">
            <a:avLst>
              <a:gd name="adj" fmla="val 12000"/>
            </a:avLst>
          </a:prstGeom>
          <a:solidFill>
            <a:srgbClr val="FBEFB5"/>
          </a:solidFill>
          <a:ln w="15875">
            <a:solidFill>
              <a:srgbClr val="B8A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50" b="1">
                <a:solidFill>
                  <a:srgbClr val="1A1A1A"/>
                </a:solidFill>
                <a:latin typeface="Calibri"/>
              </a:rPr>
              <a:t>7. Save on Server</a:t>
            </a:r>
          </a:p>
          <a:p>
            <a:pPr algn="ctr"/>
            <a:r>
              <a:rPr sz="1250" b="0">
                <a:solidFill>
                  <a:srgbClr val="1A1A1A"/>
                </a:solidFill>
                <a:latin typeface="Calibri"/>
              </a:rPr>
              <a:t>FastAPI +</a:t>
            </a:r>
          </a:p>
          <a:p>
            <a:pPr algn="ctr"/>
            <a:r>
              <a:rPr sz="1250" b="0">
                <a:solidFill>
                  <a:srgbClr val="1A1A1A"/>
                </a:solidFill>
                <a:latin typeface="Calibri"/>
              </a:rPr>
              <a:t>PostgreSQL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934456" y="4160520"/>
            <a:ext cx="2331720" cy="86868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587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50" b="1">
                <a:solidFill>
                  <a:srgbClr val="1A1A1A"/>
                </a:solidFill>
                <a:latin typeface="Calibri"/>
              </a:rPr>
              <a:t>6. Seal the Record</a:t>
            </a:r>
          </a:p>
          <a:p>
            <a:pPr algn="ctr"/>
            <a:r>
              <a:rPr sz="1250" b="0">
                <a:solidFill>
                  <a:srgbClr val="1A1A1A"/>
                </a:solidFill>
                <a:latin typeface="Calibri"/>
              </a:rPr>
              <a:t>fingerprint + GPS</a:t>
            </a:r>
          </a:p>
          <a:p>
            <a:pPr algn="ctr"/>
            <a:r>
              <a:rPr sz="1250" b="0">
                <a:solidFill>
                  <a:srgbClr val="1A1A1A"/>
                </a:solidFill>
                <a:latin typeface="Calibri"/>
              </a:rPr>
              <a:t>+ time + signature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558784" y="4160520"/>
            <a:ext cx="2331720" cy="868680"/>
          </a:xfrm>
          <a:prstGeom prst="roundRect">
            <a:avLst>
              <a:gd name="adj" fmla="val 12000"/>
            </a:avLst>
          </a:prstGeom>
          <a:solidFill>
            <a:srgbClr val="FBEFB5"/>
          </a:solidFill>
          <a:ln w="15875">
            <a:solidFill>
              <a:srgbClr val="B8A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50" b="1">
                <a:solidFill>
                  <a:srgbClr val="1A1A1A"/>
                </a:solidFill>
                <a:latin typeface="Calibri"/>
              </a:rPr>
              <a:t>5. Decide Result</a:t>
            </a:r>
          </a:p>
          <a:p>
            <a:pPr algn="ctr"/>
            <a:r>
              <a:rPr sz="1250" b="0">
                <a:solidFill>
                  <a:srgbClr val="1A1A1A"/>
                </a:solidFill>
                <a:latin typeface="Calibri"/>
              </a:rPr>
              <a:t>colour difference</a:t>
            </a:r>
          </a:p>
          <a:p>
            <a:pPr algn="ctr"/>
            <a:r>
              <a:rPr sz="1250" b="0">
                <a:solidFill>
                  <a:srgbClr val="1A1A1A"/>
                </a:solidFill>
                <a:latin typeface="Calibri"/>
              </a:rPr>
              <a:t>score (ΔE)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3017520" y="3131820"/>
            <a:ext cx="292608" cy="0"/>
          </a:xfrm>
          <a:prstGeom prst="line">
            <a:avLst/>
          </a:prstGeom>
          <a:ln w="22225">
            <a:solidFill>
              <a:srgbClr val="7F7F7F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H="1">
            <a:off x="3017520" y="4594859"/>
            <a:ext cx="292608" cy="0"/>
          </a:xfrm>
          <a:prstGeom prst="line">
            <a:avLst/>
          </a:prstGeom>
          <a:ln w="22225">
            <a:solidFill>
              <a:srgbClr val="7F7F7F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5641848" y="3131820"/>
            <a:ext cx="292608" cy="0"/>
          </a:xfrm>
          <a:prstGeom prst="line">
            <a:avLst/>
          </a:prstGeom>
          <a:ln w="22225">
            <a:solidFill>
              <a:srgbClr val="7F7F7F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H="1">
            <a:off x="5641848" y="4594859"/>
            <a:ext cx="292608" cy="0"/>
          </a:xfrm>
          <a:prstGeom prst="line">
            <a:avLst/>
          </a:prstGeom>
          <a:ln w="22225">
            <a:solidFill>
              <a:srgbClr val="7F7F7F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8266175" y="3131820"/>
            <a:ext cx="292609" cy="0"/>
          </a:xfrm>
          <a:prstGeom prst="line">
            <a:avLst/>
          </a:prstGeom>
          <a:ln w="22225">
            <a:solidFill>
              <a:srgbClr val="7F7F7F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H="1">
            <a:off x="8266175" y="4594859"/>
            <a:ext cx="292609" cy="0"/>
          </a:xfrm>
          <a:prstGeom prst="line">
            <a:avLst/>
          </a:prstGeom>
          <a:ln w="22225">
            <a:solidFill>
              <a:srgbClr val="7F7F7F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9724644" y="3566160"/>
            <a:ext cx="0" cy="594360"/>
          </a:xfrm>
          <a:prstGeom prst="line">
            <a:avLst/>
          </a:prstGeom>
          <a:ln w="22225">
            <a:solidFill>
              <a:srgbClr val="7F7F7F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ounded Rectangle 47"/>
          <p:cNvSpPr/>
          <p:nvPr/>
        </p:nvSpPr>
        <p:spPr>
          <a:xfrm>
            <a:off x="11841480" y="2057400"/>
            <a:ext cx="5760720" cy="3200400"/>
          </a:xfrm>
          <a:prstGeom prst="roundRect">
            <a:avLst>
              <a:gd name="adj" fmla="val 4000"/>
            </a:avLst>
          </a:prstGeom>
          <a:solidFill>
            <a:srgbClr val="D9DEF0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400" b="0">
                <a:solidFill>
                  <a:srgbClr val="1A1A1A"/>
                </a:solidFill>
                <a:latin typeface="Calibri"/>
              </a:rPr>
              <a:t/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978640" y="2103120"/>
            <a:ext cx="54864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1" i="0">
                <a:solidFill>
                  <a:srgbClr val="1F3864"/>
                </a:solidFill>
                <a:latin typeface="Calibri"/>
              </a:rPr>
              <a:t>How the App Decides (never guesses)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2024360" y="2560320"/>
            <a:ext cx="3794760" cy="40233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150" b="1">
                <a:solidFill>
                  <a:srgbClr val="1A1A1A"/>
                </a:solidFill>
                <a:latin typeface="Calibri"/>
              </a:rPr>
              <a:t>1. All 4 card corners found?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15819120" y="2761488"/>
            <a:ext cx="228600" cy="0"/>
          </a:xfrm>
          <a:prstGeom prst="line">
            <a:avLst/>
          </a:prstGeom>
          <a:ln w="22225">
            <a:solidFill>
              <a:srgbClr val="7030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ounded Rectangle 51"/>
          <p:cNvSpPr/>
          <p:nvPr/>
        </p:nvSpPr>
        <p:spPr>
          <a:xfrm>
            <a:off x="16047720" y="2596896"/>
            <a:ext cx="1417320" cy="329184"/>
          </a:xfrm>
          <a:prstGeom prst="roundRect">
            <a:avLst>
              <a:gd name="adj" fmla="val 12000"/>
            </a:avLst>
          </a:prstGeom>
          <a:solidFill>
            <a:srgbClr val="E6C8F5"/>
          </a:solidFill>
          <a:ln w="1587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950" b="1">
                <a:solidFill>
                  <a:srgbClr val="1A1A1A"/>
                </a:solidFill>
                <a:latin typeface="Calibri"/>
              </a:rPr>
              <a:t>No → NOT SURE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13917168" y="2962656"/>
            <a:ext cx="0" cy="146304"/>
          </a:xfrm>
          <a:prstGeom prst="line">
            <a:avLst/>
          </a:prstGeom>
          <a:ln w="22225">
            <a:solidFill>
              <a:srgbClr val="2F5597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ounded Rectangle 53"/>
          <p:cNvSpPr/>
          <p:nvPr/>
        </p:nvSpPr>
        <p:spPr>
          <a:xfrm>
            <a:off x="12024360" y="3108960"/>
            <a:ext cx="3794760" cy="40233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150" b="1">
                <a:solidFill>
                  <a:srgbClr val="1A1A1A"/>
                </a:solidFill>
                <a:latin typeface="Calibri"/>
              </a:rPr>
              <a:t>2. Photo sharp, no shine?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15819120" y="3310128"/>
            <a:ext cx="228600" cy="0"/>
          </a:xfrm>
          <a:prstGeom prst="line">
            <a:avLst/>
          </a:prstGeom>
          <a:ln w="22225">
            <a:solidFill>
              <a:srgbClr val="7030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ounded Rectangle 55"/>
          <p:cNvSpPr/>
          <p:nvPr/>
        </p:nvSpPr>
        <p:spPr>
          <a:xfrm>
            <a:off x="16047720" y="3145536"/>
            <a:ext cx="1417320" cy="329184"/>
          </a:xfrm>
          <a:prstGeom prst="roundRect">
            <a:avLst>
              <a:gd name="adj" fmla="val 12000"/>
            </a:avLst>
          </a:prstGeom>
          <a:solidFill>
            <a:srgbClr val="E6C8F5"/>
          </a:solidFill>
          <a:ln w="1587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950" b="1">
                <a:solidFill>
                  <a:srgbClr val="1A1A1A"/>
                </a:solidFill>
                <a:latin typeface="Calibri"/>
              </a:rPr>
              <a:t>No → NOT SURE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13917168" y="3511296"/>
            <a:ext cx="0" cy="146304"/>
          </a:xfrm>
          <a:prstGeom prst="line">
            <a:avLst/>
          </a:prstGeom>
          <a:ln w="22225">
            <a:solidFill>
              <a:srgbClr val="2F5597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ounded Rectangle 57"/>
          <p:cNvSpPr/>
          <p:nvPr/>
        </p:nvSpPr>
        <p:spPr>
          <a:xfrm>
            <a:off x="12024360" y="3657600"/>
            <a:ext cx="3794760" cy="40233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150" b="1">
                <a:solidFill>
                  <a:srgbClr val="1A1A1A"/>
                </a:solidFill>
                <a:latin typeface="Calibri"/>
              </a:rPr>
              <a:t>3. Closest kit colour: difference ≤ 14?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15819120" y="3858768"/>
            <a:ext cx="228600" cy="0"/>
          </a:xfrm>
          <a:prstGeom prst="line">
            <a:avLst/>
          </a:prstGeom>
          <a:ln w="22225">
            <a:solidFill>
              <a:srgbClr val="7030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Rounded Rectangle 59"/>
          <p:cNvSpPr/>
          <p:nvPr/>
        </p:nvSpPr>
        <p:spPr>
          <a:xfrm>
            <a:off x="16047720" y="3694176"/>
            <a:ext cx="1417320" cy="329184"/>
          </a:xfrm>
          <a:prstGeom prst="roundRect">
            <a:avLst>
              <a:gd name="adj" fmla="val 12000"/>
            </a:avLst>
          </a:prstGeom>
          <a:solidFill>
            <a:srgbClr val="E6C8F5"/>
          </a:solidFill>
          <a:ln w="1587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950" b="1">
                <a:solidFill>
                  <a:srgbClr val="1A1A1A"/>
                </a:solidFill>
                <a:latin typeface="Calibri"/>
              </a:rPr>
              <a:t>No → NOT SURE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13917168" y="4059936"/>
            <a:ext cx="0" cy="146304"/>
          </a:xfrm>
          <a:prstGeom prst="line">
            <a:avLst/>
          </a:prstGeom>
          <a:ln w="22225">
            <a:solidFill>
              <a:srgbClr val="2F5597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Rounded Rectangle 61"/>
          <p:cNvSpPr/>
          <p:nvPr/>
        </p:nvSpPr>
        <p:spPr>
          <a:xfrm>
            <a:off x="12024360" y="4206240"/>
            <a:ext cx="3794760" cy="40233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150" b="1">
                <a:solidFill>
                  <a:srgbClr val="1A1A1A"/>
                </a:solidFill>
                <a:latin typeface="Calibri"/>
              </a:rPr>
              <a:t>4. Clear winner: 2nd best ≥ 4 further?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15819120" y="4407407"/>
            <a:ext cx="228600" cy="0"/>
          </a:xfrm>
          <a:prstGeom prst="line">
            <a:avLst/>
          </a:prstGeom>
          <a:ln w="22225">
            <a:solidFill>
              <a:srgbClr val="7030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Rounded Rectangle 63"/>
          <p:cNvSpPr/>
          <p:nvPr/>
        </p:nvSpPr>
        <p:spPr>
          <a:xfrm>
            <a:off x="16047720" y="4242816"/>
            <a:ext cx="1417320" cy="329184"/>
          </a:xfrm>
          <a:prstGeom prst="roundRect">
            <a:avLst>
              <a:gd name="adj" fmla="val 12000"/>
            </a:avLst>
          </a:prstGeom>
          <a:solidFill>
            <a:srgbClr val="E6C8F5"/>
          </a:solidFill>
          <a:ln w="1587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950" b="1">
                <a:solidFill>
                  <a:srgbClr val="1A1A1A"/>
                </a:solidFill>
                <a:latin typeface="Calibri"/>
              </a:rPr>
              <a:t>No → NOT SURE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13917168" y="4608576"/>
            <a:ext cx="0" cy="164591"/>
          </a:xfrm>
          <a:prstGeom prst="line">
            <a:avLst/>
          </a:prstGeom>
          <a:ln w="22225">
            <a:solidFill>
              <a:srgbClr val="2F5597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ounded Rectangle 65"/>
          <p:cNvSpPr/>
          <p:nvPr/>
        </p:nvSpPr>
        <p:spPr>
          <a:xfrm>
            <a:off x="12024360" y="4773167"/>
            <a:ext cx="5440680" cy="384048"/>
          </a:xfrm>
          <a:prstGeom prst="roundRect">
            <a:avLst>
              <a:gd name="adj" fmla="val 12000"/>
            </a:avLst>
          </a:prstGeom>
          <a:solidFill>
            <a:srgbClr val="E2F0D9"/>
          </a:solidFill>
          <a:ln w="15875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100" b="1">
                <a:solidFill>
                  <a:srgbClr val="1A1A1A"/>
                </a:solidFill>
                <a:latin typeface="Calibri"/>
              </a:rPr>
              <a:t>Yes → POSITIVE / NEGATIVE + "% sure"   (limits are set per kit)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291840" y="5577840"/>
            <a:ext cx="73152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200" b="1" i="0">
                <a:solidFill>
                  <a:srgbClr val="1F3864"/>
                </a:solidFill>
                <a:latin typeface="Calibri"/>
              </a:rPr>
              <a:t>How the ₹10 Colour Card Works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77240" y="6263640"/>
            <a:ext cx="5486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1" i="0">
                <a:solidFill>
                  <a:srgbClr val="1A1A1A"/>
                </a:solidFill>
                <a:latin typeface="Calibri"/>
              </a:rPr>
              <a:t>Printed Colour Card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77240" y="6675120"/>
            <a:ext cx="5532120" cy="1920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92608" indent="-256032">
              <a:spcAft>
                <a:spcPts val="400"/>
              </a:spcAft>
              <a:buFont typeface="Arial"/>
              <a:buChar char="•"/>
            </a:pPr>
            <a:r>
              <a:rPr b="1" sz="1500">
                <a:solidFill>
                  <a:srgbClr val="1A1A1A"/>
                </a:solidFill>
                <a:latin typeface="Calibri"/>
              </a:rPr>
              <a:t>4 corner markers - </a:t>
            </a:r>
            <a:r>
              <a:rPr sz="1500">
                <a:solidFill>
                  <a:srgbClr val="1A1A1A"/>
                </a:solidFill>
                <a:latin typeface="Calibri"/>
              </a:rPr>
              <a:t>app finds and straightens the card</a:t>
            </a:r>
          </a:p>
          <a:p>
            <a:pPr marL="292608" indent="-256032">
              <a:spcAft>
                <a:spcPts val="400"/>
              </a:spcAft>
              <a:buFont typeface="Arial"/>
              <a:buChar char="•"/>
            </a:pPr>
            <a:r>
              <a:rPr b="1" sz="1500">
                <a:solidFill>
                  <a:srgbClr val="1A1A1A"/>
                </a:solidFill>
                <a:latin typeface="Calibri"/>
              </a:rPr>
              <a:t>24 boxes of known colours - </a:t>
            </a:r>
            <a:r>
              <a:rPr sz="1500">
                <a:solidFill>
                  <a:srgbClr val="1A1A1A"/>
                </a:solidFill>
                <a:latin typeface="Calibri"/>
              </a:rPr>
              <a:t>app learns how the light changed colours</a:t>
            </a:r>
          </a:p>
          <a:p>
            <a:pPr marL="292608" indent="-256032">
              <a:spcAft>
                <a:spcPts val="400"/>
              </a:spcAft>
              <a:buFont typeface="Arial"/>
              <a:buChar char="•"/>
            </a:pPr>
            <a:r>
              <a:rPr b="1" sz="1500">
                <a:solidFill>
                  <a:srgbClr val="1A1A1A"/>
                </a:solidFill>
                <a:latin typeface="Calibri"/>
              </a:rPr>
              <a:t>Test window - </a:t>
            </a:r>
            <a:r>
              <a:rPr sz="1500">
                <a:solidFill>
                  <a:srgbClr val="1A1A1A"/>
                </a:solidFill>
                <a:latin typeface="Calibri"/>
              </a:rPr>
              <a:t>app fixes the kit colour and gives a score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675120" y="6263640"/>
            <a:ext cx="58521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1" i="0">
                <a:solidFill>
                  <a:srgbClr val="1A1A1A"/>
                </a:solidFill>
                <a:latin typeface="Calibri"/>
              </a:rPr>
              <a:t>Add Any Test Kit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675120" y="6675120"/>
            <a:ext cx="585216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Admin adds a kit with its result colours from the website. No app update needed.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6675120" y="7543800"/>
            <a:ext cx="1325880" cy="6583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0">
                <a:solidFill>
                  <a:srgbClr val="1A1A1A"/>
                </a:solidFill>
                <a:latin typeface="Calibri"/>
              </a:rPr>
              <a:t>Admin</a:t>
            </a:r>
          </a:p>
          <a:p>
            <a:pPr algn="ctr"/>
            <a:r>
              <a:rPr sz="1200" b="0">
                <a:solidFill>
                  <a:srgbClr val="1A1A1A"/>
                </a:solidFill>
                <a:latin typeface="Calibri"/>
              </a:rPr>
              <a:t>Adds Kit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8001000" y="7872983"/>
            <a:ext cx="182879" cy="0"/>
          </a:xfrm>
          <a:prstGeom prst="line">
            <a:avLst/>
          </a:prstGeom>
          <a:ln w="22225">
            <a:solidFill>
              <a:srgbClr val="40404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Rounded Rectangle 73"/>
          <p:cNvSpPr/>
          <p:nvPr/>
        </p:nvSpPr>
        <p:spPr>
          <a:xfrm>
            <a:off x="8183879" y="7543800"/>
            <a:ext cx="1325880" cy="6583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0">
                <a:solidFill>
                  <a:srgbClr val="1A1A1A"/>
                </a:solidFill>
                <a:latin typeface="Calibri"/>
              </a:rPr>
              <a:t>Enter Result</a:t>
            </a:r>
          </a:p>
          <a:p>
            <a:pPr algn="ctr"/>
            <a:r>
              <a:rPr sz="1200" b="0">
                <a:solidFill>
                  <a:srgbClr val="1A1A1A"/>
                </a:solidFill>
                <a:latin typeface="Calibri"/>
              </a:rPr>
              <a:t>Colours</a:t>
            </a:r>
          </a:p>
        </p:txBody>
      </p:sp>
      <p:cxnSp>
        <p:nvCxnSpPr>
          <p:cNvPr id="75" name="Connector 74"/>
          <p:cNvCxnSpPr/>
          <p:nvPr/>
        </p:nvCxnSpPr>
        <p:spPr>
          <a:xfrm>
            <a:off x="9509759" y="7872983"/>
            <a:ext cx="182881" cy="0"/>
          </a:xfrm>
          <a:prstGeom prst="line">
            <a:avLst/>
          </a:prstGeom>
          <a:ln w="22225">
            <a:solidFill>
              <a:srgbClr val="40404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Rounded Rectangle 75"/>
          <p:cNvSpPr/>
          <p:nvPr/>
        </p:nvSpPr>
        <p:spPr>
          <a:xfrm>
            <a:off x="9692640" y="7543800"/>
            <a:ext cx="1325880" cy="6583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0">
                <a:solidFill>
                  <a:srgbClr val="1A1A1A"/>
                </a:solidFill>
                <a:latin typeface="Calibri"/>
              </a:rPr>
              <a:t>Set Match</a:t>
            </a:r>
          </a:p>
          <a:p>
            <a:pPr algn="ctr"/>
            <a:r>
              <a:rPr sz="1200" b="0">
                <a:solidFill>
                  <a:srgbClr val="1A1A1A"/>
                </a:solidFill>
                <a:latin typeface="Calibri"/>
              </a:rPr>
              <a:t>Limit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11018519" y="7872983"/>
            <a:ext cx="182881" cy="0"/>
          </a:xfrm>
          <a:prstGeom prst="line">
            <a:avLst/>
          </a:prstGeom>
          <a:ln w="22225">
            <a:solidFill>
              <a:srgbClr val="40404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Rounded Rectangle 77"/>
          <p:cNvSpPr/>
          <p:nvPr/>
        </p:nvSpPr>
        <p:spPr>
          <a:xfrm>
            <a:off x="11201400" y="7543800"/>
            <a:ext cx="1325880" cy="6583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0">
                <a:solidFill>
                  <a:srgbClr val="1A1A1A"/>
                </a:solidFill>
                <a:latin typeface="Calibri"/>
              </a:rPr>
              <a:t>Ready in</a:t>
            </a:r>
          </a:p>
          <a:p>
            <a:pPr algn="ctr"/>
            <a:r>
              <a:rPr sz="1200" b="0">
                <a:solidFill>
                  <a:srgbClr val="1A1A1A"/>
                </a:solidFill>
                <a:latin typeface="Calibri"/>
              </a:rPr>
              <a:t>App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2103120" y="8686800"/>
            <a:ext cx="9692640" cy="457200"/>
          </a:xfrm>
          <a:prstGeom prst="roundRect">
            <a:avLst>
              <a:gd name="adj" fmla="val 12000"/>
            </a:avLst>
          </a:prstGeom>
          <a:solidFill>
            <a:srgbClr val="D9DEF0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400" b="0">
                <a:solidFill>
                  <a:srgbClr val="1A1A1A"/>
                </a:solidFill>
                <a:latin typeface="Calibri"/>
              </a:rPr>
              <a:t>Any phone, any light → same fixed colour   |   Card not read properly → NOT SURE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3121640" y="5577840"/>
            <a:ext cx="484632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000" b="1" i="0">
                <a:solidFill>
                  <a:srgbClr val="1F3864"/>
                </a:solidFill>
                <a:latin typeface="Calibri"/>
              </a:rPr>
              <a:t>Proof That Cannot Be Faked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13167360" y="6217920"/>
            <a:ext cx="1920240" cy="548640"/>
          </a:xfrm>
          <a:prstGeom prst="roundRect">
            <a:avLst>
              <a:gd name="adj" fmla="val 12000"/>
            </a:avLst>
          </a:prstGeom>
          <a:solidFill>
            <a:srgbClr val="DDEBF7"/>
          </a:solidFill>
          <a:ln w="15875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1">
                <a:solidFill>
                  <a:srgbClr val="1A1A1A"/>
                </a:solidFill>
                <a:latin typeface="Calibri"/>
              </a:rPr>
              <a:t>Take Photo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15773400" y="6217920"/>
            <a:ext cx="1920240" cy="54864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587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1">
                <a:solidFill>
                  <a:srgbClr val="1A1A1A"/>
                </a:solidFill>
                <a:latin typeface="Calibri"/>
              </a:rPr>
              <a:t>Original Photo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15773400" y="7132320"/>
            <a:ext cx="1920240" cy="685800"/>
          </a:xfrm>
          <a:prstGeom prst="roundRect">
            <a:avLst>
              <a:gd name="adj" fmla="val 12000"/>
            </a:avLst>
          </a:prstGeom>
          <a:solidFill>
            <a:srgbClr val="E2F0D9"/>
          </a:solidFill>
          <a:ln w="15875">
            <a:solidFill>
              <a:srgbClr val="70AD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050" b="1">
                <a:solidFill>
                  <a:srgbClr val="1A1A1A"/>
                </a:solidFill>
                <a:latin typeface="Calibri"/>
              </a:rPr>
              <a:t>GPS + Internet Time</a:t>
            </a:r>
          </a:p>
          <a:p>
            <a:pPr algn="ctr"/>
            <a:r>
              <a:rPr sz="1050" b="1">
                <a:solidFill>
                  <a:srgbClr val="1A1A1A"/>
                </a:solidFill>
                <a:latin typeface="Calibri"/>
              </a:rPr>
              <a:t>+ Officer + Phone ID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13167360" y="7132320"/>
            <a:ext cx="1920240" cy="685800"/>
          </a:xfrm>
          <a:prstGeom prst="roundRect">
            <a:avLst>
              <a:gd name="adj" fmla="val 12000"/>
            </a:avLst>
          </a:prstGeom>
          <a:solidFill>
            <a:srgbClr val="FBE5D6"/>
          </a:solidFill>
          <a:ln w="15875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050" b="1">
                <a:solidFill>
                  <a:srgbClr val="1A1A1A"/>
                </a:solidFill>
                <a:latin typeface="Calibri"/>
              </a:rPr>
              <a:t>Photo Fingerprint</a:t>
            </a:r>
          </a:p>
          <a:p>
            <a:pPr algn="ctr"/>
            <a:r>
              <a:rPr sz="1050" b="1">
                <a:solidFill>
                  <a:srgbClr val="1A1A1A"/>
                </a:solidFill>
                <a:latin typeface="Calibri"/>
              </a:rPr>
              <a:t>(SHA-256) + Signature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13167360" y="8183879"/>
            <a:ext cx="1920240" cy="548640"/>
          </a:xfrm>
          <a:prstGeom prst="roundRect">
            <a:avLst>
              <a:gd name="adj" fmla="val 12000"/>
            </a:avLst>
          </a:prstGeom>
          <a:solidFill>
            <a:srgbClr val="E4DFEC"/>
          </a:solidFill>
          <a:ln w="1587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150" b="1">
                <a:solidFill>
                  <a:srgbClr val="1A1A1A"/>
                </a:solidFill>
                <a:latin typeface="Calibri"/>
              </a:rPr>
              <a:t>Chained Test Log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15773400" y="8183879"/>
            <a:ext cx="1920240" cy="548640"/>
          </a:xfrm>
          <a:prstGeom prst="roundRect">
            <a:avLst>
              <a:gd name="adj" fmla="val 12000"/>
            </a:avLst>
          </a:prstGeom>
          <a:solidFill>
            <a:srgbClr val="DDEBF7"/>
          </a:solidFill>
          <a:ln w="15875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150" b="1">
                <a:solidFill>
                  <a:srgbClr val="1A1A1A"/>
                </a:solidFill>
                <a:latin typeface="Calibri"/>
              </a:rPr>
              <a:t>QR Check Page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15087600" y="6492240"/>
            <a:ext cx="685800" cy="0"/>
          </a:xfrm>
          <a:prstGeom prst="line">
            <a:avLst/>
          </a:prstGeom>
          <a:ln w="22225">
            <a:solidFill>
              <a:srgbClr val="40404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16733520" y="6766560"/>
            <a:ext cx="0" cy="365760"/>
          </a:xfrm>
          <a:prstGeom prst="line">
            <a:avLst/>
          </a:prstGeom>
          <a:ln w="22225">
            <a:solidFill>
              <a:srgbClr val="40404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H="1">
            <a:off x="15087600" y="7475220"/>
            <a:ext cx="685800" cy="0"/>
          </a:xfrm>
          <a:prstGeom prst="line">
            <a:avLst/>
          </a:prstGeom>
          <a:ln w="22225">
            <a:solidFill>
              <a:srgbClr val="40404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14127480" y="7818120"/>
            <a:ext cx="0" cy="365759"/>
          </a:xfrm>
          <a:prstGeom prst="line">
            <a:avLst/>
          </a:prstGeom>
          <a:ln w="22225">
            <a:solidFill>
              <a:srgbClr val="40404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15087600" y="8458200"/>
            <a:ext cx="685800" cy="0"/>
          </a:xfrm>
          <a:prstGeom prst="line">
            <a:avLst/>
          </a:prstGeom>
          <a:ln w="22225">
            <a:solidFill>
              <a:srgbClr val="40404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TextBox 91"/>
          <p:cNvSpPr txBox="1"/>
          <p:nvPr/>
        </p:nvSpPr>
        <p:spPr>
          <a:xfrm>
            <a:off x="13167360" y="8823960"/>
            <a:ext cx="475488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1" i="0">
                <a:solidFill>
                  <a:srgbClr val="C00000"/>
                </a:solidFill>
                <a:latin typeface="Calibri"/>
              </a:rPr>
              <a:t>Change even 1 byte → QR page shows TAMPERED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9564624"/>
            <a:ext cx="18280761" cy="715289"/>
            <a:chOff x="0" y="0"/>
            <a:chExt cx="24374348" cy="95371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74348" cy="953770"/>
            </a:xfrm>
            <a:custGeom>
              <a:avLst/>
              <a:gdLst/>
              <a:ahLst/>
              <a:cxnLst/>
              <a:rect r="r" b="b" t="t" l="l"/>
              <a:pathLst>
                <a:path h="953770" w="24374348">
                  <a:moveTo>
                    <a:pt x="0" y="0"/>
                  </a:moveTo>
                  <a:lnTo>
                    <a:pt x="24374348" y="0"/>
                  </a:lnTo>
                  <a:lnTo>
                    <a:pt x="24374348" y="953770"/>
                  </a:lnTo>
                  <a:lnTo>
                    <a:pt x="0" y="9537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-914" r="0" b="-909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9532620"/>
            <a:ext cx="18288000" cy="754380"/>
            <a:chOff x="0" y="0"/>
            <a:chExt cx="24384000" cy="100584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384000" cy="1005840"/>
            </a:xfrm>
            <a:custGeom>
              <a:avLst/>
              <a:gdLst/>
              <a:ahLst/>
              <a:cxnLst/>
              <a:rect r="r" b="b" t="t" l="l"/>
              <a:pathLst>
                <a:path h="1005840" w="24384000">
                  <a:moveTo>
                    <a:pt x="24384000" y="0"/>
                  </a:moveTo>
                  <a:lnTo>
                    <a:pt x="0" y="0"/>
                  </a:lnTo>
                  <a:lnTo>
                    <a:pt x="0" y="1005840"/>
                  </a:lnTo>
                  <a:lnTo>
                    <a:pt x="24384000" y="1005840"/>
                  </a:lnTo>
                  <a:lnTo>
                    <a:pt x="24384000" y="0"/>
                  </a:lnTo>
                  <a:close/>
                </a:path>
              </a:pathLst>
            </a:custGeom>
            <a:solidFill>
              <a:srgbClr val="006EC0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0" y="9564624"/>
            <a:ext cx="18280761" cy="715289"/>
            <a:chOff x="0" y="0"/>
            <a:chExt cx="24374348" cy="953719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4374348" cy="953770"/>
            </a:xfrm>
            <a:custGeom>
              <a:avLst/>
              <a:gdLst/>
              <a:ahLst/>
              <a:cxnLst/>
              <a:rect r="r" b="b" t="t" l="l"/>
              <a:pathLst>
                <a:path h="953770" w="24374348">
                  <a:moveTo>
                    <a:pt x="0" y="0"/>
                  </a:moveTo>
                  <a:lnTo>
                    <a:pt x="24374348" y="0"/>
                  </a:lnTo>
                  <a:lnTo>
                    <a:pt x="24374348" y="953770"/>
                  </a:lnTo>
                  <a:lnTo>
                    <a:pt x="0" y="9537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-914" r="0" b="-909"/>
              </a:stretch>
            </a:blipFill>
          </p:spPr>
        </p:sp>
      </p:grpSp>
      <p:grpSp>
        <p:nvGrpSpPr>
          <p:cNvPr name="Group 8" id="8"/>
          <p:cNvGrpSpPr/>
          <p:nvPr/>
        </p:nvGrpSpPr>
        <p:grpSpPr>
          <a:xfrm rot="0">
            <a:off x="0" y="9532620"/>
            <a:ext cx="18288000" cy="754380"/>
            <a:chOff x="0" y="0"/>
            <a:chExt cx="24384000" cy="100584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4384000" cy="1005840"/>
            </a:xfrm>
            <a:custGeom>
              <a:avLst/>
              <a:gdLst/>
              <a:ahLst/>
              <a:cxnLst/>
              <a:rect r="r" b="b" t="t" l="l"/>
              <a:pathLst>
                <a:path h="1005840" w="24384000">
                  <a:moveTo>
                    <a:pt x="24384000" y="0"/>
                  </a:moveTo>
                  <a:lnTo>
                    <a:pt x="0" y="0"/>
                  </a:lnTo>
                  <a:lnTo>
                    <a:pt x="0" y="1005840"/>
                  </a:lnTo>
                  <a:lnTo>
                    <a:pt x="24384000" y="1005840"/>
                  </a:lnTo>
                  <a:lnTo>
                    <a:pt x="24384000" y="0"/>
                  </a:lnTo>
                  <a:close/>
                </a:path>
              </a:pathLst>
            </a:custGeom>
            <a:solidFill>
              <a:srgbClr val="006EC0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14682597" y="21869"/>
            <a:ext cx="3302698" cy="1538135"/>
            <a:chOff x="0" y="0"/>
            <a:chExt cx="4403598" cy="2050847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4403598" cy="2050796"/>
            </a:xfrm>
            <a:custGeom>
              <a:avLst/>
              <a:gdLst/>
              <a:ahLst/>
              <a:cxnLst/>
              <a:rect r="r" b="b" t="t" l="l"/>
              <a:pathLst>
                <a:path h="2050796" w="4403598">
                  <a:moveTo>
                    <a:pt x="0" y="0"/>
                  </a:moveTo>
                  <a:lnTo>
                    <a:pt x="4403598" y="0"/>
                  </a:lnTo>
                  <a:lnTo>
                    <a:pt x="4403598" y="2050796"/>
                  </a:lnTo>
                  <a:lnTo>
                    <a:pt x="0" y="205079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271" t="0" r="-271" b="-2"/>
              </a:stretch>
            </a:blipFill>
          </p:spPr>
        </p:sp>
      </p:grpSp>
      <p:graphicFrame>
        <p:nvGraphicFramePr>
          <p:cNvPr name="Table 12" id="12"/>
          <p:cNvGraphicFramePr>
            <a:graphicFrameLocks noGrp="true"/>
          </p:cNvGraphicFramePr>
          <p:nvPr/>
        </p:nvGraphicFramePr>
        <p:xfrm>
          <a:off x="1444429" y="5091234"/>
          <a:ext cx="7695951" cy="4167066"/>
        </p:xfrm>
        <a:graphic>
          <a:graphicData uri="http://schemas.openxmlformats.org/drawingml/2006/table">
            <a:tbl>
              <a:tblPr/>
              <a:tblGrid>
                <a:gridCol w="3597282"/>
                <a:gridCol w="4098669"/>
              </a:tblGrid>
              <a:tr h="773293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659"/>
                        </a:lnSpc>
                        <a:defRPr/>
                      </a:pPr>
                      <a:r>
                        <a:rPr lang="en-US" sz="1899" b="true">
                          <a:solidFill>
                            <a:srgbClr val="000000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Real-world problem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D6E8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659"/>
                        </a:lnSpc>
                        <a:defRPr/>
                      </a:pPr>
                      <a:r>
                        <a:rPr lang="en-US" sz="1899" b="true">
                          <a:solidFill>
                            <a:srgbClr val="000000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What our app does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D6E8"/>
                    </a:solidFill>
                  </a:tcPr>
                </a:tc>
              </a:tr>
              <a:tr h="677824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59"/>
                        </a:lnSpc>
                        <a:defRPr/>
                      </a:pPr>
                      <a:r>
                        <a:rPr lang="en-US" sz="1399">
                          <a:solidFill>
                            <a:srgbClr val="000000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Bad light (street lamp / torch)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59"/>
                        </a:lnSpc>
                        <a:defRPr/>
                      </a:pPr>
                      <a:r>
                        <a:rPr lang="en-US" sz="1399">
                          <a:solidFill>
                            <a:srgbClr val="000000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Colour card fixes the colours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2476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59"/>
                        </a:lnSpc>
                        <a:defRPr/>
                      </a:pPr>
                      <a:r>
                        <a:rPr lang="en-US" sz="1399">
                          <a:solidFill>
                            <a:srgbClr val="000000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Shiny or blurry photo, card missing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59"/>
                        </a:lnSpc>
                        <a:defRPr/>
                      </a:pPr>
                      <a:r>
                        <a:rPr lang="en-US" sz="1399">
                          <a:solidFill>
                            <a:srgbClr val="000000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Says NOT SURE and asks to retake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77824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59"/>
                        </a:lnSpc>
                        <a:defRPr/>
                      </a:pPr>
                      <a:r>
                        <a:rPr lang="en-US" sz="1399">
                          <a:solidFill>
                            <a:srgbClr val="000000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Colour is in between two results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59"/>
                        </a:lnSpc>
                        <a:defRPr/>
                      </a:pPr>
                      <a:r>
                        <a:rPr lang="en-US" sz="1399">
                          <a:solidFill>
                            <a:srgbClr val="000000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Says NOT SURE; senior officer checks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77824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59"/>
                        </a:lnSpc>
                        <a:defRPr/>
                      </a:pPr>
                      <a:r>
                        <a:rPr lang="en-US" sz="1399">
                          <a:solidFill>
                            <a:srgbClr val="000000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Fake photo or edited record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59"/>
                        </a:lnSpc>
                        <a:defRPr/>
                      </a:pPr>
                      <a:r>
                        <a:rPr lang="en-US" sz="1399">
                          <a:solidFill>
                            <a:srgbClr val="000000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In-app camera only + photo fingerprint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77824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59"/>
                        </a:lnSpc>
                        <a:defRPr/>
                      </a:pPr>
                      <a:r>
                        <a:rPr lang="en-US" sz="1399">
                          <a:solidFill>
                            <a:srgbClr val="000000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Kit from another maker or batch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59"/>
                        </a:lnSpc>
                        <a:defRPr/>
                      </a:pPr>
                      <a:r>
                        <a:rPr lang="en-US" sz="1399">
                          <a:solidFill>
                            <a:srgbClr val="000000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Own profile per maker/batch; else NOT SURE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name="AutoShape 13" id="13"/>
          <p:cNvSpPr/>
          <p:nvPr/>
        </p:nvSpPr>
        <p:spPr>
          <a:xfrm>
            <a:off x="9880066" y="2068323"/>
            <a:ext cx="0" cy="6987505"/>
          </a:xfrm>
          <a:prstGeom prst="line">
            <a:avLst/>
          </a:prstGeom>
          <a:ln cap="flat" w="38100">
            <a:solidFill>
              <a:srgbClr val="D0D6E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4" id="14"/>
          <p:cNvSpPr/>
          <p:nvPr/>
        </p:nvSpPr>
        <p:spPr>
          <a:xfrm>
            <a:off x="1443233" y="4330269"/>
            <a:ext cx="8435637" cy="0"/>
          </a:xfrm>
          <a:prstGeom prst="line">
            <a:avLst/>
          </a:prstGeom>
          <a:ln cap="flat" w="38100">
            <a:solidFill>
              <a:srgbClr val="D0D6E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15" id="15"/>
          <p:cNvSpPr/>
          <p:nvPr/>
        </p:nvSpPr>
        <p:spPr>
          <a:xfrm flipH="false" flipV="false" rot="0">
            <a:off x="391335" y="315011"/>
            <a:ext cx="2629852" cy="1249680"/>
          </a:xfrm>
          <a:custGeom>
            <a:avLst/>
            <a:gdLst/>
            <a:ahLst/>
            <a:cxnLst/>
            <a:rect r="r" b="b" t="t" l="l"/>
            <a:pathLst>
              <a:path h="1249680" w="2629852">
                <a:moveTo>
                  <a:pt x="0" y="0"/>
                </a:moveTo>
                <a:lnTo>
                  <a:pt x="2629852" y="0"/>
                </a:lnTo>
                <a:lnTo>
                  <a:pt x="2629852" y="1249680"/>
                </a:lnTo>
                <a:lnTo>
                  <a:pt x="0" y="124968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AutoShape 16" id="16"/>
          <p:cNvSpPr/>
          <p:nvPr/>
        </p:nvSpPr>
        <p:spPr>
          <a:xfrm>
            <a:off x="9880066" y="6262416"/>
            <a:ext cx="6963395" cy="0"/>
          </a:xfrm>
          <a:prstGeom prst="line">
            <a:avLst/>
          </a:prstGeom>
          <a:ln cap="flat" w="38100">
            <a:solidFill>
              <a:srgbClr val="D0D6E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17" id="17"/>
          <p:cNvSpPr/>
          <p:nvPr/>
        </p:nvSpPr>
        <p:spPr>
          <a:xfrm flipH="false" flipV="false" rot="0">
            <a:off x="10649424" y="2757150"/>
            <a:ext cx="5351215" cy="2981391"/>
          </a:xfrm>
          <a:custGeom>
            <a:avLst/>
            <a:gdLst/>
            <a:ahLst/>
            <a:cxnLst/>
            <a:rect r="r" b="b" t="t" l="l"/>
            <a:pathLst>
              <a:path h="2981391" w="5351215">
                <a:moveTo>
                  <a:pt x="0" y="0"/>
                </a:moveTo>
                <a:lnTo>
                  <a:pt x="5351216" y="0"/>
                </a:lnTo>
                <a:lnTo>
                  <a:pt x="5351216" y="2981391"/>
                </a:lnTo>
                <a:lnTo>
                  <a:pt x="0" y="298139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TextBox 18" id="18" descr="$PPTXTitle"/>
          <p:cNvSpPr txBox="true"/>
          <p:nvPr/>
        </p:nvSpPr>
        <p:spPr>
          <a:xfrm rot="0">
            <a:off x="4029456" y="366951"/>
            <a:ext cx="9813370" cy="847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480"/>
              </a:lnSpc>
            </a:pPr>
            <a:r>
              <a:rPr lang="en-US" b="true" sz="5400" spc="-30">
                <a:solidFill>
                  <a:srgbClr val="17375E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FEASIBILITY AND VIABILITY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443233" y="4577919"/>
            <a:ext cx="5943600" cy="381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40"/>
              </a:lnSpc>
            </a:pPr>
            <a:r>
              <a:rPr lang="en-US" sz="2200" b="true">
                <a:solidFill>
                  <a:srgbClr val="17375E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</a:t>
            </a:r>
            <a:r>
              <a:rPr lang="en-US" sz="2200" b="true">
                <a:solidFill>
                  <a:srgbClr val="17375E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otential Challenges &amp; Strategies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7664196" y="9616983"/>
            <a:ext cx="3327559" cy="346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74"/>
              </a:lnSpc>
            </a:pPr>
            <a:r>
              <a:rPr lang="en-US" sz="1999" spc="-16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@SIH Idea submission- Template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7063656" y="9649673"/>
            <a:ext cx="104775" cy="2886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37"/>
              </a:lnSpc>
            </a:pPr>
            <a:r>
              <a:rPr lang="en-US" b="true" sz="1800" spc="-75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4</a:t>
            </a:r>
          </a:p>
        </p:txBody>
      </p:sp>
      <p:sp>
        <p:nvSpPr>
          <p:cNvPr name="TextBox 23" id="23" descr="$PPTXTitle"/>
          <p:cNvSpPr txBox="true"/>
          <p:nvPr/>
        </p:nvSpPr>
        <p:spPr>
          <a:xfrm rot="0">
            <a:off x="1074372" y="677913"/>
            <a:ext cx="1461403" cy="466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40"/>
              </a:lnSpc>
            </a:pPr>
            <a:r>
              <a:rPr lang="en-US" b="true" sz="2700" spc="-29">
                <a:solidFill>
                  <a:srgbClr val="17375E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HexTech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0400633" y="2020698"/>
            <a:ext cx="6858000" cy="381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40"/>
              </a:lnSpc>
            </a:pPr>
            <a:r>
              <a:rPr lang="en-US" sz="2200" b="true">
                <a:solidFill>
                  <a:srgbClr val="17375E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Phased Implementation &amp; Scalability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10400633" y="6738666"/>
            <a:ext cx="5943600" cy="381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40"/>
              </a:lnSpc>
            </a:pPr>
            <a:r>
              <a:rPr lang="en-US" sz="2200" b="true">
                <a:solidFill>
                  <a:srgbClr val="17375E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Our Goals for the Prototype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44752" y="1874519"/>
            <a:ext cx="73152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300" b="1" i="0">
                <a:solidFill>
                  <a:srgbClr val="1F3864"/>
                </a:solidFill>
                <a:latin typeface="Calibri"/>
              </a:rPr>
              <a:t>Feasibility (can we really do it?)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00200" y="2331720"/>
            <a:ext cx="8138160" cy="1920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92608" indent="-256032">
              <a:spcAft>
                <a:spcPts val="300"/>
              </a:spcAft>
              <a:buFont typeface="Arial"/>
              <a:buChar char="•"/>
            </a:pPr>
            <a:r>
              <a:rPr b="1" sz="1700">
                <a:solidFill>
                  <a:srgbClr val="1A1A1A"/>
                </a:solidFill>
                <a:latin typeface="Calibri"/>
              </a:rPr>
              <a:t>Technical - </a:t>
            </a:r>
            <a:r>
              <a:rPr sz="1700">
                <a:solidFill>
                  <a:srgbClr val="1A1A1A"/>
                </a:solidFill>
                <a:latin typeface="Calibri"/>
              </a:rPr>
              <a:t>built on our old project's tested code + OpenCV for colours.</a:t>
            </a:r>
          </a:p>
          <a:p>
            <a:pPr marL="292608" indent="-256032">
              <a:spcAft>
                <a:spcPts val="300"/>
              </a:spcAft>
              <a:buFont typeface="Arial"/>
              <a:buChar char="•"/>
            </a:pPr>
            <a:r>
              <a:rPr b="1" sz="1700">
                <a:solidFill>
                  <a:srgbClr val="1A1A1A"/>
                </a:solidFill>
                <a:latin typeface="Calibri"/>
              </a:rPr>
              <a:t>Easy to use - </a:t>
            </a:r>
            <a:r>
              <a:rPr sz="1700">
                <a:solidFill>
                  <a:srgbClr val="1A1A1A"/>
                </a:solidFill>
                <a:latin typeface="Calibri"/>
              </a:rPr>
              <a:t>one photo, result in seconds; card can be printed on the kit pouch.</a:t>
            </a:r>
          </a:p>
          <a:p>
            <a:pPr marL="292608" indent="-256032">
              <a:spcAft>
                <a:spcPts val="300"/>
              </a:spcAft>
              <a:buFont typeface="Arial"/>
              <a:buChar char="•"/>
            </a:pPr>
            <a:r>
              <a:rPr b="1" sz="1700">
                <a:solidFill>
                  <a:srgbClr val="1A1A1A"/>
                </a:solidFill>
                <a:latin typeface="Calibri"/>
              </a:rPr>
              <a:t>Low cost - </a:t>
            </a:r>
            <a:r>
              <a:rPr sz="1700">
                <a:solidFill>
                  <a:srgbClr val="1A1A1A"/>
                </a:solidFill>
                <a:latin typeface="Calibri"/>
              </a:rPr>
              <a:t>phone + ₹10 printed card + free software. No new machine.</a:t>
            </a:r>
          </a:p>
          <a:p>
            <a:pPr marL="292608" indent="-256032">
              <a:spcAft>
                <a:spcPts val="300"/>
              </a:spcAft>
              <a:buFont typeface="Arial"/>
              <a:buChar char="•"/>
            </a:pPr>
            <a:r>
              <a:rPr b="1" sz="1700">
                <a:solidFill>
                  <a:srgbClr val="1A1A1A"/>
                </a:solidFill>
                <a:latin typeface="Calibri"/>
              </a:rPr>
              <a:t>Data plan - </a:t>
            </a:r>
            <a:r>
              <a:rPr sz="1700">
                <a:solidFill>
                  <a:srgbClr val="1A1A1A"/>
                </a:solidFill>
                <a:latin typeface="Calibri"/>
              </a:rPr>
              <a:t>each kit calibrated with ~250 real photos (5 lights × 50) at an FSL.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0" y="7223760"/>
            <a:ext cx="7498079" cy="21945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92608" indent="-256032">
              <a:spcAft>
                <a:spcPts val="200"/>
              </a:spcAft>
              <a:buFont typeface="Arial"/>
              <a:buChar char="•"/>
            </a:pPr>
            <a:r>
              <a:rPr b="1" sz="1650">
                <a:solidFill>
                  <a:srgbClr val="1A1A1A"/>
                </a:solidFill>
                <a:latin typeface="Calibri"/>
              </a:rPr>
              <a:t>Accuracy: </a:t>
            </a:r>
            <a:r>
              <a:rPr sz="1650">
                <a:solidFill>
                  <a:srgbClr val="1A1A1A"/>
                </a:solidFill>
                <a:latin typeface="Calibri"/>
              </a:rPr>
              <a:t>90%+ correct on our demo colour samples in 4 types of light</a:t>
            </a:r>
          </a:p>
          <a:p>
            <a:pPr marL="292608" indent="-256032">
              <a:spcAft>
                <a:spcPts val="200"/>
              </a:spcAft>
              <a:buFont typeface="Arial"/>
              <a:buChar char="•"/>
            </a:pPr>
            <a:r>
              <a:rPr b="1" sz="1650">
                <a:solidFill>
                  <a:srgbClr val="1A1A1A"/>
                </a:solidFill>
                <a:latin typeface="Calibri"/>
              </a:rPr>
              <a:t>Speed: </a:t>
            </a:r>
            <a:r>
              <a:rPr sz="1650">
                <a:solidFill>
                  <a:srgbClr val="1A1A1A"/>
                </a:solidFill>
                <a:latin typeface="Calibri"/>
              </a:rPr>
              <a:t>result + sealed record in 10 seconds or less</a:t>
            </a:r>
          </a:p>
          <a:p>
            <a:pPr marL="292608" indent="-256032">
              <a:spcAft>
                <a:spcPts val="200"/>
              </a:spcAft>
              <a:buFont typeface="Arial"/>
              <a:buChar char="•"/>
            </a:pPr>
            <a:r>
              <a:rPr b="1" sz="1650">
                <a:solidFill>
                  <a:srgbClr val="1A1A1A"/>
                </a:solidFill>
                <a:latin typeface="Calibri"/>
              </a:rPr>
              <a:t>Tamper check: </a:t>
            </a:r>
            <a:r>
              <a:rPr sz="1650">
                <a:solidFill>
                  <a:srgbClr val="1A1A1A"/>
                </a:solidFill>
                <a:latin typeface="Calibri"/>
              </a:rPr>
              <a:t>change even 1 byte → check fails</a:t>
            </a:r>
          </a:p>
          <a:p>
            <a:pPr marL="292608" indent="-256032">
              <a:spcAft>
                <a:spcPts val="200"/>
              </a:spcAft>
              <a:buFont typeface="Arial"/>
              <a:buChar char="•"/>
            </a:pPr>
            <a:r>
              <a:rPr b="1" sz="1650">
                <a:solidFill>
                  <a:srgbClr val="1A1A1A"/>
                </a:solidFill>
                <a:latin typeface="Calibri"/>
              </a:rPr>
              <a:t>Honesty: </a:t>
            </a:r>
            <a:r>
              <a:rPr sz="1650">
                <a:solidFill>
                  <a:srgbClr val="1A1A1A"/>
                </a:solidFill>
                <a:latin typeface="Calibri"/>
              </a:rPr>
              <a:t>never guesses - unclear means NOT SURE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9564624"/>
            <a:ext cx="18280761" cy="715289"/>
            <a:chOff x="0" y="0"/>
            <a:chExt cx="24374348" cy="95371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74348" cy="953770"/>
            </a:xfrm>
            <a:custGeom>
              <a:avLst/>
              <a:gdLst/>
              <a:ahLst/>
              <a:cxnLst/>
              <a:rect r="r" b="b" t="t" l="l"/>
              <a:pathLst>
                <a:path h="953770" w="24374348">
                  <a:moveTo>
                    <a:pt x="0" y="0"/>
                  </a:moveTo>
                  <a:lnTo>
                    <a:pt x="24374348" y="0"/>
                  </a:lnTo>
                  <a:lnTo>
                    <a:pt x="24374348" y="953770"/>
                  </a:lnTo>
                  <a:lnTo>
                    <a:pt x="0" y="9537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-914" r="0" b="-909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9532620"/>
            <a:ext cx="18288000" cy="754380"/>
            <a:chOff x="0" y="0"/>
            <a:chExt cx="24384000" cy="100584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384000" cy="1005840"/>
            </a:xfrm>
            <a:custGeom>
              <a:avLst/>
              <a:gdLst/>
              <a:ahLst/>
              <a:cxnLst/>
              <a:rect r="r" b="b" t="t" l="l"/>
              <a:pathLst>
                <a:path h="1005840" w="24384000">
                  <a:moveTo>
                    <a:pt x="24384000" y="0"/>
                  </a:moveTo>
                  <a:lnTo>
                    <a:pt x="0" y="0"/>
                  </a:lnTo>
                  <a:lnTo>
                    <a:pt x="0" y="1005840"/>
                  </a:lnTo>
                  <a:lnTo>
                    <a:pt x="24384000" y="1005840"/>
                  </a:lnTo>
                  <a:lnTo>
                    <a:pt x="24384000" y="0"/>
                  </a:lnTo>
                  <a:close/>
                </a:path>
              </a:pathLst>
            </a:custGeom>
            <a:solidFill>
              <a:srgbClr val="006EC0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14714410" y="28727"/>
            <a:ext cx="3302698" cy="1538135"/>
            <a:chOff x="0" y="0"/>
            <a:chExt cx="4403598" cy="2050847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4403598" cy="2050796"/>
            </a:xfrm>
            <a:custGeom>
              <a:avLst/>
              <a:gdLst/>
              <a:ahLst/>
              <a:cxnLst/>
              <a:rect r="r" b="b" t="t" l="l"/>
              <a:pathLst>
                <a:path h="2050796" w="4403598">
                  <a:moveTo>
                    <a:pt x="0" y="0"/>
                  </a:moveTo>
                  <a:lnTo>
                    <a:pt x="4403598" y="0"/>
                  </a:lnTo>
                  <a:lnTo>
                    <a:pt x="4403598" y="2050796"/>
                  </a:lnTo>
                  <a:lnTo>
                    <a:pt x="0" y="205079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271" t="0" r="-271" b="-2"/>
              </a:stretch>
            </a:blipFill>
          </p:spPr>
        </p:sp>
      </p:grpSp>
      <p:sp>
        <p:nvSpPr>
          <p:cNvPr name="AutoShape 8" id="8"/>
          <p:cNvSpPr/>
          <p:nvPr/>
        </p:nvSpPr>
        <p:spPr>
          <a:xfrm>
            <a:off x="8184679" y="1720188"/>
            <a:ext cx="0" cy="7508284"/>
          </a:xfrm>
          <a:prstGeom prst="line">
            <a:avLst/>
          </a:prstGeom>
          <a:ln cap="flat" w="38100">
            <a:solidFill>
              <a:srgbClr val="D0D6E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9" id="9"/>
          <p:cNvSpPr/>
          <p:nvPr/>
        </p:nvSpPr>
        <p:spPr>
          <a:xfrm flipV="true">
            <a:off x="1873664" y="5393550"/>
            <a:ext cx="14492095" cy="0"/>
          </a:xfrm>
          <a:prstGeom prst="line">
            <a:avLst/>
          </a:prstGeom>
          <a:ln cap="flat" w="38100">
            <a:solidFill>
              <a:srgbClr val="D0D6E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10" id="10"/>
          <p:cNvSpPr/>
          <p:nvPr/>
        </p:nvSpPr>
        <p:spPr>
          <a:xfrm flipH="false" flipV="false" rot="0">
            <a:off x="391335" y="315011"/>
            <a:ext cx="2629852" cy="1249680"/>
          </a:xfrm>
          <a:custGeom>
            <a:avLst/>
            <a:gdLst/>
            <a:ahLst/>
            <a:cxnLst/>
            <a:rect r="r" b="b" t="t" l="l"/>
            <a:pathLst>
              <a:path h="1249680" w="2629852">
                <a:moveTo>
                  <a:pt x="0" y="0"/>
                </a:moveTo>
                <a:lnTo>
                  <a:pt x="2629852" y="0"/>
                </a:lnTo>
                <a:lnTo>
                  <a:pt x="2629852" y="1249680"/>
                </a:lnTo>
                <a:lnTo>
                  <a:pt x="0" y="124968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2" id="12" descr="$PPTXTitle"/>
          <p:cNvSpPr txBox="true"/>
          <p:nvPr/>
        </p:nvSpPr>
        <p:spPr>
          <a:xfrm rot="0">
            <a:off x="5177028" y="369313"/>
            <a:ext cx="7916228" cy="8769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480"/>
              </a:lnSpc>
            </a:pPr>
            <a:r>
              <a:rPr lang="en-US" b="true" sz="5400" spc="-15">
                <a:solidFill>
                  <a:srgbClr val="17375E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IMPACT AND BENEFITS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7664196" y="9626508"/>
            <a:ext cx="2995136" cy="30765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37"/>
              </a:lnSpc>
            </a:pPr>
            <a:r>
              <a:rPr lang="en-US" sz="1800" spc="-14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@SIH Idea submission- Template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7063656" y="9649673"/>
            <a:ext cx="104775" cy="2886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37"/>
              </a:lnSpc>
            </a:pPr>
            <a:r>
              <a:rPr lang="en-US" b="true" sz="1800" spc="-75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5</a:t>
            </a:r>
          </a:p>
        </p:txBody>
      </p:sp>
      <p:sp>
        <p:nvSpPr>
          <p:cNvPr name="TextBox 17" id="17" descr="$PPTXTitle"/>
          <p:cNvSpPr txBox="true"/>
          <p:nvPr/>
        </p:nvSpPr>
        <p:spPr>
          <a:xfrm rot="0">
            <a:off x="1074372" y="677913"/>
            <a:ext cx="1461403" cy="466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40"/>
              </a:lnSpc>
            </a:pPr>
            <a:r>
              <a:rPr lang="en-US" b="true" sz="2700" spc="-29">
                <a:solidFill>
                  <a:srgbClr val="17375E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HexTech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09928" y="1783080"/>
            <a:ext cx="59436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300" b="1" i="0">
                <a:solidFill>
                  <a:srgbClr val="1F3864"/>
                </a:solidFill>
                <a:latin typeface="Calibri"/>
              </a:rPr>
              <a:t>Benefits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2240280"/>
            <a:ext cx="6217920" cy="3108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92608" indent="-256032">
              <a:spcAft>
                <a:spcPts val="600"/>
              </a:spcAft>
              <a:buFont typeface="Arial"/>
              <a:buChar char="•"/>
            </a:pPr>
            <a:r>
              <a:rPr sz="1900">
                <a:solidFill>
                  <a:srgbClr val="1A1A1A"/>
                </a:solidFill>
                <a:latin typeface="Calibri"/>
              </a:rPr>
              <a:t>Same result, whoever does the test</a:t>
            </a:r>
          </a:p>
          <a:p>
            <a:pPr marL="292608" indent="-256032">
              <a:spcAft>
                <a:spcPts val="600"/>
              </a:spcAft>
              <a:buFont typeface="Arial"/>
              <a:buChar char="•"/>
            </a:pPr>
            <a:r>
              <a:rPr sz="1900">
                <a:solidFill>
                  <a:srgbClr val="1A1A1A"/>
                </a:solidFill>
                <a:latin typeface="Calibri"/>
              </a:rPr>
              <a:t>Proof for field tests in ~1.2 lakh NDPS cases a year (NCRB 2023)</a:t>
            </a:r>
          </a:p>
          <a:p>
            <a:pPr marL="292608" indent="-256032">
              <a:spcAft>
                <a:spcPts val="600"/>
              </a:spcAft>
              <a:buFont typeface="Arial"/>
              <a:buChar char="•"/>
            </a:pPr>
            <a:r>
              <a:rPr sz="1900">
                <a:solidFill>
                  <a:srgbClr val="1A1A1A"/>
                </a:solidFill>
                <a:latin typeface="Calibri"/>
              </a:rPr>
              <a:t>Fewer wrong cases - app says "not sure" instead of guessing</a:t>
            </a:r>
          </a:p>
          <a:p>
            <a:pPr marL="292608" indent="-256032">
              <a:spcAft>
                <a:spcPts val="600"/>
              </a:spcAft>
              <a:buFont typeface="Arial"/>
              <a:buChar char="•"/>
            </a:pPr>
            <a:r>
              <a:rPr sz="1900">
                <a:solidFill>
                  <a:srgbClr val="1A1A1A"/>
                </a:solidFill>
                <a:latin typeface="Calibri"/>
              </a:rPr>
              <a:t>No paperwork: PDF with QR, Excel, search and map</a:t>
            </a:r>
          </a:p>
          <a:p>
            <a:pPr marL="292608" indent="-256032">
              <a:spcAft>
                <a:spcPts val="600"/>
              </a:spcAft>
              <a:buFont typeface="Arial"/>
              <a:buChar char="•"/>
            </a:pPr>
            <a:r>
              <a:rPr sz="1900">
                <a:solidFill>
                  <a:srgbClr val="1A1A1A"/>
                </a:solidFill>
                <a:latin typeface="Calibri"/>
              </a:rPr>
              <a:t>Follows new laws: BNSS Sec 105 and BSA Sec 63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09928" y="5623560"/>
            <a:ext cx="59436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300" b="1" i="0">
                <a:solidFill>
                  <a:srgbClr val="1F3864"/>
                </a:solidFill>
                <a:latin typeface="Calibri"/>
              </a:rPr>
              <a:t>Expected Impact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6080760"/>
            <a:ext cx="6217920" cy="3108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92608" indent="-256032">
              <a:spcAft>
                <a:spcPts val="600"/>
              </a:spcAft>
              <a:buFont typeface="Arial"/>
              <a:buChar char="•"/>
            </a:pPr>
            <a:r>
              <a:rPr b="1" sz="1900">
                <a:solidFill>
                  <a:srgbClr val="1A1A1A"/>
                </a:solidFill>
                <a:latin typeface="Calibri"/>
              </a:rPr>
              <a:t>Field Officer - </a:t>
            </a:r>
            <a:r>
              <a:rPr sz="1900">
                <a:solidFill>
                  <a:srgbClr val="1A1A1A"/>
                </a:solidFill>
                <a:latin typeface="Calibri"/>
              </a:rPr>
              <a:t>quick and confident, no colour guessing</a:t>
            </a:r>
          </a:p>
          <a:p>
            <a:pPr marL="292608" indent="-256032">
              <a:spcAft>
                <a:spcPts val="600"/>
              </a:spcAft>
              <a:buFont typeface="Arial"/>
              <a:buChar char="•"/>
            </a:pPr>
            <a:r>
              <a:rPr b="1" sz="1900">
                <a:solidFill>
                  <a:srgbClr val="1A1A1A"/>
                </a:solidFill>
                <a:latin typeface="Calibri"/>
              </a:rPr>
              <a:t>NCB / Police - </a:t>
            </a:r>
            <a:r>
              <a:rPr sz="1900">
                <a:solidFill>
                  <a:srgbClr val="1A1A1A"/>
                </a:solidFill>
                <a:latin typeface="Calibri"/>
              </a:rPr>
              <a:t>every test saved, searchable, on a map</a:t>
            </a:r>
          </a:p>
          <a:p>
            <a:pPr marL="292608" indent="-256032">
              <a:spcAft>
                <a:spcPts val="600"/>
              </a:spcAft>
              <a:buFont typeface="Arial"/>
              <a:buChar char="•"/>
            </a:pPr>
            <a:r>
              <a:rPr b="1" sz="1900">
                <a:solidFill>
                  <a:srgbClr val="1A1A1A"/>
                </a:solidFill>
                <a:latin typeface="Calibri"/>
              </a:rPr>
              <a:t>Courts / Labs - </a:t>
            </a:r>
            <a:r>
              <a:rPr sz="1900">
                <a:solidFill>
                  <a:srgbClr val="1A1A1A"/>
                </a:solidFill>
                <a:latin typeface="Calibri"/>
              </a:rPr>
              <a:t>scan QR to check the record is real</a:t>
            </a:r>
          </a:p>
          <a:p>
            <a:pPr marL="292608" indent="-256032">
              <a:spcAft>
                <a:spcPts val="600"/>
              </a:spcAft>
              <a:buFont typeface="Arial"/>
              <a:buChar char="•"/>
            </a:pPr>
            <a:r>
              <a:rPr b="1" sz="1900">
                <a:solidFill>
                  <a:srgbClr val="1A1A1A"/>
                </a:solidFill>
                <a:latin typeface="Calibri"/>
              </a:rPr>
              <a:t>Common people - </a:t>
            </a:r>
            <a:r>
              <a:rPr sz="1900">
                <a:solidFill>
                  <a:srgbClr val="1A1A1A"/>
                </a:solidFill>
                <a:latin typeface="Calibri"/>
              </a:rPr>
              <a:t>less chance of wrong arrest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1292840" y="1828800"/>
            <a:ext cx="2194560" cy="566928"/>
          </a:xfrm>
          <a:prstGeom prst="roundRect">
            <a:avLst>
              <a:gd name="adj" fmla="val 12000"/>
            </a:avLst>
          </a:prstGeom>
          <a:solidFill>
            <a:srgbClr val="404040"/>
          </a:solidFill>
          <a:ln w="15875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Who Gets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Helped?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2390120" y="2395728"/>
            <a:ext cx="0" cy="301752"/>
          </a:xfrm>
          <a:prstGeom prst="line">
            <a:avLst/>
          </a:prstGeom>
          <a:ln w="22225">
            <a:solidFill>
              <a:srgbClr val="4040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9784080" y="2697480"/>
            <a:ext cx="5212079" cy="0"/>
          </a:xfrm>
          <a:prstGeom prst="line">
            <a:avLst/>
          </a:prstGeom>
          <a:ln w="22225">
            <a:solidFill>
              <a:srgbClr val="4040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9784080" y="2697480"/>
            <a:ext cx="0" cy="320040"/>
          </a:xfrm>
          <a:prstGeom prst="line">
            <a:avLst/>
          </a:prstGeom>
          <a:ln w="22225">
            <a:solidFill>
              <a:srgbClr val="4040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9006840" y="3017520"/>
            <a:ext cx="1554480" cy="411480"/>
          </a:xfrm>
          <a:prstGeom prst="roundRect">
            <a:avLst>
              <a:gd name="adj" fmla="val 12000"/>
            </a:avLst>
          </a:prstGeom>
          <a:solidFill>
            <a:srgbClr val="7F9A3C"/>
          </a:solidFill>
          <a:ln w="15875">
            <a:solidFill>
              <a:srgbClr val="7F9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FIELD OFFICERS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98280" y="3566160"/>
            <a:ext cx="1371600" cy="1097280"/>
          </a:xfrm>
          <a:prstGeom prst="roundRect">
            <a:avLst>
              <a:gd name="adj" fmla="val 12000"/>
            </a:avLst>
          </a:prstGeom>
          <a:solidFill>
            <a:srgbClr val="B6CF6B"/>
          </a:solidFill>
          <a:ln w="15875">
            <a:solidFill>
              <a:srgbClr val="B6CF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No colour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guessing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11521440" y="2697480"/>
            <a:ext cx="0" cy="320040"/>
          </a:xfrm>
          <a:prstGeom prst="line">
            <a:avLst/>
          </a:prstGeom>
          <a:ln w="22225">
            <a:solidFill>
              <a:srgbClr val="4040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10744200" y="3017520"/>
            <a:ext cx="1554480" cy="411480"/>
          </a:xfrm>
          <a:prstGeom prst="roundRect">
            <a:avLst>
              <a:gd name="adj" fmla="val 12000"/>
            </a:avLst>
          </a:prstGeom>
          <a:solidFill>
            <a:srgbClr val="8C6D3F"/>
          </a:solidFill>
          <a:ln w="15875">
            <a:solidFill>
              <a:srgbClr val="8C6D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NCB &amp; POLICE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835640" y="3566160"/>
            <a:ext cx="1371600" cy="1097280"/>
          </a:xfrm>
          <a:prstGeom prst="roundRect">
            <a:avLst>
              <a:gd name="adj" fmla="val 12000"/>
            </a:avLst>
          </a:prstGeom>
          <a:solidFill>
            <a:srgbClr val="D9A55B"/>
          </a:solidFill>
          <a:ln w="15875">
            <a:solidFill>
              <a:srgbClr val="D9A5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All tests in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one place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13258800" y="2697480"/>
            <a:ext cx="0" cy="320040"/>
          </a:xfrm>
          <a:prstGeom prst="line">
            <a:avLst/>
          </a:prstGeom>
          <a:ln w="22225">
            <a:solidFill>
              <a:srgbClr val="4040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12481560" y="3017520"/>
            <a:ext cx="1554480" cy="411480"/>
          </a:xfrm>
          <a:prstGeom prst="roundRect">
            <a:avLst>
              <a:gd name="adj" fmla="val 12000"/>
            </a:avLst>
          </a:prstGeom>
          <a:solidFill>
            <a:srgbClr val="B5475A"/>
          </a:solidFill>
          <a:ln w="15875">
            <a:solidFill>
              <a:srgbClr val="B547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COURTS &amp; LABS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2573000" y="3566160"/>
            <a:ext cx="1371600" cy="1097280"/>
          </a:xfrm>
          <a:prstGeom prst="roundRect">
            <a:avLst>
              <a:gd name="adj" fmla="val 12000"/>
            </a:avLst>
          </a:prstGeom>
          <a:solidFill>
            <a:srgbClr val="DA6A7C"/>
          </a:solidFill>
          <a:ln w="15875">
            <a:solidFill>
              <a:srgbClr val="DA6A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Easy to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verify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14996160" y="2697480"/>
            <a:ext cx="0" cy="320040"/>
          </a:xfrm>
          <a:prstGeom prst="line">
            <a:avLst/>
          </a:prstGeom>
          <a:ln w="22225">
            <a:solidFill>
              <a:srgbClr val="4040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14218920" y="3017520"/>
            <a:ext cx="1554480" cy="411480"/>
          </a:xfrm>
          <a:prstGeom prst="roundRect">
            <a:avLst>
              <a:gd name="adj" fmla="val 12000"/>
            </a:avLst>
          </a:prstGeom>
          <a:solidFill>
            <a:srgbClr val="4C4C9D"/>
          </a:solidFill>
          <a:ln w="15875">
            <a:solidFill>
              <a:srgbClr val="4C4C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CITIZENS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4310360" y="3566160"/>
            <a:ext cx="1371600" cy="1097280"/>
          </a:xfrm>
          <a:prstGeom prst="roundRect">
            <a:avLst>
              <a:gd name="adj" fmla="val 12000"/>
            </a:avLst>
          </a:prstGeom>
          <a:solidFill>
            <a:srgbClr val="6D6DD6"/>
          </a:solidFill>
          <a:ln w="15875">
            <a:solidFill>
              <a:srgbClr val="6D6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Fewer wrong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arrests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97112" y="5669280"/>
            <a:ext cx="64008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300" b="1" i="0">
                <a:solidFill>
                  <a:srgbClr val="1F3864"/>
                </a:solidFill>
                <a:latin typeface="Calibri"/>
              </a:rPr>
              <a:t>Future Scope (next steps)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52560" y="6126480"/>
            <a:ext cx="8503920" cy="3200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92608" indent="-256032">
              <a:spcAft>
                <a:spcPts val="400"/>
              </a:spcAft>
              <a:buFont typeface="Arial"/>
              <a:buChar char="•"/>
            </a:pPr>
            <a:r>
              <a:rPr b="1" sz="1800">
                <a:solidFill>
                  <a:srgbClr val="1A1A1A"/>
                </a:solidFill>
                <a:latin typeface="Calibri"/>
              </a:rPr>
              <a:t>Works offline - </a:t>
            </a:r>
            <a:r>
              <a:rPr sz="1800">
                <a:solidFill>
                  <a:srgbClr val="1A1A1A"/>
                </a:solidFill>
                <a:latin typeface="Calibri"/>
              </a:rPr>
              <a:t>at highways / borders, sends data later</a:t>
            </a:r>
          </a:p>
          <a:p>
            <a:pPr marL="292608" indent="-256032">
              <a:spcAft>
                <a:spcPts val="400"/>
              </a:spcAft>
              <a:buFont typeface="Arial"/>
              <a:buChar char="•"/>
            </a:pPr>
            <a:r>
              <a:rPr b="1" sz="1800">
                <a:solidFill>
                  <a:srgbClr val="1A1A1A"/>
                </a:solidFill>
                <a:latin typeface="Calibri"/>
              </a:rPr>
              <a:t>Phone security chip - </a:t>
            </a:r>
            <a:r>
              <a:rPr sz="1800">
                <a:solidFill>
                  <a:srgbClr val="1A1A1A"/>
                </a:solidFill>
                <a:latin typeface="Calibri"/>
              </a:rPr>
              <a:t>phone also signs every test</a:t>
            </a:r>
          </a:p>
          <a:p>
            <a:pPr marL="292608" indent="-256032">
              <a:spcAft>
                <a:spcPts val="400"/>
              </a:spcAft>
              <a:buFont typeface="Arial"/>
              <a:buChar char="•"/>
            </a:pPr>
            <a:r>
              <a:rPr b="1" sz="1800">
                <a:solidFill>
                  <a:srgbClr val="1A1A1A"/>
                </a:solidFill>
                <a:latin typeface="Calibri"/>
              </a:rPr>
              <a:t>Link with police systems - </a:t>
            </a:r>
            <a:r>
              <a:rPr sz="1800">
                <a:solidFill>
                  <a:srgbClr val="1A1A1A"/>
                </a:solidFill>
                <a:latin typeface="Calibri"/>
              </a:rPr>
              <a:t>e-Sakshya and CCTNS</a:t>
            </a:r>
          </a:p>
          <a:p>
            <a:pPr marL="292608" indent="-256032">
              <a:spcAft>
                <a:spcPts val="400"/>
              </a:spcAft>
              <a:buFont typeface="Arial"/>
              <a:buChar char="•"/>
            </a:pPr>
            <a:r>
              <a:rPr b="1" sz="1800">
                <a:solidFill>
                  <a:srgbClr val="1A1A1A"/>
                </a:solidFill>
                <a:latin typeface="Calibri"/>
              </a:rPr>
              <a:t>Match with lab results - </a:t>
            </a:r>
            <a:r>
              <a:rPr sz="1800">
                <a:solidFill>
                  <a:srgbClr val="1A1A1A"/>
                </a:solidFill>
                <a:latin typeface="Calibri"/>
              </a:rPr>
              <a:t>find which kits are most accurate</a:t>
            </a:r>
          </a:p>
          <a:p>
            <a:pPr marL="292608" indent="-256032">
              <a:spcAft>
                <a:spcPts val="400"/>
              </a:spcAft>
              <a:buFont typeface="Arial"/>
              <a:buChar char="•"/>
            </a:pPr>
            <a:r>
              <a:rPr b="1" sz="1800">
                <a:solidFill>
                  <a:srgbClr val="1A1A1A"/>
                </a:solidFill>
                <a:latin typeface="Calibri"/>
              </a:rPr>
              <a:t>Hindi + regional languages - </a:t>
            </a:r>
            <a:r>
              <a:rPr sz="1800">
                <a:solidFill>
                  <a:srgbClr val="1A1A1A"/>
                </a:solidFill>
                <a:latin typeface="Calibri"/>
              </a:rPr>
              <a:t>with voice help</a:t>
            </a:r>
          </a:p>
          <a:p>
            <a:pPr marL="292608" indent="-256032">
              <a:spcAft>
                <a:spcPts val="400"/>
              </a:spcAft>
              <a:buFont typeface="Arial"/>
              <a:buChar char="•"/>
            </a:pPr>
            <a:r>
              <a:rPr b="1" sz="1800">
                <a:solidFill>
                  <a:srgbClr val="1A1A1A"/>
                </a:solidFill>
                <a:latin typeface="Calibri"/>
              </a:rPr>
              <a:t>Card on the kit pouch - </a:t>
            </a:r>
            <a:r>
              <a:rPr sz="1800">
                <a:solidFill>
                  <a:srgbClr val="1A1A1A"/>
                </a:solidFill>
                <a:latin typeface="Calibri"/>
              </a:rPr>
              <a:t>no loose card to carry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9564624"/>
            <a:ext cx="18280761" cy="715289"/>
            <a:chOff x="0" y="0"/>
            <a:chExt cx="24374348" cy="95371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74348" cy="953770"/>
            </a:xfrm>
            <a:custGeom>
              <a:avLst/>
              <a:gdLst/>
              <a:ahLst/>
              <a:cxnLst/>
              <a:rect r="r" b="b" t="t" l="l"/>
              <a:pathLst>
                <a:path h="953770" w="24374348">
                  <a:moveTo>
                    <a:pt x="0" y="0"/>
                  </a:moveTo>
                  <a:lnTo>
                    <a:pt x="24374348" y="0"/>
                  </a:lnTo>
                  <a:lnTo>
                    <a:pt x="24374348" y="953770"/>
                  </a:lnTo>
                  <a:lnTo>
                    <a:pt x="0" y="9537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-914" r="0" b="-909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9532620"/>
            <a:ext cx="18288000" cy="754380"/>
            <a:chOff x="0" y="0"/>
            <a:chExt cx="24384000" cy="100584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384000" cy="1005840"/>
            </a:xfrm>
            <a:custGeom>
              <a:avLst/>
              <a:gdLst/>
              <a:ahLst/>
              <a:cxnLst/>
              <a:rect r="r" b="b" t="t" l="l"/>
              <a:pathLst>
                <a:path h="1005840" w="24384000">
                  <a:moveTo>
                    <a:pt x="24384000" y="0"/>
                  </a:moveTo>
                  <a:lnTo>
                    <a:pt x="0" y="0"/>
                  </a:lnTo>
                  <a:lnTo>
                    <a:pt x="0" y="1005840"/>
                  </a:lnTo>
                  <a:lnTo>
                    <a:pt x="24384000" y="1005840"/>
                  </a:lnTo>
                  <a:lnTo>
                    <a:pt x="24384000" y="0"/>
                  </a:lnTo>
                  <a:close/>
                </a:path>
              </a:pathLst>
            </a:custGeom>
            <a:solidFill>
              <a:srgbClr val="006EC0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14712124" y="30937"/>
            <a:ext cx="3304794" cy="1535925"/>
            <a:chOff x="0" y="0"/>
            <a:chExt cx="4406392" cy="20479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4406392" cy="2047875"/>
            </a:xfrm>
            <a:custGeom>
              <a:avLst/>
              <a:gdLst/>
              <a:ahLst/>
              <a:cxnLst/>
              <a:rect r="r" b="b" t="t" l="l"/>
              <a:pathLst>
                <a:path h="2047875" w="4406392">
                  <a:moveTo>
                    <a:pt x="0" y="0"/>
                  </a:moveTo>
                  <a:lnTo>
                    <a:pt x="4406392" y="0"/>
                  </a:lnTo>
                  <a:lnTo>
                    <a:pt x="4406392" y="2047875"/>
                  </a:lnTo>
                  <a:lnTo>
                    <a:pt x="0" y="204787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67" t="0" r="-167" b="-1"/>
              </a:stretch>
            </a:blipFill>
          </p:spPr>
        </p:sp>
      </p:grpSp>
      <p:sp>
        <p:nvSpPr>
          <p:cNvPr name="Freeform 8" id="8"/>
          <p:cNvSpPr/>
          <p:nvPr/>
        </p:nvSpPr>
        <p:spPr>
          <a:xfrm flipH="false" flipV="false" rot="0">
            <a:off x="391335" y="315011"/>
            <a:ext cx="2629852" cy="1249680"/>
          </a:xfrm>
          <a:custGeom>
            <a:avLst/>
            <a:gdLst/>
            <a:ahLst/>
            <a:cxnLst/>
            <a:rect r="r" b="b" t="t" l="l"/>
            <a:pathLst>
              <a:path h="1249680" w="2629852">
                <a:moveTo>
                  <a:pt x="0" y="0"/>
                </a:moveTo>
                <a:lnTo>
                  <a:pt x="2629852" y="0"/>
                </a:lnTo>
                <a:lnTo>
                  <a:pt x="2629852" y="1249680"/>
                </a:lnTo>
                <a:lnTo>
                  <a:pt x="0" y="124968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0" id="10" descr="$PPTXTitle"/>
          <p:cNvSpPr txBox="true"/>
          <p:nvPr/>
        </p:nvSpPr>
        <p:spPr>
          <a:xfrm rot="0">
            <a:off x="3644188" y="489837"/>
            <a:ext cx="10421112" cy="8769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480"/>
              </a:lnSpc>
            </a:pPr>
            <a:r>
              <a:rPr lang="en-US" sz="5400" b="true">
                <a:solidFill>
                  <a:srgbClr val="17375E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RESEARCH AND REFERENCES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7664196" y="9626508"/>
            <a:ext cx="2995136" cy="30765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37"/>
              </a:lnSpc>
            </a:pPr>
            <a:r>
              <a:rPr lang="en-US" sz="1800" spc="-14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@SIH Idea submission- Template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7063656" y="9649673"/>
            <a:ext cx="104775" cy="2886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37"/>
              </a:lnSpc>
            </a:pPr>
            <a:r>
              <a:rPr lang="en-US" b="true" sz="1800" spc="-75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6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8412480" y="8183879"/>
            <a:ext cx="8229600" cy="381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655"/>
              </a:lnSpc>
            </a:pPr>
            <a:r>
              <a:rPr lang="en-US" sz="2212" spc="-11" b="true">
                <a:solidFill>
                  <a:srgbClr val="17375E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Take photo → Fix colour → Get result → Keep proof</a:t>
            </a:r>
          </a:p>
        </p:txBody>
      </p:sp>
      <p:sp>
        <p:nvSpPr>
          <p:cNvPr name="TextBox 14" id="14" descr="$PPTXTitle"/>
          <p:cNvSpPr txBox="true"/>
          <p:nvPr/>
        </p:nvSpPr>
        <p:spPr>
          <a:xfrm rot="0">
            <a:off x="1074372" y="677913"/>
            <a:ext cx="1461403" cy="466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40"/>
              </a:lnSpc>
            </a:pPr>
            <a:r>
              <a:rPr lang="en-US" b="true" sz="2700" spc="-29">
                <a:solidFill>
                  <a:srgbClr val="17375E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HexTech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914400" y="8183879"/>
            <a:ext cx="3931920" cy="390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60"/>
              </a:lnSpc>
              <a:spcBef>
                <a:spcPct val="0"/>
              </a:spcBef>
            </a:pPr>
            <a:r>
              <a:rPr lang="en-US" b="true" sz="2300" spc="-25">
                <a:solidFill>
                  <a:srgbClr val="17375E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</a:t>
            </a:r>
            <a:r>
              <a:rPr lang="en-US" b="true" sz="2300" spc="-25">
                <a:solidFill>
                  <a:srgbClr val="17375E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rototype Demo Video:</a:t>
            </a:r>
          </a:p>
        </p:txBody>
      </p:sp>
      <p:sp>
        <p:nvSpPr>
          <p:cNvPr name="TextBox 16" id="16">
            <a:hlinkClick r:id="rId9"/>
          </p:cNvPr>
          <p:cNvSpPr txBox="true"/>
          <p:nvPr/>
        </p:nvSpPr>
        <p:spPr>
          <a:xfrm rot="0">
            <a:off x="4754880" y="8183879"/>
            <a:ext cx="3200400" cy="3619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20"/>
              </a:lnSpc>
            </a:pPr>
            <a:r>
              <a:rPr lang="en-US" sz="2100" spc="-23" u="sng">
                <a:solidFill>
                  <a:srgbClr val="006EC0"/>
                </a:solidFill>
                <a:latin typeface="Calibri (MS)"/>
                <a:ea typeface="Calibri (MS)"/>
                <a:cs typeface="Calibri (MS)"/>
                <a:sym typeface="Calibri (MS)"/>
                <a:hlinkClick r:id="rId9" tooltip="https://youtu.be/mnKpSr1TcaA?si=O-i5wA8bHeqz7oGt"/>
              </a:rPr>
              <a:t>Prototype Video Link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777240" y="1783080"/>
          <a:ext cx="11384280" cy="5833872"/>
        </p:xfrm>
        <a:graphic>
          <a:graphicData uri="http://schemas.openxmlformats.org/drawingml/2006/table">
            <a:tbl>
              <a:tblPr firstRow="1">
                <a:tableStyleId>{5940675A-B579-460E-94D1-54222C63F5DA}</a:tableStyleId>
              </a:tblPr>
              <a:tblGrid>
                <a:gridCol w="411480"/>
                <a:gridCol w="4983480"/>
                <a:gridCol w="3154680"/>
                <a:gridCol w="2834640"/>
              </a:tblGrid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3864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anchor="ctr" marL="64008" marR="64008" marT="27432" marB="27432">
                    <a:solidFill>
                      <a:srgbClr val="CFD5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F3864"/>
                          </a:solidFill>
                          <a:latin typeface="Calibri"/>
                        </a:rPr>
                        <a:t>Research (click the title to open)</a:t>
                      </a:r>
                    </a:p>
                  </a:txBody>
                  <a:tcPr anchor="ctr" marL="64008" marR="64008" marT="27432" marB="27432">
                    <a:solidFill>
                      <a:srgbClr val="CFD5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F3864"/>
                          </a:solidFill>
                          <a:latin typeface="Calibri"/>
                        </a:rPr>
                        <a:t>What they found</a:t>
                      </a:r>
                    </a:p>
                  </a:txBody>
                  <a:tcPr anchor="ctr" marL="64008" marR="64008" marT="27432" marB="27432">
                    <a:solidFill>
                      <a:srgbClr val="CFD5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F3864"/>
                          </a:solidFill>
                          <a:latin typeface="Calibri"/>
                        </a:rPr>
                        <a:t>How we use it</a:t>
                      </a:r>
                    </a:p>
                  </a:txBody>
                  <a:tcPr anchor="ctr" marL="64008" marR="64008" marT="27432" marB="27432">
                    <a:solidFill>
                      <a:srgbClr val="CFD5EA"/>
                    </a:solidFill>
                  </a:tcPr>
                </a:tc>
              </a:tr>
              <a:tr h="768096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1F3864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00629B"/>
                          </a:solidFill>
                          <a:latin typeface="Calibri"/>
                        </a:rPr>
                        <a:t>IEEE EMBC 2016</a:t>
                      </a:r>
                    </a:p>
                    <a:p>
                      <a:pPr algn="l"/>
                      <a:r>
                        <a:rPr sz="1200" b="0" u="sng">
                          <a:solidFill>
                            <a:srgbClr val="0563C1"/>
                          </a:solidFill>
                          <a:latin typeface="Calibri"/>
                          <a:hlinkClick r:id="rId12"/>
                        </a:rPr>
                        <a:t>Illumination and device independence for colorimetric detection with smartphone (Karisen &amp; Dong)</a:t>
                      </a:r>
                    </a:p>
                  </a:txBody>
                  <a:tcPr anchor="ctr"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Phone camera colours change with light and phone model; a reference fixes this</a:t>
                      </a:r>
                    </a:p>
                  </a:txBody>
                  <a:tcPr anchor="ctr"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2E5E2E"/>
                          </a:solidFill>
                          <a:latin typeface="Calibri"/>
                        </a:rPr>
                        <a:t>Our ₹10 colour card fixes colours in every photo</a:t>
                      </a:r>
                    </a:p>
                  </a:txBody>
                  <a:tcPr anchor="ctr" marL="64008" marR="64008" marT="27432" marB="27432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1F3864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64008" marR="64008" marT="27432" marB="27432">
                    <a:solidFill>
                      <a:srgbClr val="F4F6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00629B"/>
                          </a:solidFill>
                          <a:latin typeface="Calibri"/>
                        </a:rPr>
                        <a:t>IEEE TPS-ISA 2024</a:t>
                      </a:r>
                    </a:p>
                    <a:p>
                      <a:pPr algn="l"/>
                      <a:r>
                        <a:rPr sz="1200" b="0" u="sng">
                          <a:solidFill>
                            <a:srgbClr val="0563C1"/>
                          </a:solidFill>
                          <a:latin typeface="Calibri"/>
                          <a:hlinkClick r:id="rId13"/>
                        </a:rPr>
                        <a:t>Digital Evidence Chain of Custody: Navigating New Realities of Digital Forensics (Nath et al.)</a:t>
                      </a:r>
                    </a:p>
                  </a:txBody>
                  <a:tcPr anchor="ctr" marL="64008" marR="64008" marT="27432" marB="27432">
                    <a:solidFill>
                      <a:srgbClr val="F4F6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Digital evidence must prove it was never changed, and who handled it</a:t>
                      </a:r>
                    </a:p>
                  </a:txBody>
                  <a:tcPr anchor="ctr" marL="64008" marR="64008" marT="27432" marB="27432">
                    <a:solidFill>
                      <a:srgbClr val="F4F6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2E5E2E"/>
                          </a:solidFill>
                          <a:latin typeface="Calibri"/>
                        </a:rPr>
                        <a:t>Photo fingerprint + signature + chained log</a:t>
                      </a:r>
                    </a:p>
                  </a:txBody>
                  <a:tcPr anchor="ctr" marL="64008" marR="64008" marT="27432" marB="27432">
                    <a:solidFill>
                      <a:srgbClr val="F4F6FB"/>
                    </a:solidFill>
                  </a:tcPr>
                </a:tc>
              </a:tr>
              <a:tr h="768096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1F3864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F3864"/>
                          </a:solidFill>
                          <a:latin typeface="Calibri"/>
                        </a:rPr>
                        <a:t>Forensic Science International 2014</a:t>
                      </a:r>
                    </a:p>
                    <a:p>
                      <a:pPr algn="l"/>
                      <a:r>
                        <a:rPr sz="1200" b="0" u="sng">
                          <a:solidFill>
                            <a:srgbClr val="0563C1"/>
                          </a:solidFill>
                          <a:latin typeface="Calibri"/>
                          <a:hlinkClick r:id="rId14"/>
                        </a:rPr>
                        <a:t>Real-time quantitative colourimetric test for methamphetamine using mobile phone technology (Choodum et al.)</a:t>
                      </a:r>
                    </a:p>
                  </a:txBody>
                  <a:tcPr anchor="ctr"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A phone camera can measure drug-test colours as numbers</a:t>
                      </a:r>
                    </a:p>
                  </a:txBody>
                  <a:tcPr anchor="ctr"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2E5E2E"/>
                          </a:solidFill>
                          <a:latin typeface="Calibri"/>
                        </a:rPr>
                        <a:t>Our app reads the test colour as a number</a:t>
                      </a:r>
                    </a:p>
                  </a:txBody>
                  <a:tcPr anchor="ctr" marL="64008" marR="64008" marT="27432" marB="27432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1F3864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64008" marR="64008" marT="27432" marB="27432">
                    <a:solidFill>
                      <a:srgbClr val="F4F6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F3864"/>
                          </a:solidFill>
                          <a:latin typeface="Calibri"/>
                        </a:rPr>
                        <a:t>Analytical Chemistry 2016</a:t>
                      </a:r>
                    </a:p>
                    <a:p>
                      <a:pPr algn="l"/>
                      <a:r>
                        <a:rPr sz="1200" b="0" u="sng">
                          <a:solidFill>
                            <a:srgbClr val="0563C1"/>
                          </a:solidFill>
                          <a:latin typeface="Calibri"/>
                          <a:hlinkClick r:id="rId15"/>
                        </a:rPr>
                        <a:t>Objective presumptive field-testing of illicit drugs using smartphone analysis (Krauss et al.)</a:t>
                      </a:r>
                    </a:p>
                  </a:txBody>
                  <a:tcPr anchor="ctr" marL="64008" marR="64008" marT="27432" marB="27432">
                    <a:solidFill>
                      <a:srgbClr val="F4F6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Reading test colours by eye is a personal guess</a:t>
                      </a:r>
                    </a:p>
                  </a:txBody>
                  <a:tcPr anchor="ctr" marL="64008" marR="64008" marT="27432" marB="27432">
                    <a:solidFill>
                      <a:srgbClr val="F4F6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2E5E2E"/>
                          </a:solidFill>
                          <a:latin typeface="Calibri"/>
                        </a:rPr>
                        <a:t>App gives POSITIVE / NEGATIVE / NOT SURE</a:t>
                      </a:r>
                    </a:p>
                  </a:txBody>
                  <a:tcPr anchor="ctr" marL="64008" marR="64008" marT="27432" marB="27432">
                    <a:solidFill>
                      <a:srgbClr val="F4F6FB"/>
                    </a:solidFill>
                  </a:tcPr>
                </a:tc>
              </a:tr>
              <a:tr h="768096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1F3864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F3864"/>
                          </a:solidFill>
                          <a:latin typeface="Calibri"/>
                        </a:rPr>
                        <a:t>Digital Discovery 2023</a:t>
                      </a:r>
                    </a:p>
                    <a:p>
                      <a:pPr algn="l"/>
                      <a:r>
                        <a:rPr sz="1200" b="0" u="sng">
                          <a:solidFill>
                            <a:srgbClr val="0563C1"/>
                          </a:solidFill>
                          <a:latin typeface="Calibri"/>
                          <a:hlinkClick r:id="rId16"/>
                        </a:rPr>
                        <a:t>Teaching old presumptive tests new digital tricks with computer vision</a:t>
                      </a:r>
                    </a:p>
                  </a:txBody>
                  <a:tcPr anchor="ctr"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Different people describe the same colour differently</a:t>
                      </a:r>
                    </a:p>
                  </a:txBody>
                  <a:tcPr anchor="ctr"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2E5E2E"/>
                          </a:solidFill>
                          <a:latin typeface="Calibri"/>
                        </a:rPr>
                        <a:t>App shows photo colour next to kit colours</a:t>
                      </a:r>
                    </a:p>
                  </a:txBody>
                  <a:tcPr anchor="ctr" marL="64008" marR="64008" marT="27432" marB="27432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1F3864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 marL="64008" marR="64008" marT="27432" marB="27432">
                    <a:solidFill>
                      <a:srgbClr val="F4F6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F3864"/>
                          </a:solidFill>
                          <a:latin typeface="Calibri"/>
                        </a:rPr>
                        <a:t>Analytical &amp; Bioanalytical Chemistry 2025</a:t>
                      </a:r>
                    </a:p>
                    <a:p>
                      <a:pPr algn="l"/>
                      <a:r>
                        <a:rPr sz="1200" b="0" u="sng">
                          <a:solidFill>
                            <a:srgbClr val="0563C1"/>
                          </a:solidFill>
                          <a:latin typeface="Calibri"/>
                          <a:hlinkClick r:id="rId17"/>
                        </a:rPr>
                        <a:t>RGB colour correction and gamut limitations in smartphone-based analysis (Fyfe et al.)</a:t>
                      </a:r>
                    </a:p>
                  </a:txBody>
                  <a:tcPr anchor="ctr" marL="64008" marR="64008" marT="27432" marB="27432">
                    <a:solidFill>
                      <a:srgbClr val="F4F6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Light and camera angle change colours; colour correction fixes most of it</a:t>
                      </a:r>
                    </a:p>
                  </a:txBody>
                  <a:tcPr anchor="ctr" marL="64008" marR="64008" marT="27432" marB="27432">
                    <a:solidFill>
                      <a:srgbClr val="F4F6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2E5E2E"/>
                          </a:solidFill>
                          <a:latin typeface="Calibri"/>
                        </a:rPr>
                        <a:t>Colour fixing + NOT SURE if fixing fails</a:t>
                      </a:r>
                    </a:p>
                  </a:txBody>
                  <a:tcPr anchor="ctr" marL="64008" marR="64008" marT="27432" marB="27432">
                    <a:solidFill>
                      <a:srgbClr val="F4F6FB"/>
                    </a:solidFill>
                  </a:tcPr>
                </a:tc>
              </a:tr>
              <a:tr h="768096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1F3864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anchor="ctr"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F3864"/>
                          </a:solidFill>
                          <a:latin typeface="Calibri"/>
                        </a:rPr>
                        <a:t>Forensic Science International 2005</a:t>
                      </a:r>
                    </a:p>
                    <a:p>
                      <a:pPr algn="l"/>
                      <a:r>
                        <a:rPr sz="1200" b="0" u="sng">
                          <a:solidFill>
                            <a:srgbClr val="0563C1"/>
                          </a:solidFill>
                          <a:latin typeface="Calibri"/>
                          <a:hlinkClick r:id="rId18"/>
                        </a:rPr>
                        <a:t>False positives and false negatives with a cocaine-specific field test (Tsumura et al.)</a:t>
                      </a:r>
                    </a:p>
                  </a:txBody>
                  <a:tcPr anchor="ctr"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Field colour tests can give wrong results</a:t>
                      </a:r>
                    </a:p>
                  </a:txBody>
                  <a:tcPr anchor="ctr"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2E5E2E"/>
                          </a:solidFill>
                          <a:latin typeface="Calibri"/>
                        </a:rPr>
                        <a:t>App says NOT SURE; final answer from the lab</a:t>
                      </a:r>
                    </a:p>
                  </a:txBody>
                  <a:tcPr anchor="ctr" marL="64008" marR="64008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Rectangle 17">
            <a:hlinkClick r:id="rId12"/>
          </p:cNvPr>
          <p:cNvSpPr/>
          <p:nvPr/>
        </p:nvSpPr>
        <p:spPr>
          <a:xfrm>
            <a:off x="1188720" y="2240280"/>
            <a:ext cx="4983480" cy="7680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>
            <a:hlinkClick r:id="rId13"/>
          </p:cNvPr>
          <p:cNvSpPr/>
          <p:nvPr/>
        </p:nvSpPr>
        <p:spPr>
          <a:xfrm>
            <a:off x="1188720" y="3008376"/>
            <a:ext cx="4983480" cy="7680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>
            <a:hlinkClick r:id="rId14"/>
          </p:cNvPr>
          <p:cNvSpPr/>
          <p:nvPr/>
        </p:nvSpPr>
        <p:spPr>
          <a:xfrm>
            <a:off x="1188720" y="3776472"/>
            <a:ext cx="4983480" cy="7680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>
            <a:hlinkClick r:id="rId15"/>
          </p:cNvPr>
          <p:cNvSpPr/>
          <p:nvPr/>
        </p:nvSpPr>
        <p:spPr>
          <a:xfrm>
            <a:off x="1188720" y="4544568"/>
            <a:ext cx="4983480" cy="7680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>
            <a:hlinkClick r:id="rId16"/>
          </p:cNvPr>
          <p:cNvSpPr/>
          <p:nvPr/>
        </p:nvSpPr>
        <p:spPr>
          <a:xfrm>
            <a:off x="1188720" y="5312664"/>
            <a:ext cx="4983480" cy="7680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>
            <a:hlinkClick r:id="rId17"/>
          </p:cNvPr>
          <p:cNvSpPr/>
          <p:nvPr/>
        </p:nvSpPr>
        <p:spPr>
          <a:xfrm>
            <a:off x="1188720" y="6080760"/>
            <a:ext cx="4983480" cy="7680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>
            <a:hlinkClick r:id="rId18"/>
          </p:cNvPr>
          <p:cNvSpPr/>
          <p:nvPr/>
        </p:nvSpPr>
        <p:spPr>
          <a:xfrm>
            <a:off x="1188720" y="6848856"/>
            <a:ext cx="4983480" cy="7680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7708392"/>
            <a:ext cx="155448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1" i="0">
                <a:solidFill>
                  <a:srgbClr val="1F3864"/>
                </a:solidFill>
                <a:latin typeface="Calibri"/>
              </a:rPr>
              <a:t>Official sources:</a:t>
            </a:r>
          </a:p>
        </p:txBody>
      </p:sp>
      <p:sp>
        <p:nvSpPr>
          <p:cNvPr id="26" name="TextBox 25">
            <a:hlinkClick r:id="rId19"/>
          </p:cNvPr>
          <p:cNvSpPr txBox="1"/>
          <p:nvPr/>
        </p:nvSpPr>
        <p:spPr>
          <a:xfrm>
            <a:off x="2331720" y="7708392"/>
            <a:ext cx="2459736" cy="365760"/>
          </a:xfrm>
          <a:prstGeom prst="rect">
            <a:avLst/>
          </a:prstGeom>
          <a:noFill/>
        </p:spPr>
        <p:txBody>
          <a:bodyPr wrap="none" lIns="18288" rIns="18288">
            <a:spAutoFit/>
          </a:bodyPr>
          <a:lstStyle/>
          <a:p>
            <a:r>
              <a:rPr sz="1300" u="sng">
                <a:solidFill>
                  <a:srgbClr val="0563C1"/>
                </a:solidFill>
                <a:latin typeface="Calibri"/>
                <a:hlinkClick r:id="rId19"/>
              </a:rPr>
              <a:t>NDPS Act &amp; Sampling Rules 2022</a:t>
            </a:r>
          </a:p>
        </p:txBody>
      </p:sp>
      <p:sp>
        <p:nvSpPr>
          <p:cNvPr id="27" name="TextBox 26">
            <a:hlinkClick r:id="rId20"/>
          </p:cNvPr>
          <p:cNvSpPr txBox="1"/>
          <p:nvPr/>
        </p:nvSpPr>
        <p:spPr>
          <a:xfrm>
            <a:off x="5020056" y="7708392"/>
            <a:ext cx="2307945" cy="365760"/>
          </a:xfrm>
          <a:prstGeom prst="rect">
            <a:avLst/>
          </a:prstGeom>
          <a:noFill/>
        </p:spPr>
        <p:txBody>
          <a:bodyPr wrap="none" lIns="18288" rIns="18288">
            <a:spAutoFit/>
          </a:bodyPr>
          <a:lstStyle/>
          <a:p>
            <a:r>
              <a:rPr sz="1300" u="sng">
                <a:solidFill>
                  <a:srgbClr val="0563C1"/>
                </a:solidFill>
                <a:latin typeface="Calibri"/>
                <a:hlinkClick r:id="rId20"/>
              </a:rPr>
              <a:t>NCB Field Officers' Handbook</a:t>
            </a:r>
          </a:p>
        </p:txBody>
      </p:sp>
      <p:sp>
        <p:nvSpPr>
          <p:cNvPr id="28" name="TextBox 27">
            <a:hlinkClick r:id="rId21"/>
          </p:cNvPr>
          <p:cNvSpPr txBox="1"/>
          <p:nvPr/>
        </p:nvSpPr>
        <p:spPr>
          <a:xfrm>
            <a:off x="7556601" y="7708392"/>
            <a:ext cx="2535631" cy="365760"/>
          </a:xfrm>
          <a:prstGeom prst="rect">
            <a:avLst/>
          </a:prstGeom>
          <a:noFill/>
        </p:spPr>
        <p:txBody>
          <a:bodyPr wrap="none" lIns="18288" rIns="18288">
            <a:spAutoFit/>
          </a:bodyPr>
          <a:lstStyle/>
          <a:p>
            <a:r>
              <a:rPr sz="1300" u="sng">
                <a:solidFill>
                  <a:srgbClr val="0563C1"/>
                </a:solidFill>
                <a:latin typeface="Calibri"/>
                <a:hlinkClick r:id="rId21"/>
              </a:rPr>
              <a:t>UNODC Drug Field-Testing Manual</a:t>
            </a:r>
          </a:p>
        </p:txBody>
      </p:sp>
      <p:sp>
        <p:nvSpPr>
          <p:cNvPr id="29" name="TextBox 28">
            <a:hlinkClick r:id="rId22"/>
          </p:cNvPr>
          <p:cNvSpPr txBox="1"/>
          <p:nvPr/>
        </p:nvSpPr>
        <p:spPr>
          <a:xfrm>
            <a:off x="10320832" y="7708392"/>
            <a:ext cx="1776679" cy="365760"/>
          </a:xfrm>
          <a:prstGeom prst="rect">
            <a:avLst/>
          </a:prstGeom>
          <a:noFill/>
        </p:spPr>
        <p:txBody>
          <a:bodyPr wrap="none" lIns="18288" rIns="18288">
            <a:spAutoFit/>
          </a:bodyPr>
          <a:lstStyle/>
          <a:p>
            <a:r>
              <a:rPr sz="1300" u="sng">
                <a:solidFill>
                  <a:srgbClr val="0563C1"/>
                </a:solidFill>
                <a:latin typeface="Calibri"/>
                <a:hlinkClick r:id="rId22"/>
              </a:rPr>
              <a:t>BNSS / BSA 2023 (MHA)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298680" y="1737360"/>
            <a:ext cx="54864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1" i="0">
                <a:solidFill>
                  <a:srgbClr val="1F3864"/>
                </a:solidFill>
                <a:latin typeface="Calibri"/>
              </a:rPr>
              <a:t>Competitor Map - where we stand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12298680" y="2194560"/>
          <a:ext cx="5404104" cy="3401568"/>
        </p:xfrm>
        <a:graphic>
          <a:graphicData uri="http://schemas.openxmlformats.org/drawingml/2006/table">
            <a:tbl>
              <a:tblPr firstRow="1">
                <a:tableStyleId>{5940675A-B579-460E-94D1-54222C63F5DA}</a:tableStyleId>
              </a:tblPr>
              <a:tblGrid>
                <a:gridCol w="1783080"/>
                <a:gridCol w="905256"/>
                <a:gridCol w="905256"/>
                <a:gridCol w="905256"/>
                <a:gridCol w="905256"/>
              </a:tblGrid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F3864"/>
                          </a:solidFill>
                          <a:latin typeface="Calibri"/>
                        </a:rPr>
                        <a:t>Option</a:t>
                      </a:r>
                    </a:p>
                  </a:txBody>
                  <a:tcPr anchor="ctr" marL="64008" marR="64008" marT="27432" marB="27432">
                    <a:solidFill>
                      <a:srgbClr val="CFD5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F3864"/>
                          </a:solidFill>
                          <a:latin typeface="Calibri"/>
                        </a:rPr>
                        <a:t>Works with existing kits</a:t>
                      </a:r>
                    </a:p>
                  </a:txBody>
                  <a:tcPr anchor="ctr" marL="64008" marR="64008" marT="27432" marB="27432">
                    <a:solidFill>
                      <a:srgbClr val="CFD5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F3864"/>
                          </a:solidFill>
                          <a:latin typeface="Calibri"/>
                        </a:rPr>
                        <a:t>No new hardware</a:t>
                      </a:r>
                    </a:p>
                  </a:txBody>
                  <a:tcPr anchor="ctr" marL="64008" marR="64008" marT="27432" marB="27432">
                    <a:solidFill>
                      <a:srgbClr val="CFD5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F3864"/>
                          </a:solidFill>
                          <a:latin typeface="Calibri"/>
                        </a:rPr>
                        <a:t>Objective reading</a:t>
                      </a:r>
                    </a:p>
                  </a:txBody>
                  <a:tcPr anchor="ctr" marL="64008" marR="64008" marT="27432" marB="27432">
                    <a:solidFill>
                      <a:srgbClr val="CFD5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F3864"/>
                          </a:solidFill>
                          <a:latin typeface="Calibri"/>
                        </a:rPr>
                        <a:t>Signed proof</a:t>
                      </a:r>
                    </a:p>
                  </a:txBody>
                  <a:tcPr anchor="ctr" marL="64008" marR="64008" marT="27432" marB="27432">
                    <a:solidFill>
                      <a:srgbClr val="CFD5E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Officer's eye (today)</a:t>
                      </a:r>
                    </a:p>
                  </a:txBody>
                  <a:tcPr anchor="ctr"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2E7D32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anchor="ctr"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2E7D32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anchor="ctr"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C62828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 anchor="ctr"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C62828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 anchor="ctr" marL="64008" marR="64008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DetectaChem app (USA)</a:t>
                      </a:r>
                    </a:p>
                  </a:txBody>
                  <a:tcPr anchor="ctr" marL="64008" marR="64008" marT="27432" marB="27432">
                    <a:solidFill>
                      <a:srgbClr val="F4F6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C62828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 anchor="ctr" marL="64008" marR="64008" marT="27432" marB="27432">
                    <a:solidFill>
                      <a:srgbClr val="F4F6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2E7D32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anchor="ctr" marL="64008" marR="64008" marT="27432" marB="27432">
                    <a:solidFill>
                      <a:srgbClr val="F4F6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2E7D32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anchor="ctr" marL="64008" marR="64008" marT="27432" marB="27432">
                    <a:solidFill>
                      <a:srgbClr val="F4F6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B26A00"/>
                          </a:solidFill>
                          <a:latin typeface="Calibri"/>
                        </a:rPr>
                        <a:t>~</a:t>
                      </a:r>
                    </a:p>
                  </a:txBody>
                  <a:tcPr anchor="ctr" marL="64008" marR="64008" marT="27432" marB="27432">
                    <a:solidFill>
                      <a:srgbClr val="F4F6FB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TruNarc / Raman device</a:t>
                      </a:r>
                    </a:p>
                  </a:txBody>
                  <a:tcPr anchor="ctr"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2E7D32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anchor="ctr"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C62828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 anchor="ctr"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2E7D32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anchor="ctr"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B26A00"/>
                          </a:solidFill>
                          <a:latin typeface="Calibri"/>
                        </a:rPr>
                        <a:t>~</a:t>
                      </a:r>
                    </a:p>
                  </a:txBody>
                  <a:tcPr anchor="ctr" marL="64008" marR="64008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e-Sakshya app (MHA)</a:t>
                      </a:r>
                    </a:p>
                  </a:txBody>
                  <a:tcPr anchor="ctr" marL="64008" marR="64008" marT="27432" marB="27432">
                    <a:solidFill>
                      <a:srgbClr val="F4F6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2E7D32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anchor="ctr" marL="64008" marR="64008" marT="27432" marB="27432">
                    <a:solidFill>
                      <a:srgbClr val="F4F6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2E7D32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anchor="ctr" marL="64008" marR="64008" marT="27432" marB="27432">
                    <a:solidFill>
                      <a:srgbClr val="F4F6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C62828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 anchor="ctr" marL="64008" marR="64008" marT="27432" marB="27432">
                    <a:solidFill>
                      <a:srgbClr val="F4F6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2E7D32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anchor="ctr" marL="64008" marR="64008" marT="27432" marB="27432">
                    <a:solidFill>
                      <a:srgbClr val="F4F6FB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FSL lab test (GC-MS)</a:t>
                      </a:r>
                    </a:p>
                  </a:txBody>
                  <a:tcPr anchor="ctr"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40404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anchor="ctr"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C62828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 anchor="ctr"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2E7D32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anchor="ctr"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2E7D32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anchor="ctr" marL="64008" marR="64008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F3864"/>
                          </a:solidFill>
                          <a:latin typeface="Calibri"/>
                        </a:rPr>
                        <a:t>FieldProof (ours)</a:t>
                      </a:r>
                    </a:p>
                  </a:txBody>
                  <a:tcPr anchor="ctr" marL="64008" marR="64008" marT="27432" marB="27432">
                    <a:solidFill>
                      <a:srgbClr val="D9F2E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2E7D32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anchor="ctr" marL="64008" marR="64008" marT="27432" marB="27432">
                    <a:solidFill>
                      <a:srgbClr val="D9F2E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2E7D32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anchor="ctr" marL="64008" marR="64008" marT="27432" marB="27432">
                    <a:solidFill>
                      <a:srgbClr val="D9F2E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2E7D32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anchor="ctr" marL="64008" marR="64008" marT="27432" marB="27432">
                    <a:solidFill>
                      <a:srgbClr val="D9F2E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2E7D32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anchor="ctr" marL="64008" marR="64008" marT="27432" marB="27432">
                    <a:solidFill>
                      <a:srgbClr val="D9F2E3"/>
                    </a:solidFill>
                  </a:tcPr>
                </a:tc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12298680" y="5641848"/>
            <a:ext cx="53949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  <a:latin typeface="Calibri"/>
              </a:rPr>
              <a:t>✓ yes    ~ partly    ✗ no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2298680" y="6007608"/>
            <a:ext cx="5404104" cy="1097280"/>
          </a:xfrm>
          <a:prstGeom prst="roundRect">
            <a:avLst>
              <a:gd name="adj" fmla="val 12000"/>
            </a:avLst>
          </a:prstGeom>
          <a:solidFill>
            <a:srgbClr val="E8F5F3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50" b="1">
                <a:solidFill>
                  <a:srgbClr val="0F4C46"/>
                </a:solidFill>
                <a:latin typeface="Calibri"/>
              </a:rPr>
              <a:t>Our edge: not just a colour reader.</a:t>
            </a:r>
          </a:p>
          <a:p>
            <a:pPr algn="ctr"/>
            <a:r>
              <a:rPr sz="1250" b="1">
                <a:solidFill>
                  <a:srgbClr val="0F4C46"/>
                </a:solidFill>
                <a:latin typeface="Calibri"/>
              </a:rPr>
              <a:t>The signed, chained evidence record</a:t>
            </a:r>
          </a:p>
          <a:p>
            <a:pPr algn="ctr"/>
            <a:r>
              <a:rPr sz="1250" b="1">
                <a:solidFill>
                  <a:srgbClr val="0F4C46"/>
                </a:solidFill>
                <a:latin typeface="Calibri"/>
              </a:rPr>
              <a:t>is the product - checkable by anyone.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DAHVDURAeOo</dc:identifier>
  <dcterms:modified xsi:type="dcterms:W3CDTF">2011-08-01T06:04:30Z</dcterms:modified>
  <cp:revision>1</cp:revision>
  <dc:title>Problem Statement ID – 26034 Problem Statement Title- Software System to check compliance of packaged commodities under Legal Metrology (Packaged Commodities) Rules,2011 by scanning product images and labels. Theme- Miscellaneous PS Category- Software</dc:title>
</cp:coreProperties>
</file>
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2.svg" ContentType="image/svg+xml"/>
  <Override PartName="/ppt/media/image19.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Arimo" panose="020B0604020202020204" charset="0"/>
      <p:regular r:id="rId9"/>
    </p:embeddedFont>
    <p:embeddedFont>
      <p:font typeface="Times New Roman Bold" panose="02020803070505020304" pitchFamily="18" charset="0"/>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281464-4D67-430D-AE87-8B562290D65B}" type="datetimeFigureOut">
              <a:rPr lang="en-IN" smtClean="0"/>
              <a:t>29-09-2026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430427-9B06-49C5-890C-530BB4EB820D}" type="slidenum">
              <a:rPr lang="en-IN" smtClean="0"/>
              <a:t>‹#›</a:t>
            </a:fld>
            <a:endParaRPr lang="en-IN"/>
          </a:p>
        </p:txBody>
      </p:sp>
    </p:spTree>
    <p:extLst>
      <p:ext uri="{BB962C8B-B14F-4D97-AF65-F5344CB8AC3E}">
        <p14:creationId xmlns:p14="http://schemas.microsoft.com/office/powerpoint/2010/main" val="1982126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hyperlink" Target="https://youtu.be/F1cuxlgMW2g" TargetMode="Externa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svg"/><Relationship Id="rId1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7.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5.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jpeg"/><Relationship Id="rId8" Type="http://schemas.openxmlformats.org/officeDocument/2006/relationships/image" Target="../media/image3.png"/><Relationship Id="rId9" Type="http://schemas.openxmlformats.org/officeDocument/2006/relationships/image" Target="../media/image21.png"/><Relationship Id="rId10"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hyperlink" Target="https://doi.org/10.1109/TPS-ISA62245.2024.00012" TargetMode="External"/><Relationship Id="rId5" Type="http://schemas.openxmlformats.org/officeDocument/2006/relationships/hyperlink" Target="https://doi.org/10.1016/j.forsciint.2013.11.018" TargetMode="External"/><Relationship Id="rId6" Type="http://schemas.openxmlformats.org/officeDocument/2006/relationships/hyperlink" Target="https://doi.org/10.1021/acs.analchem.6b01982" TargetMode="External"/><Relationship Id="rId7" Type="http://schemas.openxmlformats.org/officeDocument/2006/relationships/hyperlink" Target="https://doi.org/10.1039/D3DD00066D" TargetMode="External"/><Relationship Id="rId9" Type="http://schemas.openxmlformats.org/officeDocument/2006/relationships/image" Target="../media/image3.png"/><Relationship Id="rId10" Type="http://schemas.openxmlformats.org/officeDocument/2006/relationships/hyperlink" Target="https://doi.org/10.1109/EMBC.2016.759189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85632" y="1277874"/>
            <a:ext cx="6958965" cy="7731443"/>
          </a:xfrm>
          <a:custGeom>
            <a:avLst/>
            <a:gdLst/>
            <a:ahLst/>
            <a:cxnLst/>
            <a:rect l="l" t="t" r="r" b="b"/>
            <a:pathLst>
              <a:path w="6958965" h="7731443">
                <a:moveTo>
                  <a:pt x="0" y="0"/>
                </a:moveTo>
                <a:lnTo>
                  <a:pt x="6958965" y="0"/>
                </a:lnTo>
                <a:lnTo>
                  <a:pt x="6958965" y="7731443"/>
                </a:lnTo>
                <a:lnTo>
                  <a:pt x="0" y="773144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0728198" y="2119122"/>
            <a:ext cx="4805172" cy="5138928"/>
            <a:chOff x="0" y="0"/>
            <a:chExt cx="6406896" cy="6851904"/>
          </a:xfrm>
        </p:grpSpPr>
        <p:sp>
          <p:nvSpPr>
            <p:cNvPr id="4" name="Freeform 4"/>
            <p:cNvSpPr/>
            <p:nvPr/>
          </p:nvSpPr>
          <p:spPr>
            <a:xfrm>
              <a:off x="0" y="0"/>
              <a:ext cx="6406896" cy="6851904"/>
            </a:xfrm>
            <a:custGeom>
              <a:avLst/>
              <a:gdLst/>
              <a:ahLst/>
              <a:cxnLst/>
              <a:rect l="l" t="t" r="r" b="b"/>
              <a:pathLst>
                <a:path w="6406896" h="6851904">
                  <a:moveTo>
                    <a:pt x="0" y="0"/>
                  </a:moveTo>
                  <a:lnTo>
                    <a:pt x="6406896" y="0"/>
                  </a:lnTo>
                  <a:lnTo>
                    <a:pt x="6406896" y="6851904"/>
                  </a:lnTo>
                  <a:lnTo>
                    <a:pt x="0" y="6851904"/>
                  </a:lnTo>
                  <a:lnTo>
                    <a:pt x="0" y="0"/>
                  </a:lnTo>
                  <a:close/>
                </a:path>
              </a:pathLst>
            </a:custGeom>
            <a:blipFill>
              <a:blip r:embed="rId3"/>
              <a:stretch>
                <a:fillRect l="-46" r="-47"/>
              </a:stretch>
            </a:blipFill>
          </p:spPr>
        </p:sp>
      </p:grpSp>
      <p:sp>
        <p:nvSpPr>
          <p:cNvPr id="5" name="TextBox 5" descr="$PPTXTitle"/>
          <p:cNvSpPr txBox="1"/>
          <p:nvPr/>
        </p:nvSpPr>
        <p:spPr>
          <a:xfrm>
            <a:off x="1856872" y="290741"/>
            <a:ext cx="12130088" cy="978532"/>
          </a:xfrm>
          <a:prstGeom prst="rect">
            <a:avLst/>
          </a:prstGeom>
        </p:spPr>
        <p:txBody>
          <a:bodyPr lIns="0" tIns="0" rIns="0" bIns="0" rtlCol="0" anchor="t">
            <a:spAutoFit/>
          </a:bodyPr>
          <a:lstStyle/>
          <a:p>
            <a:pPr algn="l">
              <a:lnSpc>
                <a:spcPts val="7200"/>
              </a:lnSpc>
            </a:pPr>
            <a:r>
              <a:rPr lang="en-US" sz="6000" b="1" spc="-15">
                <a:solidFill>
                  <a:srgbClr val="1F477B"/>
                </a:solidFill>
                <a:latin typeface="Times New Roman Bold"/>
                <a:ea typeface="Times New Roman Bold"/>
                <a:cs typeface="Times New Roman Bold"/>
                <a:sym typeface="Times New Roman Bold"/>
              </a:rPr>
              <a:t>SMART INDIA HACKATHON 2026</a:t>
            </a:r>
          </a:p>
        </p:txBody>
      </p:sp>
      <p:sp>
        <p:nvSpPr>
          <p:cNvPr id="6" name="TextBox 6"/>
          <p:cNvSpPr txBox="1"/>
          <p:nvPr/>
        </p:nvSpPr>
        <p:spPr>
          <a:xfrm>
            <a:off x="1615908" y="2734335"/>
            <a:ext cx="8392108" cy="4947420"/>
          </a:xfrm>
          <a:prstGeom prst="rect">
            <a:avLst/>
          </a:prstGeom>
        </p:spPr>
        <p:txBody>
          <a:bodyPr lIns="0" tIns="0" rIns="0" bIns="0" rtlCol="0" anchor="t">
            <a:spAutoFit/>
          </a:bodyPr>
          <a:lstStyle/>
          <a:p>
            <a:pPr algn="just">
              <a:lnSpc>
                <a:spcPts val="5668"/>
              </a:lnSpc>
            </a:pPr>
            <a:r>
              <a:rPr lang="en-US" sz="2936" b="1">
                <a:solidFill>
                  <a:srgbClr val="0D0D0D"/>
                </a:solidFill>
                <a:latin typeface="Times New Roman Bold"/>
                <a:ea typeface="Times New Roman Bold"/>
                <a:cs typeface="Times New Roman Bold"/>
                <a:sym typeface="Times New Roman Bold"/>
              </a:rPr>
              <a:t>Problem Statement ID - </a:t>
            </a:r>
            <a:r>
              <a:rPr lang="en-US" sz="2936">
                <a:solidFill>
                  <a:srgbClr val="0D0D0D"/>
                </a:solidFill>
                <a:latin typeface="Times New Roman"/>
                <a:ea typeface="Times New Roman"/>
                <a:cs typeface="Times New Roman"/>
                <a:sym typeface="Times New Roman"/>
              </a:rPr>
              <a:t>26231</a:t>
            </a:r>
          </a:p>
          <a:p>
            <a:pPr algn="just">
              <a:lnSpc>
                <a:spcPts val="5661"/>
              </a:lnSpc>
            </a:pPr>
            <a:r>
              <a:rPr lang="en-US" sz="2933" b="1">
                <a:solidFill>
                  <a:srgbClr val="0D0D0D"/>
                </a:solidFill>
                <a:latin typeface="Times New Roman Bold"/>
                <a:ea typeface="Times New Roman Bold"/>
                <a:cs typeface="Times New Roman Bold"/>
                <a:sym typeface="Times New Roman Bold"/>
              </a:rPr>
              <a:t>Problem Statement Title -</a:t>
            </a:r>
            <a:r>
              <a:rPr lang="en-US" sz="2933">
                <a:solidFill>
                  <a:srgbClr val="0D0D0D"/>
                </a:solidFill>
                <a:latin typeface="Times New Roman"/>
                <a:ea typeface="Times New Roman"/>
                <a:cs typeface="Times New Roman"/>
                <a:sym typeface="Times New Roman"/>
              </a:rPr>
              <a:t>Digital Companion for Field Drug Testing</a:t>
            </a:r>
          </a:p>
          <a:p>
            <a:pPr algn="just">
              <a:lnSpc>
                <a:spcPts val="5668"/>
              </a:lnSpc>
            </a:pPr>
            <a:r>
              <a:rPr lang="en-US" sz="2936" b="1" spc="-14">
                <a:solidFill>
                  <a:srgbClr val="0D0D0D"/>
                </a:solidFill>
                <a:latin typeface="Times New Roman Bold"/>
                <a:ea typeface="Times New Roman Bold"/>
                <a:cs typeface="Times New Roman Bold"/>
                <a:sym typeface="Times New Roman Bold"/>
              </a:rPr>
              <a:t>Theme - </a:t>
            </a:r>
            <a:r>
              <a:rPr lang="en-US" sz="2936" spc="-14">
                <a:solidFill>
                  <a:srgbClr val="0D0D0D"/>
                </a:solidFill>
                <a:latin typeface="Times New Roman"/>
                <a:ea typeface="Times New Roman"/>
                <a:cs typeface="Times New Roman"/>
                <a:sym typeface="Times New Roman"/>
              </a:rPr>
              <a:t>MedTech / BioTech / HealthTech</a:t>
            </a:r>
          </a:p>
          <a:p>
            <a:pPr algn="just">
              <a:lnSpc>
                <a:spcPts val="5668"/>
              </a:lnSpc>
            </a:pPr>
            <a:r>
              <a:rPr lang="en-US" sz="2936" b="1" spc="-14">
                <a:solidFill>
                  <a:srgbClr val="0D0D0D"/>
                </a:solidFill>
                <a:latin typeface="Times New Roman Bold"/>
                <a:ea typeface="Times New Roman Bold"/>
                <a:cs typeface="Times New Roman Bold"/>
                <a:sym typeface="Times New Roman Bold"/>
              </a:rPr>
              <a:t>PS Category - </a:t>
            </a:r>
            <a:r>
              <a:rPr lang="en-US" sz="2936" spc="-14">
                <a:solidFill>
                  <a:srgbClr val="0D0D0D"/>
                </a:solidFill>
                <a:latin typeface="Times New Roman"/>
                <a:ea typeface="Times New Roman"/>
                <a:cs typeface="Times New Roman"/>
                <a:sym typeface="Times New Roman"/>
              </a:rPr>
              <a:t>Software</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ID - </a:t>
            </a:r>
            <a:r>
              <a:rPr lang="en-US" sz="2936" spc="-44">
                <a:solidFill>
                  <a:srgbClr val="0D0D0D"/>
                </a:solidFill>
                <a:latin typeface="Times New Roman"/>
                <a:ea typeface="Times New Roman"/>
                <a:cs typeface="Times New Roman"/>
                <a:sym typeface="Times New Roman"/>
              </a:rPr>
              <a:t>K26234</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Name - </a:t>
            </a:r>
            <a:r>
              <a:rPr lang="en-US" sz="2936" spc="-44">
                <a:solidFill>
                  <a:srgbClr val="0D0D0D"/>
                </a:solidFill>
                <a:latin typeface="Times New Roman"/>
                <a:ea typeface="Times New Roman"/>
                <a:cs typeface="Times New Roman"/>
                <a:sym typeface="Times New Roman"/>
              </a:rPr>
              <a:t>HexTech</a:t>
            </a: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4571" cy="718937"/>
            <a:chOff x="0" y="0"/>
            <a:chExt cx="24379428" cy="958583"/>
          </a:xfrm>
        </p:grpSpPr>
        <p:sp>
          <p:nvSpPr>
            <p:cNvPr id="3" name="Freeform 3"/>
            <p:cNvSpPr/>
            <p:nvPr/>
          </p:nvSpPr>
          <p:spPr>
            <a:xfrm>
              <a:off x="0" y="0"/>
              <a:ext cx="24379428" cy="958596"/>
            </a:xfrm>
            <a:custGeom>
              <a:avLst/>
              <a:gdLst/>
              <a:ahLst/>
              <a:cxnLst/>
              <a:rect l="l" t="t" r="r" b="b"/>
              <a:pathLst>
                <a:path w="24379428" h="958596">
                  <a:moveTo>
                    <a:pt x="0" y="0"/>
                  </a:moveTo>
                  <a:lnTo>
                    <a:pt x="24379428" y="0"/>
                  </a:lnTo>
                  <a:lnTo>
                    <a:pt x="24379428" y="958596"/>
                  </a:lnTo>
                  <a:lnTo>
                    <a:pt x="0" y="958596"/>
                  </a:lnTo>
                  <a:lnTo>
                    <a:pt x="0" y="0"/>
                  </a:lnTo>
                  <a:close/>
                </a:path>
              </a:pathLst>
            </a:custGeom>
            <a:blipFill>
              <a:blip r:embed="rId2"/>
              <a:stretch>
                <a:fillRect t="-64" b="-62"/>
              </a:stretch>
            </a:blipFill>
          </p:spPr>
        </p:sp>
      </p:grpSp>
      <p:grpSp>
        <p:nvGrpSpPr>
          <p:cNvPr id="4" name="Group 4"/>
          <p:cNvGrpSpPr/>
          <p:nvPr/>
        </p:nvGrpSpPr>
        <p:grpSpPr>
          <a:xfrm>
            <a:off x="0" y="9532144"/>
            <a:ext cx="18288000" cy="755332"/>
            <a:chOff x="0" y="0"/>
            <a:chExt cx="24384000" cy="1007110"/>
          </a:xfrm>
        </p:grpSpPr>
        <p:sp>
          <p:nvSpPr>
            <p:cNvPr id="5" name="Freeform 5"/>
            <p:cNvSpPr/>
            <p:nvPr/>
          </p:nvSpPr>
          <p:spPr>
            <a:xfrm>
              <a:off x="0" y="0"/>
              <a:ext cx="24384000" cy="1006475"/>
            </a:xfrm>
            <a:custGeom>
              <a:avLst/>
              <a:gdLst/>
              <a:ahLst/>
              <a:cxnLst/>
              <a:rect l="l" t="t" r="r" b="b"/>
              <a:pathLst>
                <a:path w="24384000" h="1006475">
                  <a:moveTo>
                    <a:pt x="24384000" y="0"/>
                  </a:moveTo>
                  <a:lnTo>
                    <a:pt x="0" y="0"/>
                  </a:lnTo>
                  <a:lnTo>
                    <a:pt x="0" y="1006475"/>
                  </a:lnTo>
                  <a:lnTo>
                    <a:pt x="24384000" y="1006475"/>
                  </a:lnTo>
                  <a:lnTo>
                    <a:pt x="24384000" y="0"/>
                  </a:lnTo>
                  <a:close/>
                </a:path>
              </a:pathLst>
            </a:custGeom>
            <a:solidFill>
              <a:srgbClr val="006F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
        <p:nvSpPr>
          <p:cNvPr id="9" name="AutoShape 9"/>
          <p:cNvSpPr/>
          <p:nvPr/>
        </p:nvSpPr>
        <p:spPr>
          <a:xfrm>
            <a:off x="8226619" y="1770996"/>
            <a:ext cx="0" cy="7384231"/>
          </a:xfrm>
          <a:prstGeom prst="line">
            <a:avLst/>
          </a:prstGeom>
          <a:ln w="19050" cap="flat">
            <a:solidFill>
              <a:srgbClr val="B2935B"/>
            </a:solidFill>
            <a:prstDash val="solid"/>
            <a:headEnd type="none" w="sm" len="sm"/>
            <a:tailEnd type="none" w="sm" len="sm"/>
          </a:ln>
        </p:spPr>
        <p:txBody>
          <a:bodyPr/>
          <a:lstStyle/>
          <a:p>
            <a:endParaRPr/>
          </a:p>
        </p:txBody>
      </p:sp>
      <p:grpSp>
        <p:nvGrpSpPr>
          <p:cNvPr id="10" name="Group 10"/>
          <p:cNvGrpSpPr/>
          <p:nvPr/>
        </p:nvGrpSpPr>
        <p:grpSpPr>
          <a:xfrm>
            <a:off x="8595360" y="5870448"/>
            <a:ext cx="9006840" cy="3474720"/>
            <a:chOff x="0" y="0"/>
            <a:chExt cx="120906797" cy="67632696"/>
          </a:xfrm>
        </p:grpSpPr>
        <p:sp>
          <p:nvSpPr>
            <p:cNvPr id="11" name="Freeform 11"/>
            <p:cNvSpPr/>
            <p:nvPr/>
          </p:nvSpPr>
          <p:spPr>
            <a:xfrm>
              <a:off x="0" y="0"/>
              <a:ext cx="120906803" cy="67632697"/>
            </a:xfrm>
            <a:custGeom>
              <a:avLst/>
              <a:gdLst/>
              <a:ahLst/>
              <a:cxnLst/>
              <a:rect l="l" t="t" r="r" b="b"/>
              <a:pathLst>
                <a:path w="120906803" h="67632697">
                  <a:moveTo>
                    <a:pt x="10928" y="0"/>
                  </a:moveTo>
                  <a:lnTo>
                    <a:pt x="120895876" y="0"/>
                  </a:lnTo>
                  <a:cubicBezTo>
                    <a:pt x="120898779" y="0"/>
                    <a:pt x="120901557" y="1151"/>
                    <a:pt x="120903603" y="3201"/>
                  </a:cubicBezTo>
                  <a:cubicBezTo>
                    <a:pt x="120905650" y="5250"/>
                    <a:pt x="120906803" y="8030"/>
                    <a:pt x="120906803" y="10928"/>
                  </a:cubicBezTo>
                  <a:lnTo>
                    <a:pt x="120906803" y="67621770"/>
                  </a:lnTo>
                  <a:cubicBezTo>
                    <a:pt x="120906803" y="67627804"/>
                    <a:pt x="120901916" y="67632697"/>
                    <a:pt x="120895876" y="67632697"/>
                  </a:cubicBezTo>
                  <a:lnTo>
                    <a:pt x="10928" y="67632697"/>
                  </a:lnTo>
                  <a:cubicBezTo>
                    <a:pt x="4893" y="67632697"/>
                    <a:pt x="0" y="67627804"/>
                    <a:pt x="0" y="67621770"/>
                  </a:cubicBezTo>
                  <a:lnTo>
                    <a:pt x="0" y="10928"/>
                  </a:lnTo>
                  <a:cubicBezTo>
                    <a:pt x="0" y="4893"/>
                    <a:pt x="4893" y="0"/>
                    <a:pt x="10928" y="0"/>
                  </a:cubicBezTo>
                  <a:close/>
                </a:path>
              </a:pathLst>
            </a:custGeom>
            <a:solidFill>
              <a:srgbClr val="FFFFFF"/>
            </a:solidFill>
            <a:ln w="28575" cap="sq">
              <a:solidFill>
                <a:srgbClr val="7A2F00"/>
              </a:solidFill>
              <a:prstDash val="solid"/>
              <a:miter/>
            </a:ln>
          </p:spPr>
        </p:sp>
        <p:sp>
          <p:nvSpPr>
            <p:cNvPr id="12" name="TextBox 12"/>
            <p:cNvSpPr txBox="1"/>
            <p:nvPr/>
          </p:nvSpPr>
          <p:spPr>
            <a:xfrm>
              <a:off x="0" y="-85725"/>
              <a:ext cx="120906797" cy="67718421"/>
            </a:xfrm>
            <a:prstGeom prst="rect">
              <a:avLst/>
            </a:prstGeom>
          </p:spPr>
          <p:txBody>
            <a:bodyPr lIns="50800" tIns="50800" rIns="50800" bIns="50800" rtlCol="0" anchor="ctr"/>
            <a:lstStyle/>
            <a:p>
              <a:pPr algn="ctr">
                <a:lnSpc>
                  <a:spcPts val="6859"/>
                </a:lnSpc>
                <a:spcBef>
                  <a:spcPct val="0"/>
                </a:spcBef>
              </a:pPr>
              <a:endParaRPr/>
            </a:p>
          </p:txBody>
        </p:sp>
      </p:grpSp>
      <p:sp>
        <p:nvSpPr>
          <p:cNvPr id="13" name="Freeform 13"/>
          <p:cNvSpPr/>
          <p:nvPr/>
        </p:nvSpPr>
        <p:spPr>
          <a:xfrm>
            <a:off x="8378223" y="2377440"/>
            <a:ext cx="9228727" cy="830419"/>
          </a:xfrm>
          <a:custGeom>
            <a:avLst/>
            <a:gdLst/>
            <a:ahLst/>
            <a:cxnLst/>
            <a:rect l="l" t="t" r="r" b="b"/>
            <a:pathLst>
              <a:path w="9228727" h="830419">
                <a:moveTo>
                  <a:pt x="0" y="0"/>
                </a:moveTo>
                <a:lnTo>
                  <a:pt x="9228727" y="0"/>
                </a:lnTo>
                <a:lnTo>
                  <a:pt x="9228727" y="830419"/>
                </a:lnTo>
                <a:lnTo>
                  <a:pt x="0" y="830419"/>
                </a:lnTo>
                <a:lnTo>
                  <a:pt x="0" y="0"/>
                </a:lnTo>
                <a:close/>
              </a:path>
            </a:pathLst>
          </a:custGeom>
          <a:blipFill>
            <a:blip r:embed="rId5"/>
            <a:stretch>
              <a:fillRect l="-21656" t="-554195" r="-92275" b="-1128926"/>
            </a:stretch>
          </a:blipFill>
        </p:spPr>
        <p:txBody>
          <a:bodyPr/>
          <a:lstStyle/>
          <a:p>
            <a:endParaRPr/>
          </a:p>
        </p:txBody>
      </p:sp>
      <p:sp>
        <p:nvSpPr>
          <p:cNvPr id="14" name="AutoShape 14"/>
          <p:cNvSpPr/>
          <p:nvPr/>
        </p:nvSpPr>
        <p:spPr>
          <a:xfrm flipV="1">
            <a:off x="1066800" y="3858768"/>
            <a:ext cx="7159819" cy="0"/>
          </a:xfrm>
          <a:prstGeom prst="line">
            <a:avLst/>
          </a:prstGeom>
          <a:ln w="19050" cap="flat">
            <a:solidFill>
              <a:srgbClr val="B2935B"/>
            </a:solidFill>
            <a:prstDash val="solid"/>
            <a:headEnd type="none" w="sm" len="sm"/>
            <a:tailEnd type="none" w="sm" len="sm"/>
          </a:ln>
        </p:spPr>
        <p:txBody>
          <a:bodyPr/>
          <a:lstStyle/>
          <a:p>
            <a:endParaRPr/>
          </a:p>
        </p:txBody>
      </p:sp>
      <p:sp>
        <p:nvSpPr>
          <p:cNvPr id="15" name="TextBox 15"/>
          <p:cNvSpPr txBox="1"/>
          <p:nvPr/>
        </p:nvSpPr>
        <p:spPr>
          <a:xfrm>
            <a:off x="5093704" y="360907"/>
            <a:ext cx="7553895" cy="847725"/>
          </a:xfrm>
          <a:prstGeom prst="rect">
            <a:avLst/>
          </a:prstGeom>
        </p:spPr>
        <p:txBody>
          <a:bodyPr lIns="0" tIns="0" rIns="0" bIns="0" rtlCol="0" anchor="t">
            <a:spAutoFit/>
          </a:bodyPr>
          <a:lstStyle/>
          <a:p>
            <a:pPr algn="ctr">
              <a:lnSpc>
                <a:spcPts val="6479"/>
              </a:lnSpc>
            </a:pPr>
            <a:r>
              <a:rPr lang="en-US" sz="5399" b="1">
                <a:solidFill>
                  <a:srgbClr val="7A2F00"/>
                </a:solidFill>
                <a:latin typeface="Times New Roman Bold"/>
                <a:ea typeface="Times New Roman Bold"/>
                <a:cs typeface="Times New Roman Bold"/>
                <a:sym typeface="Times New Roman Bold"/>
              </a:rPr>
              <a:t>PROPOSED SOLUTION</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983028" y="2240280"/>
            <a:ext cx="7042520" cy="2305050"/>
          </a:xfrm>
          <a:prstGeom prst="rect">
            <a:avLst/>
          </a:prstGeom>
        </p:spPr>
        <p:txBody>
          <a:bodyPr lIns="0" tIns="0" rIns="0" bIns="0" rtlCol="0" anchor="t">
            <a:spAutoFit/>
          </a:bodyPr>
          <a:lstStyle/>
          <a:p>
            <a:pPr marL="431801" lvl="1" indent="-215900" algn="l">
              <a:lnSpc>
                <a:spcPct val="112000"/>
              </a:lnSpc>
              <a:buFont typeface="Arial"/>
              <a:buChar char="•"/>
            </a:pPr>
            <a:r>
              <a:rPr lang="en-US" sz="1700" spc="-10">
                <a:solidFill>
                  <a:srgbClr val="000000"/>
                </a:solidFill>
                <a:latin typeface="Calibri"/>
                <a:ea typeface="Calibri"/>
                <a:cs typeface="Calibri"/>
                <a:sym typeface="Calibri"/>
              </a:rPr>
              <a:t>Officers mainly judge the kit’s colour change by looking at it, so lighting and personal judgement can affect the result.</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There is no standard colour value to compare the test result with.</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 test does not always leave a clear digital record of who performed it, where, and when, making it harder to verify later.</a:t>
            </a:r>
          </a:p>
        </p:txBody>
      </p:sp>
      <p:sp>
        <p:nvSpPr>
          <p:cNvPr id="18" name="TextBox 18"/>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2</a:t>
            </a:r>
          </a:p>
        </p:txBody>
      </p:sp>
      <p:sp>
        <p:nvSpPr>
          <p:cNvPr id="19" name="TextBox 19"/>
          <p:cNvSpPr txBox="1"/>
          <p:nvPr/>
        </p:nvSpPr>
        <p:spPr>
          <a:xfrm>
            <a:off x="1156571" y="1810512"/>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Problem</a:t>
            </a:r>
          </a:p>
        </p:txBody>
      </p:sp>
      <p:sp>
        <p:nvSpPr>
          <p:cNvPr id="20" name="TextBox 20"/>
          <p:cNvSpPr txBox="1"/>
          <p:nvPr/>
        </p:nvSpPr>
        <p:spPr>
          <a:xfrm>
            <a:off x="983028" y="4005072"/>
            <a:ext cx="6996848" cy="2756535"/>
          </a:xfrm>
          <a:prstGeom prst="rect">
            <a:avLst/>
          </a:prstGeom>
        </p:spPr>
        <p:txBody>
          <a:bodyPr lIns="0" tIns="0" rIns="0" bIns="0" rtlCol="0" anchor="t">
            <a:spAutoFit/>
          </a:bodyPr>
          <a:lstStyle/>
          <a:p>
            <a:pPr algn="l">
              <a:lnSpc>
                <a:spcPct val="112000"/>
              </a:lnSpc>
            </a:pPr>
            <a:endParaRPr dirty="0"/>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Check the Test - The mobile app captures the </a:t>
            </a:r>
            <a:r>
              <a:rPr lang="en-US" sz="1700" spc="-10" dirty="0" err="1">
                <a:solidFill>
                  <a:srgbClr val="000000"/>
                </a:solidFill>
                <a:latin typeface="Calibri"/>
                <a:ea typeface="Calibri"/>
                <a:cs typeface="Calibri"/>
                <a:sym typeface="Calibri"/>
              </a:rPr>
              <a:t>colour</a:t>
            </a:r>
            <a:r>
              <a:rPr lang="en-US" sz="1700" spc="-10" dirty="0">
                <a:solidFill>
                  <a:srgbClr val="000000"/>
                </a:solidFill>
                <a:latin typeface="Calibri"/>
                <a:ea typeface="Calibri"/>
                <a:cs typeface="Calibri"/>
                <a:sym typeface="Calibri"/>
              </a:rPr>
              <a:t> change and helps check the result.</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Record the Test - Saves the result along with the time, location, and Inspector ID.</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Manage the Records - The admin dashboard manages Inspectors, test records, evidence, and reports.</a:t>
            </a:r>
          </a:p>
        </p:txBody>
      </p:sp>
      <p:sp>
        <p:nvSpPr>
          <p:cNvPr id="21" name="TextBox 21"/>
          <p:cNvSpPr txBox="1"/>
          <p:nvPr/>
        </p:nvSpPr>
        <p:spPr>
          <a:xfrm>
            <a:off x="1156571" y="3950208"/>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Solution</a:t>
            </a:r>
          </a:p>
        </p:txBody>
      </p:sp>
      <p:sp>
        <p:nvSpPr>
          <p:cNvPr id="22" name="TextBox 22"/>
          <p:cNvSpPr txBox="1"/>
          <p:nvPr/>
        </p:nvSpPr>
        <p:spPr>
          <a:xfrm>
            <a:off x="8823960" y="5943600"/>
            <a:ext cx="1400792"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Novelty</a:t>
            </a:r>
          </a:p>
        </p:txBody>
      </p:sp>
      <p:sp>
        <p:nvSpPr>
          <p:cNvPr id="23" name="TextBox 23"/>
          <p:cNvSpPr txBox="1"/>
          <p:nvPr/>
        </p:nvSpPr>
        <p:spPr>
          <a:xfrm>
            <a:off x="8915400" y="6400800"/>
            <a:ext cx="8503920" cy="3275330"/>
          </a:xfrm>
          <a:prstGeom prst="rect">
            <a:avLst/>
          </a:prstGeom>
        </p:spPr>
        <p:txBody>
          <a:bodyPr lIns="0" tIns="0" rIns="0" bIns="0" rtlCol="0" anchor="t">
            <a:spAutoFit/>
          </a:bodyPr>
          <a:lstStyle/>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Lighting Variations</a:t>
            </a:r>
            <a:r>
              <a:rPr lang="en-US" sz="1700" spc="-22">
                <a:solidFill>
                  <a:srgbClr val="000000"/>
                </a:solidFill>
                <a:latin typeface="Calibri"/>
                <a:ea typeface="Calibri"/>
                <a:cs typeface="Calibri"/>
                <a:sym typeface="Calibri"/>
              </a:rPr>
              <a:t> - Uses a low-cost colour card to improve colour detection under different lighting.</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Unclear Results</a:t>
            </a:r>
            <a:r>
              <a:rPr lang="en-US" sz="1700" spc="-22">
                <a:solidFill>
                  <a:srgbClr val="000000"/>
                </a:solidFill>
                <a:latin typeface="Calibri"/>
                <a:ea typeface="Calibri"/>
                <a:cs typeface="Calibri"/>
                <a:sym typeface="Calibri"/>
              </a:rPr>
              <a:t> - Blurry, shiny, or unclear images are marked INCONCLUSIVE instead of giving a wrong result.</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Creates Verifiable Evidence</a:t>
            </a:r>
            <a:r>
              <a:rPr lang="en-US" sz="1700" spc="-22">
                <a:solidFill>
                  <a:srgbClr val="000000"/>
                </a:solidFill>
                <a:latin typeface="Calibri"/>
                <a:ea typeface="Calibri"/>
                <a:cs typeface="Calibri"/>
                <a:sym typeface="Calibri"/>
              </a:rPr>
              <a:t> - Securely records the photo, GPS, time, and Inspector ID, with QR-based verification.</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Supports Multiple Kits</a:t>
            </a:r>
            <a:r>
              <a:rPr lang="en-US" sz="1700" spc="-22">
                <a:solidFill>
                  <a:srgbClr val="000000"/>
                </a:solidFill>
                <a:latin typeface="Calibri"/>
                <a:ea typeface="Calibri"/>
                <a:cs typeface="Calibri"/>
                <a:sym typeface="Calibri"/>
              </a:rPr>
              <a:t> - New kit colour profiles can be added from the Admin website without changing the app.</a:t>
            </a:r>
          </a:p>
        </p:txBody>
      </p:sp>
      <p:sp>
        <p:nvSpPr>
          <p:cNvPr id="24" name="TextBox 24"/>
          <p:cNvSpPr txBox="1"/>
          <p:nvPr/>
        </p:nvSpPr>
        <p:spPr>
          <a:xfrm>
            <a:off x="11965447" y="1874519"/>
            <a:ext cx="1851963"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Our Approach</a:t>
            </a:r>
          </a:p>
        </p:txBody>
      </p:sp>
      <p:sp>
        <p:nvSpPr>
          <p:cNvPr id="25" name="Freeform 25"/>
          <p:cNvSpPr/>
          <p:nvPr/>
        </p:nvSpPr>
        <p:spPr>
          <a:xfrm>
            <a:off x="6720840" y="7991856"/>
            <a:ext cx="1320330" cy="1320330"/>
          </a:xfrm>
          <a:custGeom>
            <a:avLst/>
            <a:gdLst/>
            <a:ahLst/>
            <a:cxnLst/>
            <a:rect l="l" t="t" r="r" b="b"/>
            <a:pathLst>
              <a:path w="1320330" h="1320330">
                <a:moveTo>
                  <a:pt x="0" y="0"/>
                </a:moveTo>
                <a:lnTo>
                  <a:pt x="1320330" y="0"/>
                </a:lnTo>
                <a:lnTo>
                  <a:pt x="1320330" y="1320330"/>
                </a:lnTo>
                <a:lnTo>
                  <a:pt x="0" y="1320330"/>
                </a:lnTo>
                <a:lnTo>
                  <a:pt x="0" y="0"/>
                </a:lnTo>
                <a:close/>
              </a:path>
            </a:pathLst>
          </a:custGeom>
          <a:blipFill>
            <a:blip r:embed="rId6"/>
            <a:stretch>
              <a:fillRect/>
            </a:stretch>
          </a:blipFill>
        </p:spPr>
        <p:txBody>
          <a:bodyPr/>
          <a:lstStyle/>
          <a:p>
            <a:endParaRPr/>
          </a:p>
        </p:txBody>
      </p:sp>
      <p:sp>
        <p:nvSpPr>
          <p:cNvPr id="26" name="TextBox 26"/>
          <p:cNvSpPr txBox="1"/>
          <p:nvPr/>
        </p:nvSpPr>
        <p:spPr>
          <a:xfrm>
            <a:off x="1152144" y="8421624"/>
            <a:ext cx="3063240" cy="390525"/>
          </a:xfrm>
          <a:prstGeom prst="rect">
            <a:avLst/>
          </a:prstGeom>
        </p:spPr>
        <p:txBody>
          <a:bodyPr wrap="none" lIns="0" tIns="0" rIns="0" bIns="0" rtlCol="0" anchor="t">
            <a:noAutofit/>
          </a:bodyPr>
          <a:lstStyle/>
          <a:p>
            <a:pPr algn="ctr">
              <a:lnSpc>
                <a:spcPts val="2760"/>
              </a:lnSpc>
              <a:spcBef>
                <a:spcPct val="0"/>
              </a:spcBef>
            </a:pPr>
            <a:r>
              <a:rPr lang="en-US" sz="2300" b="1" spc="-25">
                <a:solidFill>
                  <a:srgbClr val="7A2F00"/>
                </a:solidFill>
                <a:latin typeface="Calibri"/>
                <a:ea typeface="Calibri"/>
                <a:cs typeface="Calibri"/>
                <a:sym typeface="Calibri"/>
              </a:rPr>
              <a:t>Prototype Demo Video:</a:t>
            </a:r>
          </a:p>
        </p:txBody>
      </p:sp>
      <p:sp>
        <p:nvSpPr>
          <p:cNvPr id="27" name="TextBox 27"/>
          <p:cNvSpPr txBox="1"/>
          <p:nvPr/>
        </p:nvSpPr>
        <p:spPr>
          <a:xfrm>
            <a:off x="4297680" y="8439912"/>
            <a:ext cx="2103120" cy="361950"/>
          </a:xfrm>
          <a:prstGeom prst="rect">
            <a:avLst/>
          </a:prstGeom>
        </p:spPr>
        <p:txBody>
          <a:bodyPr wrap="none" lIns="0" tIns="0" rIns="0" bIns="0" rtlCol="0" anchor="t">
            <a:noAutofit/>
          </a:bodyPr>
          <a:lstStyle/>
          <a:p>
            <a:pPr algn="ctr">
              <a:lnSpc>
                <a:spcPts val="2520"/>
              </a:lnSpc>
            </a:pPr>
            <a:r>
              <a:rPr lang="en-US" sz="2100" u="sng" spc="-23">
                <a:solidFill>
                  <a:srgbClr val="006EC0"/>
                </a:solidFill>
                <a:latin typeface="Calibri"/>
                <a:ea typeface="Calibri"/>
                <a:cs typeface="Calibri"/>
                <a:sym typeface="Calibri"/>
                <a:hlinkClick r:id="rId7" tooltip="https://youtu.be/F1cuxlgMW2g"/>
              </a:rPr>
              <a:t>Prototype Video Link</a:t>
            </a:r>
          </a:p>
        </p:txBody>
      </p:sp>
      <p:sp>
        <p:nvSpPr>
          <p:cNvPr id="28" name="Video link click area">
            <a:hlinkClick r:id="rId7"/>
          </p:cNvPr>
          <p:cNvSpPr/>
          <p:nvPr/>
        </p:nvSpPr>
        <p:spPr>
          <a:xfrm>
            <a:off x="4297680" y="8394192"/>
            <a:ext cx="2103120" cy="4572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Video QR click area">
            <a:hlinkClick r:id="rId7"/>
          </p:cNvPr>
          <p:cNvSpPr/>
          <p:nvPr/>
        </p:nvSpPr>
        <p:spPr>
          <a:xfrm>
            <a:off x="6720840" y="7991856"/>
            <a:ext cx="1320330" cy="132033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3"/>
          <p:cNvSpPr txBox="1"/>
          <p:nvPr/>
        </p:nvSpPr>
        <p:spPr>
          <a:xfrm>
            <a:off x="8595360" y="3383280"/>
            <a:ext cx="9006840" cy="381000"/>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Prototype Flow - </a:t>
            </a:r>
            <a:r>
              <a:rPr lang="en-US" sz="2200">
                <a:solidFill>
                  <a:srgbClr val="202020"/>
                </a:solidFill>
                <a:latin typeface="Calibri"/>
                <a:ea typeface="Calibri"/>
                <a:cs typeface="Calibri"/>
                <a:sym typeface="Calibri"/>
              </a:rPr>
              <a:t>real screenshots of our working prototype</a:t>
            </a:r>
          </a:p>
        </p:txBody>
      </p:sp>
      <p:sp>
        <p:nvSpPr>
          <p:cNvPr id="31" name="Freeform 8"/>
          <p:cNvSpPr/>
          <p:nvPr/>
        </p:nvSpPr>
        <p:spPr>
          <a:xfrm>
            <a:off x="8595360" y="3858768"/>
            <a:ext cx="1420051" cy="1783080"/>
          </a:xfrm>
          <a:custGeom>
            <a:avLst/>
            <a:gdLst/>
            <a:ahLst/>
            <a:cxnLst/>
            <a:rect l="l" t="t" r="r" b="b"/>
            <a:pathLst>
              <a:path w="2720876" h="3416454">
                <a:moveTo>
                  <a:pt x="0" y="0"/>
                </a:moveTo>
                <a:lnTo>
                  <a:pt x="2720876" y="0"/>
                </a:lnTo>
                <a:lnTo>
                  <a:pt x="2720876" y="3416454"/>
                </a:lnTo>
                <a:lnTo>
                  <a:pt x="0" y="3416454"/>
                </a:lnTo>
                <a:lnTo>
                  <a:pt x="0" y="0"/>
                </a:lnTo>
                <a:close/>
              </a:path>
            </a:pathLst>
          </a:custGeom>
          <a:blipFill>
            <a:blip r:embed="rId8"/>
            <a:stretch>
              <a:fillRect t="-6699" b="-70279"/>
            </a:stretch>
          </a:blipFill>
        </p:spPr>
        <p:txBody>
          <a:bodyPr/>
          <a:lstStyle/>
          <a:p>
            <a:endParaRPr/>
          </a:p>
        </p:txBody>
      </p:sp>
      <p:sp>
        <p:nvSpPr>
          <p:cNvPr id="32" name="Freeform 10"/>
          <p:cNvSpPr/>
          <p:nvPr/>
        </p:nvSpPr>
        <p:spPr>
          <a:xfrm>
            <a:off x="10498282" y="3858768"/>
            <a:ext cx="861759" cy="1783080"/>
          </a:xfrm>
          <a:custGeom>
            <a:avLst/>
            <a:gdLst/>
            <a:ahLst/>
            <a:cxnLst/>
            <a:rect l="l" t="t" r="r" b="b"/>
            <a:pathLst>
              <a:path w="1553035" h="3213409">
                <a:moveTo>
                  <a:pt x="0" y="0"/>
                </a:moveTo>
                <a:lnTo>
                  <a:pt x="1553035" y="0"/>
                </a:lnTo>
                <a:lnTo>
                  <a:pt x="1553035" y="3213409"/>
                </a:lnTo>
                <a:lnTo>
                  <a:pt x="0" y="3213409"/>
                </a:lnTo>
                <a:lnTo>
                  <a:pt x="0" y="0"/>
                </a:lnTo>
                <a:close/>
              </a:path>
            </a:pathLst>
          </a:custGeom>
          <a:blipFill>
            <a:blip r:embed="rId9"/>
            <a:stretch>
              <a:fillRect t="-4065" b="-3334"/>
            </a:stretch>
          </a:blipFill>
        </p:spPr>
        <p:txBody>
          <a:bodyPr/>
          <a:lstStyle/>
          <a:p>
            <a:endParaRPr/>
          </a:p>
        </p:txBody>
      </p:sp>
      <p:sp>
        <p:nvSpPr>
          <p:cNvPr id="34" name="Freeform 9"/>
          <p:cNvSpPr/>
          <p:nvPr/>
        </p:nvSpPr>
        <p:spPr>
          <a:xfrm>
            <a:off x="13389239" y="3858768"/>
            <a:ext cx="4212960" cy="1783080"/>
          </a:xfrm>
          <a:custGeom>
            <a:avLst/>
            <a:gdLst/>
            <a:ahLst/>
            <a:cxnLst/>
            <a:rect l="l" t="t" r="r" b="b"/>
            <a:pathLst>
              <a:path w="6414433" h="2714824">
                <a:moveTo>
                  <a:pt x="0" y="0"/>
                </a:moveTo>
                <a:lnTo>
                  <a:pt x="6414433" y="0"/>
                </a:lnTo>
                <a:lnTo>
                  <a:pt x="6414433" y="2714824"/>
                </a:lnTo>
                <a:lnTo>
                  <a:pt x="0" y="2714824"/>
                </a:lnTo>
                <a:lnTo>
                  <a:pt x="0" y="0"/>
                </a:lnTo>
                <a:close/>
              </a:path>
            </a:pathLst>
          </a:custGeom>
          <a:blipFill>
            <a:blip r:embed="rId11"/>
            <a:stretch>
              <a:fillRect t="-2643" r="-1398" b="-29274"/>
            </a:stretch>
          </a:blipFill>
        </p:spPr>
        <p:txBody>
          <a:bodyPr/>
          <a:lstStyle/>
          <a:p>
            <a:endParaRPr/>
          </a:p>
        </p:txBody>
      </p:sp>
      <p:sp>
        <p:nvSpPr>
          <p:cNvPr id="35" name="Freeform 12"/>
          <p:cNvSpPr/>
          <p:nvPr/>
        </p:nvSpPr>
        <p:spPr>
          <a:xfrm>
            <a:off x="10096826"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6" name="Freeform 14"/>
          <p:cNvSpPr/>
          <p:nvPr/>
        </p:nvSpPr>
        <p:spPr>
          <a:xfrm>
            <a:off x="11441457"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7" name="Freeform 12"/>
          <p:cNvSpPr/>
          <p:nvPr/>
        </p:nvSpPr>
        <p:spPr>
          <a:xfrm>
            <a:off x="12987783"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8" name="TextBox 21"/>
          <p:cNvSpPr txBox="1"/>
          <p:nvPr/>
        </p:nvSpPr>
        <p:spPr>
          <a:xfrm>
            <a:off x="1152144" y="6199632"/>
            <a:ext cx="4572000" cy="438912"/>
          </a:xfrm>
          <a:prstGeom prst="rect">
            <a:avLst/>
          </a:prstGeom>
        </p:spPr>
        <p:txBody>
          <a:bodyPr wrap="none" lIns="0" tIns="0" rIns="0" bIns="0" rtlCol="0" anchor="t">
            <a:noAutofit/>
          </a:bodyPr>
          <a:lstStyle/>
          <a:p>
            <a:pPr algn="l">
              <a:lnSpc>
                <a:spcPts val="3000"/>
              </a:lnSpc>
              <a:spcBef>
                <a:spcPct val="0"/>
              </a:spcBef>
            </a:pPr>
            <a:r>
              <a:rPr lang="en-US" sz="2500" b="1" spc="-27">
                <a:solidFill>
                  <a:srgbClr val="974826"/>
                </a:solidFill>
                <a:latin typeface="Calibri"/>
                <a:ea typeface="Calibri"/>
                <a:cs typeface="Calibri"/>
                <a:sym typeface="Calibri"/>
              </a:rPr>
              <a:t>User Experience</a:t>
            </a:r>
          </a:p>
        </p:txBody>
      </p:sp>
      <p:sp>
        <p:nvSpPr>
          <p:cNvPr id="39" name="TextBox 23"/>
          <p:cNvSpPr txBox="1"/>
          <p:nvPr/>
        </p:nvSpPr>
        <p:spPr>
          <a:xfrm>
            <a:off x="987552" y="6638544"/>
            <a:ext cx="7132320" cy="1280160"/>
          </a:xfrm>
          <a:prstGeom prst="rect">
            <a:avLst/>
          </a:prstGeom>
        </p:spPr>
        <p:txBody>
          <a:bodyPr wrap="square" lIns="0" tIns="0" rIns="0" bIns="0" rtlCol="0" anchor="t">
            <a:noAutofit/>
          </a:bodyPr>
          <a:lstStyle/>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4 steps</a:t>
            </a:r>
            <a:r>
              <a:rPr lang="en-US" sz="1700" spc="-22" dirty="0">
                <a:solidFill>
                  <a:srgbClr val="000000"/>
                </a:solidFill>
                <a:latin typeface="Calibri"/>
                <a:ea typeface="Calibri"/>
                <a:cs typeface="Calibri"/>
                <a:sym typeface="Calibri"/>
              </a:rPr>
              <a:t> - choose kit, take photo inside the box, see result, it gets saved. One test takes around 16 seconds (we checked in 19 scans).</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Bad photo?</a:t>
            </a:r>
            <a:r>
              <a:rPr lang="en-US" sz="1700" spc="-22" dirty="0">
                <a:solidFill>
                  <a:srgbClr val="000000"/>
                </a:solidFill>
                <a:latin typeface="Calibri"/>
                <a:ea typeface="Calibri"/>
                <a:cs typeface="Calibri"/>
                <a:sym typeface="Calibri"/>
              </a:rPr>
              <a:t> - app says NOT SURE, tells the reason (blurry, shiny or card not seen) and asks to take the photo again.</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Easy to read</a:t>
            </a:r>
            <a:r>
              <a:rPr lang="en-US" sz="1700" spc="-22" dirty="0">
                <a:solidFill>
                  <a:srgbClr val="000000"/>
                </a:solidFill>
                <a:latin typeface="Calibri"/>
                <a:ea typeface="Calibri"/>
                <a:cs typeface="Calibri"/>
                <a:sym typeface="Calibri"/>
              </a:rPr>
              <a:t> - Result is shown in big </a:t>
            </a:r>
            <a:r>
              <a:rPr lang="en-US" sz="1700" spc="-22" dirty="0" err="1">
                <a:solidFill>
                  <a:srgbClr val="000000"/>
                </a:solidFill>
                <a:latin typeface="Calibri"/>
                <a:ea typeface="Calibri"/>
                <a:cs typeface="Calibri"/>
                <a:sym typeface="Calibri"/>
              </a:rPr>
              <a:t>coloured</a:t>
            </a:r>
            <a:r>
              <a:rPr lang="en-US" sz="1700" spc="-22" dirty="0">
                <a:solidFill>
                  <a:srgbClr val="000000"/>
                </a:solidFill>
                <a:latin typeface="Calibri"/>
                <a:ea typeface="Calibri"/>
                <a:cs typeface="Calibri"/>
                <a:sym typeface="Calibri"/>
              </a:rPr>
              <a:t> letters, so anyone can read it easily. Works in Tamil too.</a:t>
            </a:r>
          </a:p>
        </p:txBody>
      </p:sp>
      <p:sp>
        <p:nvSpPr>
          <p:cNvPr id="40" name="TextBox 39"/>
          <p:cNvSpPr txBox="1"/>
          <p:nvPr/>
        </p:nvSpPr>
        <p:spPr>
          <a:xfrm>
            <a:off x="8595360" y="5641848"/>
            <a:ext cx="9006840" cy="219456"/>
          </a:xfrm>
          <a:prstGeom prst="rect">
            <a:avLst/>
          </a:prstGeom>
          <a:noFill/>
        </p:spPr>
        <p:txBody>
          <a:bodyPr wrap="square" lIns="36576" tIns="18288" rIns="36576" bIns="18288">
            <a:noAutofit/>
          </a:bodyPr>
          <a:lstStyle/>
          <a:p>
            <a:r>
              <a:rPr sz="1200" b="0" i="1">
                <a:solidFill>
                  <a:srgbClr val="6B6B6B"/>
                </a:solidFill>
                <a:latin typeface="Calibri"/>
              </a:rPr>
              <a:t>Result screen shown in Tamil. Test Log (right) can search and filter by date, officer, kit and result, and download CSV or PDF with QR.</a:t>
            </a:r>
          </a:p>
        </p:txBody>
      </p:sp>
      <p:sp>
        <p:nvSpPr>
          <p:cNvPr id="41" name="TextBox 40"/>
          <p:cNvSpPr txBox="1"/>
          <p:nvPr/>
        </p:nvSpPr>
        <p:spPr>
          <a:xfrm>
            <a:off x="2528171" y="1901952"/>
            <a:ext cx="5564269" cy="292608"/>
          </a:xfrm>
          <a:prstGeom prst="rect">
            <a:avLst/>
          </a:prstGeom>
          <a:noFill/>
        </p:spPr>
        <p:txBody>
          <a:bodyPr wrap="square" lIns="27432" tIns="9144" rIns="27432" bIns="9144">
            <a:noAutofit/>
          </a:bodyPr>
          <a:lstStyle/>
          <a:p>
            <a:r>
              <a:rPr sz="1200" b="0">
                <a:solidFill>
                  <a:srgbClr val="555555"/>
                </a:solidFill>
                <a:latin typeface="Calibri"/>
              </a:rPr>
              <a:t>India: 1,20,010 NDPS cases in 2023 (source: NCRB, Crime in India 2023)</a:t>
            </a:r>
          </a:p>
        </p:txBody>
      </p:sp>
      <p:sp>
        <p:nvSpPr>
          <p:cNvPr id="42" name="TextBox 41"/>
          <p:cNvSpPr txBox="1"/>
          <p:nvPr/>
        </p:nvSpPr>
        <p:spPr>
          <a:xfrm>
            <a:off x="10149840" y="6044184"/>
            <a:ext cx="7315200" cy="292608"/>
          </a:xfrm>
          <a:prstGeom prst="rect">
            <a:avLst/>
          </a:prstGeom>
          <a:noFill/>
        </p:spPr>
        <p:txBody>
          <a:bodyPr wrap="square" lIns="27432" tIns="9144" rIns="27432" bIns="9144">
            <a:noAutofit/>
          </a:bodyPr>
          <a:lstStyle/>
          <a:p>
            <a:r>
              <a:rPr sz="1200" b="0">
                <a:solidFill>
                  <a:srgbClr val="555555"/>
                </a:solidFill>
                <a:latin typeface="Calibri"/>
              </a:rPr>
              <a:t>Eye check is guesswork, lab is slow, </a:t>
            </a:r>
            <a:r>
              <a:rPr sz="1200" b="1">
                <a:solidFill>
                  <a:srgbClr val="555555"/>
                </a:solidFill>
                <a:latin typeface="Calibri"/>
              </a:rPr>
              <a:t>FieldProof gives result on the spot for ₹10 with proof</a:t>
            </a:r>
          </a:p>
        </p:txBody>
      </p:sp>
      <p:pic>
        <p:nvPicPr>
          <p:cNvPr id="43" name="Tamil result screen" descr="tamil_result_crop.png"/>
          <p:cNvPicPr>
            <a:picLocks noChangeAspect="1"/>
          </p:cNvPicPr>
          <p:nvPr/>
        </p:nvPicPr>
        <p:blipFill>
          <a:blip r:embed="rId13"/>
          <a:stretch>
            <a:fillRect/>
          </a:stretch>
        </p:blipFill>
        <p:spPr>
          <a:xfrm>
            <a:off x="11842913" y="3858768"/>
            <a:ext cx="1063454" cy="17830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7" name="AutoShape 7"/>
          <p:cNvSpPr/>
          <p:nvPr/>
        </p:nvSpPr>
        <p:spPr>
          <a:xfrm flipV="1">
            <a:off x="9120273" y="2317442"/>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8" name="Freeform 8"/>
          <p:cNvSpPr/>
          <p:nvPr/>
        </p:nvSpPr>
        <p:spPr>
          <a:xfrm>
            <a:off x="575656" y="2365906"/>
            <a:ext cx="8506261" cy="7198718"/>
          </a:xfrm>
          <a:custGeom>
            <a:avLst/>
            <a:gdLst/>
            <a:ahLst/>
            <a:cxnLst/>
            <a:rect l="l" t="t" r="r" b="b"/>
            <a:pathLst>
              <a:path w="8506261" h="7198718">
                <a:moveTo>
                  <a:pt x="0" y="0"/>
                </a:moveTo>
                <a:lnTo>
                  <a:pt x="8506261" y="0"/>
                </a:lnTo>
                <a:lnTo>
                  <a:pt x="8506261" y="7198718"/>
                </a:lnTo>
                <a:lnTo>
                  <a:pt x="0" y="7198718"/>
                </a:lnTo>
                <a:lnTo>
                  <a:pt x="0" y="0"/>
                </a:lnTo>
                <a:close/>
              </a:path>
            </a:pathLst>
          </a:custGeom>
          <a:blipFill>
            <a:blip r:embed="rId4"/>
            <a:stretch>
              <a:fillRect l="-3785" t="-10560" r="-41196" b="-17925"/>
            </a:stretch>
          </a:blipFill>
        </p:spPr>
        <p:txBody>
          <a:bodyPr/>
          <a:lstStyle/>
          <a:p>
            <a:endParaRPr/>
          </a:p>
        </p:txBody>
      </p:sp>
      <p:grpSp>
        <p:nvGrpSpPr>
          <p:cNvPr id="9" name="Group 9"/>
          <p:cNvGrpSpPr/>
          <p:nvPr/>
        </p:nvGrpSpPr>
        <p:grpSpPr>
          <a:xfrm>
            <a:off x="14720116" y="33423"/>
            <a:ext cx="3287373" cy="1531268"/>
            <a:chOff x="0" y="0"/>
            <a:chExt cx="4383164" cy="2041690"/>
          </a:xfrm>
        </p:grpSpPr>
        <p:sp>
          <p:nvSpPr>
            <p:cNvPr id="10" name="Freeform 10"/>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11" name="Freeform 11"/>
          <p:cNvSpPr/>
          <p:nvPr/>
        </p:nvSpPr>
        <p:spPr>
          <a:xfrm>
            <a:off x="15633393" y="3206103"/>
            <a:ext cx="2374096" cy="5123386"/>
          </a:xfrm>
          <a:custGeom>
            <a:avLst/>
            <a:gdLst/>
            <a:ahLst/>
            <a:cxnLst/>
            <a:rect l="l" t="t" r="r" b="b"/>
            <a:pathLst>
              <a:path w="2374096" h="5123386">
                <a:moveTo>
                  <a:pt x="0" y="0"/>
                </a:moveTo>
                <a:lnTo>
                  <a:pt x="2374096" y="0"/>
                </a:lnTo>
                <a:lnTo>
                  <a:pt x="2374096" y="5123386"/>
                </a:lnTo>
                <a:lnTo>
                  <a:pt x="0" y="5123386"/>
                </a:lnTo>
                <a:lnTo>
                  <a:pt x="0" y="0"/>
                </a:lnTo>
                <a:close/>
              </a:path>
            </a:pathLst>
          </a:custGeom>
          <a:blipFill>
            <a:blip r:embed="rId6"/>
            <a:stretch>
              <a:fillRect l="-32659" t="-5244" r="-32335" b="-9439"/>
            </a:stretch>
          </a:blipFill>
        </p:spPr>
        <p:txBody>
          <a:bodyPr/>
          <a:lstStyle/>
          <a:p>
            <a:endParaRPr/>
          </a:p>
        </p:txBody>
      </p:sp>
      <p:sp>
        <p:nvSpPr>
          <p:cNvPr id="12" name="AutoShape 12"/>
          <p:cNvSpPr/>
          <p:nvPr/>
        </p:nvSpPr>
        <p:spPr>
          <a:xfrm flipV="1">
            <a:off x="15376592" y="2280181"/>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14" name="TextBox 14" descr="$PPTXTitle"/>
          <p:cNvSpPr txBox="1"/>
          <p:nvPr/>
        </p:nvSpPr>
        <p:spPr>
          <a:xfrm>
            <a:off x="4732364" y="360750"/>
            <a:ext cx="8268583" cy="847725"/>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TECHNICAL APPROACH</a:t>
            </a:r>
          </a:p>
        </p:txBody>
      </p:sp>
      <p:sp>
        <p:nvSpPr>
          <p:cNvPr id="15" name="TextBox 15"/>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3</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15414563" y="2563902"/>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Technology Stack</a:t>
            </a:r>
          </a:p>
        </p:txBody>
      </p:sp>
      <p:sp>
        <p:nvSpPr>
          <p:cNvPr id="18" name="TextBox 18"/>
          <p:cNvSpPr txBox="1"/>
          <p:nvPr/>
        </p:nvSpPr>
        <p:spPr>
          <a:xfrm>
            <a:off x="714375" y="1842031"/>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System Architecture</a:t>
            </a:r>
          </a:p>
        </p:txBody>
      </p:sp>
      <p:sp>
        <p:nvSpPr>
          <p:cNvPr id="19" name="TextBox 19"/>
          <p:cNvSpPr txBox="1"/>
          <p:nvPr/>
        </p:nvSpPr>
        <p:spPr>
          <a:xfrm>
            <a:off x="9248369" y="2251606"/>
            <a:ext cx="5761019" cy="3268218"/>
          </a:xfrm>
          <a:prstGeom prst="rect">
            <a:avLst/>
          </a:prstGeom>
        </p:spPr>
        <p:txBody>
          <a:bodyPr lIns="0" tIns="0" rIns="0" bIns="0" rtlCol="0" anchor="t">
            <a:spAutoFit/>
          </a:bodyPr>
          <a:lstStyle/>
          <a:p>
            <a:pPr marL="367031" lvl="1" indent="-183515" algn="l">
              <a:lnSpc>
                <a:spcPct val="110000"/>
              </a:lnSpc>
              <a:buFont typeface="Arial"/>
              <a:buChar char="•"/>
            </a:pPr>
            <a:r>
              <a:rPr lang="en-US" sz="1700" spc="-13">
                <a:solidFill>
                  <a:srgbClr val="000000"/>
                </a:solidFill>
                <a:latin typeface="Calibri"/>
                <a:ea typeface="Calibri"/>
                <a:cs typeface="Calibri"/>
                <a:sym typeface="Calibri"/>
              </a:rPr>
              <a:t>Testing: 37 computer made photos and 25 real phone scans.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Accuracy: all 25 computer made photos correct. Real scans had 0 wrong answers (14 correct, others said NOT SURE).</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Colour Check: Used ΔE ≤ 14, 4-point colour matching, card-fit and glare thresholds.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Speed: Result secured in 2.5 s typically, 5 s maximum.</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Tamper Test: All 4/4 modified records were detected successfully.</a:t>
            </a:r>
          </a:p>
        </p:txBody>
      </p:sp>
      <p:sp>
        <p:nvSpPr>
          <p:cNvPr id="20" name="TextBox 20"/>
          <p:cNvSpPr txBox="1"/>
          <p:nvPr/>
        </p:nvSpPr>
        <p:spPr>
          <a:xfrm>
            <a:off x="9248369" y="4590288"/>
            <a:ext cx="5885001" cy="552450"/>
          </a:xfrm>
          <a:prstGeom prst="rect">
            <a:avLst/>
          </a:prstGeom>
        </p:spPr>
        <p:txBody>
          <a:bodyPr lIns="0" tIns="0" rIns="0" bIns="0" rtlCol="0" anchor="t">
            <a:spAutoFit/>
          </a:bodyPr>
          <a:lstStyle/>
          <a:p>
            <a:pPr algn="ctr">
              <a:lnSpc>
                <a:spcPts val="2040"/>
              </a:lnSpc>
              <a:spcBef>
                <a:spcPct val="0"/>
              </a:spcBef>
            </a:pPr>
            <a:r>
              <a:rPr lang="en-US" sz="1700" i="1" spc="-18">
                <a:solidFill>
                  <a:srgbClr val="000000"/>
                </a:solidFill>
                <a:latin typeface="Calibri"/>
                <a:ea typeface="Calibri"/>
                <a:cs typeface="Calibri"/>
                <a:sym typeface="Calibri"/>
              </a:rPr>
              <a:t>Kit colours are simulated swatches (test photos + card on a screen), real kits need an FSL calibration trial.</a:t>
            </a:r>
          </a:p>
          <a:p>
            <a:pPr algn="ctr">
              <a:lnSpc>
                <a:spcPts val="2040"/>
              </a:lnSpc>
              <a:spcBef>
                <a:spcPct val="0"/>
              </a:spcBef>
            </a:pPr>
            <a:r>
              <a:rPr lang="en-US" sz="1700" i="1" spc="-18">
                <a:solidFill>
                  <a:srgbClr val="000000"/>
                </a:solidFill>
                <a:latin typeface="Calibri"/>
                <a:ea typeface="Calibri"/>
                <a:cs typeface="Calibri"/>
                <a:sym typeface="Calibri"/>
              </a:rPr>
              <a:t>Right now it is a lab prototype (TRL 4) tested on 1 phone. Next we test real kits with FSL on more phones.</a:t>
            </a:r>
          </a:p>
        </p:txBody>
      </p:sp>
      <p:sp>
        <p:nvSpPr>
          <p:cNvPr id="21" name="TextBox 21"/>
          <p:cNvSpPr txBox="1"/>
          <p:nvPr/>
        </p:nvSpPr>
        <p:spPr>
          <a:xfrm>
            <a:off x="9281316" y="1842031"/>
            <a:ext cx="3900607" cy="438150"/>
          </a:xfrm>
          <a:prstGeom prst="rect">
            <a:avLst/>
          </a:prstGeom>
        </p:spPr>
        <p:txBody>
          <a:bodyPr lIns="0" tIns="0" rIns="0" bIns="0" rtlCol="0" anchor="t">
            <a:spAutoFit/>
          </a:bodyPr>
          <a:lstStyle/>
          <a:p>
            <a:pPr algn="l">
              <a:lnSpc>
                <a:spcPts val="3000"/>
              </a:lnSpc>
            </a:pPr>
            <a:r>
              <a:rPr lang="en-US" sz="2500" b="1">
                <a:solidFill>
                  <a:srgbClr val="7A2F00"/>
                </a:solidFill>
                <a:latin typeface="Calibri"/>
                <a:ea typeface="Calibri"/>
                <a:cs typeface="Calibri"/>
                <a:sym typeface="Calibri"/>
              </a:rPr>
              <a:t>Our Goals - Measured Results</a:t>
            </a:r>
          </a:p>
        </p:txBody>
      </p:sp>
      <p:sp>
        <p:nvSpPr>
          <p:cNvPr id="22" name="TextBox 22"/>
          <p:cNvSpPr txBox="1"/>
          <p:nvPr/>
        </p:nvSpPr>
        <p:spPr>
          <a:xfrm>
            <a:off x="9253728" y="5888736"/>
            <a:ext cx="5989320" cy="381000"/>
          </a:xfrm>
          <a:prstGeom prst="rect">
            <a:avLst/>
          </a:prstGeom>
        </p:spPr>
        <p:txBody>
          <a:bodyPr wrap="none" lIns="0" tIns="0" rIns="0" bIns="0" rtlCol="0" anchor="t">
            <a:noAutofit/>
          </a:bodyPr>
          <a:lstStyle/>
          <a:p>
            <a:pPr algn="ctr">
              <a:lnSpc>
                <a:spcPts val="2640"/>
              </a:lnSpc>
              <a:spcBef>
                <a:spcPct val="0"/>
              </a:spcBef>
            </a:pPr>
            <a:r>
              <a:rPr lang="en-US" sz="2200" b="1" spc="-24">
                <a:solidFill>
                  <a:srgbClr val="7A2F00"/>
                </a:solidFill>
                <a:latin typeface="Calibri"/>
                <a:ea typeface="Calibri"/>
                <a:cs typeface="Calibri"/>
                <a:sym typeface="Calibri"/>
              </a:rPr>
              <a:t>Proof from Real Phone Scans (29 Sep 2026)</a:t>
            </a:r>
          </a:p>
        </p:txBody>
      </p:sp>
      <p:sp>
        <p:nvSpPr>
          <p:cNvPr id="23" name="AutoShape 23"/>
          <p:cNvSpPr/>
          <p:nvPr/>
        </p:nvSpPr>
        <p:spPr>
          <a:xfrm>
            <a:off x="9248369" y="5833872"/>
            <a:ext cx="5885001" cy="0"/>
          </a:xfrm>
          <a:prstGeom prst="line">
            <a:avLst/>
          </a:prstGeom>
          <a:ln w="19050" cap="flat">
            <a:solidFill>
              <a:srgbClr val="B2935B"/>
            </a:solidFill>
            <a:prstDash val="solid"/>
            <a:headEnd type="none" w="sm" len="sm"/>
            <a:tailEnd type="none" w="sm" len="sm"/>
          </a:ln>
        </p:spPr>
        <p:txBody>
          <a:bodyPr/>
          <a:lstStyle/>
          <a:p>
            <a:endParaRPr/>
          </a:p>
        </p:txBody>
      </p:sp>
      <p:pic>
        <p:nvPicPr>
          <p:cNvPr id="24" name="Real scans" descr="real_scans.png"/>
          <p:cNvPicPr>
            <a:picLocks noChangeAspect="1"/>
          </p:cNvPicPr>
          <p:nvPr/>
        </p:nvPicPr>
        <p:blipFill>
          <a:blip r:embed="rId8"/>
          <a:stretch>
            <a:fillRect/>
          </a:stretch>
        </p:blipFill>
        <p:spPr>
          <a:xfrm>
            <a:off x="9270671" y="6309360"/>
            <a:ext cx="5955433" cy="316382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pSp>
        <p:nvGrpSpPr>
          <p:cNvPr id="6" name="Group 6"/>
          <p:cNvGrpSpPr/>
          <p:nvPr/>
        </p:nvGrpSpPr>
        <p:grpSpPr>
          <a:xfrm>
            <a:off x="0" y="9564624"/>
            <a:ext cx="18280761" cy="715289"/>
            <a:chOff x="0" y="0"/>
            <a:chExt cx="24374348" cy="953719"/>
          </a:xfrm>
        </p:grpSpPr>
        <p:sp>
          <p:nvSpPr>
            <p:cNvPr id="7" name="Freeform 7"/>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8" name="Group 8"/>
          <p:cNvGrpSpPr/>
          <p:nvPr/>
        </p:nvGrpSpPr>
        <p:grpSpPr>
          <a:xfrm>
            <a:off x="0" y="9532620"/>
            <a:ext cx="18288000" cy="754380"/>
            <a:chOff x="0" y="0"/>
            <a:chExt cx="24384000" cy="1005840"/>
          </a:xfrm>
        </p:grpSpPr>
        <p:sp>
          <p:nvSpPr>
            <p:cNvPr id="9" name="Freeform 9"/>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aphicFrame>
        <p:nvGraphicFramePr>
          <p:cNvPr id="10" name="Table 10"/>
          <p:cNvGraphicFramePr>
            <a:graphicFrameLocks noGrp="1"/>
          </p:cNvGraphicFramePr>
          <p:nvPr/>
        </p:nvGraphicFramePr>
        <p:xfrm>
          <a:off x="9363648" y="2318099"/>
          <a:ext cx="7695951" cy="4167065"/>
        </p:xfrm>
        <a:graphic>
          <a:graphicData uri="http://schemas.openxmlformats.org/drawingml/2006/table">
            <a:tbl>
              <a:tblPr/>
              <a:tblGrid>
                <a:gridCol w="3597282">
                  <a:extLst>
                    <a:ext uri="{9D8B030D-6E8A-4147-A177-3AD203B41FA5}">
                      <a16:colId xmlns:a16="http://schemas.microsoft.com/office/drawing/2014/main" val="20000"/>
                    </a:ext>
                  </a:extLst>
                </a:gridCol>
                <a:gridCol w="4098669">
                  <a:extLst>
                    <a:ext uri="{9D8B030D-6E8A-4147-A177-3AD203B41FA5}">
                      <a16:colId xmlns:a16="http://schemas.microsoft.com/office/drawing/2014/main" val="20001"/>
                    </a:ext>
                  </a:extLst>
                </a:gridCol>
              </a:tblGrid>
              <a:tr h="773293">
                <a:tc>
                  <a:txBody>
                    <a:bodyPr/>
                    <a:lstStyle/>
                    <a:p>
                      <a:pPr algn="ctr">
                        <a:lnSpc>
                          <a:spcPts val="2659"/>
                        </a:lnSpc>
                        <a:defRPr/>
                      </a:pPr>
                      <a:r>
                        <a:rPr lang="en-US" sz="1899" b="1">
                          <a:solidFill>
                            <a:srgbClr val="000000"/>
                          </a:solidFill>
                          <a:latin typeface="Calibri"/>
                          <a:ea typeface="Calibri"/>
                          <a:cs typeface="Calibri"/>
                          <a:sym typeface="Calibri"/>
                        </a:rPr>
                        <a:t>Real-world problem</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tc>
                  <a:txBody>
                    <a:bodyPr/>
                    <a:lstStyle/>
                    <a:p>
                      <a:pPr algn="ctr">
                        <a:lnSpc>
                          <a:spcPts val="2659"/>
                        </a:lnSpc>
                        <a:defRPr/>
                      </a:pPr>
                      <a:r>
                        <a:rPr lang="en-US" sz="1899" b="1">
                          <a:solidFill>
                            <a:srgbClr val="000000"/>
                          </a:solidFill>
                          <a:latin typeface="Calibri"/>
                          <a:ea typeface="Calibri"/>
                          <a:cs typeface="Calibri"/>
                          <a:sym typeface="Calibri"/>
                        </a:rPr>
                        <a:t>What our app does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677824">
                <a:tc>
                  <a:txBody>
                    <a:bodyPr/>
                    <a:lstStyle/>
                    <a:p>
                      <a:pPr algn="l">
                        <a:lnSpc>
                          <a:spcPts val="1959"/>
                        </a:lnSpc>
                        <a:defRPr/>
                      </a:pPr>
                      <a:r>
                        <a:rPr lang="en-US" sz="1399">
                          <a:solidFill>
                            <a:srgbClr val="000000"/>
                          </a:solidFill>
                          <a:latin typeface="Calibri"/>
                          <a:ea typeface="Calibri"/>
                          <a:cs typeface="Calibri"/>
                          <a:sym typeface="Calibri"/>
                        </a:rPr>
                        <a:t>Bad light (street lamp / torch)</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Colour card fixes the colours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82476">
                <a:tc>
                  <a:txBody>
                    <a:bodyPr/>
                    <a:lstStyle/>
                    <a:p>
                      <a:pPr algn="l">
                        <a:lnSpc>
                          <a:spcPts val="1959"/>
                        </a:lnSpc>
                        <a:defRPr/>
                      </a:pPr>
                      <a:r>
                        <a:rPr lang="en-US" sz="1399">
                          <a:solidFill>
                            <a:srgbClr val="000000"/>
                          </a:solidFill>
                          <a:latin typeface="Calibri"/>
                          <a:ea typeface="Calibri"/>
                          <a:cs typeface="Calibri"/>
                          <a:sym typeface="Calibri"/>
                        </a:rPr>
                        <a:t>Shiny or blurry photo, card missing</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and asks to retake</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77824">
                <a:tc>
                  <a:txBody>
                    <a:bodyPr/>
                    <a:lstStyle/>
                    <a:p>
                      <a:pPr algn="l">
                        <a:lnSpc>
                          <a:spcPts val="1959"/>
                        </a:lnSpc>
                        <a:defRPr/>
                      </a:pPr>
                      <a:r>
                        <a:rPr lang="en-US" sz="1399">
                          <a:solidFill>
                            <a:srgbClr val="000000"/>
                          </a:solidFill>
                          <a:latin typeface="Calibri"/>
                          <a:ea typeface="Calibri"/>
                          <a:cs typeface="Calibri"/>
                          <a:sym typeface="Calibri"/>
                        </a:rPr>
                        <a:t>Colour is in between two results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senior officer checks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77824">
                <a:tc>
                  <a:txBody>
                    <a:bodyPr/>
                    <a:lstStyle/>
                    <a:p>
                      <a:pPr algn="l">
                        <a:lnSpc>
                          <a:spcPts val="1959"/>
                        </a:lnSpc>
                        <a:defRPr/>
                      </a:pPr>
                      <a:r>
                        <a:rPr lang="en-US" sz="1399">
                          <a:solidFill>
                            <a:srgbClr val="000000"/>
                          </a:solidFill>
                          <a:latin typeface="Calibri"/>
                          <a:ea typeface="Calibri"/>
                          <a:cs typeface="Calibri"/>
                          <a:sym typeface="Calibri"/>
                        </a:rPr>
                        <a:t>Fake photo or edited record</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In-app camera only + photo fingerprint</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77824">
                <a:tc>
                  <a:txBody>
                    <a:bodyPr/>
                    <a:lstStyle/>
                    <a:p>
                      <a:pPr algn="l">
                        <a:lnSpc>
                          <a:spcPts val="1959"/>
                        </a:lnSpc>
                        <a:defRPr/>
                      </a:pPr>
                      <a:r>
                        <a:rPr lang="en-US" sz="1399">
                          <a:solidFill>
                            <a:srgbClr val="000000"/>
                          </a:solidFill>
                          <a:latin typeface="Calibri"/>
                          <a:ea typeface="Calibri"/>
                          <a:cs typeface="Calibri"/>
                          <a:sym typeface="Calibri"/>
                        </a:rPr>
                        <a:t>Different kits and phones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Kit settings + colours fixed every photo</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AutoShape 11"/>
          <p:cNvSpPr/>
          <p:nvPr/>
        </p:nvSpPr>
        <p:spPr>
          <a:xfrm>
            <a:off x="8899227" y="1857539"/>
            <a:ext cx="0" cy="7193961"/>
          </a:xfrm>
          <a:prstGeom prst="line">
            <a:avLst/>
          </a:prstGeom>
          <a:ln w="19050" cap="flat">
            <a:solidFill>
              <a:srgbClr val="B2935B"/>
            </a:solidFill>
            <a:prstDash val="solid"/>
            <a:headEnd type="none" w="sm" len="sm"/>
            <a:tailEnd type="none" w="sm" len="sm"/>
          </a:ln>
        </p:spPr>
        <p:txBody>
          <a:bodyPr/>
          <a:lstStyle/>
          <a:p>
            <a:endParaRPr/>
          </a:p>
        </p:txBody>
      </p:sp>
      <p:sp>
        <p:nvSpPr>
          <p:cNvPr id="12" name="AutoShape 12"/>
          <p:cNvSpPr/>
          <p:nvPr/>
        </p:nvSpPr>
        <p:spPr>
          <a:xfrm>
            <a:off x="414105" y="6018440"/>
            <a:ext cx="8475596" cy="0"/>
          </a:xfrm>
          <a:prstGeom prst="line">
            <a:avLst/>
          </a:prstGeom>
          <a:ln w="19050" cap="flat">
            <a:solidFill>
              <a:srgbClr val="B2935B"/>
            </a:solidFill>
            <a:prstDash val="solid"/>
            <a:headEnd type="none" w="sm" len="sm"/>
            <a:tailEnd type="none" w="sm" len="sm"/>
          </a:ln>
        </p:spPr>
        <p:txBody>
          <a:bodyPr/>
          <a:lstStyle/>
          <a:p>
            <a:endParaRPr/>
          </a:p>
        </p:txBody>
      </p:sp>
      <p:sp>
        <p:nvSpPr>
          <p:cNvPr id="13" name="Freeform 13"/>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4" name="Freeform 14"/>
          <p:cNvSpPr/>
          <p:nvPr/>
        </p:nvSpPr>
        <p:spPr>
          <a:xfrm>
            <a:off x="502920" y="6675120"/>
            <a:ext cx="3977639" cy="2219604"/>
          </a:xfrm>
          <a:custGeom>
            <a:avLst/>
            <a:gdLst/>
            <a:ahLst/>
            <a:cxnLst/>
            <a:rect l="l" t="t" r="r" b="b"/>
            <a:pathLst>
              <a:path w="5354622" h="2987110">
                <a:moveTo>
                  <a:pt x="0" y="0"/>
                </a:moveTo>
                <a:lnTo>
                  <a:pt x="5354622" y="0"/>
                </a:lnTo>
                <a:lnTo>
                  <a:pt x="5354622" y="2987110"/>
                </a:lnTo>
                <a:lnTo>
                  <a:pt x="0" y="2987110"/>
                </a:lnTo>
                <a:lnTo>
                  <a:pt x="0" y="0"/>
                </a:lnTo>
                <a:close/>
              </a:path>
            </a:pathLst>
          </a:custGeom>
          <a:blipFill>
            <a:blip r:embed="rId4"/>
            <a:stretch>
              <a:fillRect l="-22999" t="-62172" r="-21685" b="-32345"/>
            </a:stretch>
          </a:blipFill>
        </p:spPr>
        <p:txBody>
          <a:bodyPr/>
          <a:lstStyle/>
          <a:p>
            <a:endParaRPr/>
          </a:p>
        </p:txBody>
      </p:sp>
      <p:sp>
        <p:nvSpPr>
          <p:cNvPr id="15" name="TextBox 15" descr="$PPTXTitle"/>
          <p:cNvSpPr txBox="1"/>
          <p:nvPr/>
        </p:nvSpPr>
        <p:spPr>
          <a:xfrm>
            <a:off x="3963967" y="360907"/>
            <a:ext cx="9813370" cy="847725"/>
          </a:xfrm>
          <a:prstGeom prst="rect">
            <a:avLst/>
          </a:prstGeom>
        </p:spPr>
        <p:txBody>
          <a:bodyPr lIns="0" tIns="0" rIns="0" bIns="0" rtlCol="0" anchor="t">
            <a:spAutoFit/>
          </a:bodyPr>
          <a:lstStyle/>
          <a:p>
            <a:pPr algn="l">
              <a:lnSpc>
                <a:spcPts val="6480"/>
              </a:lnSpc>
            </a:pPr>
            <a:r>
              <a:rPr lang="en-US" sz="5400" b="1" spc="-30">
                <a:solidFill>
                  <a:srgbClr val="7A2F00"/>
                </a:solidFill>
                <a:latin typeface="Times New Roman Bold"/>
                <a:ea typeface="Times New Roman Bold"/>
                <a:cs typeface="Times New Roman Bold"/>
                <a:sym typeface="Times New Roman Bold"/>
              </a:rPr>
              <a:t>FEASIBILITY AND VIABILITY</a:t>
            </a:r>
          </a:p>
        </p:txBody>
      </p:sp>
      <p:sp>
        <p:nvSpPr>
          <p:cNvPr id="16" name="TextBox 16"/>
          <p:cNvSpPr txBox="1"/>
          <p:nvPr/>
        </p:nvSpPr>
        <p:spPr>
          <a:xfrm>
            <a:off x="9144000" y="1809914"/>
            <a:ext cx="384917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Potential Challenges &amp; Strategies</a:t>
            </a:r>
          </a:p>
        </p:txBody>
      </p:sp>
      <p:sp>
        <p:nvSpPr>
          <p:cNvPr id="17" name="TextBox 17"/>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4</a:t>
            </a:r>
          </a:p>
        </p:txBody>
      </p:sp>
      <p:sp>
        <p:nvSpPr>
          <p:cNvPr id="18" name="TextBox 18"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9" name="TextBox 19"/>
          <p:cNvSpPr txBox="1"/>
          <p:nvPr/>
        </p:nvSpPr>
        <p:spPr>
          <a:xfrm>
            <a:off x="646791" y="6104165"/>
            <a:ext cx="4281964"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Phased Implementation &amp; Scalability</a:t>
            </a:r>
          </a:p>
        </p:txBody>
      </p:sp>
      <p:sp>
        <p:nvSpPr>
          <p:cNvPr id="20" name="TextBox 20"/>
          <p:cNvSpPr txBox="1"/>
          <p:nvPr/>
        </p:nvSpPr>
        <p:spPr>
          <a:xfrm>
            <a:off x="646791" y="1809914"/>
            <a:ext cx="306431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Feasibility &amp; Sustainability</a:t>
            </a:r>
          </a:p>
        </p:txBody>
      </p:sp>
      <p:sp>
        <p:nvSpPr>
          <p:cNvPr id="21" name="TextBox 21"/>
          <p:cNvSpPr txBox="1"/>
          <p:nvPr/>
        </p:nvSpPr>
        <p:spPr>
          <a:xfrm>
            <a:off x="471255" y="2271877"/>
            <a:ext cx="8399396" cy="3608451"/>
          </a:xfrm>
          <a:prstGeom prst="rect">
            <a:avLst/>
          </a:prstGeom>
        </p:spPr>
        <p:txBody>
          <a:bodyPr lIns="0" tIns="0" rIns="0" bIns="0" rtlCol="0" anchor="t">
            <a:spAutoFit/>
          </a:bodyPr>
          <a:lstStyle/>
          <a:p>
            <a:pPr marL="410209" lvl="1" indent="-205105" algn="l">
              <a:lnSpc>
                <a:spcPts val="3191"/>
              </a:lnSpc>
              <a:buFont typeface="Arial"/>
              <a:buChar char="•"/>
            </a:pPr>
            <a:r>
              <a:rPr lang="en-US" sz="1899" b="1" spc="-15">
                <a:solidFill>
                  <a:srgbClr val="000000"/>
                </a:solidFill>
                <a:latin typeface="Calibri"/>
                <a:ea typeface="Calibri"/>
                <a:cs typeface="Calibri"/>
                <a:sym typeface="Calibri"/>
              </a:rPr>
              <a:t>Technical</a:t>
            </a:r>
            <a:r>
              <a:rPr lang="en-US" sz="1899" spc="-15">
                <a:solidFill>
                  <a:srgbClr val="000000"/>
                </a:solidFill>
                <a:latin typeface="Calibri"/>
                <a:ea typeface="Calibri"/>
                <a:cs typeface="Calibri"/>
                <a:sym typeface="Calibri"/>
              </a:rPr>
              <a:t> - Core app tested with OpenCV-based colour analysis.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User-Friendly</a:t>
            </a:r>
            <a:r>
              <a:rPr lang="en-US" sz="1899" spc="-15">
                <a:solidFill>
                  <a:srgbClr val="000000"/>
                </a:solidFill>
                <a:latin typeface="Calibri"/>
                <a:ea typeface="Calibri"/>
                <a:cs typeface="Calibri"/>
                <a:sym typeface="Calibri"/>
              </a:rPr>
              <a:t> - Capture one photo and get a result within seconds.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Low Cost</a:t>
            </a:r>
            <a:r>
              <a:rPr lang="en-US" sz="1899" spc="-15">
                <a:solidFill>
                  <a:srgbClr val="000000"/>
                </a:solidFill>
                <a:latin typeface="Calibri"/>
                <a:ea typeface="Calibri"/>
                <a:cs typeface="Calibri"/>
                <a:sym typeface="Calibri"/>
              </a:rPr>
              <a:t> - Uses an existing Android phone, a reusable ~₹10 colour card, and open-source tools.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Operational</a:t>
            </a:r>
            <a:r>
              <a:rPr lang="en-US" sz="1899" spc="-15">
                <a:solidFill>
                  <a:srgbClr val="000000"/>
                </a:solidFill>
                <a:latin typeface="Calibri"/>
                <a:ea typeface="Calibri"/>
                <a:cs typeface="Calibri"/>
                <a:sym typeface="Calibri"/>
              </a:rPr>
              <a:t> - Simple photo-based workflow with minimal training required.</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Scalable</a:t>
            </a:r>
            <a:r>
              <a:rPr lang="en-US" sz="1899" spc="-15">
                <a:solidFill>
                  <a:srgbClr val="000000"/>
                </a:solidFill>
                <a:latin typeface="Calibri"/>
                <a:ea typeface="Calibri"/>
                <a:cs typeface="Calibri"/>
                <a:sym typeface="Calibri"/>
              </a:rPr>
              <a:t> - Add new test-kit colour profiles through the Admin website without updating the app.</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Sustainable</a:t>
            </a:r>
            <a:r>
              <a:rPr lang="en-US" sz="1899" spc="-15">
                <a:solidFill>
                  <a:srgbClr val="000000"/>
                </a:solidFill>
                <a:latin typeface="Calibri"/>
                <a:ea typeface="Calibri"/>
                <a:cs typeface="Calibri"/>
                <a:sym typeface="Calibri"/>
              </a:rPr>
              <a:t> - Government-cloud hosting, regular profile updates, and secure data storage support long-term use.</a:t>
            </a:r>
          </a:p>
        </p:txBody>
      </p:sp>
      <p:grpSp>
        <p:nvGrpSpPr>
          <p:cNvPr id="22" name="Group 22"/>
          <p:cNvGrpSpPr/>
          <p:nvPr/>
        </p:nvGrpSpPr>
        <p:grpSpPr>
          <a:xfrm>
            <a:off x="14720116" y="33423"/>
            <a:ext cx="3287373" cy="1531268"/>
            <a:chOff x="0" y="0"/>
            <a:chExt cx="4383164" cy="2041690"/>
          </a:xfrm>
        </p:grpSpPr>
        <p:sp>
          <p:nvSpPr>
            <p:cNvPr id="23" name="Freeform 23"/>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24" name="TextBox 24"/>
          <p:cNvSpPr txBox="1"/>
          <p:nvPr/>
        </p:nvSpPr>
        <p:spPr>
          <a:xfrm>
            <a:off x="9144000" y="6749314"/>
            <a:ext cx="2830116"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Cost &amp; Deployment Plan</a:t>
            </a:r>
          </a:p>
        </p:txBody>
      </p:sp>
      <p:grpSp>
        <p:nvGrpSpPr>
          <p:cNvPr id="25" name="Group 25"/>
          <p:cNvGrpSpPr/>
          <p:nvPr/>
        </p:nvGrpSpPr>
        <p:grpSpPr>
          <a:xfrm>
            <a:off x="9088924" y="7391299"/>
            <a:ext cx="1606622" cy="1880336"/>
            <a:chOff x="0" y="0"/>
            <a:chExt cx="27419684" cy="32091074"/>
          </a:xfrm>
        </p:grpSpPr>
        <p:sp>
          <p:nvSpPr>
            <p:cNvPr id="26" name="Freeform 26"/>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27" name="TextBox 27"/>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28" name="Group 28"/>
          <p:cNvGrpSpPr/>
          <p:nvPr/>
        </p:nvGrpSpPr>
        <p:grpSpPr>
          <a:xfrm>
            <a:off x="10875719" y="7391299"/>
            <a:ext cx="1606622" cy="1880336"/>
            <a:chOff x="0" y="0"/>
            <a:chExt cx="27419684" cy="32091074"/>
          </a:xfrm>
        </p:grpSpPr>
        <p:sp>
          <p:nvSpPr>
            <p:cNvPr id="29" name="Freeform 29"/>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0" name="TextBox 30"/>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1" name="Group 31"/>
          <p:cNvGrpSpPr/>
          <p:nvPr/>
        </p:nvGrpSpPr>
        <p:grpSpPr>
          <a:xfrm>
            <a:off x="12663316" y="7391299"/>
            <a:ext cx="1606622" cy="1880336"/>
            <a:chOff x="0" y="0"/>
            <a:chExt cx="27419684" cy="32091074"/>
          </a:xfrm>
        </p:grpSpPr>
        <p:sp>
          <p:nvSpPr>
            <p:cNvPr id="32" name="Freeform 32"/>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3" name="TextBox 33"/>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4" name="Group 34"/>
          <p:cNvGrpSpPr/>
          <p:nvPr/>
        </p:nvGrpSpPr>
        <p:grpSpPr>
          <a:xfrm>
            <a:off x="14450913" y="7391299"/>
            <a:ext cx="1606622" cy="1880336"/>
            <a:chOff x="0" y="0"/>
            <a:chExt cx="27419684" cy="32091074"/>
          </a:xfrm>
        </p:grpSpPr>
        <p:sp>
          <p:nvSpPr>
            <p:cNvPr id="35" name="Freeform 35"/>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6" name="TextBox 36"/>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7" name="Group 37"/>
          <p:cNvGrpSpPr/>
          <p:nvPr/>
        </p:nvGrpSpPr>
        <p:grpSpPr>
          <a:xfrm>
            <a:off x="16238511" y="7391299"/>
            <a:ext cx="1606622" cy="1880336"/>
            <a:chOff x="0" y="0"/>
            <a:chExt cx="27419684" cy="32091074"/>
          </a:xfrm>
        </p:grpSpPr>
        <p:sp>
          <p:nvSpPr>
            <p:cNvPr id="38" name="Freeform 38"/>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9" name="TextBox 39"/>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sp>
        <p:nvSpPr>
          <p:cNvPr id="40" name="TextBox 40"/>
          <p:cNvSpPr txBox="1"/>
          <p:nvPr/>
        </p:nvSpPr>
        <p:spPr>
          <a:xfrm>
            <a:off x="9088924"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COST</a:t>
            </a:r>
          </a:p>
        </p:txBody>
      </p:sp>
      <p:sp>
        <p:nvSpPr>
          <p:cNvPr id="41" name="TextBox 41"/>
          <p:cNvSpPr txBox="1"/>
          <p:nvPr/>
        </p:nvSpPr>
        <p:spPr>
          <a:xfrm>
            <a:off x="10875719"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HOSTING</a:t>
            </a:r>
          </a:p>
        </p:txBody>
      </p:sp>
      <p:sp>
        <p:nvSpPr>
          <p:cNvPr id="42" name="TextBox 42"/>
          <p:cNvSpPr txBox="1"/>
          <p:nvPr/>
        </p:nvSpPr>
        <p:spPr>
          <a:xfrm>
            <a:off x="12663316"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MAINTENANCE</a:t>
            </a:r>
          </a:p>
        </p:txBody>
      </p:sp>
      <p:sp>
        <p:nvSpPr>
          <p:cNvPr id="43" name="TextBox 43"/>
          <p:cNvSpPr txBox="1"/>
          <p:nvPr/>
        </p:nvSpPr>
        <p:spPr>
          <a:xfrm>
            <a:off x="14450913"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DEPLOYMENT</a:t>
            </a:r>
          </a:p>
        </p:txBody>
      </p:sp>
      <p:sp>
        <p:nvSpPr>
          <p:cNvPr id="44" name="TextBox 44"/>
          <p:cNvSpPr txBox="1"/>
          <p:nvPr/>
        </p:nvSpPr>
        <p:spPr>
          <a:xfrm>
            <a:off x="16238511"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SCALE</a:t>
            </a:r>
          </a:p>
        </p:txBody>
      </p:sp>
      <p:sp>
        <p:nvSpPr>
          <p:cNvPr id="45" name="TextBox 45"/>
          <p:cNvSpPr txBox="1"/>
          <p:nvPr/>
        </p:nvSpPr>
        <p:spPr>
          <a:xfrm>
            <a:off x="9157881"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Uses an existing phone, ₹10 reusable colour card, and open-source software.</a:t>
            </a:r>
          </a:p>
        </p:txBody>
      </p:sp>
      <p:sp>
        <p:nvSpPr>
          <p:cNvPr id="46" name="TextBox 46"/>
          <p:cNvSpPr txBox="1"/>
          <p:nvPr/>
        </p:nvSpPr>
        <p:spPr>
          <a:xfrm>
            <a:off x="10943196"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Runs on government cloud for the app, database, and admin dashboard.</a:t>
            </a:r>
          </a:p>
        </p:txBody>
      </p:sp>
      <p:sp>
        <p:nvSpPr>
          <p:cNvPr id="47" name="TextBox 47"/>
          <p:cNvSpPr txBox="1"/>
          <p:nvPr/>
        </p:nvSpPr>
        <p:spPr>
          <a:xfrm>
            <a:off x="1270598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Regular security updates and easy kit-profile updates as needed.</a:t>
            </a:r>
          </a:p>
        </p:txBody>
      </p:sp>
      <p:sp>
        <p:nvSpPr>
          <p:cNvPr id="48" name="TextBox 48"/>
          <p:cNvSpPr txBox="1"/>
          <p:nvPr/>
        </p:nvSpPr>
        <p:spPr>
          <a:xfrm>
            <a:off x="1451987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Start with a pilot, test in the field, then expand deployment.</a:t>
            </a:r>
          </a:p>
        </p:txBody>
      </p:sp>
      <p:sp>
        <p:nvSpPr>
          <p:cNvPr id="49" name="TextBox 49"/>
          <p:cNvSpPr txBox="1"/>
          <p:nvPr/>
        </p:nvSpPr>
        <p:spPr>
          <a:xfrm>
            <a:off x="16329303"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New test kits can be added through the website without updating the app.</a:t>
            </a:r>
          </a:p>
        </p:txBody>
      </p:sp>
      <p:sp>
        <p:nvSpPr>
          <p:cNvPr id="50" name="AutoShape 50"/>
          <p:cNvSpPr/>
          <p:nvPr/>
        </p:nvSpPr>
        <p:spPr>
          <a:xfrm>
            <a:off x="10691338" y="8324540"/>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1" name="AutoShape 51"/>
          <p:cNvSpPr/>
          <p:nvPr/>
        </p:nvSpPr>
        <p:spPr>
          <a:xfrm>
            <a:off x="12478935" y="834099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2" name="AutoShape 52"/>
          <p:cNvSpPr/>
          <p:nvPr/>
        </p:nvSpPr>
        <p:spPr>
          <a:xfrm>
            <a:off x="14269938" y="832194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3" name="AutoShape 53"/>
          <p:cNvSpPr/>
          <p:nvPr/>
        </p:nvSpPr>
        <p:spPr>
          <a:xfrm>
            <a:off x="16057536" y="8331467"/>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4" name="TextBox 19"/>
          <p:cNvSpPr txBox="1"/>
          <p:nvPr/>
        </p:nvSpPr>
        <p:spPr>
          <a:xfrm>
            <a:off x="4572000" y="6492240"/>
            <a:ext cx="4206240" cy="384048"/>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Pilot Plan (proposed)</a:t>
            </a:r>
          </a:p>
        </p:txBody>
      </p:sp>
      <p:sp>
        <p:nvSpPr>
          <p:cNvPr id="55" name="TextBox 21"/>
          <p:cNvSpPr txBox="1"/>
          <p:nvPr/>
        </p:nvSpPr>
        <p:spPr>
          <a:xfrm>
            <a:off x="4526280" y="6931152"/>
            <a:ext cx="4315968" cy="2487168"/>
          </a:xfrm>
          <a:prstGeom prst="rect">
            <a:avLst/>
          </a:prstGeom>
        </p:spPr>
        <p:txBody>
          <a:bodyPr wrap="square" lIns="0" tIns="0" rIns="0" bIns="0" rtlCol="0" anchor="t">
            <a:noAutofit/>
          </a:bodyPr>
          <a:lstStyle/>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Where</a:t>
            </a:r>
            <a:r>
              <a:rPr lang="en-US" sz="1500" spc="-15" dirty="0">
                <a:solidFill>
                  <a:srgbClr val="000000"/>
                </a:solidFill>
                <a:latin typeface="Calibri"/>
                <a:ea typeface="Calibri"/>
                <a:cs typeface="Calibri"/>
                <a:sym typeface="Calibri"/>
              </a:rPr>
              <a:t> - 1 district in Tamil Nadu, with local police and the nearest FSL</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Who</a:t>
            </a:r>
            <a:r>
              <a:rPr lang="en-US" sz="1500" spc="-15" dirty="0">
                <a:solidFill>
                  <a:srgbClr val="000000"/>
                </a:solidFill>
                <a:latin typeface="Calibri"/>
                <a:ea typeface="Calibri"/>
                <a:cs typeface="Calibri"/>
                <a:sym typeface="Calibri"/>
              </a:rPr>
              <a:t> - 20 officers, for 3 months</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Check</a:t>
            </a:r>
            <a:r>
              <a:rPr lang="en-US" sz="1500" spc="-15" dirty="0">
                <a:solidFill>
                  <a:srgbClr val="000000"/>
                </a:solidFill>
                <a:latin typeface="Calibri"/>
                <a:ea typeface="Calibri"/>
                <a:cs typeface="Calibri"/>
                <a:sym typeface="Calibri"/>
              </a:rPr>
              <a:t> - every field result is checked again in the FSL lab</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Success</a:t>
            </a:r>
            <a:r>
              <a:rPr lang="en-US" sz="1500" spc="-15" dirty="0">
                <a:solidFill>
                  <a:srgbClr val="000000"/>
                </a:solidFill>
                <a:latin typeface="Calibri"/>
                <a:ea typeface="Calibri"/>
                <a:cs typeface="Calibri"/>
                <a:sym typeface="Calibri"/>
              </a:rPr>
              <a:t> - 95% or more same as lab, NOT SURE below 10%, every record passes the check</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Cost</a:t>
            </a:r>
            <a:r>
              <a:rPr lang="en-US" sz="1500" spc="-15" dirty="0">
                <a:solidFill>
                  <a:srgbClr val="000000"/>
                </a:solidFill>
                <a:latin typeface="Calibri"/>
                <a:ea typeface="Calibri"/>
                <a:cs typeface="Calibri"/>
                <a:sym typeface="Calibri"/>
              </a:rPr>
              <a:t> - 20 cards at ₹10 = ₹200, server ₹3,000 a month for 3 months = ₹9,000. Total about ₹9,200 (estimate)</a:t>
            </a:r>
          </a:p>
        </p:txBody>
      </p:sp>
      <p:sp>
        <p:nvSpPr>
          <p:cNvPr id="56" name="TextBox 55"/>
          <p:cNvSpPr txBox="1"/>
          <p:nvPr/>
        </p:nvSpPr>
        <p:spPr>
          <a:xfrm>
            <a:off x="12207240" y="6731026"/>
            <a:ext cx="5715000" cy="475488"/>
          </a:xfrm>
          <a:prstGeom prst="rect">
            <a:avLst/>
          </a:prstGeom>
          <a:noFill/>
        </p:spPr>
        <p:txBody>
          <a:bodyPr wrap="square" lIns="27432" tIns="9144" rIns="27432" bIns="9144">
            <a:noAutofit/>
          </a:bodyPr>
          <a:lstStyle/>
          <a:p>
            <a:r>
              <a:rPr sz="1200" b="1" dirty="0">
                <a:solidFill>
                  <a:srgbClr val="555555"/>
                </a:solidFill>
                <a:latin typeface="Calibri"/>
              </a:rPr>
              <a:t>After the pilot, </a:t>
            </a:r>
            <a:r>
              <a:rPr sz="1200" b="0" dirty="0">
                <a:solidFill>
                  <a:srgbClr val="555555"/>
                </a:solidFill>
                <a:latin typeface="Calibri"/>
              </a:rPr>
              <a:t>the cost can come from the state police or NCB IT budget.</a:t>
            </a:r>
          </a:p>
          <a:p>
            <a:r>
              <a:rPr sz="1200" b="0" dirty="0">
                <a:solidFill>
                  <a:srgbClr val="555555"/>
                </a:solidFill>
                <a:latin typeface="Calibri"/>
              </a:rPr>
              <a:t>No licence fee as it is open source, so running cost stays low.</a:t>
            </a:r>
            <a:r>
              <a:rPr sz="1200" b="0" dirty="0" err="1">
                <a:solidFill>
                  <a:srgbClr val="555555"/>
                </a:solidFill>
                <a:latin typeface="Calibri"/>
              </a:rPr>
              <a:t/>
            </a:r>
            <a:r>
              <a:rPr sz="1200" b="0" dirty="0">
                <a:solidFill>
                  <a:srgbClr val="555555"/>
                </a:solidFill>
                <a:latin typeface="Calibri"/>
              </a:rPr>
              <a:t/>
            </a:r>
          </a:p>
        </p:txBody>
      </p:sp>
      <p:sp>
        <p:nvSpPr>
          <p:cNvPr id="57" name="TextBox 56"/>
          <p:cNvSpPr txBox="1"/>
          <p:nvPr/>
        </p:nvSpPr>
        <p:spPr>
          <a:xfrm>
            <a:off x="3848263" y="1828202"/>
            <a:ext cx="4884257" cy="420624"/>
          </a:xfrm>
          <a:prstGeom prst="rect">
            <a:avLst/>
          </a:prstGeom>
          <a:noFill/>
        </p:spPr>
        <p:txBody>
          <a:bodyPr wrap="square" lIns="27432" rIns="27432" tIns="9144" bIns="9144">
            <a:noAutofit/>
          </a:bodyPr>
          <a:lstStyle/>
          <a:p>
            <a:r>
              <a:rPr sz="1200" b="1">
                <a:solidFill>
                  <a:srgbClr val="555555"/>
                </a:solidFill>
                <a:latin typeface="Calibri"/>
              </a:rPr>
              <a:t>Legal: </a:t>
            </a:r>
            <a:r>
              <a:rPr sz="1200" b="0">
                <a:solidFill>
                  <a:srgbClr val="555555"/>
                </a:solidFill>
                <a:latin typeface="Calibri"/>
              </a:rPr>
              <a:t>the app gives a first check only, the FSL lab confirms it.</a:t>
            </a:r>
          </a:p>
          <a:p>
            <a:r>
              <a:rPr sz="1200" b="1">
                <a:solidFill>
                  <a:srgbClr val="555555"/>
                </a:solidFill>
                <a:latin typeface="Calibri"/>
              </a:rPr>
              <a:t>Privacy: </a:t>
            </a:r>
            <a:r>
              <a:rPr sz="1200" b="0">
                <a:solidFill>
                  <a:srgbClr val="555555"/>
                </a:solidFill>
                <a:latin typeface="Calibri"/>
              </a:rPr>
              <a:t>no face or suspect name is stored, only a sample code.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3"/>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grpSp>
        <p:nvGrpSpPr>
          <p:cNvPr id="7" name="Group 7"/>
          <p:cNvGrpSpPr/>
          <p:nvPr/>
        </p:nvGrpSpPr>
        <p:grpSpPr>
          <a:xfrm>
            <a:off x="852866" y="2000650"/>
            <a:ext cx="9090296" cy="2418586"/>
            <a:chOff x="0" y="0"/>
            <a:chExt cx="180762863" cy="48094198"/>
          </a:xfrm>
        </p:grpSpPr>
        <p:sp>
          <p:nvSpPr>
            <p:cNvPr id="8" name="Freeform 8"/>
            <p:cNvSpPr/>
            <p:nvPr/>
          </p:nvSpPr>
          <p:spPr>
            <a:xfrm>
              <a:off x="0" y="0"/>
              <a:ext cx="180762870" cy="48094196"/>
            </a:xfrm>
            <a:custGeom>
              <a:avLst/>
              <a:gdLst/>
              <a:ahLst/>
              <a:cxnLst/>
              <a:rect l="l" t="t" r="r" b="b"/>
              <a:pathLst>
                <a:path w="180762870" h="48094196">
                  <a:moveTo>
                    <a:pt x="8517" y="0"/>
                  </a:moveTo>
                  <a:lnTo>
                    <a:pt x="180754350" y="0"/>
                  </a:lnTo>
                  <a:cubicBezTo>
                    <a:pt x="180759063" y="0"/>
                    <a:pt x="180762870" y="3813"/>
                    <a:pt x="180762870" y="8517"/>
                  </a:cubicBezTo>
                  <a:lnTo>
                    <a:pt x="180762870" y="48085679"/>
                  </a:lnTo>
                  <a:cubicBezTo>
                    <a:pt x="180762870" y="48090382"/>
                    <a:pt x="180759063" y="48094196"/>
                    <a:pt x="180754350" y="48094196"/>
                  </a:cubicBezTo>
                  <a:lnTo>
                    <a:pt x="8517" y="48094196"/>
                  </a:lnTo>
                  <a:cubicBezTo>
                    <a:pt x="3813" y="48094196"/>
                    <a:pt x="0" y="48090382"/>
                    <a:pt x="0" y="48085679"/>
                  </a:cubicBezTo>
                  <a:lnTo>
                    <a:pt x="0" y="8517"/>
                  </a:lnTo>
                  <a:cubicBezTo>
                    <a:pt x="0" y="3813"/>
                    <a:pt x="3813" y="0"/>
                    <a:pt x="8517" y="0"/>
                  </a:cubicBezTo>
                  <a:close/>
                </a:path>
              </a:pathLst>
            </a:custGeom>
            <a:solidFill>
              <a:srgbClr val="FFFFFF"/>
            </a:solidFill>
            <a:ln w="38100" cap="sq">
              <a:solidFill>
                <a:srgbClr val="7A2F00"/>
              </a:solidFill>
              <a:prstDash val="solid"/>
              <a:miter/>
            </a:ln>
          </p:spPr>
        </p:sp>
        <p:sp>
          <p:nvSpPr>
            <p:cNvPr id="9" name="TextBox 9"/>
            <p:cNvSpPr txBox="1"/>
            <p:nvPr/>
          </p:nvSpPr>
          <p:spPr>
            <a:xfrm>
              <a:off x="0" y="-76200"/>
              <a:ext cx="180762863" cy="48170398"/>
            </a:xfrm>
            <a:prstGeom prst="rect">
              <a:avLst/>
            </a:prstGeom>
          </p:spPr>
          <p:txBody>
            <a:bodyPr lIns="50800" tIns="50800" rIns="50800" bIns="50800" rtlCol="0" anchor="ctr"/>
            <a:lstStyle/>
            <a:p>
              <a:pPr algn="ctr">
                <a:lnSpc>
                  <a:spcPts val="5320"/>
                </a:lnSpc>
                <a:spcBef>
                  <a:spcPct val="0"/>
                </a:spcBef>
              </a:pPr>
              <a:endParaRPr/>
            </a:p>
          </p:txBody>
        </p:sp>
      </p:grpSp>
      <p:sp>
        <p:nvSpPr>
          <p:cNvPr id="10" name="Freeform 10"/>
          <p:cNvSpPr/>
          <p:nvPr/>
        </p:nvSpPr>
        <p:spPr>
          <a:xfrm>
            <a:off x="712566" y="4836047"/>
            <a:ext cx="4685447" cy="4615775"/>
          </a:xfrm>
          <a:custGeom>
            <a:avLst/>
            <a:gdLst/>
            <a:ahLst/>
            <a:cxnLst/>
            <a:rect l="l" t="t" r="r" b="b"/>
            <a:pathLst>
              <a:path w="4685447" h="4615775">
                <a:moveTo>
                  <a:pt x="0" y="0"/>
                </a:moveTo>
                <a:lnTo>
                  <a:pt x="4685448" y="0"/>
                </a:lnTo>
                <a:lnTo>
                  <a:pt x="4685448" y="4615775"/>
                </a:lnTo>
                <a:lnTo>
                  <a:pt x="0" y="4615775"/>
                </a:lnTo>
                <a:lnTo>
                  <a:pt x="0" y="0"/>
                </a:lnTo>
                <a:close/>
              </a:path>
            </a:pathLst>
          </a:custGeom>
          <a:blipFill>
            <a:blip r:embed="rId5"/>
            <a:stretch>
              <a:fillRect/>
            </a:stretch>
          </a:blipFill>
        </p:spPr>
        <p:txBody>
          <a:bodyPr/>
          <a:lstStyle/>
          <a:p>
            <a:endParaRPr/>
          </a:p>
        </p:txBody>
      </p:sp>
      <p:grpSp>
        <p:nvGrpSpPr>
          <p:cNvPr id="11" name="Group 11"/>
          <p:cNvGrpSpPr/>
          <p:nvPr/>
        </p:nvGrpSpPr>
        <p:grpSpPr>
          <a:xfrm>
            <a:off x="10649712" y="7644185"/>
            <a:ext cx="6735059" cy="1810710"/>
            <a:chOff x="0" y="0"/>
            <a:chExt cx="133928377" cy="65512658"/>
          </a:xfrm>
        </p:grpSpPr>
        <p:sp>
          <p:nvSpPr>
            <p:cNvPr id="12" name="Freeform 12"/>
            <p:cNvSpPr/>
            <p:nvPr/>
          </p:nvSpPr>
          <p:spPr>
            <a:xfrm>
              <a:off x="0" y="0"/>
              <a:ext cx="133928383" cy="65512659"/>
            </a:xfrm>
            <a:custGeom>
              <a:avLst/>
              <a:gdLst/>
              <a:ahLst/>
              <a:cxnLst/>
              <a:rect l="l" t="t" r="r" b="b"/>
              <a:pathLst>
                <a:path w="133928383" h="65512659">
                  <a:moveTo>
                    <a:pt x="11495" y="0"/>
                  </a:moveTo>
                  <a:lnTo>
                    <a:pt x="133916886" y="0"/>
                  </a:lnTo>
                  <a:cubicBezTo>
                    <a:pt x="133919937" y="0"/>
                    <a:pt x="133922864" y="1211"/>
                    <a:pt x="133925022" y="3367"/>
                  </a:cubicBezTo>
                  <a:cubicBezTo>
                    <a:pt x="133927168" y="5523"/>
                    <a:pt x="133928383" y="8446"/>
                    <a:pt x="133928383" y="11495"/>
                  </a:cubicBezTo>
                  <a:lnTo>
                    <a:pt x="133928383" y="65501162"/>
                  </a:lnTo>
                  <a:cubicBezTo>
                    <a:pt x="133928383" y="65507512"/>
                    <a:pt x="133923236" y="65512659"/>
                    <a:pt x="133916886" y="65512659"/>
                  </a:cubicBezTo>
                  <a:lnTo>
                    <a:pt x="11495" y="65512659"/>
                  </a:lnTo>
                  <a:cubicBezTo>
                    <a:pt x="8446" y="65512659"/>
                    <a:pt x="5523" y="65511449"/>
                    <a:pt x="3367" y="65509291"/>
                  </a:cubicBezTo>
                  <a:cubicBezTo>
                    <a:pt x="1211" y="65507133"/>
                    <a:pt x="0" y="65504213"/>
                    <a:pt x="0" y="65501162"/>
                  </a:cubicBezTo>
                  <a:lnTo>
                    <a:pt x="0" y="11495"/>
                  </a:lnTo>
                  <a:cubicBezTo>
                    <a:pt x="0" y="8446"/>
                    <a:pt x="1211" y="5523"/>
                    <a:pt x="3367" y="3367"/>
                  </a:cubicBezTo>
                  <a:cubicBezTo>
                    <a:pt x="5523" y="1211"/>
                    <a:pt x="8446" y="0"/>
                    <a:pt x="11495" y="0"/>
                  </a:cubicBezTo>
                  <a:close/>
                </a:path>
              </a:pathLst>
            </a:custGeom>
            <a:solidFill>
              <a:srgbClr val="FFFFFF"/>
            </a:solidFill>
            <a:ln w="38100" cap="sq">
              <a:solidFill>
                <a:srgbClr val="7A2F00"/>
              </a:solidFill>
              <a:prstDash val="solid"/>
              <a:miter/>
            </a:ln>
          </p:spPr>
        </p:sp>
        <p:sp>
          <p:nvSpPr>
            <p:cNvPr id="13" name="TextBox 13"/>
            <p:cNvSpPr txBox="1"/>
            <p:nvPr/>
          </p:nvSpPr>
          <p:spPr>
            <a:xfrm>
              <a:off x="0" y="-76200"/>
              <a:ext cx="133928377" cy="65588858"/>
            </a:xfrm>
            <a:prstGeom prst="rect">
              <a:avLst/>
            </a:prstGeom>
          </p:spPr>
          <p:txBody>
            <a:bodyPr lIns="50800" tIns="50800" rIns="50800" bIns="50800" rtlCol="0" anchor="ctr"/>
            <a:lstStyle/>
            <a:p>
              <a:pPr algn="ctr">
                <a:lnSpc>
                  <a:spcPts val="5320"/>
                </a:lnSpc>
                <a:spcBef>
                  <a:spcPct val="0"/>
                </a:spcBef>
              </a:pPr>
              <a:endParaRPr/>
            </a:p>
          </p:txBody>
        </p:sp>
      </p:grpSp>
      <p:sp>
        <p:nvSpPr>
          <p:cNvPr id="14" name="AutoShape 14"/>
          <p:cNvSpPr/>
          <p:nvPr/>
        </p:nvSpPr>
        <p:spPr>
          <a:xfrm>
            <a:off x="4699814" y="2426368"/>
            <a:ext cx="0" cy="1839760"/>
          </a:xfrm>
          <a:prstGeom prst="line">
            <a:avLst/>
          </a:prstGeom>
          <a:ln w="19050" cap="flat">
            <a:solidFill>
              <a:srgbClr val="B2935B"/>
            </a:solidFill>
            <a:prstDash val="solid"/>
            <a:headEnd type="none" w="sm" len="sm"/>
            <a:tailEnd type="none" w="sm" len="sm"/>
          </a:ln>
        </p:spPr>
        <p:txBody>
          <a:bodyPr/>
          <a:lstStyle/>
          <a:p>
            <a:endParaRPr/>
          </a:p>
        </p:txBody>
      </p:sp>
      <p:sp>
        <p:nvSpPr>
          <p:cNvPr id="15" name="Freeform 15"/>
          <p:cNvSpPr/>
          <p:nvPr/>
        </p:nvSpPr>
        <p:spPr>
          <a:xfrm rot="19366187">
            <a:off x="4706902" y="5048222"/>
            <a:ext cx="1589450" cy="1289893"/>
          </a:xfrm>
          <a:custGeom>
            <a:avLst/>
            <a:gdLst/>
            <a:ahLst/>
            <a:cxnLst/>
            <a:rect l="l" t="t" r="r" b="b"/>
            <a:pathLst>
              <a:path w="1557904" h="1324218">
                <a:moveTo>
                  <a:pt x="0" y="0"/>
                </a:moveTo>
                <a:lnTo>
                  <a:pt x="1557904" y="0"/>
                </a:lnTo>
                <a:lnTo>
                  <a:pt x="1557904" y="1324219"/>
                </a:lnTo>
                <a:lnTo>
                  <a:pt x="0" y="132421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6" name="Freeform 16"/>
          <p:cNvSpPr/>
          <p:nvPr/>
        </p:nvSpPr>
        <p:spPr>
          <a:xfrm>
            <a:off x="6524601" y="5010285"/>
            <a:ext cx="3418560" cy="4441537"/>
          </a:xfrm>
          <a:custGeom>
            <a:avLst/>
            <a:gdLst/>
            <a:ahLst/>
            <a:cxnLst/>
            <a:rect l="l" t="t" r="r" b="b"/>
            <a:pathLst>
              <a:path w="3418560" h="4441537">
                <a:moveTo>
                  <a:pt x="0" y="0"/>
                </a:moveTo>
                <a:lnTo>
                  <a:pt x="3418560" y="0"/>
                </a:lnTo>
                <a:lnTo>
                  <a:pt x="3418560" y="4441537"/>
                </a:lnTo>
                <a:lnTo>
                  <a:pt x="0" y="4441537"/>
                </a:lnTo>
                <a:lnTo>
                  <a:pt x="0" y="0"/>
                </a:lnTo>
                <a:close/>
              </a:path>
            </a:pathLst>
          </a:custGeom>
          <a:blipFill>
            <a:blip r:embed="rId7"/>
            <a:stretch>
              <a:fillRect t="-721" b="-9940"/>
            </a:stretch>
          </a:blipFill>
        </p:spPr>
        <p:txBody>
          <a:bodyPr/>
          <a:lstStyle/>
          <a:p>
            <a:endParaRPr/>
          </a:p>
        </p:txBody>
      </p:sp>
      <p:grpSp>
        <p:nvGrpSpPr>
          <p:cNvPr id="17" name="Group 17"/>
          <p:cNvGrpSpPr/>
          <p:nvPr/>
        </p:nvGrpSpPr>
        <p:grpSpPr>
          <a:xfrm>
            <a:off x="14720116" y="33423"/>
            <a:ext cx="3287373" cy="1531268"/>
            <a:chOff x="0" y="0"/>
            <a:chExt cx="4383164" cy="2041690"/>
          </a:xfrm>
        </p:grpSpPr>
        <p:sp>
          <p:nvSpPr>
            <p:cNvPr id="18" name="Freeform 1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8"/>
              <a:stretch>
                <a:fillRect t="-106" b="-108"/>
              </a:stretch>
            </a:blipFill>
          </p:spPr>
        </p:sp>
      </p:grpSp>
      <p:sp>
        <p:nvSpPr>
          <p:cNvPr id="19" name="Freeform 19"/>
          <p:cNvSpPr/>
          <p:nvPr/>
        </p:nvSpPr>
        <p:spPr>
          <a:xfrm>
            <a:off x="10649712" y="2304288"/>
            <a:ext cx="6735059" cy="2354471"/>
          </a:xfrm>
          <a:custGeom>
            <a:avLst/>
            <a:gdLst/>
            <a:ahLst/>
            <a:cxnLst/>
            <a:rect l="l" t="t" r="r" b="b"/>
            <a:pathLst>
              <a:path w="6095839" h="3360331">
                <a:moveTo>
                  <a:pt x="0" y="0"/>
                </a:moveTo>
                <a:lnTo>
                  <a:pt x="6095839" y="0"/>
                </a:lnTo>
                <a:lnTo>
                  <a:pt x="6095839" y="3360331"/>
                </a:lnTo>
                <a:lnTo>
                  <a:pt x="0" y="3360331"/>
                </a:lnTo>
                <a:lnTo>
                  <a:pt x="0" y="0"/>
                </a:lnTo>
                <a:close/>
              </a:path>
            </a:pathLst>
          </a:custGeom>
          <a:blipFill>
            <a:blip r:embed="rId9"/>
            <a:srcRect l="17800" t="10000" r="1500" b="38900"/>
            <a:stretch>
              <a:fillRect/>
            </a:stretch>
          </a:blipFill>
        </p:spPr>
        <p:txBody>
          <a:bodyPr/>
          <a:lstStyle/>
          <a:p>
            <a:endParaRPr/>
          </a:p>
        </p:txBody>
      </p:sp>
      <p:sp>
        <p:nvSpPr>
          <p:cNvPr id="20" name="TextBox 20" descr="$PPTXTitle"/>
          <p:cNvSpPr txBox="1"/>
          <p:nvPr/>
        </p:nvSpPr>
        <p:spPr>
          <a:xfrm>
            <a:off x="4912538" y="346300"/>
            <a:ext cx="7916228" cy="876938"/>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IMPACT AND BENEFITS</a:t>
            </a:r>
          </a:p>
        </p:txBody>
      </p:sp>
      <p:sp>
        <p:nvSpPr>
          <p:cNvPr id="21" name="TextBox 21"/>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5</a:t>
            </a:r>
          </a:p>
        </p:txBody>
      </p:sp>
      <p:sp>
        <p:nvSpPr>
          <p:cNvPr id="22" name="TextBox 22"/>
          <p:cNvSpPr txBox="1"/>
          <p:nvPr/>
        </p:nvSpPr>
        <p:spPr>
          <a:xfrm>
            <a:off x="10695384" y="8046521"/>
            <a:ext cx="6689387" cy="2745720"/>
          </a:xfrm>
          <a:prstGeom prst="rect">
            <a:avLst/>
          </a:prstGeom>
        </p:spPr>
        <p:txBody>
          <a:bodyPr lIns="0" tIns="0" rIns="0" bIns="0" rtlCol="0" anchor="t">
            <a:spAutoFit/>
          </a:bodyPr>
          <a:lstStyle/>
          <a:p>
            <a:pPr marL="376968" lvl="1" indent="-188484" algn="l">
              <a:lnSpc>
                <a:spcPct val="105000"/>
              </a:lnSpc>
              <a:buFont typeface="Arial"/>
              <a:buChar char="•"/>
            </a:pPr>
            <a:r>
              <a:rPr lang="en-US" sz="1400" spc="-8">
                <a:solidFill>
                  <a:srgbClr val="000000"/>
                </a:solidFill>
                <a:latin typeface="Calibri"/>
                <a:ea typeface="Calibri"/>
                <a:cs typeface="Calibri"/>
                <a:sym typeface="Calibri"/>
              </a:rPr>
              <a:t>Offline Mode (month 1) - save the test on phone, send it when network is back.</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Phone Security (month 2) - sign each test with the phone's security chip.</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Police System Integration (after pilot) - apply to NIC or MHA to link with e-Sakshya and CCTNS. Our CSV export is ready.</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Lab Comparison (during pilot) - compare field results with FSL lab results.</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Regional Languages - Tamil is done in the app. Hindi and voice help in month 3.</a:t>
            </a:r>
          </a:p>
        </p:txBody>
      </p:sp>
      <p:sp>
        <p:nvSpPr>
          <p:cNvPr id="23" name="TextBox 23"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24" name="TextBox 24"/>
          <p:cNvSpPr txBox="1"/>
          <p:nvPr/>
        </p:nvSpPr>
        <p:spPr>
          <a:xfrm>
            <a:off x="852866" y="2433353"/>
            <a:ext cx="3762650" cy="1744244"/>
          </a:xfrm>
          <a:prstGeom prst="rect">
            <a:avLst/>
          </a:prstGeom>
        </p:spPr>
        <p:txBody>
          <a:bodyPr lIns="0" tIns="0" rIns="0" bIns="0" rtlCol="0" anchor="t">
            <a:spAutoFit/>
          </a:bodyPr>
          <a:lstStyle/>
          <a:p>
            <a:pPr marL="413775" lvl="1" indent="-206888" algn="l">
              <a:lnSpc>
                <a:spcPts val="2740"/>
              </a:lnSpc>
              <a:buFont typeface="Arial"/>
              <a:buChar char="•"/>
            </a:pPr>
            <a:r>
              <a:rPr lang="en-US" sz="1916" spc="-21">
                <a:solidFill>
                  <a:srgbClr val="000000"/>
                </a:solidFill>
                <a:latin typeface="Calibri"/>
                <a:ea typeface="Calibri"/>
                <a:cs typeface="Calibri"/>
                <a:sym typeface="Calibri"/>
              </a:rPr>
              <a:t>Faster, more consistent testing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Less manual colour checking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INCONCLUSIVE when unclear</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Easy digital test records</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Quick access to past test records</a:t>
            </a:r>
          </a:p>
        </p:txBody>
      </p:sp>
      <p:sp>
        <p:nvSpPr>
          <p:cNvPr id="25" name="TextBox 25"/>
          <p:cNvSpPr txBox="1"/>
          <p:nvPr/>
        </p:nvSpPr>
        <p:spPr>
          <a:xfrm>
            <a:off x="4784113" y="2433353"/>
            <a:ext cx="5051078" cy="1744142"/>
          </a:xfrm>
          <a:prstGeom prst="rect">
            <a:avLst/>
          </a:prstGeom>
        </p:spPr>
        <p:txBody>
          <a:bodyPr lIns="0" tIns="0" rIns="0" bIns="0" rtlCol="0" anchor="t">
            <a:spAutoFit/>
          </a:bodyPr>
          <a:lstStyle/>
          <a:p>
            <a:pPr marL="414528" lvl="1" indent="-207264" algn="l">
              <a:lnSpc>
                <a:spcPts val="2745"/>
              </a:lnSpc>
              <a:buFont typeface="Arial"/>
              <a:buChar char="•"/>
            </a:pPr>
            <a:r>
              <a:rPr lang="en-US" sz="1920" spc="-21">
                <a:solidFill>
                  <a:srgbClr val="000000"/>
                </a:solidFill>
                <a:latin typeface="Calibri"/>
                <a:ea typeface="Calibri"/>
                <a:cs typeface="Calibri"/>
                <a:sym typeface="Calibri"/>
              </a:rPr>
              <a:t>Proof of every test: time, place, officer &amp; photo</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Secure and verifiable records</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Less paperwork with PDF &amp; QR</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Easy search, reports and monitoring</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Better field-test documentation</a:t>
            </a:r>
          </a:p>
        </p:txBody>
      </p:sp>
      <p:sp>
        <p:nvSpPr>
          <p:cNvPr id="26" name="TextBox 26"/>
          <p:cNvSpPr txBox="1"/>
          <p:nvPr/>
        </p:nvSpPr>
        <p:spPr>
          <a:xfrm>
            <a:off x="1774430" y="2079685"/>
            <a:ext cx="1919520"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Inspector Benefits</a:t>
            </a:r>
          </a:p>
        </p:txBody>
      </p:sp>
      <p:sp>
        <p:nvSpPr>
          <p:cNvPr id="27" name="TextBox 27"/>
          <p:cNvSpPr txBox="1"/>
          <p:nvPr/>
        </p:nvSpPr>
        <p:spPr>
          <a:xfrm>
            <a:off x="5853724" y="2085531"/>
            <a:ext cx="2355832"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Organisation Benefits</a:t>
            </a:r>
          </a:p>
        </p:txBody>
      </p:sp>
      <p:sp>
        <p:nvSpPr>
          <p:cNvPr id="28" name="TextBox 28"/>
          <p:cNvSpPr txBox="1"/>
          <p:nvPr/>
        </p:nvSpPr>
        <p:spPr>
          <a:xfrm>
            <a:off x="10830810" y="7680761"/>
            <a:ext cx="5029200" cy="371475"/>
          </a:xfrm>
          <a:prstGeom prst="rect">
            <a:avLst/>
          </a:prstGeom>
        </p:spPr>
        <p:txBody>
          <a:bodyPr lIns="0" tIns="0" rIns="0" bIns="0" rtlCol="0" anchor="t" wrap="none">
            <a:noAutofit/>
          </a:bodyPr>
          <a:lstStyle/>
          <a:p>
            <a:pPr algn="l">
              <a:lnSpc>
                <a:spcPts val="2608"/>
              </a:lnSpc>
              <a:spcBef>
                <a:spcPct val="0"/>
              </a:spcBef>
            </a:pPr>
            <a:r>
              <a:rPr lang="en-US" sz="2173" b="1" spc="-24">
                <a:solidFill>
                  <a:srgbClr val="974826"/>
                </a:solidFill>
                <a:latin typeface="Calibri"/>
                <a:ea typeface="Calibri"/>
                <a:cs typeface="Calibri"/>
                <a:sym typeface="Calibri"/>
              </a:rPr>
              <a:t>Future Scope (our plan after SIH)</a:t>
            </a:r>
          </a:p>
        </p:txBody>
      </p:sp>
      <p:sp>
        <p:nvSpPr>
          <p:cNvPr id="29" name="TextBox 29"/>
          <p:cNvSpPr txBox="1"/>
          <p:nvPr/>
        </p:nvSpPr>
        <p:spPr>
          <a:xfrm>
            <a:off x="10649712" y="1938528"/>
            <a:ext cx="694643"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Map -</a:t>
            </a:r>
          </a:p>
        </p:txBody>
      </p:sp>
      <p:sp>
        <p:nvSpPr>
          <p:cNvPr id="30" name="TextBox 30"/>
          <p:cNvSpPr txBox="1"/>
          <p:nvPr/>
        </p:nvSpPr>
        <p:spPr>
          <a:xfrm>
            <a:off x="3973677" y="4553085"/>
            <a:ext cx="3302484"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QR-Based Record Verification</a:t>
            </a:r>
          </a:p>
        </p:txBody>
      </p:sp>
      <p:sp>
        <p:nvSpPr>
          <p:cNvPr id="31" name="TextBox 31"/>
          <p:cNvSpPr txBox="1"/>
          <p:nvPr/>
        </p:nvSpPr>
        <p:spPr>
          <a:xfrm>
            <a:off x="11372088" y="1975104"/>
            <a:ext cx="2004464" cy="295275"/>
          </a:xfrm>
          <a:prstGeom prst="rect">
            <a:avLst/>
          </a:prstGeom>
        </p:spPr>
        <p:txBody>
          <a:bodyPr lIns="0" tIns="0" rIns="0" bIns="0" rtlCol="0" anchor="t">
            <a:spAutoFit/>
          </a:bodyPr>
          <a:lstStyle/>
          <a:p>
            <a:pPr algn="l">
              <a:lnSpc>
                <a:spcPts val="2040"/>
              </a:lnSpc>
              <a:spcBef>
                <a:spcPct val="0"/>
              </a:spcBef>
            </a:pPr>
            <a:r>
              <a:rPr lang="en-US" sz="1700" spc="-18">
                <a:solidFill>
                  <a:srgbClr val="000000"/>
                </a:solidFill>
                <a:latin typeface="Calibri"/>
                <a:ea typeface="Calibri"/>
                <a:cs typeface="Calibri"/>
                <a:sym typeface="Calibri"/>
              </a:rPr>
              <a:t>Geo-Tagged test result</a:t>
            </a:r>
          </a:p>
        </p:txBody>
      </p:sp>
      <p:sp>
        <p:nvSpPr>
          <p:cNvPr id="32" name="TextBox 29"/>
          <p:cNvSpPr txBox="1"/>
          <p:nvPr/>
        </p:nvSpPr>
        <p:spPr>
          <a:xfrm>
            <a:off x="10649712" y="4750199"/>
            <a:ext cx="1828800" cy="365760"/>
          </a:xfrm>
          <a:prstGeom prst="rect">
            <a:avLst/>
          </a:prstGeom>
        </p:spPr>
        <p:txBody>
          <a:bodyPr wrap="none" lIns="0" tIns="0" rIns="0" bIns="0" rtlCol="0" anchor="t">
            <a:noAutofit/>
          </a:bodyPr>
          <a:lstStyle/>
          <a:p>
            <a:pPr algn="ctr">
              <a:lnSpc>
                <a:spcPts val="2471"/>
              </a:lnSpc>
              <a:spcBef>
                <a:spcPct val="0"/>
              </a:spcBef>
            </a:pPr>
            <a:r>
              <a:rPr lang="en-US" sz="2059" b="1" spc="-22">
                <a:solidFill>
                  <a:srgbClr val="974826"/>
                </a:solidFill>
                <a:latin typeface="Calibri"/>
                <a:ea typeface="Calibri"/>
                <a:cs typeface="Calibri"/>
                <a:sym typeface="Calibri"/>
              </a:rPr>
              <a:t>Tamper Test -</a:t>
            </a:r>
          </a:p>
        </p:txBody>
      </p:sp>
      <p:sp>
        <p:nvSpPr>
          <p:cNvPr id="33" name="TextBox 31"/>
          <p:cNvSpPr txBox="1"/>
          <p:nvPr/>
        </p:nvSpPr>
        <p:spPr>
          <a:xfrm>
            <a:off x="12368784" y="4786775"/>
            <a:ext cx="4937760" cy="310896"/>
          </a:xfrm>
          <a:prstGeom prst="rect">
            <a:avLst/>
          </a:prstGeom>
        </p:spPr>
        <p:txBody>
          <a:bodyPr wrap="none" lIns="0" tIns="0" rIns="0" bIns="0" rtlCol="0" anchor="t">
            <a:noAutofit/>
          </a:bodyPr>
          <a:lstStyle/>
          <a:p>
            <a:pPr algn="l">
              <a:lnSpc>
                <a:spcPts val="2040"/>
              </a:lnSpc>
              <a:spcBef>
                <a:spcPct val="0"/>
              </a:spcBef>
            </a:pPr>
            <a:r>
              <a:rPr lang="en-US" sz="1700" spc="-18">
                <a:solidFill>
                  <a:srgbClr val="000000"/>
                </a:solidFill>
                <a:latin typeface="Calibri"/>
                <a:ea typeface="Calibri"/>
                <a:cs typeface="Calibri"/>
                <a:sym typeface="Calibri"/>
              </a:rPr>
              <a:t>we tried it on our saved records</a:t>
            </a:r>
          </a:p>
        </p:txBody>
      </p:sp>
      <p:pic>
        <p:nvPicPr>
          <p:cNvPr id="34" name="Tamper proof" descr="tamper_proof_tall.png"/>
          <p:cNvPicPr>
            <a:picLocks noChangeAspect="1"/>
          </p:cNvPicPr>
          <p:nvPr/>
        </p:nvPicPr>
        <p:blipFill>
          <a:blip r:embed="rId10"/>
          <a:stretch>
            <a:fillRect/>
          </a:stretch>
        </p:blipFill>
        <p:spPr>
          <a:xfrm>
            <a:off x="10649712" y="5115959"/>
            <a:ext cx="6735059" cy="24184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sp>
      <p:graphicFrame>
        <p:nvGraphicFramePr>
          <p:cNvPr id="7" name="Table 7"/>
          <p:cNvGraphicFramePr>
            <a:graphicFrameLocks noGrp="1"/>
          </p:cNvGraphicFramePr>
          <p:nvPr/>
        </p:nvGraphicFramePr>
        <p:xfrm>
          <a:off x="685800" y="1920240"/>
          <a:ext cx="16916400" cy="7406640"/>
        </p:xfrm>
        <a:graphic>
          <a:graphicData uri="http://schemas.openxmlformats.org/drawingml/2006/table">
            <a:tbl>
              <a:tblPr/>
              <a:tblGrid>
                <a:gridCol w="6400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777240">
                <a:tc>
                  <a:txBody>
                    <a:bodyPr/>
                    <a:lstStyle/>
                    <a:p>
                      <a:pPr algn="ctr">
                        <a:lnSpc>
                          <a:spcPts val="2519"/>
                        </a:lnSpc>
                        <a:defRPr/>
                      </a:pPr>
                      <a:r>
                        <a:rPr lang="en-US" sz="1799">
                          <a:solidFill>
                            <a:srgbClr val="000000"/>
                          </a:solidFill>
                          <a:latin typeface="Arimo"/>
                          <a:ea typeface="Arimo"/>
                          <a:cs typeface="Arimo"/>
                          <a:sym typeface="Arimo"/>
                        </a:rPr>
                        <a:t>What they found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How we use it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Research</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EMBC 2016</a:t>
                      </a:r>
                    </a:p>
                    <a:p>
                      <a:pPr algn="l">
                        <a:lnSpc>
                          <a:spcPts val="1679"/>
                        </a:lnSpc>
                        <a:defRPr/>
                      </a:pPr>
                      <a:r>
                        <a:rPr lang="en-US" sz="1400">
                          <a:solidFill>
                            <a:srgbClr val="000000"/>
                          </a:solidFill>
                          <a:latin typeface="Calibri"/>
                          <a:ea typeface="Calibri"/>
                          <a:cs typeface="Calibri"/>
                          <a:sym typeface="Calibri"/>
                        </a:rPr>
                        <a:t>Phone camera colours change with light and phone model; reference colours can help handle this.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₹10 colour card fixes colours in every test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10"/>
                        </a:rPr>
                        <a:t>[1] H. Karisen and T. Dong, "Illumination and device independence for colorimetric detection of urinary biomarkers with smartphone," in Proc. 38th Annu. Int. Conf. IEEE Eng. Med. Biol. Soc. (EMBC), Orlando, FL, USA, 2016, pp. 5184-5187, doi: 10.1109/EMBC.2016.7591895.</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1"/>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TPS-ISA 2024</a:t>
                      </a:r>
                    </a:p>
                    <a:p>
                      <a:pPr algn="l">
                        <a:lnSpc>
                          <a:spcPts val="1679"/>
                        </a:lnSpc>
                        <a:defRPr/>
                      </a:pPr>
                      <a:r>
                        <a:rPr lang="en-US" sz="1400">
                          <a:solidFill>
                            <a:srgbClr val="000000"/>
                          </a:solidFill>
                          <a:latin typeface="Calibri"/>
                          <a:ea typeface="Calibri"/>
                          <a:cs typeface="Calibri"/>
                          <a:sym typeface="Calibri"/>
                        </a:rPr>
                        <a:t>Digital evidence must maintain integrity and show how it was handled.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Photo fingerprint + signature + chained log</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4"/>
                        </a:rPr>
                        <a:t>[2] S. Nath, K. Summers, J. Baek, and G.-J. Ahn, "Digital evidence chain of custody: Navigating new realities of digital forensics," in Proc. IEEE 6th Int. Conf. Trust, Privacy Secur. Intell. Syst. Appl. (TPS-ISA), Washington, DC, USA, 2024, pp. 11-20, doi: 10.1109/TPS-ISA62245.2024.00012.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2"/>
                  </a:ext>
                </a:extLst>
              </a:tr>
              <a:tr h="1325880">
                <a:tc>
                  <a:txBody>
                    <a:bodyPr/>
                    <a:lstStyle/>
                    <a:p>
                      <a:pPr algn="l">
                        <a:spcAft>
                          <a:spcPts val="600"/>
                        </a:spcAft>
                      </a:pPr>
                      <a:r>
                        <a:rPr lang="en-US" sz="1500" b="1" spc="-16">
                          <a:solidFill>
                            <a:srgbClr val="000000"/>
                          </a:solidFill>
                          <a:latin typeface="Calibri"/>
                          <a:ea typeface="Calibri"/>
                          <a:cs typeface="Calibri"/>
                          <a:sym typeface="Calibri"/>
                        </a:rPr>
                        <a:t>Forensic Science International 2014</a:t>
                      </a:r>
                    </a:p>
                    <a:p>
                      <a:pPr algn="l">
                        <a:lnSpc>
                          <a:spcPts val="1679"/>
                        </a:lnSpc>
                        <a:defRPr/>
                      </a:pPr>
                      <a:r>
                        <a:rPr lang="en-US" sz="1400">
                          <a:solidFill>
                            <a:srgbClr val="000000"/>
                          </a:solidFill>
                          <a:latin typeface="Calibri"/>
                          <a:ea typeface="Calibri"/>
                          <a:cs typeface="Calibri"/>
                          <a:sym typeface="Calibri"/>
                        </a:rPr>
                        <a:t>A mobile phone camera can measure drug-test colours using RGB values.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app reads the test colour as a number</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5"/>
                        </a:rPr>
                        <a:t>[3] A. Choodum, K. Parabun, N. Klawach, N. Nic Daeid, P. Kanatharana, and W. Wongniramaikul, "Real time quantitative colourimetric test for methamphetamine detection using digital and mobile phone technology," Forensic Sci. Int., vol. 235, pp. 8-13, Feb. 2014, doi: 10.1016/j.forsciint.2013.11.018.</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3"/>
                  </a:ext>
                </a:extLst>
              </a:tr>
              <a:tr h="1325880">
                <a:tc>
                  <a:txBody>
                    <a:bodyPr/>
                    <a:lstStyle/>
                    <a:p>
                      <a:pPr algn="l">
                        <a:spcAft>
                          <a:spcPts val="600"/>
                        </a:spcAft>
                      </a:pPr>
                      <a:r>
                        <a:rPr lang="en-US" sz="1500" b="1" spc="-16">
                          <a:solidFill>
                            <a:srgbClr val="000000"/>
                          </a:solidFill>
                          <a:latin typeface="Calibri"/>
                          <a:ea typeface="Calibri"/>
                          <a:cs typeface="Calibri"/>
                          <a:sym typeface="Calibri"/>
                        </a:rPr>
                        <a:t>Analytical Chemistry 2016</a:t>
                      </a:r>
                    </a:p>
                    <a:p>
                      <a:pPr algn="l">
                        <a:lnSpc>
                          <a:spcPts val="1679"/>
                        </a:lnSpc>
                        <a:defRPr/>
                      </a:pPr>
                      <a:r>
                        <a:rPr lang="en-US" sz="1400">
                          <a:solidFill>
                            <a:srgbClr val="000000"/>
                          </a:solidFill>
                          <a:latin typeface="Calibri"/>
                          <a:ea typeface="Calibri"/>
                          <a:cs typeface="Calibri"/>
                          <a:sym typeface="Calibri"/>
                        </a:rPr>
                        <a:t>By-eye colour interpretation is subjective; smartphone image analysis can provide objective analysis.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Arimo"/>
                          <a:cs typeface="Arimo"/>
                          <a:sym typeface="Arimo"/>
                        </a:rPr>
                        <a:t>App gives POSITIVE / NEGATIVE / NOT SURE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6"/>
                        </a:rPr>
                        <a:t>[4] S. T. Krauss et al., "Objective method for presumptive field-testing of illicit drug possession using centrifugal microdevices and smartphone analysis," Anal. Chem., vol. 88, no. 17, pp. 8689-8697, Sep. 2016, doi: 10.1021/acs.analchem.6b01982.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4"/>
                  </a:ext>
                </a:extLst>
              </a:tr>
              <a:tr h="1325880">
                <a:tc>
                  <a:txBody>
                    <a:bodyPr/>
                    <a:lstStyle/>
                    <a:p>
                      <a:pPr algn="l">
                        <a:spcAft>
                          <a:spcPts val="600"/>
                        </a:spcAft>
                      </a:pPr>
                      <a:r>
                        <a:rPr lang="en-US" sz="1500" b="1" spc="-16">
                          <a:solidFill>
                            <a:srgbClr val="000000"/>
                          </a:solidFill>
                          <a:latin typeface="Calibri"/>
                          <a:ea typeface="Calibri"/>
                          <a:cs typeface="Calibri"/>
                          <a:sym typeface="Calibri"/>
                        </a:rPr>
                        <a:t>Digital Discovery 2023</a:t>
                      </a:r>
                    </a:p>
                    <a:p>
                      <a:pPr algn="l">
                        <a:lnSpc>
                          <a:spcPts val="1679"/>
                        </a:lnSpc>
                        <a:defRPr/>
                      </a:pPr>
                      <a:r>
                        <a:rPr lang="en-US" sz="1400">
                          <a:solidFill>
                            <a:srgbClr val="000000"/>
                          </a:solidFill>
                          <a:latin typeface="Calibri"/>
                          <a:ea typeface="Calibri"/>
                          <a:cs typeface="Calibri"/>
                          <a:sym typeface="Calibri"/>
                        </a:rPr>
                        <a:t>Computer vision can quantify and compare colour changes that may look similar by eye.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App shows photo colour next to kit colours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7"/>
                        </a:rPr>
                        <a:t>[5] N. Bugeja et al., "Teaching old presumptive tests new digital tricks with computer vision for forensic applications," Digital Discovery, vol. 2, no. 4, pp. 1143-1151, 2023, doi: 10.1039/D3DD00066D.</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TextBox 15" descr="$PPTXTitle"/>
          <p:cNvSpPr txBox="1"/>
          <p:nvPr/>
        </p:nvSpPr>
        <p:spPr>
          <a:xfrm>
            <a:off x="3660096" y="346300"/>
            <a:ext cx="10421112" cy="876938"/>
          </a:xfrm>
          <a:prstGeom prst="rect">
            <a:avLst/>
          </a:prstGeom>
        </p:spPr>
        <p:txBody>
          <a:bodyPr lIns="0" tIns="0" rIns="0" bIns="0" rtlCol="0" anchor="t">
            <a:spAutoFit/>
          </a:bodyPr>
          <a:lstStyle/>
          <a:p>
            <a:pPr algn="l">
              <a:lnSpc>
                <a:spcPts val="6480"/>
              </a:lnSpc>
            </a:pPr>
            <a:r>
              <a:rPr lang="en-US" sz="5400" b="1">
                <a:solidFill>
                  <a:srgbClr val="7A2F00"/>
                </a:solidFill>
                <a:latin typeface="Times New Roman Bold"/>
                <a:ea typeface="Times New Roman Bold"/>
                <a:cs typeface="Times New Roman Bold"/>
                <a:sym typeface="Times New Roman Bold"/>
              </a:rPr>
              <a:t>RESEARCH AND REFERENCES</a:t>
            </a:r>
          </a:p>
        </p:txBody>
      </p:sp>
      <p:sp>
        <p:nvSpPr>
          <p:cNvPr id="16" name="TextBox 16"/>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6</a:t>
            </a:r>
          </a:p>
        </p:txBody>
      </p:sp>
      <p:sp>
        <p:nvSpPr>
          <p:cNvPr id="17" name="TextBox 17"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grpSp>
        <p:nvGrpSpPr>
          <p:cNvPr id="24" name="Group 24"/>
          <p:cNvGrpSpPr/>
          <p:nvPr/>
        </p:nvGrpSpPr>
        <p:grpSpPr>
          <a:xfrm>
            <a:off x="14720116" y="33423"/>
            <a:ext cx="3287373" cy="1531268"/>
            <a:chOff x="0" y="0"/>
            <a:chExt cx="4383164" cy="2041690"/>
          </a:xfrm>
        </p:grpSpPr>
        <p:sp>
          <p:nvSpPr>
            <p:cNvPr id="25" name="Freeform 25"/>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9"/>
              <a:stretch>
                <a:fillRect t="-106" b="-108"/>
              </a:stretch>
            </a:blipFill>
          </p:spPr>
        </p:sp>
      </p:grpSp>
      <p:sp>
        <p:nvSpPr>
          <p:cNvPr id="26" name="Research link 1">
            <a:hlinkClick r:id="rId10"/>
          </p:cNvPr>
          <p:cNvSpPr/>
          <p:nvPr/>
        </p:nvSpPr>
        <p:spPr>
          <a:xfrm>
            <a:off x="11201400" y="269748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search link 2">
            <a:hlinkClick r:id="rId4"/>
          </p:cNvPr>
          <p:cNvSpPr/>
          <p:nvPr/>
        </p:nvSpPr>
        <p:spPr>
          <a:xfrm>
            <a:off x="11201400" y="402336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search link 3">
            <a:hlinkClick r:id="rId5"/>
          </p:cNvPr>
          <p:cNvSpPr/>
          <p:nvPr/>
        </p:nvSpPr>
        <p:spPr>
          <a:xfrm>
            <a:off x="11201400" y="534924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search link 4">
            <a:hlinkClick r:id="rId6"/>
          </p:cNvPr>
          <p:cNvSpPr/>
          <p:nvPr/>
        </p:nvSpPr>
        <p:spPr>
          <a:xfrm>
            <a:off x="11201400" y="667512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search link 5">
            <a:hlinkClick r:id="rId7"/>
          </p:cNvPr>
          <p:cNvSpPr/>
          <p:nvPr/>
        </p:nvSpPr>
        <p:spPr>
          <a:xfrm>
            <a:off x="11201400" y="800100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1312</Words>
  <Application>Microsoft Office PowerPoint</Application>
  <PresentationFormat>Custom</PresentationFormat>
  <Paragraphs>145</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Times New Roman Bold</vt:lpstr>
      <vt:lpstr>Calibri</vt:lpstr>
      <vt:lpstr>Arimo</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26034 Problem Statement Title- Software System to check compliance of packaged commodities under Legal Metrology (Packaged Commodities) Rules,2011 by scanning product images and labels. Theme- Miscellaneous PS Category- Software</dc:title>
  <cp:lastModifiedBy>Lokesh Raj</cp:lastModifiedBy>
  <cp:revision>3</cp:revision>
  <dcterms:created xsi:type="dcterms:W3CDTF">2006-08-16T00:00:00Z</dcterms:created>
  <dcterms:modified xsi:type="dcterms:W3CDTF">2026-09-29T05:48:14Z</dcterms:modified>
  <dc:identifier>DAHVDURAeOo</dc:identifier>
</cp:coreProperties>
</file>
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5.png"/><Relationship Id="rId12"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2331720"/>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1837943"/>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sp>
        <p:nvSpPr>
          <p:cNvPr id="25" name="Offline design box"/>
          <p:cNvSpPr/>
          <p:nvPr/>
        </p:nvSpPr>
        <p:spPr>
          <a:xfrm>
            <a:off x="15526512" y="7607808"/>
            <a:ext cx="2487168" cy="1828800"/>
          </a:xfrm>
          <a:prstGeom prst="roundRect">
            <a:avLst>
              <a:gd name="adj" fmla="val 6000"/>
            </a:avLst>
          </a:prstGeom>
          <a:noFill/>
          <a:ln w="19050">
            <a:solidFill>
              <a:srgbClr val="792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63088" y="7644383"/>
            <a:ext cx="2414016" cy="1755648"/>
          </a:xfrm>
          <a:prstGeom prst="rect">
            <a:avLst/>
          </a:prstGeom>
          <a:noFill/>
        </p:spPr>
        <p:txBody>
          <a:bodyPr wrap="square" lIns="54864" rIns="54864" tIns="27432" bIns="27432">
            <a:noAutofit/>
          </a:bodyPr>
          <a:lstStyle/>
          <a:p>
            <a:pPr>
              <a:spcAft>
                <a:spcPts val="200"/>
              </a:spcAft>
            </a:pPr>
            <a:r>
              <a:rPr sz="1600" b="1">
                <a:solidFill>
                  <a:srgbClr val="792E00"/>
                </a:solidFill>
                <a:latin typeface="Calibri"/>
              </a:rPr>
              <a:t>Offline Design</a:t>
            </a:r>
          </a:p>
          <a:p>
            <a:pPr>
              <a:spcAft>
                <a:spcPts val="200"/>
              </a:spcAft>
            </a:pPr>
            <a:r>
              <a:rPr sz="1250" b="0">
                <a:solidFill>
                  <a:srgbClr val="000000"/>
                </a:solidFill>
                <a:latin typeface="Calibri"/>
              </a:rPr>
              <a:t>No network? The phone keeps the photo and its hash in a queue.</a:t>
            </a:r>
          </a:p>
          <a:p>
            <a:pPr>
              <a:spcAft>
                <a:spcPts val="200"/>
              </a:spcAft>
            </a:pPr>
            <a:r>
              <a:rPr sz="1250" b="0">
                <a:solidFill>
                  <a:srgbClr val="000000"/>
                </a:solidFill>
                <a:latin typeface="Calibri"/>
              </a:rPr>
              <a:t>Network back: it sends them in the background.</a:t>
            </a:r>
          </a:p>
          <a:p>
            <a:pPr>
              <a:spcAft>
                <a:spcPts val="200"/>
              </a:spcAft>
            </a:pPr>
            <a:r>
              <a:rPr sz="1250" b="0">
                <a:solidFill>
                  <a:srgbClr val="000000"/>
                </a:solidFill>
                <a:latin typeface="Calibri"/>
              </a:rPr>
              <a:t>Server checks the hash, then seals the record.</a:t>
            </a:r>
          </a:p>
          <a:p>
            <a:pPr>
              <a:spcAft>
                <a:spcPts val="200"/>
              </a:spcAft>
            </a:pPr>
            <a:r>
              <a:rPr sz="1250" b="0">
                <a:solidFill>
                  <a:srgbClr val="555555"/>
                </a:solidFill>
                <a:latin typeface="Calibri"/>
              </a:rPr>
              <a:t>(design ready, we build it next)</a:t>
            </a:r>
          </a:p>
        </p:txBody>
      </p:sp>
      <p:pic>
        <p:nvPicPr>
          <p:cNvPr id="27" name="Real scan photos" descr="real_scans_tiles.png"/>
          <p:cNvPicPr>
            <a:picLocks noChangeAspect="1"/>
          </p:cNvPicPr>
          <p:nvPr/>
        </p:nvPicPr>
        <p:blipFill>
          <a:blip r:embed="rId9"/>
          <a:stretch>
            <a:fillRect/>
          </a:stretch>
        </p:blipFill>
        <p:spPr>
          <a:xfrm>
            <a:off x="9253728" y="6309360"/>
            <a:ext cx="2880360" cy="1784838"/>
          </a:xfrm>
          <a:prstGeom prst="rect">
            <a:avLst/>
          </a:prstGeom>
        </p:spPr>
      </p:pic>
      <p:graphicFrame>
        <p:nvGraphicFramePr>
          <p:cNvPr id="28" name="Confusion matrix"/>
          <p:cNvGraphicFramePr>
            <a:graphicFrameLocks noGrp="1"/>
          </p:cNvGraphicFramePr>
          <p:nvPr/>
        </p:nvGraphicFramePr>
        <p:xfrm>
          <a:off x="12271248" y="6309360"/>
          <a:ext cx="2971799" cy="1097280"/>
        </p:xfrm>
        <a:graphic>
          <a:graphicData uri="http://schemas.openxmlformats.org/drawingml/2006/table">
            <a:tbl>
              <a:tblPr firstRow="1" bandRow="1">
                <a:tableStyleId>{5940675A-B579-460E-94D1-54222C63F5DA}</a:tableStyleId>
              </a:tblPr>
              <a:tblGrid>
                <a:gridCol w="1033271"/>
                <a:gridCol w="658368"/>
                <a:gridCol w="658368"/>
                <a:gridCol w="621792"/>
              </a:tblGrid>
              <a:tr h="274320">
                <a:tc>
                  <a:txBody>
                    <a:bodyPr/>
                    <a:lstStyle/>
                    <a:p>
                      <a:pPr algn="l"/>
                      <a:r>
                        <a:rPr sz="1050" b="1">
                          <a:solidFill>
                            <a:srgbClr val="000000"/>
                          </a:solidFill>
                          <a:latin typeface="Calibri"/>
                        </a:rPr>
                        <a:t>Card \ App</a:t>
                      </a:r>
                    </a:p>
                  </a:txBody>
                  <a:tcPr marL="36576" marR="36576" marT="9144" marB="9144" anchor="ctr">
                    <a:solidFill>
                      <a:srgbClr val="B39460"/>
                    </a:solidFill>
                  </a:tcPr>
                </a:tc>
                <a:tc>
                  <a:txBody>
                    <a:bodyPr/>
                    <a:lstStyle/>
                    <a:p>
                      <a:pPr algn="ctr"/>
                      <a:r>
                        <a:rPr sz="1050" b="1">
                          <a:solidFill>
                            <a:srgbClr val="000000"/>
                          </a:solidFill>
                          <a:latin typeface="Calibri"/>
                        </a:rPr>
                        <a:t>POSITIVE</a:t>
                      </a:r>
                    </a:p>
                  </a:txBody>
                  <a:tcPr marL="36576" marR="36576" marT="9144" marB="9144" anchor="ctr">
                    <a:solidFill>
                      <a:srgbClr val="B39460"/>
                    </a:solidFill>
                  </a:tcPr>
                </a:tc>
                <a:tc>
                  <a:txBody>
                    <a:bodyPr/>
                    <a:lstStyle/>
                    <a:p>
                      <a:pPr algn="ctr"/>
                      <a:r>
                        <a:rPr sz="1050" b="1">
                          <a:solidFill>
                            <a:srgbClr val="000000"/>
                          </a:solidFill>
                          <a:latin typeface="Calibri"/>
                        </a:rPr>
                        <a:t>NEGATIVE</a:t>
                      </a:r>
                    </a:p>
                  </a:txBody>
                  <a:tcPr marL="36576" marR="36576" marT="9144" marB="9144" anchor="ctr">
                    <a:solidFill>
                      <a:srgbClr val="B39460"/>
                    </a:solidFill>
                  </a:tcPr>
                </a:tc>
                <a:tc>
                  <a:txBody>
                    <a:bodyPr/>
                    <a:lstStyle/>
                    <a:p>
                      <a:pPr algn="ctr"/>
                      <a:r>
                        <a:rPr sz="1050" b="1">
                          <a:solidFill>
                            <a:srgbClr val="000000"/>
                          </a:solidFill>
                          <a:latin typeface="Calibri"/>
                        </a:rPr>
                        <a:t>NOT SURE</a:t>
                      </a:r>
                    </a:p>
                  </a:txBody>
                  <a:tcPr marL="36576" marR="36576" marT="9144" marB="9144" anchor="ctr">
                    <a:solidFill>
                      <a:srgbClr val="B39460"/>
                    </a:solidFill>
                  </a:tcPr>
                </a:tc>
              </a:tr>
              <a:tr h="274320">
                <a:tc>
                  <a:txBody>
                    <a:bodyPr/>
                    <a:lstStyle/>
                    <a:p>
                      <a:pPr algn="l"/>
                      <a:r>
                        <a:rPr sz="1200" b="0">
                          <a:solidFill>
                            <a:srgbClr val="000000"/>
                          </a:solidFill>
                          <a:latin typeface="Calibri"/>
                        </a:rPr>
                        <a:t>Positive card</a:t>
                      </a:r>
                    </a:p>
                  </a:txBody>
                  <a:tcPr marL="36576" marR="36576" marT="9144" marB="9144" anchor="ctr">
                    <a:solidFill>
                      <a:srgbClr val="FFFFFF"/>
                    </a:solidFill>
                  </a:tcPr>
                </a:tc>
                <a:tc>
                  <a:txBody>
                    <a:bodyPr/>
                    <a:lstStyle/>
                    <a:p>
                      <a:pPr algn="ctr"/>
                      <a:r>
                        <a:rPr sz="1200" b="1">
                          <a:solidFill>
                            <a:srgbClr val="000000"/>
                          </a:solidFill>
                          <a:latin typeface="Calibri"/>
                        </a:rPr>
                        <a:t>40</a:t>
                      </a:r>
                    </a:p>
                  </a:txBody>
                  <a:tcPr marL="36576" marR="36576" marT="9144" marB="9144" anchor="ctr">
                    <a:solidFill>
                      <a:srgbClr val="E8F5E9"/>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32</a:t>
                      </a:r>
                    </a:p>
                  </a:txBody>
                  <a:tcPr marL="36576" marR="36576" marT="9144" marB="9144" anchor="ctr">
                    <a:solidFill>
                      <a:srgbClr val="FFFFFF"/>
                    </a:solidFill>
                  </a:tcPr>
                </a:tc>
              </a:tr>
              <a:tr h="274320">
                <a:tc>
                  <a:txBody>
                    <a:bodyPr/>
                    <a:lstStyle/>
                    <a:p>
                      <a:pPr algn="l"/>
                      <a:r>
                        <a:rPr sz="1200" b="0">
                          <a:solidFill>
                            <a:srgbClr val="000000"/>
                          </a:solidFill>
                          <a:latin typeface="Calibri"/>
                        </a:rPr>
                        <a:t>Plain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30</a:t>
                      </a:r>
                    </a:p>
                  </a:txBody>
                  <a:tcPr marL="36576" marR="36576" marT="9144" marB="9144" anchor="ctr">
                    <a:solidFill>
                      <a:srgbClr val="E8F5E9"/>
                    </a:solidFill>
                  </a:tcPr>
                </a:tc>
                <a:tc>
                  <a:txBody>
                    <a:bodyPr/>
                    <a:lstStyle/>
                    <a:p>
                      <a:pPr algn="ctr"/>
                      <a:r>
                        <a:rPr sz="1200" b="0">
                          <a:solidFill>
                            <a:srgbClr val="000000"/>
                          </a:solidFill>
                          <a:latin typeface="Calibri"/>
                        </a:rPr>
                        <a:t>6</a:t>
                      </a:r>
                    </a:p>
                  </a:txBody>
                  <a:tcPr marL="36576" marR="36576" marT="9144" marB="9144" anchor="ctr">
                    <a:solidFill>
                      <a:srgbClr val="FFFFFF"/>
                    </a:solidFill>
                  </a:tcPr>
                </a:tc>
              </a:tr>
              <a:tr h="274320">
                <a:tc>
                  <a:txBody>
                    <a:bodyPr/>
                    <a:lstStyle/>
                    <a:p>
                      <a:pPr algn="l"/>
                      <a:r>
                        <a:rPr sz="1200" b="0">
                          <a:solidFill>
                            <a:srgbClr val="000000"/>
                          </a:solidFill>
                          <a:latin typeface="Calibri"/>
                        </a:rPr>
                        <a:t>Trick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63</a:t>
                      </a:r>
                    </a:p>
                  </a:txBody>
                  <a:tcPr marL="36576" marR="36576" marT="9144" marB="9144" anchor="ctr">
                    <a:solidFill>
                      <a:srgbClr val="E8F5E9"/>
                    </a:solidFill>
                  </a:tcPr>
                </a:tc>
              </a:tr>
            </a:tbl>
          </a:graphicData>
        </a:graphic>
      </p:graphicFrame>
      <p:sp>
        <p:nvSpPr>
          <p:cNvPr id="29" name="TextBox 28"/>
          <p:cNvSpPr txBox="1"/>
          <p:nvPr/>
        </p:nvSpPr>
        <p:spPr>
          <a:xfrm>
            <a:off x="12271248" y="7434072"/>
            <a:ext cx="2971800" cy="566928"/>
          </a:xfrm>
          <a:prstGeom prst="rect">
            <a:avLst/>
          </a:prstGeom>
          <a:noFill/>
        </p:spPr>
        <p:txBody>
          <a:bodyPr wrap="square" lIns="36576" rIns="36576" tIns="18288" bIns="18288">
            <a:noAutofit/>
          </a:bodyPr>
          <a:lstStyle/>
          <a:p>
            <a:pPr>
              <a:spcAft>
                <a:spcPts val="300"/>
              </a:spcAft>
            </a:pPr>
            <a:r>
              <a:rPr sz="1100" b="0">
                <a:solidFill>
                  <a:srgbClr val="555555"/>
                </a:solidFill>
                <a:latin typeface="Calibri"/>
              </a:rPr>
              <a:t>171 checks: 19 real photos, each as taken and with 8 computer-made changes.</a:t>
            </a:r>
          </a:p>
        </p:txBody>
      </p:sp>
      <p:sp>
        <p:nvSpPr>
          <p:cNvPr id="30" name="TextBox 29"/>
          <p:cNvSpPr txBox="1"/>
          <p:nvPr/>
        </p:nvSpPr>
        <p:spPr>
          <a:xfrm>
            <a:off x="9253728" y="8138160"/>
            <a:ext cx="5989320" cy="1335024"/>
          </a:xfrm>
          <a:prstGeom prst="rect">
            <a:avLst/>
          </a:prstGeom>
          <a:noFill/>
        </p:spPr>
        <p:txBody>
          <a:bodyPr wrap="square" lIns="36576" rIns="36576" tIns="18288" bIns="18288">
            <a:noAutofit/>
          </a:bodyPr>
          <a:lstStyle/>
          <a:p>
            <a:pPr>
              <a:spcAft>
                <a:spcPts val="200"/>
              </a:spcAft>
            </a:pPr>
            <a:r>
              <a:rPr sz="1250" b="1">
                <a:solidFill>
                  <a:srgbClr val="000000"/>
                </a:solidFill>
                <a:latin typeface="Calibri"/>
              </a:rPr>
              <a:t>0 wrong answers in all 171 checks. </a:t>
            </a:r>
            <a:r>
              <a:rPr sz="1250" b="0">
                <a:solidFill>
                  <a:srgbClr val="000000"/>
                </a:solidFill>
                <a:latin typeface="Calibri"/>
              </a:rPr>
              <a:t>0 wrong in every change: darker, brighter, yellow bulb, cool tube light, tilted, cheap camera, grainy. Shaky photos all said NOT SURE and asked to retake.</a:t>
            </a:r>
          </a:p>
          <a:p>
            <a:pPr>
              <a:spcAft>
                <a:spcPts val="200"/>
              </a:spcAft>
            </a:pPr>
            <a:r>
              <a:rPr sz="1250" b="1">
                <a:solidFill>
                  <a:srgbClr val="000000"/>
                </a:solidFill>
                <a:latin typeface="Calibri"/>
              </a:rPr>
              <a:t>Colour gap (Delta E), limit 14: </a:t>
            </a:r>
            <a:r>
              <a:rPr sz="1250" b="0">
                <a:solidFill>
                  <a:srgbClr val="000000"/>
                </a:solidFill>
                <a:latin typeface="Calibri"/>
              </a:rPr>
              <a:t>right colour 4.7 to 8.9, other kit colours 34 to 42, trick cards 16 to 31.</a:t>
            </a:r>
          </a:p>
          <a:p>
            <a:pPr>
              <a:spcAft>
                <a:spcPts val="200"/>
              </a:spcAft>
            </a:pPr>
            <a:r>
              <a:rPr sz="1250" b="0">
                <a:solidFill>
                  <a:srgbClr val="555555"/>
                </a:solidFill>
                <a:latin typeface="Calibri"/>
              </a:rPr>
              <a:t>Real scans: 1 phone (Nothing A015), card on laptop screen, window light, checked by eye.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3383280"/>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640080">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548640">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- 20 cards at ₹10 = ₹200, server ₹3,000 a month for 3 months = ₹9,000. Total about ₹9,200 (estimate)</a:t>
            </a:r>
          </a:p>
        </p:txBody>
      </p:sp>
      <p:sp>
        <p:nvSpPr>
          <p:cNvPr id="56" name="TextBox 55"/>
          <p:cNvSpPr txBox="1"/>
          <p:nvPr/>
        </p:nvSpPr>
        <p:spPr>
          <a:xfrm>
            <a:off x="12115800" y="6675120"/>
            <a:ext cx="5897880" cy="603504"/>
          </a:xfrm>
          <a:prstGeom prst="rect">
            <a:avLst/>
          </a:prstGeom>
          <a:noFill/>
        </p:spPr>
        <p:txBody>
          <a:bodyPr wrap="square" lIns="27432" tIns="9144" rIns="27432" bIns="9144">
            <a:noAutofit/>
          </a:bodyPr>
          <a:lstStyle/>
          <a:p>
            <a:pPr>
              <a:spcAft>
                <a:spcPts val="0"/>
              </a:spcAft>
            </a:pPr>
            <a:r>
              <a:rPr sz="1200" b="1" dirty="0">
                <a:solidFill>
                  <a:srgbClr val="555555"/>
                </a:solidFill>
                <a:latin typeface="Calibri"/>
              </a:rPr>
              <a:t/>
            </a:r>
            <a:r>
              <a:rPr sz="1200" b="0" dirty="0">
                <a:solidFill>
                  <a:srgbClr val="555555"/>
                </a:solidFill>
                <a:latin typeface="Calibri"/>
              </a:rPr>
              <a:t/>
            </a:r>
            <a:r>
              <a:rPr sz="1200" b="1">
                <a:solidFill>
                  <a:srgbClr val="555555"/>
                </a:solidFill>
                <a:latin typeface="Calibri"/>
              </a:rPr>
              <a:t>After the pilot: </a:t>
            </a:r>
            <a:r>
              <a:rPr sz="1200" b="0">
                <a:solidFill>
                  <a:srgbClr val="555555"/>
                </a:solidFill>
                <a:latin typeface="Calibri"/>
              </a:rPr>
              <a:t>police or NCB IT budget, server about ₹36,000 a year (estimate).</a:t>
            </a:r>
          </a:p>
          <a:p>
            <a:pPr>
              <a:spcAft>
                <a:spcPts val="0"/>
              </a:spcAft>
            </a:pPr>
            <a:r>
              <a:rPr sz="1200" b="1">
                <a:solidFill>
                  <a:srgbClr val="555555"/>
                </a:solidFill>
                <a:latin typeface="Calibri"/>
              </a:rPr>
              <a:t>Owner: </a:t>
            </a:r>
            <a:r>
              <a:rPr sz="1200" b="0">
                <a:solidFill>
                  <a:srgbClr val="555555"/>
                </a:solidFill>
                <a:latin typeface="Calibri"/>
              </a:rPr>
              <a:t>state police IT cell runs the app, the FSL keeps kit colours correct.</a:t>
            </a:r>
          </a:p>
          <a:p>
            <a:pPr>
              <a:spcAft>
                <a:spcPts val="0"/>
              </a:spcAft>
            </a:pPr>
            <a:r>
              <a:rPr sz="1200" b="1">
                <a:solidFill>
                  <a:srgbClr val="555555"/>
                </a:solidFill>
                <a:latin typeface="Calibri"/>
              </a:rPr>
              <a:t>Upkeep: </a:t>
            </a:r>
            <a:r>
              <a:rPr sz="1200" b="0">
                <a:solidFill>
                  <a:srgbClr val="555555"/>
                </a:solidFill>
                <a:latin typeface="Calibri"/>
              </a:rPr>
              <a:t>security update every 3 months. MoU with police and FSL is planned.</a:t>
            </a:r>
          </a:p>
        </p:txBody>
      </p:sp>
      <p:sp>
        <p:nvSpPr>
          <p:cNvPr id="57" name="TextBox 56"/>
          <p:cNvSpPr txBox="1"/>
          <p:nvPr/>
        </p:nvSpPr>
        <p:spPr>
          <a:xfrm>
            <a:off x="3848263" y="1828202"/>
            <a:ext cx="4884257" cy="420624"/>
          </a:xfrm>
          <a:prstGeom prst="rect">
            <a:avLst/>
          </a:prstGeom>
          <a:noFill/>
        </p:spPr>
        <p:txBody>
          <a:bodyPr wrap="square" lIns="27432" rIns="27432" tIns="9144" bIns="9144">
            <a:noAutofit/>
          </a:bodyPr>
          <a:lstStyle/>
          <a:p>
            <a:r>
              <a:rPr sz="1200" b="1">
                <a:solidFill>
                  <a:srgbClr val="555555"/>
                </a:solidFill>
                <a:latin typeface="Calibri"/>
              </a:rPr>
              <a:t>Legal: </a:t>
            </a:r>
            <a:r>
              <a:rPr sz="1200" b="0">
                <a:solidFill>
                  <a:srgbClr val="555555"/>
                </a:solidFill>
                <a:latin typeface="Calibri"/>
              </a:rPr>
              <a:t>the app gives a first check only, the FSL lab confirms it.</a:t>
            </a:r>
          </a:p>
          <a:p>
            <a:r>
              <a:rPr sz="1200" b="1">
                <a:solidFill>
                  <a:srgbClr val="555555"/>
                </a:solidFill>
                <a:latin typeface="Calibri"/>
              </a:rPr>
              <a:t>Privacy: </a:t>
            </a:r>
            <a:r>
              <a:rPr sz="1200" b="0">
                <a:solidFill>
                  <a:srgbClr val="555555"/>
                </a:solidFill>
                <a:latin typeface="Calibri"/>
              </a:rPr>
              <a:t>no face or suspect name is stored, only a sample code.</a:t>
            </a:r>
          </a:p>
        </p:txBody>
      </p:sp>
      <p:sp>
        <p:nvSpPr>
          <p:cNvPr id="58" name="TextBox 57"/>
          <p:cNvSpPr txBox="1"/>
          <p:nvPr/>
        </p:nvSpPr>
        <p:spPr>
          <a:xfrm>
            <a:off x="9144000" y="5815584"/>
            <a:ext cx="8686800" cy="868680"/>
          </a:xfrm>
          <a:prstGeom prst="rect">
            <a:avLst/>
          </a:prstGeom>
          <a:noFill/>
        </p:spPr>
        <p:txBody>
          <a:bodyPr wrap="square" lIns="54864" rIns="54864" tIns="27432" bIns="27432">
            <a:noAutofit/>
          </a:bodyPr>
          <a:lstStyle/>
          <a:p>
            <a:pPr>
              <a:spcAft>
                <a:spcPts val="200"/>
              </a:spcAft>
            </a:pPr>
            <a:r>
              <a:rPr sz="1350" b="1">
                <a:solidFill>
                  <a:srgbClr val="792E00"/>
                </a:solidFill>
                <a:latin typeface="Calibri"/>
              </a:rPr>
              <a:t>Scale (estimate): </a:t>
            </a:r>
            <a:r>
              <a:rPr sz="1350" b="0">
                <a:solidFill>
                  <a:srgbClr val="000000"/>
                </a:solidFill>
                <a:latin typeface="Calibri"/>
              </a:rPr>
              <a:t>India had 1,20,010 NDPS cases in 2023 (NCRB), about 330 a day.</a:t>
            </a:r>
          </a:p>
          <a:p>
            <a:pPr>
              <a:spcAft>
                <a:spcPts val="200"/>
              </a:spcAft>
            </a:pPr>
            <a:r>
              <a:rPr sz="1350" b="0">
                <a:solidFill>
                  <a:srgbClr val="000000"/>
                </a:solidFill>
                <a:latin typeface="Calibri"/>
              </a:rPr>
              <a:t>Our colour check takes 0.12 s per photo, so one small server can check thousands of photos an hour. Each photo is about 0.85 MB, so all of India needs about 100 GB a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3017520" cy="2138910"/>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0000" r="42400" b="389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build the offline design shown on slide 3.</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 match our fields to e-Sakshya, get NIC or MHA approval, then send each sealed record with its photo hash.</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the photo hash is signed inside each record</a:t>
            </a:r>
          </a:p>
        </p:txBody>
      </p:sp>
      <p:pic>
        <p:nvPicPr>
          <p:cNvPr id="34" name="Tamper proof" descr="tamper_proof_tall.png"/>
          <p:cNvPicPr>
            <a:picLocks noChangeAspect="1"/>
          </p:cNvPicPr>
          <p:nvPr/>
        </p:nvPicPr>
        <p:blipFill>
          <a:blip r:embed="rId11"/>
          <a:stretch>
            <a:fillRect/>
          </a:stretch>
        </p:blipFill>
        <p:spPr>
          <a:xfrm>
            <a:off x="10649712" y="5115959"/>
            <a:ext cx="6735059" cy="2418498"/>
          </a:xfrm>
          <a:prstGeom prst="rect">
            <a:avLst/>
          </a:prstGeom>
        </p:spPr>
      </p:pic>
      <p:sp>
        <p:nvSpPr>
          <p:cNvPr id="35" name="TextBox 34"/>
          <p:cNvSpPr txBox="1"/>
          <p:nvPr/>
        </p:nvSpPr>
        <p:spPr>
          <a:xfrm>
            <a:off x="13850112" y="1901952"/>
            <a:ext cx="3534659" cy="384048"/>
          </a:xfrm>
          <a:prstGeom prst="rect">
            <a:avLst/>
          </a:prstGeom>
          <a:noFill/>
        </p:spPr>
        <p:txBody>
          <a:bodyPr wrap="square" lIns="36576" rIns="36576" tIns="18288" bIns="18288">
            <a:noAutofit/>
          </a:bodyPr>
          <a:lstStyle/>
          <a:p>
            <a:pPr>
              <a:spcAft>
                <a:spcPts val="0"/>
              </a:spcAft>
            </a:pPr>
            <a:r>
              <a:rPr sz="2050" b="1">
                <a:solidFill>
                  <a:srgbClr val="792E00"/>
                </a:solidFill>
                <a:latin typeface="Calibri"/>
              </a:rPr>
              <a:t>Court Certificate - </a:t>
            </a:r>
            <a:r>
              <a:rPr sz="1700" b="0">
                <a:solidFill>
                  <a:srgbClr val="000000"/>
                </a:solidFill>
                <a:latin typeface="Calibri"/>
              </a:rPr>
              <a:t>BSA section 63</a:t>
            </a:r>
          </a:p>
        </p:txBody>
      </p:sp>
      <p:pic>
        <p:nvPicPr>
          <p:cNvPr id="36" name="Section 63 page" descr="section63_page.png"/>
          <p:cNvPicPr>
            <a:picLocks noChangeAspect="1"/>
          </p:cNvPicPr>
          <p:nvPr/>
        </p:nvPicPr>
        <p:blipFill>
          <a:blip r:embed="rId12"/>
          <a:stretch>
            <a:fillRect/>
          </a:stretch>
        </p:blipFill>
        <p:spPr>
          <a:xfrm>
            <a:off x="13850112" y="2304288"/>
            <a:ext cx="1398468" cy="1554480"/>
          </a:xfrm>
          <a:prstGeom prst="rect">
            <a:avLst/>
          </a:prstGeom>
          <a:ln>
            <a:solidFill>
              <a:srgbClr val="BBBBBB"/>
            </a:solidFill>
          </a:ln>
        </p:spPr>
      </p:pic>
      <p:sp>
        <p:nvSpPr>
          <p:cNvPr id="37" name="TextBox 36"/>
          <p:cNvSpPr txBox="1"/>
          <p:nvPr/>
        </p:nvSpPr>
        <p:spPr>
          <a:xfrm>
            <a:off x="15358307" y="2304288"/>
            <a:ext cx="2026462" cy="2138910"/>
          </a:xfrm>
          <a:prstGeom prst="rect">
            <a:avLst/>
          </a:prstGeom>
          <a:noFill/>
        </p:spPr>
        <p:txBody>
          <a:bodyPr wrap="square" lIns="36576" rIns="36576" tIns="18288" bIns="18288">
            <a:noAutofit/>
          </a:bodyPr>
          <a:lstStyle/>
          <a:p>
            <a:pPr>
              <a:spcAft>
                <a:spcPts val="300"/>
              </a:spcAft>
            </a:pPr>
            <a:r>
              <a:rPr sz="1200" b="1">
                <a:solidFill>
                  <a:srgbClr val="000000"/>
                </a:solidFill>
                <a:latin typeface="Calibri"/>
              </a:rPr>
              <a:t>Done: </a:t>
            </a:r>
            <a:r>
              <a:rPr sz="1200" b="0">
                <a:solidFill>
                  <a:srgbClr val="000000"/>
                </a:solidFill>
                <a:latin typeface="Calibri"/>
              </a:rPr>
              <a:t>every PDF report now has this page, filled with photo hash (SHA-256), phone, time and GPS.</a:t>
            </a:r>
          </a:p>
          <a:p>
            <a:pPr>
              <a:spcAft>
                <a:spcPts val="300"/>
              </a:spcAft>
            </a:pPr>
            <a:r>
              <a:rPr sz="1200" b="0">
                <a:solidFill>
                  <a:srgbClr val="000000"/>
                </a:solidFill>
                <a:latin typeface="Calibri"/>
              </a:rPr>
              <a:t>The officer and an expert only sign it.</a:t>
            </a:r>
          </a:p>
          <a:p>
            <a:pPr>
              <a:spcAft>
                <a:spcPts val="300"/>
              </a:spcAft>
            </a:pPr>
            <a:r>
              <a:rPr sz="1200" b="1">
                <a:solidFill>
                  <a:srgbClr val="000000"/>
                </a:solidFill>
                <a:latin typeface="Calibri"/>
              </a:rPr>
              <a:t>Next: </a:t>
            </a:r>
            <a:r>
              <a:rPr sz="1200" b="0">
                <a:solidFill>
                  <a:srgbClr val="000000"/>
                </a:solidFill>
                <a:latin typeface="Calibri"/>
              </a:rPr>
              <a:t>written opinion from the FSL and public prosecutor in the pilot.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